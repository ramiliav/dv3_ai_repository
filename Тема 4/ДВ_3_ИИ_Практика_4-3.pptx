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8" r:id="rId4"/>
    <p:sldId id="270" r:id="rId5"/>
    <p:sldId id="297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287" r:id="rId20"/>
    <p:sldId id="314" r:id="rId21"/>
    <p:sldId id="300" r:id="rId22"/>
    <p:sldId id="315" r:id="rId23"/>
    <p:sldId id="266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236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598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708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78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095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403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554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128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362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649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739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092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97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438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468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038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6611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011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ZmPrhNRQuNOxZ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3. Сетевой анализ и комплексная интерпретация биологических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/>
              <a:t>Цели</a:t>
            </a:r>
            <a:r>
              <a:rPr lang="ru-RU" sz="2400" dirty="0"/>
              <a:t>: </a:t>
            </a:r>
          </a:p>
          <a:p>
            <a:pPr algn="just"/>
            <a:r>
              <a:rPr lang="ru-RU" sz="2400" dirty="0"/>
              <a:t>Выполнить функциональное обогащение </a:t>
            </a:r>
            <a:r>
              <a:rPr lang="ru-RU" sz="2400" dirty="0" err="1"/>
              <a:t>hub</a:t>
            </a:r>
            <a:r>
              <a:rPr lang="ru-RU" sz="2400" dirty="0"/>
              <a:t>-генов</a:t>
            </a:r>
          </a:p>
          <a:p>
            <a:pPr algn="just"/>
            <a:r>
              <a:rPr lang="ru-RU" sz="2400" dirty="0"/>
              <a:t>Интерпретировать биологические процессы модулей</a:t>
            </a:r>
          </a:p>
          <a:p>
            <a:pPr algn="just"/>
            <a:r>
              <a:rPr lang="ru-RU" sz="2400" dirty="0"/>
              <a:t>Построить классификатор подтипов BC на основе </a:t>
            </a:r>
            <a:r>
              <a:rPr lang="ru-RU" sz="2400" dirty="0" err="1"/>
              <a:t>hub</a:t>
            </a:r>
            <a:r>
              <a:rPr lang="ru-RU" sz="2400" dirty="0"/>
              <a:t>-генов</a:t>
            </a:r>
          </a:p>
          <a:p>
            <a:pPr algn="just"/>
            <a:r>
              <a:rPr lang="ru-RU" sz="2400" dirty="0"/>
              <a:t>Оценить предсказательную способность модели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https://disk.yandex.ru/d/ZmPrhNRQuNOxZA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Структура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пайплайна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>
              <a:buNone/>
            </a:pPr>
            <a:r>
              <a:rPr lang="ru-RU" sz="2400" dirty="0">
                <a:effectLst/>
                <a:ea typeface="Cambria Math" panose="02040503050406030204" pitchFamily="18" charset="0"/>
              </a:rPr>
              <a:t>Часть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A: </a:t>
            </a:r>
            <a:r>
              <a:rPr lang="ru-RU" sz="2400" dirty="0">
                <a:effectLst/>
                <a:ea typeface="Cambria Math" panose="02040503050406030204" pitchFamily="18" charset="0"/>
              </a:rPr>
              <a:t>Функциональное обогащение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Этап 1: Загрузка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генов из Практики 2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Этап 2: Обогащение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GO Biological Process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Этап 3: Обогащение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KEGG Pathways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Этап 4: Визуализация топ-15 терминов</a:t>
            </a:r>
          </a:p>
          <a:p>
            <a:pPr indent="0">
              <a:buNone/>
            </a:pPr>
            <a:r>
              <a:rPr lang="ru-RU" sz="2400" dirty="0">
                <a:effectLst/>
                <a:ea typeface="Cambria Math" panose="02040503050406030204" pitchFamily="18" charset="0"/>
              </a:rPr>
              <a:t>Часть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B: 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Классификатор подтипов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Этап 5: Матрица признаков (экспрессия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генов)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Этап 6: Обучение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Random Forest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Этап 7: Оценка качества и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feature importance</a:t>
            </a:r>
            <a:endParaRPr lang="en-US" sz="24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Исходные данные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Исходные данные из Практики 2:</a:t>
            </a:r>
          </a:p>
          <a:p>
            <a:pPr marL="571500" indent="-342900"/>
            <a:r>
              <a:rPr lang="en-US" sz="2000" dirty="0" err="1">
                <a:effectLst/>
                <a:ea typeface="Cambria Math" panose="02040503050406030204" pitchFamily="18" charset="0"/>
              </a:rPr>
              <a:t>hub_genes</a:t>
            </a:r>
            <a:r>
              <a:rPr lang="en-US" sz="2000" dirty="0">
                <a:effectLst/>
                <a:ea typeface="Cambria Math" panose="02040503050406030204" pitchFamily="18" charset="0"/>
              </a:rPr>
              <a:t>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топ-20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генов с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HGNC-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символами и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kME</a:t>
            </a:r>
          </a:p>
          <a:p>
            <a:pPr marL="571500" indent="-342900"/>
            <a:r>
              <a:rPr lang="en-US" sz="2000" dirty="0" err="1">
                <a:effectLst/>
                <a:ea typeface="Cambria Math" panose="02040503050406030204" pitchFamily="18" charset="0"/>
              </a:rPr>
              <a:t>datExpr</a:t>
            </a:r>
            <a:r>
              <a:rPr lang="en-US" sz="2000" dirty="0">
                <a:effectLst/>
                <a:ea typeface="Cambria Math" panose="02040503050406030204" pitchFamily="18" charset="0"/>
              </a:rPr>
              <a:t>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матрица экспрессии (для классификатора)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subtype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вектор подтипов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BC</a:t>
            </a:r>
          </a:p>
          <a:p>
            <a:pPr marL="571500" indent="-342900"/>
            <a:r>
              <a:rPr lang="en-US" sz="2000" dirty="0" err="1">
                <a:effectLst/>
                <a:ea typeface="Cambria Math" panose="02040503050406030204" pitchFamily="18" charset="0"/>
              </a:rPr>
              <a:t>target_module</a:t>
            </a:r>
            <a:r>
              <a:rPr lang="en-US" sz="2000" dirty="0">
                <a:effectLst/>
                <a:ea typeface="Cambria Math" panose="02040503050406030204" pitchFamily="18" charset="0"/>
              </a:rPr>
              <a:t>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цвет целевого модуля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Файлы: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GSE45827_modules.RData, hub_genes_GSE45827.csv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8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Что такое функциональное обогащение?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Функциональное обогащение (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enrichment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analysis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Статистический метод для выявления биологических процессов, путей или молекулярных функций, значимо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переобогащённых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в списке генов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Вопрос: Участвуют ли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hub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-гены в общих биологических путях чаще, чем ожидается случайно?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Ответ: p-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value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&lt; 0.05 → термин статистически значим</a:t>
            </a:r>
          </a:p>
        </p:txBody>
      </p:sp>
    </p:spTree>
    <p:extLst>
      <p:ext uri="{BB962C8B-B14F-4D97-AF65-F5344CB8AC3E}">
        <p14:creationId xmlns:p14="http://schemas.microsoft.com/office/powerpoint/2010/main" val="312816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GO Biological Process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Gene Ontology: Biological Process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Иерархическая онтология биологических процессов (клеточных, метаболических, сигнальных)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База: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GO Biological Process 2023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Метод: Гипергеометрический тест + коррекция </a:t>
            </a:r>
            <a:r>
              <a:rPr lang="en-US" sz="2000" dirty="0" err="1">
                <a:effectLst/>
                <a:ea typeface="Cambria Math" panose="02040503050406030204" pitchFamily="18" charset="0"/>
              </a:rPr>
              <a:t>Benjamini</a:t>
            </a:r>
            <a:r>
              <a:rPr lang="en-US" sz="2000" dirty="0">
                <a:effectLst/>
                <a:ea typeface="Cambria Math" panose="02040503050406030204" pitchFamily="18" charset="0"/>
              </a:rPr>
              <a:t>-Hochberg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Результат: Список терминов с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adj. p-value &lt; 0.05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037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KEGG Pathways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KEGG: Kyoto Encyclopedia of Genes and Genomes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База сигнальных и метаболических путей с экспериментальной валидацией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База: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KEGG 2021 Human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Преимущества: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Pathway-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уровень интерпретации, визуализация на схемах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KEGG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Типичные пути: клеточный цикл,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apoptosis, PI3K-Akt, MAPK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93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Инструмент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enrichR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enrichR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веб-инструмент и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R-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пакет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Интерфейс к 200+ базам обогащения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GO, KEGG, </a:t>
            </a:r>
            <a:r>
              <a:rPr lang="en-US" sz="2000" dirty="0" err="1">
                <a:effectLst/>
                <a:ea typeface="Cambria Math" panose="02040503050406030204" pitchFamily="18" charset="0"/>
              </a:rPr>
              <a:t>Reactome</a:t>
            </a:r>
            <a:r>
              <a:rPr lang="en-US" sz="2000" dirty="0">
                <a:effectLst/>
                <a:ea typeface="Cambria Math" panose="02040503050406030204" pitchFamily="18" charset="0"/>
              </a:rPr>
              <a:t>, </a:t>
            </a:r>
            <a:r>
              <a:rPr lang="en-US" sz="2000" dirty="0" err="1">
                <a:effectLst/>
                <a:ea typeface="Cambria Math" panose="02040503050406030204" pitchFamily="18" charset="0"/>
              </a:rPr>
              <a:t>WikiPathways</a:t>
            </a:r>
            <a:r>
              <a:rPr lang="en-US" sz="2000" dirty="0">
                <a:effectLst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enrichr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hub_symbols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dbs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Альтернатива: </a:t>
            </a:r>
            <a:r>
              <a:rPr lang="en-US" sz="2000" dirty="0" err="1">
                <a:effectLst/>
                <a:ea typeface="Cambria Math" panose="02040503050406030204" pitchFamily="18" charset="0"/>
              </a:rPr>
              <a:t>clusterProfiler</a:t>
            </a:r>
            <a:r>
              <a:rPr lang="en-US" sz="2000" dirty="0">
                <a:effectLst/>
                <a:ea typeface="Cambria Math" panose="02040503050406030204" pitchFamily="18" charset="0"/>
              </a:rPr>
              <a:t> (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локальные базы, больше контроля)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Требование: интернет-соединение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71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Интерпретация результатов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GO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Топ-15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GO Biological Process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терминов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Что смотрим: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Adjusted p-value &lt; 0.05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статистическая значимость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Overlap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доля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генов в термине (например, 5/200)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Биологическая осмысленность для подтипов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BC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marL="571500" indent="-342900"/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Типичные термины: клеточная пролиферация, апоптоз, регуляция транскрипции, иммунный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406258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Интерпретация результатов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KEGG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Топ-15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KEGG Pathways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Контексты рака молочной железы: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PI3K-Akt signaling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пролиферация, выживание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Cell cycle — G1/S checkpoint,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митоз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p53 pathway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апоптоз,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DNA damage response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ECM-receptor interaction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метастазирование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Pathway-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специфичность по подтипам — например,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TNBC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часто ассоциирован с клеточным циклом</a:t>
            </a:r>
          </a:p>
        </p:txBody>
      </p:sp>
    </p:spTree>
    <p:extLst>
      <p:ext uri="{BB962C8B-B14F-4D97-AF65-F5344CB8AC3E}">
        <p14:creationId xmlns:p14="http://schemas.microsoft.com/office/powerpoint/2010/main" val="1308174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обогащения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Barplot топ-15 терминов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Ось X: -log10(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adj</a:t>
            </a:r>
            <a:r>
              <a:rPr lang="ru-RU" sz="2000" dirty="0">
                <a:effectLst/>
                <a:ea typeface="Cambria Math" panose="02040503050406030204" pitchFamily="18" charset="0"/>
              </a:rPr>
              <a:t>. p-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value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 — чем выше, тем значимее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Ось Y: названия терминов (укороченные до 50 символов)</a:t>
            </a:r>
          </a:p>
        </p:txBody>
      </p:sp>
    </p:spTree>
    <p:extLst>
      <p:ext uri="{BB962C8B-B14F-4D97-AF65-F5344CB8AC3E}">
        <p14:creationId xmlns:p14="http://schemas.microsoft.com/office/powerpoint/2010/main" val="2975195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Классификатор подтипов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BC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Задача машинного обучения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Предсказать молекулярный подтип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BC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по экспрессии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генов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Признаки: экспрессия 20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генов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Метка: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4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классов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TNBC, HER2+, </a:t>
            </a:r>
            <a:r>
              <a:rPr lang="en-US" sz="2000" dirty="0" err="1">
                <a:effectLst/>
                <a:ea typeface="Cambria Math" panose="02040503050406030204" pitchFamily="18" charset="0"/>
              </a:rPr>
              <a:t>LumA</a:t>
            </a:r>
            <a:r>
              <a:rPr lang="en-US" sz="2000" dirty="0">
                <a:effectLst/>
                <a:ea typeface="Cambria Math" panose="02040503050406030204" pitchFamily="18" charset="0"/>
              </a:rPr>
              <a:t>, </a:t>
            </a:r>
            <a:r>
              <a:rPr lang="en-US" sz="2000" dirty="0" err="1">
                <a:effectLst/>
                <a:ea typeface="Cambria Math" panose="02040503050406030204" pitchFamily="18" charset="0"/>
              </a:rPr>
              <a:t>LumB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Модель: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Random Forest (500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деревьев)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Метрики: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Accuracy, Macro F1, Confusion Matrix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628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Forest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Random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Forest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— ансамбль решающих деревьев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Преимущества: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Робастность к переобучению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Автоматический отбор признаков</a:t>
            </a:r>
          </a:p>
          <a:p>
            <a:pPr marL="571500" indent="-342900"/>
            <a:r>
              <a:rPr lang="ru-RU" sz="2000" dirty="0" err="1">
                <a:effectLst/>
                <a:ea typeface="Cambria Math" panose="02040503050406030204" pitchFamily="18" charset="0"/>
              </a:rPr>
              <a:t>Feature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importance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— ранжирование генов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Работает с малыми выборками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Гиперпараметры</a:t>
            </a:r>
            <a:r>
              <a:rPr lang="ru-RU" sz="2000" dirty="0">
                <a:effectLst/>
                <a:ea typeface="Cambria Math" panose="02040503050406030204" pitchFamily="18" charset="0"/>
              </a:rPr>
              <a:t>: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ntree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500,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mtry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√p (типично 4-5 для 20 генов)</a:t>
            </a:r>
          </a:p>
        </p:txBody>
      </p:sp>
    </p:spTree>
    <p:extLst>
      <p:ext uri="{BB962C8B-B14F-4D97-AF65-F5344CB8AC3E}">
        <p14:creationId xmlns:p14="http://schemas.microsoft.com/office/powerpoint/2010/main" val="9198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Train Test split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Разбивка выборки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75% обучающая (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train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 / 25% тестовая (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test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Стратификация: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createDataPartition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сохраняет пропорции классов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Цель: оценка обобщающей способности на независимых данных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Типичное распределение: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train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~103,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test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~34 образца</a:t>
            </a:r>
          </a:p>
        </p:txBody>
      </p:sp>
    </p:spTree>
    <p:extLst>
      <p:ext uri="{BB962C8B-B14F-4D97-AF65-F5344CB8AC3E}">
        <p14:creationId xmlns:p14="http://schemas.microsoft.com/office/powerpoint/2010/main" val="1671273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Confusion Matrix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Матрица ошибок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Строки — истинные подтипы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Столбцы — предсказанные подтипы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Диагональ — правильные классификации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Интерпретация: Какие подтипы путаются?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LumA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vs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LumB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— ожидаемо, биологически близки</a:t>
            </a:r>
          </a:p>
        </p:txBody>
      </p:sp>
    </p:spTree>
    <p:extLst>
      <p:ext uri="{BB962C8B-B14F-4D97-AF65-F5344CB8AC3E}">
        <p14:creationId xmlns:p14="http://schemas.microsoft.com/office/powerpoint/2010/main" val="3143061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Feature Importance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Mean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Decrease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Gini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Мера вклада каждого гена в снижение неопределённости классификации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Топ гены с высоким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importance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Центральные узлы модуля (высокий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kME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Дифференциально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экспрессированные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между подтипами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Потенциальные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биомаркеры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087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Метрики качества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Overall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Accuracy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Доля правильно классифицированных образцов (все классы)</a:t>
            </a: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Macro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F1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Среднее гармоническое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precision</a:t>
            </a:r>
            <a:r>
              <a:rPr lang="ru-RU" sz="2000" dirty="0">
                <a:effectLst/>
                <a:ea typeface="Cambria Math" panose="02040503050406030204" pitchFamily="18" charset="0"/>
              </a:rPr>
              <a:t>/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recall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по всем классам (учитывает дисбаланс)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Типичные значения: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Accuracy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0.70–0.85,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Macro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F1 0.65–0.80 на 20 генах</a:t>
            </a:r>
          </a:p>
        </p:txBody>
      </p:sp>
    </p:spTree>
    <p:extLst>
      <p:ext uri="{BB962C8B-B14F-4D97-AF65-F5344CB8AC3E}">
        <p14:creationId xmlns:p14="http://schemas.microsoft.com/office/powerpoint/2010/main" val="3308654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8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Часть A напрямую реализует требования Задания 8: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GO BP и KEGG обогащение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Визуализация </a:t>
            </a:r>
            <a:r>
              <a:rPr lang="ru-RU" sz="2400" dirty="0" err="1">
                <a:ea typeface="Cambria Math" panose="02040503050406030204" pitchFamily="18" charset="0"/>
              </a:rPr>
              <a:t>барплотов</a:t>
            </a:r>
            <a:endParaRPr lang="ru-RU" sz="2400" dirty="0">
              <a:ea typeface="Cambria Math" panose="02040503050406030204" pitchFamily="18" charset="0"/>
            </a:endParaRP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Таблицы с </a:t>
            </a:r>
            <a:r>
              <a:rPr lang="ru-RU" sz="2400" dirty="0" err="1">
                <a:ea typeface="Cambria Math" panose="02040503050406030204" pitchFamily="18" charset="0"/>
              </a:rPr>
              <a:t>adj</a:t>
            </a:r>
            <a:r>
              <a:rPr lang="ru-RU" sz="2400" dirty="0">
                <a:ea typeface="Cambria Math" panose="02040503050406030204" pitchFamily="18" charset="0"/>
              </a:rPr>
              <a:t>. p-</a:t>
            </a:r>
            <a:r>
              <a:rPr lang="ru-RU" sz="2400" dirty="0" err="1">
                <a:ea typeface="Cambria Math" panose="02040503050406030204" pitchFamily="18" charset="0"/>
              </a:rPr>
              <a:t>value</a:t>
            </a:r>
            <a:endParaRPr lang="ru-RU" sz="240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907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Потенциальные сложности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Потенциальные сложности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 err="1">
                <a:ea typeface="Cambria Math" panose="02040503050406030204" pitchFamily="18" charset="0"/>
              </a:rPr>
              <a:t>enrichR</a:t>
            </a:r>
            <a:r>
              <a:rPr lang="ru-RU" sz="2400" dirty="0">
                <a:ea typeface="Cambria Math" panose="02040503050406030204" pitchFamily="18" charset="0"/>
              </a:rPr>
              <a:t> требует интернета — альтернатива </a:t>
            </a:r>
            <a:r>
              <a:rPr lang="ru-RU" sz="2400" dirty="0" err="1">
                <a:ea typeface="Cambria Math" panose="02040503050406030204" pitchFamily="18" charset="0"/>
              </a:rPr>
              <a:t>clusterProfiler</a:t>
            </a:r>
            <a:endParaRPr lang="ru-RU" sz="2400" dirty="0">
              <a:ea typeface="Cambria Math" panose="02040503050406030204" pitchFamily="18" charset="0"/>
            </a:endParaRP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Малое число </a:t>
            </a:r>
            <a:r>
              <a:rPr lang="ru-RU" sz="2400" dirty="0" err="1">
                <a:ea typeface="Cambria Math" panose="02040503050406030204" pitchFamily="18" charset="0"/>
              </a:rPr>
              <a:t>hub</a:t>
            </a:r>
            <a:r>
              <a:rPr lang="ru-RU" sz="2400" dirty="0">
                <a:ea typeface="Cambria Math" panose="02040503050406030204" pitchFamily="18" charset="0"/>
              </a:rPr>
              <a:t>-генов (&lt;10) → низкая мощность теста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Все </a:t>
            </a:r>
            <a:r>
              <a:rPr lang="ru-RU" sz="2400" dirty="0" err="1">
                <a:ea typeface="Cambria Math" panose="02040503050406030204" pitchFamily="18" charset="0"/>
              </a:rPr>
              <a:t>adj</a:t>
            </a:r>
            <a:r>
              <a:rPr lang="ru-RU" sz="2400" dirty="0">
                <a:ea typeface="Cambria Math" panose="02040503050406030204" pitchFamily="18" charset="0"/>
              </a:rPr>
              <a:t>. p-</a:t>
            </a:r>
            <a:r>
              <a:rPr lang="ru-RU" sz="2400" dirty="0" err="1">
                <a:ea typeface="Cambria Math" panose="02040503050406030204" pitchFamily="18" charset="0"/>
              </a:rPr>
              <a:t>value</a:t>
            </a:r>
            <a:r>
              <a:rPr lang="ru-RU" sz="2400" dirty="0">
                <a:ea typeface="Cambria Math" panose="02040503050406030204" pitchFamily="18" charset="0"/>
              </a:rPr>
              <a:t> &gt; 0.05 → взять топ-15 по сырому p-</a:t>
            </a:r>
            <a:r>
              <a:rPr lang="ru-RU" sz="2400" dirty="0" err="1">
                <a:ea typeface="Cambria Math" panose="02040503050406030204" pitchFamily="18" charset="0"/>
              </a:rPr>
              <a:t>value</a:t>
            </a:r>
            <a:endParaRPr lang="ru-RU" sz="2400" dirty="0">
              <a:ea typeface="Cambria Math" panose="02040503050406030204" pitchFamily="18" charset="0"/>
            </a:endParaRP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Дисбаланс классов в </a:t>
            </a:r>
            <a:r>
              <a:rPr lang="ru-RU" sz="2400" dirty="0" err="1">
                <a:ea typeface="Cambria Math" panose="02040503050406030204" pitchFamily="18" charset="0"/>
              </a:rPr>
              <a:t>test</a:t>
            </a:r>
            <a:r>
              <a:rPr lang="ru-RU" sz="2400" dirty="0">
                <a:ea typeface="Cambria Math" panose="02040503050406030204" pitchFamily="18" charset="0"/>
              </a:rPr>
              <a:t> → некоторые подтипы могут отсутствовать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Низкий </a:t>
            </a:r>
            <a:r>
              <a:rPr lang="ru-RU" sz="2400" dirty="0" err="1">
                <a:ea typeface="Cambria Math" panose="02040503050406030204" pitchFamily="18" charset="0"/>
              </a:rPr>
              <a:t>Accuracy</a:t>
            </a:r>
            <a:r>
              <a:rPr lang="ru-RU" sz="2400" dirty="0">
                <a:ea typeface="Cambria Math" panose="02040503050406030204" pitchFamily="18" charset="0"/>
              </a:rPr>
              <a:t> (&lt;0.5) → проверить выбор модуля в Практике 2</a:t>
            </a:r>
          </a:p>
        </p:txBody>
      </p:sp>
    </p:spTree>
    <p:extLst>
      <p:ext uri="{BB962C8B-B14F-4D97-AF65-F5344CB8AC3E}">
        <p14:creationId xmlns:p14="http://schemas.microsoft.com/office/powerpoint/2010/main" val="3167980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Биологическая интерпретация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Пример интерпретации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Если </a:t>
            </a:r>
            <a:r>
              <a:rPr lang="en-US" sz="2400" dirty="0">
                <a:ea typeface="Cambria Math" panose="02040503050406030204" pitchFamily="18" charset="0"/>
              </a:rPr>
              <a:t>hub-</a:t>
            </a:r>
            <a:r>
              <a:rPr lang="ru-RU" sz="2400" dirty="0">
                <a:ea typeface="Cambria Math" panose="02040503050406030204" pitchFamily="18" charset="0"/>
              </a:rPr>
              <a:t>гены целевого модуля обогащены терминами: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"</a:t>
            </a:r>
            <a:r>
              <a:rPr lang="en-US" sz="2400" dirty="0">
                <a:ea typeface="Cambria Math" panose="02040503050406030204" pitchFamily="18" charset="0"/>
              </a:rPr>
              <a:t>cell cycle G1/S transition"</a:t>
            </a:r>
          </a:p>
          <a:p>
            <a:pPr algn="just">
              <a:tabLst>
                <a:tab pos="180975" algn="l"/>
              </a:tabLst>
            </a:pPr>
            <a:r>
              <a:rPr lang="en-US" sz="2400" dirty="0">
                <a:ea typeface="Cambria Math" panose="02040503050406030204" pitchFamily="18" charset="0"/>
              </a:rPr>
              <a:t>"DNA replication"</a:t>
            </a:r>
          </a:p>
          <a:p>
            <a:pPr algn="just">
              <a:tabLst>
                <a:tab pos="180975" algn="l"/>
              </a:tabLst>
            </a:pPr>
            <a:r>
              <a:rPr lang="en-US" sz="2400" dirty="0">
                <a:ea typeface="Cambria Math" panose="02040503050406030204" pitchFamily="18" charset="0"/>
              </a:rPr>
              <a:t>"mitotic spindle assembly"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Вывод: Модуль связан с пролиферацией → характерен для </a:t>
            </a:r>
            <a:r>
              <a:rPr lang="en-US" sz="2400" dirty="0">
                <a:ea typeface="Cambria Math" panose="02040503050406030204" pitchFamily="18" charset="0"/>
              </a:rPr>
              <a:t>TNBC (</a:t>
            </a:r>
            <a:r>
              <a:rPr lang="ru-RU" sz="2400" dirty="0" err="1">
                <a:ea typeface="Cambria Math" panose="02040503050406030204" pitchFamily="18" charset="0"/>
              </a:rPr>
              <a:t>высокопролиферативный</a:t>
            </a:r>
            <a:r>
              <a:rPr lang="ru-RU" sz="2400" dirty="0">
                <a:ea typeface="Cambria Math" panose="02040503050406030204" pitchFamily="18" charset="0"/>
              </a:rPr>
              <a:t> подтип)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Проверка: </a:t>
            </a:r>
            <a:r>
              <a:rPr lang="en-US" sz="2400" dirty="0">
                <a:ea typeface="Cambria Math" panose="02040503050406030204" pitchFamily="18" charset="0"/>
              </a:rPr>
              <a:t>Correlation heatmap ME × subtype </a:t>
            </a:r>
            <a:r>
              <a:rPr lang="ru-RU" sz="2400" dirty="0">
                <a:ea typeface="Cambria Math" panose="02040503050406030204" pitchFamily="18" charset="0"/>
              </a:rPr>
              <a:t>должен показать активацию модуля в </a:t>
            </a:r>
            <a:r>
              <a:rPr lang="en-US" sz="2400" dirty="0">
                <a:ea typeface="Cambria Math" panose="02040503050406030204" pitchFamily="18" charset="0"/>
              </a:rPr>
              <a:t>TNBC</a:t>
            </a:r>
            <a:endParaRPr lang="ru-RU" sz="2400" i="1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59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Итоги практики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>
              <a:tabLst>
                <a:tab pos="180975" algn="l"/>
              </a:tabLst>
            </a:pPr>
            <a:r>
              <a:rPr lang="ru-RU" sz="2400" dirty="0" err="1">
                <a:ea typeface="Cambria Math" panose="02040503050406030204" pitchFamily="18" charset="0"/>
              </a:rPr>
              <a:t>Hub</a:t>
            </a:r>
            <a:r>
              <a:rPr lang="ru-RU" sz="2400" dirty="0">
                <a:ea typeface="Cambria Math" panose="02040503050406030204" pitchFamily="18" charset="0"/>
              </a:rPr>
              <a:t>-гены функционально обогащены биологически осмысленными путями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Классификатор демонстрирует предсказательную способность </a:t>
            </a:r>
            <a:r>
              <a:rPr lang="ru-RU" sz="2400" dirty="0" err="1">
                <a:ea typeface="Cambria Math" panose="02040503050406030204" pitchFamily="18" charset="0"/>
              </a:rPr>
              <a:t>hub</a:t>
            </a:r>
            <a:r>
              <a:rPr lang="ru-RU" sz="2400" dirty="0">
                <a:ea typeface="Cambria Math" panose="02040503050406030204" pitchFamily="18" charset="0"/>
              </a:rPr>
              <a:t>-генов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Идентифицированы ключевые гены-драйверы подтипов BC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Практики 1–3 завершены — готов полный </a:t>
            </a:r>
            <a:r>
              <a:rPr lang="ru-RU" sz="2400" dirty="0" err="1">
                <a:ea typeface="Cambria Math" panose="02040503050406030204" pitchFamily="18" charset="0"/>
              </a:rPr>
              <a:t>пайплайн</a:t>
            </a:r>
            <a:r>
              <a:rPr lang="ru-RU" sz="2400" dirty="0">
                <a:ea typeface="Cambria Math" panose="02040503050406030204" pitchFamily="18" charset="0"/>
              </a:rPr>
              <a:t> WGCNA</a:t>
            </a:r>
            <a:endParaRPr lang="ru-RU" sz="2400" i="1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423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</TotalTime>
  <Words>1050</Words>
  <Application>Microsoft Office PowerPoint</Application>
  <PresentationFormat>Широкоэкранный</PresentationFormat>
  <Paragraphs>278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103</cp:revision>
  <dcterms:created xsi:type="dcterms:W3CDTF">2025-09-03T07:14:40Z</dcterms:created>
  <dcterms:modified xsi:type="dcterms:W3CDTF">2026-03-31T07:38:41Z</dcterms:modified>
</cp:coreProperties>
</file>