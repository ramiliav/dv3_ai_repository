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68" r:id="rId4"/>
    <p:sldId id="270" r:id="rId5"/>
    <p:sldId id="297" r:id="rId6"/>
    <p:sldId id="301" r:id="rId7"/>
    <p:sldId id="302" r:id="rId8"/>
    <p:sldId id="303" r:id="rId9"/>
    <p:sldId id="304" r:id="rId10"/>
    <p:sldId id="305" r:id="rId11"/>
    <p:sldId id="306" r:id="rId12"/>
    <p:sldId id="307" r:id="rId13"/>
    <p:sldId id="308" r:id="rId14"/>
    <p:sldId id="309" r:id="rId15"/>
    <p:sldId id="310" r:id="rId16"/>
    <p:sldId id="311" r:id="rId17"/>
    <p:sldId id="312" r:id="rId18"/>
    <p:sldId id="313" r:id="rId19"/>
    <p:sldId id="287" r:id="rId20"/>
    <p:sldId id="314" r:id="rId21"/>
    <p:sldId id="300" r:id="rId22"/>
    <p:sldId id="315" r:id="rId23"/>
    <p:sldId id="266" r:id="rId2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Средний стиль 3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0" autoAdjust="0"/>
    <p:restoredTop sz="94660"/>
  </p:normalViewPr>
  <p:slideViewPr>
    <p:cSldViewPr snapToGrid="0">
      <p:cViewPr varScale="1">
        <p:scale>
          <a:sx n="74" d="100"/>
          <a:sy n="74" d="100"/>
        </p:scale>
        <p:origin x="41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9370D-F2D9-4CCE-A730-8C5295B5F53C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235BED-E67C-4CE8-A9D1-79A059B95A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898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9556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4441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17502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94240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02361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986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8708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784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5095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34034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25542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1128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73625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66494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37397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10924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0979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4384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74681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30380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86611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0116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673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760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9021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784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23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43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7441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836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8184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284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88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108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48A2A-B373-4BED-99C6-55213C852137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8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github.com/RamiliaV/DV3_AI_repositor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isk.yandex.ru/d/ZmPrhNRQuNOxZA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0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98;p2">
            <a:extLst>
              <a:ext uri="{FF2B5EF4-FFF2-40B4-BE49-F238E27FC236}">
                <a16:creationId xmlns:a16="http://schemas.microsoft.com/office/drawing/2014/main" id="{0F188103-7B17-734F-BE68-5A893025A082}"/>
              </a:ext>
            </a:extLst>
          </p:cNvPr>
          <p:cNvSpPr txBox="1"/>
          <p:nvPr/>
        </p:nvSpPr>
        <p:spPr>
          <a:xfrm>
            <a:off x="2482607" y="1725043"/>
            <a:ext cx="7997823" cy="4401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Курс ДПП ПП</a:t>
            </a: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Основы биоинформатики и компьютерной биологии</a:t>
            </a:r>
          </a:p>
          <a:p>
            <a:pPr lvl="0" algn="ctr"/>
            <a:endParaRPr lang="ru-RU" sz="2800" b="1" dirty="0">
              <a:solidFill>
                <a:schemeClr val="bg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Алгоритмы искусственного интеллекта в биологии и медицине</a:t>
            </a:r>
          </a:p>
          <a:p>
            <a:pPr lvl="0" algn="ctr"/>
            <a:b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</a:br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Практическое занятие 3. Сетевой анализ и комплексная интерпретация биологических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231862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98A76A24-00EA-EE42-8A4F-846D0D0A92B0}"/>
              </a:ext>
            </a:extLst>
          </p:cNvPr>
          <p:cNvGrpSpPr/>
          <p:nvPr/>
        </p:nvGrpSpPr>
        <p:grpSpPr>
          <a:xfrm>
            <a:off x="-50" y="0"/>
            <a:ext cx="827700" cy="6858000"/>
            <a:chOff x="-50" y="0"/>
            <a:chExt cx="827700" cy="5143500"/>
          </a:xfrm>
        </p:grpSpPr>
        <p:sp>
          <p:nvSpPr>
            <p:cNvPr id="25" name="Google Shape;106;p3">
              <a:extLst>
                <a:ext uri="{FF2B5EF4-FFF2-40B4-BE49-F238E27FC236}">
                  <a16:creationId xmlns:a16="http://schemas.microsoft.com/office/drawing/2014/main" id="{1212ABD6-BB78-564D-90F4-45A9BF52F65A}"/>
                </a:ext>
              </a:extLst>
            </p:cNvPr>
            <p:cNvSpPr/>
            <p:nvPr/>
          </p:nvSpPr>
          <p:spPr>
            <a:xfrm>
              <a:off x="-50" y="0"/>
              <a:ext cx="827700" cy="5143500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8" name="Google Shape;107;p3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C968D678-6F52-2F45-8BE7-5E2313AF23D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87534"/>
              <a:ext cx="553050" cy="4327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109;p3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1F22E8DB-9008-9D4B-9E64-C397CC33A9DA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7087" y="4422472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110;p3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5E9D660B-F40F-CB41-B4B6-62BD62C97A4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87779" y="3741120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" name="Google Shape;111;p3">
              <a:extLst>
                <a:ext uri="{FF2B5EF4-FFF2-40B4-BE49-F238E27FC236}">
                  <a16:creationId xmlns:a16="http://schemas.microsoft.com/office/drawing/2014/main" id="{23A12878-4A5D-E648-A640-94DEA9532F72}"/>
                </a:ext>
              </a:extLst>
            </p:cNvPr>
            <p:cNvSpPr txBox="1"/>
            <p:nvPr/>
          </p:nvSpPr>
          <p:spPr>
            <a:xfrm>
              <a:off x="84051" y="4728776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34" name="Google Shape;112;p3">
              <a:extLst>
                <a:ext uri="{FF2B5EF4-FFF2-40B4-BE49-F238E27FC236}">
                  <a16:creationId xmlns:a16="http://schemas.microsoft.com/office/drawing/2014/main" id="{0525B736-A5F9-A04E-92B8-E50E60AAE2C0}"/>
                </a:ext>
              </a:extLst>
            </p:cNvPr>
            <p:cNvSpPr txBox="1"/>
            <p:nvPr/>
          </p:nvSpPr>
          <p:spPr>
            <a:xfrm>
              <a:off x="84051" y="4083918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37" name="Google Shape;108;p3">
            <a:extLst>
              <a:ext uri="{FF2B5EF4-FFF2-40B4-BE49-F238E27FC236}">
                <a16:creationId xmlns:a16="http://schemas.microsoft.com/office/drawing/2014/main" id="{5493CD04-205D-294C-BD53-0914C34565C1}"/>
              </a:ext>
            </a:extLst>
          </p:cNvPr>
          <p:cNvSpPr txBox="1"/>
          <p:nvPr/>
        </p:nvSpPr>
        <p:spPr>
          <a:xfrm>
            <a:off x="964967" y="220551"/>
            <a:ext cx="734481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00549F"/>
                </a:solidFill>
                <a:latin typeface="PT Sans"/>
                <a:ea typeface="PT Sans"/>
                <a:cs typeface="PT Sans"/>
                <a:sym typeface="PT Sans"/>
              </a:rPr>
              <a:t>Введение</a:t>
            </a:r>
            <a:endParaRPr lang="en-US" dirty="0">
              <a:solidFill>
                <a:srgbClr val="00549F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12" name="Объект 2"/>
          <p:cNvSpPr>
            <a:spLocks noGrp="1"/>
          </p:cNvSpPr>
          <p:nvPr>
            <p:ph idx="1"/>
          </p:nvPr>
        </p:nvSpPr>
        <p:spPr>
          <a:xfrm>
            <a:off x="1043608" y="926349"/>
            <a:ext cx="10562698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b="1" dirty="0"/>
              <a:t>Цели</a:t>
            </a:r>
            <a:r>
              <a:rPr lang="ru-RU" sz="2400" dirty="0"/>
              <a:t>: </a:t>
            </a:r>
          </a:p>
          <a:p>
            <a:pPr algn="just"/>
            <a:r>
              <a:rPr lang="ru-RU" sz="2400" dirty="0"/>
              <a:t>Выполнить функциональное обогащение </a:t>
            </a:r>
            <a:r>
              <a:rPr lang="ru-RU" sz="2400" dirty="0" err="1"/>
              <a:t>hub</a:t>
            </a:r>
            <a:r>
              <a:rPr lang="ru-RU" sz="2400" dirty="0"/>
              <a:t>-генов</a:t>
            </a:r>
          </a:p>
          <a:p>
            <a:pPr algn="just"/>
            <a:r>
              <a:rPr lang="ru-RU" sz="2400" dirty="0"/>
              <a:t>Интерпретировать биологические процессы модулей</a:t>
            </a:r>
          </a:p>
          <a:p>
            <a:pPr algn="just"/>
            <a:r>
              <a:rPr lang="ru-RU" sz="2400" dirty="0"/>
              <a:t>Построить классификатор подтипов BC на основе </a:t>
            </a:r>
            <a:r>
              <a:rPr lang="ru-RU" sz="2400" dirty="0" err="1"/>
              <a:t>hub</a:t>
            </a:r>
            <a:r>
              <a:rPr lang="ru-RU" sz="2400" dirty="0"/>
              <a:t>-генов</a:t>
            </a:r>
          </a:p>
          <a:p>
            <a:pPr algn="just"/>
            <a:r>
              <a:rPr lang="ru-RU" sz="2400" dirty="0"/>
              <a:t>Оценить предсказательную способность модели</a:t>
            </a:r>
          </a:p>
        </p:txBody>
      </p:sp>
    </p:spTree>
    <p:extLst>
      <p:ext uri="{BB962C8B-B14F-4D97-AF65-F5344CB8AC3E}">
        <p14:creationId xmlns:p14="http://schemas.microsoft.com/office/powerpoint/2010/main" val="2824079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Ссылка на скрипт / ноутбук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dirty="0">
                <a:latin typeface="+mj-lt"/>
                <a:ea typeface="Cambria Math" panose="02040503050406030204" pitchFamily="18" charset="0"/>
              </a:rPr>
              <a:t>Ссылка на скрипт </a:t>
            </a:r>
            <a:r>
              <a:rPr lang="en-US" sz="2400" dirty="0">
                <a:latin typeface="+mj-lt"/>
                <a:ea typeface="Cambria Math" panose="02040503050406030204" pitchFamily="18" charset="0"/>
              </a:rPr>
              <a:t>R:</a:t>
            </a:r>
          </a:p>
          <a:p>
            <a:pPr marL="0" indent="0" algn="just">
              <a:buNone/>
            </a:pPr>
            <a:r>
              <a:rPr lang="en-US" sz="2400" dirty="0">
                <a:latin typeface="+mj-lt"/>
                <a:ea typeface="Cambria Math" panose="02040503050406030204" pitchFamily="18" charset="0"/>
                <a:hlinkClick r:id="rId6"/>
              </a:rPr>
              <a:t>https://disk.yandex.ru/d/ZmPrhNRQuNOxZA</a:t>
            </a:r>
            <a:endParaRPr lang="ru-RU" sz="2400" dirty="0">
              <a:latin typeface="+mj-lt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endParaRPr lang="ru-RU" sz="2400" dirty="0">
              <a:latin typeface="+mj-lt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+mj-lt"/>
                <a:ea typeface="Cambria Math" panose="02040503050406030204" pitchFamily="18" charset="0"/>
              </a:rPr>
              <a:t>Ссылка на </a:t>
            </a:r>
            <a:r>
              <a:rPr lang="en-US" sz="2400" dirty="0" err="1">
                <a:latin typeface="+mj-lt"/>
                <a:ea typeface="Cambria Math" panose="02040503050406030204" pitchFamily="18" charset="0"/>
              </a:rPr>
              <a:t>github</a:t>
            </a:r>
            <a:r>
              <a:rPr lang="en-US" sz="2400" dirty="0">
                <a:latin typeface="+mj-lt"/>
                <a:ea typeface="Cambria Math" panose="02040503050406030204" pitchFamily="18" charset="0"/>
              </a:rPr>
              <a:t> (</a:t>
            </a:r>
            <a:r>
              <a:rPr lang="ru-RU" sz="2400" dirty="0">
                <a:latin typeface="+mj-lt"/>
                <a:ea typeface="Cambria Math" panose="02040503050406030204" pitchFamily="18" charset="0"/>
              </a:rPr>
              <a:t>все материалы по ДВ3):</a:t>
            </a:r>
          </a:p>
          <a:p>
            <a:pPr marL="0" indent="0" algn="just">
              <a:buNone/>
            </a:pPr>
            <a:r>
              <a:rPr lang="en-US" sz="2400" dirty="0">
                <a:latin typeface="+mj-lt"/>
                <a:ea typeface="Cambria Math" panose="02040503050406030204" pitchFamily="18" charset="0"/>
                <a:hlinkClick r:id="rId7"/>
              </a:rPr>
              <a:t>https://github.com/RamiliaV/DV3_AI_repository</a:t>
            </a:r>
            <a:endParaRPr lang="en-US" sz="2400" dirty="0">
              <a:latin typeface="+mj-lt"/>
              <a:ea typeface="Cambria Math" panose="02040503050406030204" pitchFamily="18" charset="0"/>
            </a:endParaRPr>
          </a:p>
          <a:p>
            <a:pPr marL="0" indent="0" algn="just">
              <a:buNone/>
            </a:pPr>
            <a:endParaRPr lang="ru-RU" sz="2400" dirty="0">
              <a:latin typeface="+mj-lt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592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Структура 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пайплайна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>
              <a:buNone/>
            </a:pPr>
            <a:r>
              <a:rPr lang="ru-RU" sz="2400" dirty="0">
                <a:effectLst/>
                <a:ea typeface="Cambria Math" panose="02040503050406030204" pitchFamily="18" charset="0"/>
              </a:rPr>
              <a:t>Часть </a:t>
            </a:r>
            <a:r>
              <a:rPr lang="en-US" sz="2400" dirty="0">
                <a:effectLst/>
                <a:ea typeface="Cambria Math" panose="02040503050406030204" pitchFamily="18" charset="0"/>
              </a:rPr>
              <a:t>A: </a:t>
            </a:r>
            <a:r>
              <a:rPr lang="ru-RU" sz="2400" dirty="0">
                <a:effectLst/>
                <a:ea typeface="Cambria Math" panose="02040503050406030204" pitchFamily="18" charset="0"/>
              </a:rPr>
              <a:t>Функциональное обогащение</a:t>
            </a:r>
          </a:p>
          <a:p>
            <a:pPr marL="571500" indent="-342900"/>
            <a:r>
              <a:rPr lang="ru-RU" sz="2400" dirty="0">
                <a:effectLst/>
                <a:ea typeface="Cambria Math" panose="02040503050406030204" pitchFamily="18" charset="0"/>
              </a:rPr>
              <a:t>Этап 1: Загрузка </a:t>
            </a:r>
            <a:r>
              <a:rPr lang="en-US" sz="2400" dirty="0">
                <a:effectLst/>
                <a:ea typeface="Cambria Math" panose="02040503050406030204" pitchFamily="18" charset="0"/>
              </a:rPr>
              <a:t>hub-</a:t>
            </a:r>
            <a:r>
              <a:rPr lang="ru-RU" sz="2400" dirty="0">
                <a:effectLst/>
                <a:ea typeface="Cambria Math" panose="02040503050406030204" pitchFamily="18" charset="0"/>
              </a:rPr>
              <a:t>генов из Практики 2</a:t>
            </a:r>
          </a:p>
          <a:p>
            <a:pPr marL="571500" indent="-342900"/>
            <a:r>
              <a:rPr lang="ru-RU" sz="2400" dirty="0">
                <a:effectLst/>
                <a:ea typeface="Cambria Math" panose="02040503050406030204" pitchFamily="18" charset="0"/>
              </a:rPr>
              <a:t>Этап 2: Обогащение </a:t>
            </a:r>
            <a:r>
              <a:rPr lang="en-US" sz="2400" dirty="0">
                <a:effectLst/>
                <a:ea typeface="Cambria Math" panose="02040503050406030204" pitchFamily="18" charset="0"/>
              </a:rPr>
              <a:t>GO Biological Process</a:t>
            </a:r>
          </a:p>
          <a:p>
            <a:pPr marL="571500" indent="-342900"/>
            <a:r>
              <a:rPr lang="ru-RU" sz="2400" dirty="0">
                <a:effectLst/>
                <a:ea typeface="Cambria Math" panose="02040503050406030204" pitchFamily="18" charset="0"/>
              </a:rPr>
              <a:t>Этап 3: Обогащение </a:t>
            </a:r>
            <a:r>
              <a:rPr lang="en-US" sz="2400" dirty="0">
                <a:effectLst/>
                <a:ea typeface="Cambria Math" panose="02040503050406030204" pitchFamily="18" charset="0"/>
              </a:rPr>
              <a:t>KEGG Pathways</a:t>
            </a:r>
          </a:p>
          <a:p>
            <a:pPr marL="571500" indent="-342900"/>
            <a:r>
              <a:rPr lang="ru-RU" sz="2400" dirty="0">
                <a:effectLst/>
                <a:ea typeface="Cambria Math" panose="02040503050406030204" pitchFamily="18" charset="0"/>
              </a:rPr>
              <a:t>Этап 4: Визуализация топ-15 терминов</a:t>
            </a:r>
          </a:p>
          <a:p>
            <a:pPr indent="0">
              <a:buNone/>
            </a:pPr>
            <a:r>
              <a:rPr lang="ru-RU" sz="2400" dirty="0">
                <a:effectLst/>
                <a:ea typeface="Cambria Math" panose="02040503050406030204" pitchFamily="18" charset="0"/>
              </a:rPr>
              <a:t>Часть </a:t>
            </a:r>
            <a:r>
              <a:rPr lang="en-US" sz="2400" dirty="0">
                <a:effectLst/>
                <a:ea typeface="Cambria Math" panose="02040503050406030204" pitchFamily="18" charset="0"/>
              </a:rPr>
              <a:t>B: </a:t>
            </a:r>
            <a:r>
              <a:rPr lang="ru-RU" sz="2400" dirty="0">
                <a:effectLst/>
                <a:ea typeface="Cambria Math" panose="02040503050406030204" pitchFamily="18" charset="0"/>
              </a:rPr>
              <a:t>Классификатор подтипов</a:t>
            </a:r>
          </a:p>
          <a:p>
            <a:pPr marL="571500" indent="-342900"/>
            <a:r>
              <a:rPr lang="ru-RU" sz="2400" dirty="0">
                <a:effectLst/>
                <a:ea typeface="Cambria Math" panose="02040503050406030204" pitchFamily="18" charset="0"/>
              </a:rPr>
              <a:t>Этап 5: Матрица признаков (экспрессия </a:t>
            </a:r>
            <a:r>
              <a:rPr lang="en-US" sz="2400" dirty="0">
                <a:effectLst/>
                <a:ea typeface="Cambria Math" panose="02040503050406030204" pitchFamily="18" charset="0"/>
              </a:rPr>
              <a:t>hub-</a:t>
            </a:r>
            <a:r>
              <a:rPr lang="ru-RU" sz="2400" dirty="0">
                <a:effectLst/>
                <a:ea typeface="Cambria Math" panose="02040503050406030204" pitchFamily="18" charset="0"/>
              </a:rPr>
              <a:t>генов)</a:t>
            </a:r>
          </a:p>
          <a:p>
            <a:pPr marL="571500" indent="-342900"/>
            <a:r>
              <a:rPr lang="ru-RU" sz="2400" dirty="0">
                <a:effectLst/>
                <a:ea typeface="Cambria Math" panose="02040503050406030204" pitchFamily="18" charset="0"/>
              </a:rPr>
              <a:t>Этап 6: Обучение </a:t>
            </a:r>
            <a:r>
              <a:rPr lang="en-US" sz="2400" dirty="0">
                <a:effectLst/>
                <a:ea typeface="Cambria Math" panose="02040503050406030204" pitchFamily="18" charset="0"/>
              </a:rPr>
              <a:t>Random Forest</a:t>
            </a:r>
          </a:p>
          <a:p>
            <a:pPr marL="571500" indent="-342900"/>
            <a:r>
              <a:rPr lang="ru-RU" sz="2400" dirty="0">
                <a:effectLst/>
                <a:ea typeface="Cambria Math" panose="02040503050406030204" pitchFamily="18" charset="0"/>
              </a:rPr>
              <a:t>Этап 7: Оценка качества и </a:t>
            </a:r>
            <a:r>
              <a:rPr lang="en-US" sz="2400" dirty="0">
                <a:effectLst/>
                <a:ea typeface="Cambria Math" panose="02040503050406030204" pitchFamily="18" charset="0"/>
              </a:rPr>
              <a:t>feature importance</a:t>
            </a:r>
            <a:endParaRPr lang="en-US" sz="2400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833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Исходные данные</a:t>
              </a:r>
              <a:endParaRPr lang="en-US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Исходные данные из Практики 2:</a:t>
            </a:r>
          </a:p>
          <a:p>
            <a:pPr marL="571500" indent="-342900"/>
            <a:r>
              <a:rPr lang="en-US" sz="2000" dirty="0" err="1">
                <a:effectLst/>
                <a:ea typeface="Cambria Math" panose="02040503050406030204" pitchFamily="18" charset="0"/>
              </a:rPr>
              <a:t>hub_genes</a:t>
            </a:r>
            <a:r>
              <a:rPr lang="en-US" sz="2000" dirty="0">
                <a:effectLst/>
                <a:ea typeface="Cambria Math" panose="02040503050406030204" pitchFamily="18" charset="0"/>
              </a:rPr>
              <a:t>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топ-20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hub-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генов с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HGNC-</a:t>
            </a:r>
            <a:r>
              <a:rPr lang="ru-RU" sz="2000" dirty="0">
                <a:effectLst/>
                <a:ea typeface="Cambria Math" panose="02040503050406030204" pitchFamily="18" charset="0"/>
              </a:rPr>
              <a:t>символами и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kME</a:t>
            </a:r>
          </a:p>
          <a:p>
            <a:pPr marL="571500" indent="-342900"/>
            <a:r>
              <a:rPr lang="en-US" sz="2000" dirty="0" err="1">
                <a:effectLst/>
                <a:ea typeface="Cambria Math" panose="02040503050406030204" pitchFamily="18" charset="0"/>
              </a:rPr>
              <a:t>datExpr</a:t>
            </a:r>
            <a:r>
              <a:rPr lang="en-US" sz="2000" dirty="0">
                <a:effectLst/>
                <a:ea typeface="Cambria Math" panose="02040503050406030204" pitchFamily="18" charset="0"/>
              </a:rPr>
              <a:t>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матрица экспрессии (для классификатора)</a:t>
            </a:r>
          </a:p>
          <a:p>
            <a:pPr marL="571500" indent="-342900"/>
            <a:r>
              <a:rPr lang="en-US" sz="2000" dirty="0">
                <a:effectLst/>
                <a:ea typeface="Cambria Math" panose="02040503050406030204" pitchFamily="18" charset="0"/>
              </a:rPr>
              <a:t>subtype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вектор подтипов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BC</a:t>
            </a:r>
          </a:p>
          <a:p>
            <a:pPr marL="571500" indent="-342900"/>
            <a:r>
              <a:rPr lang="en-US" sz="2000" dirty="0" err="1">
                <a:effectLst/>
                <a:ea typeface="Cambria Math" panose="02040503050406030204" pitchFamily="18" charset="0"/>
              </a:rPr>
              <a:t>target_module</a:t>
            </a:r>
            <a:r>
              <a:rPr lang="en-US" sz="2000" dirty="0">
                <a:effectLst/>
                <a:ea typeface="Cambria Math" panose="02040503050406030204" pitchFamily="18" charset="0"/>
              </a:rPr>
              <a:t>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цвет целевого модуля</a:t>
            </a:r>
          </a:p>
          <a:p>
            <a:pPr indent="0" algn="l">
              <a:buNone/>
            </a:pPr>
            <a:endParaRPr lang="ru-RU" sz="2000" dirty="0">
              <a:effectLst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Файлы: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GSE45827_modules.RData, hub_genes_GSE45827.csv</a:t>
            </a:r>
            <a:endParaRPr lang="ru-RU" sz="2000" dirty="0">
              <a:effectLst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184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Что такое функциональное обогащение?</a:t>
              </a:r>
              <a:endParaRPr lang="en-US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Функциональное обогащение (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enrichment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analysis</a:t>
            </a:r>
            <a:r>
              <a:rPr lang="ru-RU" sz="2000" dirty="0">
                <a:effectLst/>
                <a:ea typeface="Cambria Math" panose="02040503050406030204" pitchFamily="18" charset="0"/>
              </a:rPr>
              <a:t>)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Статистический метод для выявления биологических процессов, путей или молекулярных функций, значимо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переобогащённых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в списке генов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Вопрос: Участвуют ли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hub</a:t>
            </a:r>
            <a:r>
              <a:rPr lang="ru-RU" sz="2000" dirty="0">
                <a:effectLst/>
                <a:ea typeface="Cambria Math" panose="02040503050406030204" pitchFamily="18" charset="0"/>
              </a:rPr>
              <a:t>-гены в общих биологических путях чаще, чем ожидается случайно?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Ответ: p-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value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&lt; 0.05 → термин статистически значим</a:t>
            </a:r>
          </a:p>
        </p:txBody>
      </p:sp>
    </p:spTree>
    <p:extLst>
      <p:ext uri="{BB962C8B-B14F-4D97-AF65-F5344CB8AC3E}">
        <p14:creationId xmlns:p14="http://schemas.microsoft.com/office/powerpoint/2010/main" val="3128167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GO Biological Process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en-US" sz="2000" dirty="0">
                <a:effectLst/>
                <a:ea typeface="Cambria Math" panose="02040503050406030204" pitchFamily="18" charset="0"/>
              </a:rPr>
              <a:t>Gene Ontology: Biological Process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Иерархическая онтология биологических процессов (клеточных, метаболических, сигнальных)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База: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GO Biological Process 2023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Метод: Гипергеометрический тест + коррекция </a:t>
            </a:r>
            <a:r>
              <a:rPr lang="en-US" sz="2000" dirty="0" err="1">
                <a:effectLst/>
                <a:ea typeface="Cambria Math" panose="02040503050406030204" pitchFamily="18" charset="0"/>
              </a:rPr>
              <a:t>Benjamini</a:t>
            </a:r>
            <a:r>
              <a:rPr lang="en-US" sz="2000" dirty="0">
                <a:effectLst/>
                <a:ea typeface="Cambria Math" panose="02040503050406030204" pitchFamily="18" charset="0"/>
              </a:rPr>
              <a:t>-Hochberg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Результат: Список терминов с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adj. p-value &lt; 0.05</a:t>
            </a:r>
            <a:endParaRPr lang="ru-RU" sz="2000" dirty="0">
              <a:effectLst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1037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KEGG Pathways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en-US" sz="2000" dirty="0">
                <a:effectLst/>
                <a:ea typeface="Cambria Math" panose="02040503050406030204" pitchFamily="18" charset="0"/>
              </a:rPr>
              <a:t>KEGG: Kyoto Encyclopedia of Genes and Genomes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База сигнальных и метаболических путей с экспериментальной валидацией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База: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KEGG 2021 Human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Преимущества: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Pathway-</a:t>
            </a:r>
            <a:r>
              <a:rPr lang="ru-RU" sz="2000" dirty="0">
                <a:effectLst/>
                <a:ea typeface="Cambria Math" panose="02040503050406030204" pitchFamily="18" charset="0"/>
              </a:rPr>
              <a:t>уровень интерпретации, визуализация на схемах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KEGG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Типичные пути: клеточный цикл,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apoptosis, PI3K-Akt, MAPK</a:t>
            </a:r>
            <a:endParaRPr lang="ru-RU" sz="2000" dirty="0">
              <a:effectLst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937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Инструмент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enrichR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en-US" sz="2000" dirty="0">
                <a:effectLst/>
                <a:ea typeface="Cambria Math" panose="02040503050406030204" pitchFamily="18" charset="0"/>
              </a:rPr>
              <a:t>enrichR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веб-инструмент и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R-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пакет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Интерфейс к 200+ базам обогащения (</a:t>
            </a:r>
            <a:r>
              <a:rPr lang="en-US" sz="2000" dirty="0">
                <a:effectLst/>
                <a:ea typeface="Cambria Math" panose="02040503050406030204" pitchFamily="18" charset="0"/>
              </a:rPr>
              <a:t>GO, KEGG, </a:t>
            </a:r>
            <a:r>
              <a:rPr lang="en-US" sz="2000" dirty="0" err="1">
                <a:effectLst/>
                <a:ea typeface="Cambria Math" panose="02040503050406030204" pitchFamily="18" charset="0"/>
              </a:rPr>
              <a:t>Reactome</a:t>
            </a:r>
            <a:r>
              <a:rPr lang="en-US" sz="2000" dirty="0">
                <a:effectLst/>
                <a:ea typeface="Cambria Math" panose="02040503050406030204" pitchFamily="18" charset="0"/>
              </a:rPr>
              <a:t>, </a:t>
            </a:r>
            <a:r>
              <a:rPr lang="en-US" sz="2000" dirty="0" err="1">
                <a:effectLst/>
                <a:ea typeface="Cambria Math" panose="02040503050406030204" pitchFamily="18" charset="0"/>
              </a:rPr>
              <a:t>WikiPathways</a:t>
            </a:r>
            <a:r>
              <a:rPr lang="en-US" sz="2000" dirty="0">
                <a:effectLst/>
                <a:ea typeface="Cambria Math" panose="02040503050406030204" pitchFamily="18" charset="0"/>
              </a:rPr>
              <a:t>)</a:t>
            </a:r>
          </a:p>
          <a:p>
            <a:pPr indent="0" algn="l">
              <a:buNone/>
            </a:pPr>
            <a:r>
              <a:rPr lang="en-US" sz="2000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enrichr</a:t>
            </a:r>
            <a:r>
              <a:rPr lang="en-US" sz="2000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sz="2000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hub_symbols</a:t>
            </a:r>
            <a:r>
              <a:rPr lang="en-US" sz="2000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sz="2000" i="1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dbs</a:t>
            </a:r>
            <a:r>
              <a:rPr lang="en-US" sz="2000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  <a:endParaRPr lang="ru-RU" sz="2000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indent="0" algn="l">
              <a:buNone/>
            </a:pPr>
            <a:endParaRPr lang="en-US" sz="2000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Альтернатива: </a:t>
            </a:r>
            <a:r>
              <a:rPr lang="en-US" sz="2000" dirty="0" err="1">
                <a:effectLst/>
                <a:ea typeface="Cambria Math" panose="02040503050406030204" pitchFamily="18" charset="0"/>
              </a:rPr>
              <a:t>clusterProfiler</a:t>
            </a:r>
            <a:r>
              <a:rPr lang="en-US" sz="2000" dirty="0">
                <a:effectLst/>
                <a:ea typeface="Cambria Math" panose="02040503050406030204" pitchFamily="18" charset="0"/>
              </a:rPr>
              <a:t> (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локальные базы, больше контроля)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Требование: интернет-соединение</a:t>
            </a:r>
          </a:p>
          <a:p>
            <a:pPr indent="0" algn="l">
              <a:buNone/>
            </a:pPr>
            <a:endParaRPr lang="ru-RU" sz="2000" dirty="0">
              <a:effectLst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27174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Интерпретация результатов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GO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Топ-15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GO Biological Process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терминов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Что смотрим:</a:t>
            </a:r>
          </a:p>
          <a:p>
            <a:pPr marL="571500" indent="-342900"/>
            <a:r>
              <a:rPr lang="en-US" sz="2000" dirty="0">
                <a:effectLst/>
                <a:ea typeface="Cambria Math" panose="02040503050406030204" pitchFamily="18" charset="0"/>
              </a:rPr>
              <a:t>Adjusted p-value &lt; 0.05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статистическая значимость</a:t>
            </a:r>
          </a:p>
          <a:p>
            <a:pPr marL="571500" indent="-342900"/>
            <a:r>
              <a:rPr lang="en-US" sz="2000" dirty="0">
                <a:effectLst/>
                <a:ea typeface="Cambria Math" panose="02040503050406030204" pitchFamily="18" charset="0"/>
              </a:rPr>
              <a:t>Overlap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доля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hub-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генов в термине (например, 5/200)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Биологическая осмысленность для подтипов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BC</a:t>
            </a:r>
            <a:endParaRPr lang="ru-RU" sz="2000" dirty="0">
              <a:effectLst/>
              <a:ea typeface="Cambria Math" panose="02040503050406030204" pitchFamily="18" charset="0"/>
            </a:endParaRPr>
          </a:p>
          <a:p>
            <a:pPr marL="571500" indent="-342900"/>
            <a:endParaRPr lang="en-US" sz="2000" dirty="0">
              <a:effectLst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Типичные термины: клеточная пролиферация, апоптоз, регуляция транскрипции, иммунный ответ</a:t>
            </a:r>
          </a:p>
        </p:txBody>
      </p:sp>
    </p:spTree>
    <p:extLst>
      <p:ext uri="{BB962C8B-B14F-4D97-AF65-F5344CB8AC3E}">
        <p14:creationId xmlns:p14="http://schemas.microsoft.com/office/powerpoint/2010/main" val="4062589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Интерпретация результатов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KEGG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Топ-15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KEGG Pathways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Контексты рака молочной железы:</a:t>
            </a:r>
          </a:p>
          <a:p>
            <a:pPr marL="571500" indent="-342900"/>
            <a:r>
              <a:rPr lang="en-US" sz="2000" dirty="0">
                <a:effectLst/>
                <a:ea typeface="Cambria Math" panose="02040503050406030204" pitchFamily="18" charset="0"/>
              </a:rPr>
              <a:t>PI3K-Akt signaling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пролиферация, выживание</a:t>
            </a:r>
          </a:p>
          <a:p>
            <a:pPr marL="571500" indent="-342900"/>
            <a:r>
              <a:rPr lang="en-US" sz="2000" dirty="0">
                <a:effectLst/>
                <a:ea typeface="Cambria Math" panose="02040503050406030204" pitchFamily="18" charset="0"/>
              </a:rPr>
              <a:t>Cell cycle — G1/S checkpoint,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митоз</a:t>
            </a:r>
          </a:p>
          <a:p>
            <a:pPr marL="571500" indent="-342900"/>
            <a:r>
              <a:rPr lang="en-US" sz="2000" dirty="0">
                <a:effectLst/>
                <a:ea typeface="Cambria Math" panose="02040503050406030204" pitchFamily="18" charset="0"/>
              </a:rPr>
              <a:t>p53 pathway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апоптоз,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DNA damage response</a:t>
            </a:r>
          </a:p>
          <a:p>
            <a:pPr marL="571500" indent="-342900"/>
            <a:r>
              <a:rPr lang="en-US" sz="2000" dirty="0">
                <a:effectLst/>
                <a:ea typeface="Cambria Math" panose="02040503050406030204" pitchFamily="18" charset="0"/>
              </a:rPr>
              <a:t>ECM-receptor interaction —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метастазирование</a:t>
            </a:r>
          </a:p>
          <a:p>
            <a:pPr indent="0" algn="l">
              <a:buNone/>
            </a:pPr>
            <a:endParaRPr lang="ru-RU" sz="2000" dirty="0">
              <a:effectLst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en-US" sz="2000" dirty="0">
                <a:effectLst/>
                <a:ea typeface="Cambria Math" panose="02040503050406030204" pitchFamily="18" charset="0"/>
              </a:rPr>
              <a:t>Pathway-</a:t>
            </a:r>
            <a:r>
              <a:rPr lang="ru-RU" sz="2000" dirty="0">
                <a:effectLst/>
                <a:ea typeface="Cambria Math" panose="02040503050406030204" pitchFamily="18" charset="0"/>
              </a:rPr>
              <a:t>специфичность по подтипам — например,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TNBC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часто ассоциирован с клеточным циклом</a:t>
            </a:r>
          </a:p>
        </p:txBody>
      </p:sp>
    </p:spTree>
    <p:extLst>
      <p:ext uri="{BB962C8B-B14F-4D97-AF65-F5344CB8AC3E}">
        <p14:creationId xmlns:p14="http://schemas.microsoft.com/office/powerpoint/2010/main" val="13081748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Визуализация обогащения</a:t>
              </a:r>
              <a:endParaRPr lang="en-US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Barplot топ-15 терминов</a:t>
            </a:r>
          </a:p>
          <a:p>
            <a:pPr indent="0" algn="l">
              <a:buNone/>
            </a:pPr>
            <a:endParaRPr lang="ru-RU" sz="2000" dirty="0">
              <a:effectLst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Ось X: -log10(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adj</a:t>
            </a:r>
            <a:r>
              <a:rPr lang="ru-RU" sz="2000" dirty="0">
                <a:effectLst/>
                <a:ea typeface="Cambria Math" panose="02040503050406030204" pitchFamily="18" charset="0"/>
              </a:rPr>
              <a:t>. p-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value</a:t>
            </a:r>
            <a:r>
              <a:rPr lang="ru-RU" sz="2000" dirty="0">
                <a:effectLst/>
                <a:ea typeface="Cambria Math" panose="02040503050406030204" pitchFamily="18" charset="0"/>
              </a:rPr>
              <a:t>) — чем выше, тем значимее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Ось Y: названия терминов (укороченные до 50 символов)</a:t>
            </a:r>
          </a:p>
        </p:txBody>
      </p:sp>
    </p:spTree>
    <p:extLst>
      <p:ext uri="{BB962C8B-B14F-4D97-AF65-F5344CB8AC3E}">
        <p14:creationId xmlns:p14="http://schemas.microsoft.com/office/powerpoint/2010/main" val="2975195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Классификатор подтипов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BC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Задача машинного обучения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Предсказать молекулярный подтип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BC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по экспрессии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hub-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генов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Признаки: экспрессия 20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hub-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генов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Метка: 5 классов (</a:t>
            </a:r>
            <a:r>
              <a:rPr lang="en-US" sz="2000" dirty="0">
                <a:effectLst/>
                <a:ea typeface="Cambria Math" panose="02040503050406030204" pitchFamily="18" charset="0"/>
              </a:rPr>
              <a:t>TNBC, HER2+, </a:t>
            </a:r>
            <a:r>
              <a:rPr lang="en-US" sz="2000" dirty="0" err="1">
                <a:effectLst/>
                <a:ea typeface="Cambria Math" panose="02040503050406030204" pitchFamily="18" charset="0"/>
              </a:rPr>
              <a:t>LumA</a:t>
            </a:r>
            <a:r>
              <a:rPr lang="en-US" sz="2000" dirty="0">
                <a:effectLst/>
                <a:ea typeface="Cambria Math" panose="02040503050406030204" pitchFamily="18" charset="0"/>
              </a:rPr>
              <a:t>, </a:t>
            </a:r>
            <a:r>
              <a:rPr lang="en-US" sz="2000" dirty="0" err="1">
                <a:effectLst/>
                <a:ea typeface="Cambria Math" panose="02040503050406030204" pitchFamily="18" charset="0"/>
              </a:rPr>
              <a:t>LumB</a:t>
            </a:r>
            <a:r>
              <a:rPr lang="en-US" sz="2000" dirty="0">
                <a:effectLst/>
                <a:ea typeface="Cambria Math" panose="02040503050406030204" pitchFamily="18" charset="0"/>
              </a:rPr>
              <a:t>,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норма)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Модель: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Random Forest (500 </a:t>
            </a:r>
            <a:r>
              <a:rPr lang="ru-RU" sz="2000" dirty="0">
                <a:effectLst/>
                <a:ea typeface="Cambria Math" panose="02040503050406030204" pitchFamily="18" charset="0"/>
              </a:rPr>
              <a:t>деревьев)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Метрики: </a:t>
            </a:r>
            <a:r>
              <a:rPr lang="en-US" sz="2000" dirty="0">
                <a:effectLst/>
                <a:ea typeface="Cambria Math" panose="02040503050406030204" pitchFamily="18" charset="0"/>
              </a:rPr>
              <a:t>Accuracy, Macro F1, Confusion Matrix</a:t>
            </a:r>
            <a:endParaRPr lang="ru-RU" sz="2000" dirty="0">
              <a:effectLst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628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Random Forest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Random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Forest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— ансамбль решающих деревьев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Преимущества: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Робастность к переобучению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Автоматический отбор признаков</a:t>
            </a:r>
          </a:p>
          <a:p>
            <a:pPr marL="571500" indent="-342900"/>
            <a:r>
              <a:rPr lang="ru-RU" sz="2000" dirty="0" err="1">
                <a:effectLst/>
                <a:ea typeface="Cambria Math" panose="02040503050406030204" pitchFamily="18" charset="0"/>
              </a:rPr>
              <a:t>Feature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importance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— ранжирование генов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Работает с малыми выборками</a:t>
            </a:r>
          </a:p>
          <a:p>
            <a:pPr indent="0" algn="l">
              <a:buNone/>
            </a:pPr>
            <a:endParaRPr lang="ru-RU" sz="2000" dirty="0">
              <a:effectLst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ru-RU" sz="2000" dirty="0" err="1">
                <a:effectLst/>
                <a:ea typeface="Cambria Math" panose="02040503050406030204" pitchFamily="18" charset="0"/>
              </a:rPr>
              <a:t>Гиперпараметры</a:t>
            </a:r>
            <a:r>
              <a:rPr lang="ru-RU" sz="2000" dirty="0">
                <a:effectLst/>
                <a:ea typeface="Cambria Math" panose="02040503050406030204" pitchFamily="18" charset="0"/>
              </a:rPr>
              <a:t>: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ntree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= 500,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mtry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= √p (типично 4-5 для 20 генов)</a:t>
            </a:r>
          </a:p>
        </p:txBody>
      </p:sp>
    </p:spTree>
    <p:extLst>
      <p:ext uri="{BB962C8B-B14F-4D97-AF65-F5344CB8AC3E}">
        <p14:creationId xmlns:p14="http://schemas.microsoft.com/office/powerpoint/2010/main" val="91987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Train Test split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Разбивка выборки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75% обучающая (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train</a:t>
            </a:r>
            <a:r>
              <a:rPr lang="ru-RU" sz="2000" dirty="0">
                <a:effectLst/>
                <a:ea typeface="Cambria Math" panose="02040503050406030204" pitchFamily="18" charset="0"/>
              </a:rPr>
              <a:t>) / 25% тестовая (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test</a:t>
            </a:r>
            <a:r>
              <a:rPr lang="ru-RU" sz="2000" dirty="0">
                <a:effectLst/>
                <a:ea typeface="Cambria Math" panose="02040503050406030204" pitchFamily="18" charset="0"/>
              </a:rPr>
              <a:t>)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Стратификация: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createDataPartition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сохраняет пропорции классов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Цель: оценка обобщающей способности на независимых данных</a:t>
            </a:r>
          </a:p>
          <a:p>
            <a:pPr indent="0" algn="l">
              <a:buNone/>
            </a:pPr>
            <a:endParaRPr lang="ru-RU" sz="2000" dirty="0">
              <a:effectLst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Типичное распределение: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train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~103,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test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~34 образца</a:t>
            </a:r>
          </a:p>
        </p:txBody>
      </p:sp>
    </p:spTree>
    <p:extLst>
      <p:ext uri="{BB962C8B-B14F-4D97-AF65-F5344CB8AC3E}">
        <p14:creationId xmlns:p14="http://schemas.microsoft.com/office/powerpoint/2010/main" val="16712730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Confusion Matrix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Матрица ошибок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Строки — истинные подтипы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Столбцы — предсказанные подтипы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Диагональ — правильные классификации</a:t>
            </a:r>
          </a:p>
          <a:p>
            <a:pPr indent="0" algn="l">
              <a:buNone/>
            </a:pPr>
            <a:endParaRPr lang="ru-RU" sz="2000" dirty="0">
              <a:effectLst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Интерпретация: Какие подтипы путаются?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LumA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vs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LumB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— ожидаемо, биологически близки</a:t>
            </a:r>
          </a:p>
        </p:txBody>
      </p:sp>
    </p:spTree>
    <p:extLst>
      <p:ext uri="{BB962C8B-B14F-4D97-AF65-F5344CB8AC3E}">
        <p14:creationId xmlns:p14="http://schemas.microsoft.com/office/powerpoint/2010/main" val="31430610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Feature Importance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Mean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Decrease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Gini</a:t>
            </a:r>
            <a:endParaRPr lang="ru-RU" sz="2000" dirty="0">
              <a:effectLst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Мера вклада каждого гена в снижение неопределённости классификации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Топ гены с высоким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importance</a:t>
            </a:r>
            <a:r>
              <a:rPr lang="ru-RU" sz="2000" dirty="0">
                <a:effectLst/>
                <a:ea typeface="Cambria Math" panose="02040503050406030204" pitchFamily="18" charset="0"/>
              </a:rPr>
              <a:t>: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Центральные узлы модуля (высокий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kME</a:t>
            </a:r>
            <a:r>
              <a:rPr lang="ru-RU" sz="2000" dirty="0">
                <a:effectLst/>
                <a:ea typeface="Cambria Math" panose="02040503050406030204" pitchFamily="18" charset="0"/>
              </a:rPr>
              <a:t>)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Дифференциально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экспрессированные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между подтипами</a:t>
            </a:r>
          </a:p>
          <a:p>
            <a:pPr marL="571500" indent="-342900"/>
            <a:r>
              <a:rPr lang="ru-RU" sz="2000" dirty="0">
                <a:effectLst/>
                <a:ea typeface="Cambria Math" panose="02040503050406030204" pitchFamily="18" charset="0"/>
              </a:rPr>
              <a:t>Потенциальные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биомаркеры</a:t>
            </a:r>
            <a:endParaRPr lang="ru-RU" sz="2000" dirty="0">
              <a:effectLst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00873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Метрики качества</a:t>
              </a:r>
              <a:endParaRPr lang="en-US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1">
            <a:normAutofit/>
          </a:bodyPr>
          <a:lstStyle/>
          <a:p>
            <a:pPr indent="0" algn="l">
              <a:buNone/>
            </a:pPr>
            <a:r>
              <a:rPr lang="ru-RU" sz="2000" dirty="0" err="1">
                <a:effectLst/>
                <a:ea typeface="Cambria Math" panose="02040503050406030204" pitchFamily="18" charset="0"/>
              </a:rPr>
              <a:t>Overall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Accuracy</a:t>
            </a:r>
            <a:endParaRPr lang="ru-RU" sz="2000" dirty="0">
              <a:effectLst/>
              <a:ea typeface="Cambria Math" panose="02040503050406030204" pitchFamily="18" charset="0"/>
            </a:endParaRP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Доля правильно классифицированных образцов (все классы)</a:t>
            </a:r>
          </a:p>
          <a:p>
            <a:pPr indent="0" algn="l">
              <a:buNone/>
            </a:pPr>
            <a:r>
              <a:rPr lang="ru-RU" sz="2000" dirty="0" err="1">
                <a:effectLst/>
                <a:ea typeface="Cambria Math" panose="02040503050406030204" pitchFamily="18" charset="0"/>
              </a:rPr>
              <a:t>Macro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F1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Среднее гармоническое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precision</a:t>
            </a:r>
            <a:r>
              <a:rPr lang="ru-RU" sz="2000" dirty="0">
                <a:effectLst/>
                <a:ea typeface="Cambria Math" panose="02040503050406030204" pitchFamily="18" charset="0"/>
              </a:rPr>
              <a:t>/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recall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по всем классам (учитывает дисбаланс)</a:t>
            </a:r>
          </a:p>
          <a:p>
            <a:pPr indent="0" algn="l">
              <a:buNone/>
            </a:pPr>
            <a:r>
              <a:rPr lang="ru-RU" sz="2000" dirty="0">
                <a:effectLst/>
                <a:ea typeface="Cambria Math" panose="02040503050406030204" pitchFamily="18" charset="0"/>
              </a:rPr>
              <a:t>Типичные значения: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Accuracy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0.70–0.85, </a:t>
            </a:r>
            <a:r>
              <a:rPr lang="ru-RU" sz="2000" dirty="0" err="1">
                <a:effectLst/>
                <a:ea typeface="Cambria Math" panose="02040503050406030204" pitchFamily="18" charset="0"/>
              </a:rPr>
              <a:t>Macro</a:t>
            </a:r>
            <a:r>
              <a:rPr lang="ru-RU" sz="2000" dirty="0">
                <a:effectLst/>
                <a:ea typeface="Cambria Math" panose="02040503050406030204" pitchFamily="18" charset="0"/>
              </a:rPr>
              <a:t> F1 0.65–0.80 на 20 генах</a:t>
            </a:r>
          </a:p>
        </p:txBody>
      </p:sp>
    </p:spTree>
    <p:extLst>
      <p:ext uri="{BB962C8B-B14F-4D97-AF65-F5344CB8AC3E}">
        <p14:creationId xmlns:p14="http://schemas.microsoft.com/office/powerpoint/2010/main" val="3308654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Связь с Заданием 8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Часть A напрямую реализует требования Задания 8:</a:t>
            </a: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GO BP и KEGG обогащение</a:t>
            </a: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Визуализация </a:t>
            </a:r>
            <a:r>
              <a:rPr lang="ru-RU" sz="2400" dirty="0" err="1">
                <a:ea typeface="Cambria Math" panose="02040503050406030204" pitchFamily="18" charset="0"/>
              </a:rPr>
              <a:t>барплотов</a:t>
            </a:r>
            <a:endParaRPr lang="ru-RU" sz="2400" dirty="0">
              <a:ea typeface="Cambria Math" panose="02040503050406030204" pitchFamily="18" charset="0"/>
            </a:endParaRP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Таблицы с </a:t>
            </a:r>
            <a:r>
              <a:rPr lang="ru-RU" sz="2400" dirty="0" err="1">
                <a:ea typeface="Cambria Math" panose="02040503050406030204" pitchFamily="18" charset="0"/>
              </a:rPr>
              <a:t>adj</a:t>
            </a:r>
            <a:r>
              <a:rPr lang="ru-RU" sz="2400" dirty="0">
                <a:ea typeface="Cambria Math" panose="02040503050406030204" pitchFamily="18" charset="0"/>
              </a:rPr>
              <a:t>. p-</a:t>
            </a:r>
            <a:r>
              <a:rPr lang="ru-RU" sz="2400" dirty="0" err="1">
                <a:ea typeface="Cambria Math" panose="02040503050406030204" pitchFamily="18" charset="0"/>
              </a:rPr>
              <a:t>value</a:t>
            </a:r>
            <a:endParaRPr lang="ru-RU" sz="2400" dirty="0"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9907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Потенциальные сложности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Потенциальные сложности</a:t>
            </a:r>
          </a:p>
          <a:p>
            <a:pPr algn="just">
              <a:tabLst>
                <a:tab pos="180975" algn="l"/>
              </a:tabLst>
            </a:pPr>
            <a:r>
              <a:rPr lang="ru-RU" sz="2400" dirty="0" err="1">
                <a:ea typeface="Cambria Math" panose="02040503050406030204" pitchFamily="18" charset="0"/>
              </a:rPr>
              <a:t>enrichR</a:t>
            </a:r>
            <a:r>
              <a:rPr lang="ru-RU" sz="2400" dirty="0">
                <a:ea typeface="Cambria Math" panose="02040503050406030204" pitchFamily="18" charset="0"/>
              </a:rPr>
              <a:t> требует интернета — альтернатива </a:t>
            </a:r>
            <a:r>
              <a:rPr lang="ru-RU" sz="2400" dirty="0" err="1">
                <a:ea typeface="Cambria Math" panose="02040503050406030204" pitchFamily="18" charset="0"/>
              </a:rPr>
              <a:t>clusterProfiler</a:t>
            </a:r>
            <a:endParaRPr lang="ru-RU" sz="2400" dirty="0">
              <a:ea typeface="Cambria Math" panose="02040503050406030204" pitchFamily="18" charset="0"/>
            </a:endParaRP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Малое число </a:t>
            </a:r>
            <a:r>
              <a:rPr lang="ru-RU" sz="2400" dirty="0" err="1">
                <a:ea typeface="Cambria Math" panose="02040503050406030204" pitchFamily="18" charset="0"/>
              </a:rPr>
              <a:t>hub</a:t>
            </a:r>
            <a:r>
              <a:rPr lang="ru-RU" sz="2400" dirty="0">
                <a:ea typeface="Cambria Math" panose="02040503050406030204" pitchFamily="18" charset="0"/>
              </a:rPr>
              <a:t>-генов (&lt;10) → низкая мощность теста</a:t>
            </a: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Все </a:t>
            </a:r>
            <a:r>
              <a:rPr lang="ru-RU" sz="2400" dirty="0" err="1">
                <a:ea typeface="Cambria Math" panose="02040503050406030204" pitchFamily="18" charset="0"/>
              </a:rPr>
              <a:t>adj</a:t>
            </a:r>
            <a:r>
              <a:rPr lang="ru-RU" sz="2400" dirty="0">
                <a:ea typeface="Cambria Math" panose="02040503050406030204" pitchFamily="18" charset="0"/>
              </a:rPr>
              <a:t>. p-</a:t>
            </a:r>
            <a:r>
              <a:rPr lang="ru-RU" sz="2400" dirty="0" err="1">
                <a:ea typeface="Cambria Math" panose="02040503050406030204" pitchFamily="18" charset="0"/>
              </a:rPr>
              <a:t>value</a:t>
            </a:r>
            <a:r>
              <a:rPr lang="ru-RU" sz="2400" dirty="0">
                <a:ea typeface="Cambria Math" panose="02040503050406030204" pitchFamily="18" charset="0"/>
              </a:rPr>
              <a:t> &gt; 0.05 → взять топ-15 по сырому p-</a:t>
            </a:r>
            <a:r>
              <a:rPr lang="ru-RU" sz="2400" dirty="0" err="1">
                <a:ea typeface="Cambria Math" panose="02040503050406030204" pitchFamily="18" charset="0"/>
              </a:rPr>
              <a:t>value</a:t>
            </a:r>
            <a:endParaRPr lang="ru-RU" sz="2400" dirty="0">
              <a:ea typeface="Cambria Math" panose="02040503050406030204" pitchFamily="18" charset="0"/>
            </a:endParaRP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Дисбаланс классов в </a:t>
            </a:r>
            <a:r>
              <a:rPr lang="ru-RU" sz="2400" dirty="0" err="1">
                <a:ea typeface="Cambria Math" panose="02040503050406030204" pitchFamily="18" charset="0"/>
              </a:rPr>
              <a:t>test</a:t>
            </a:r>
            <a:r>
              <a:rPr lang="ru-RU" sz="2400" dirty="0">
                <a:ea typeface="Cambria Math" panose="02040503050406030204" pitchFamily="18" charset="0"/>
              </a:rPr>
              <a:t> → некоторые подтипы могут отсутствовать</a:t>
            </a: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Низкий </a:t>
            </a:r>
            <a:r>
              <a:rPr lang="ru-RU" sz="2400" dirty="0" err="1">
                <a:ea typeface="Cambria Math" panose="02040503050406030204" pitchFamily="18" charset="0"/>
              </a:rPr>
              <a:t>Accuracy</a:t>
            </a:r>
            <a:r>
              <a:rPr lang="ru-RU" sz="2400" dirty="0">
                <a:ea typeface="Cambria Math" panose="02040503050406030204" pitchFamily="18" charset="0"/>
              </a:rPr>
              <a:t> (&lt;0.5) → проверить выбор модуля в Практике 2</a:t>
            </a:r>
          </a:p>
        </p:txBody>
      </p:sp>
    </p:spTree>
    <p:extLst>
      <p:ext uri="{BB962C8B-B14F-4D97-AF65-F5344CB8AC3E}">
        <p14:creationId xmlns:p14="http://schemas.microsoft.com/office/powerpoint/2010/main" val="3167980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Биологическая интерпретация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Пример интерпретации</a:t>
            </a:r>
          </a:p>
          <a:p>
            <a:pPr marL="0" indent="0" algn="just">
              <a:buNone/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Если </a:t>
            </a:r>
            <a:r>
              <a:rPr lang="en-US" sz="2400" dirty="0">
                <a:ea typeface="Cambria Math" panose="02040503050406030204" pitchFamily="18" charset="0"/>
              </a:rPr>
              <a:t>hub-</a:t>
            </a:r>
            <a:r>
              <a:rPr lang="ru-RU" sz="2400" dirty="0">
                <a:ea typeface="Cambria Math" panose="02040503050406030204" pitchFamily="18" charset="0"/>
              </a:rPr>
              <a:t>гены целевого модуля обогащены терминами:</a:t>
            </a: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"</a:t>
            </a:r>
            <a:r>
              <a:rPr lang="en-US" sz="2400" dirty="0">
                <a:ea typeface="Cambria Math" panose="02040503050406030204" pitchFamily="18" charset="0"/>
              </a:rPr>
              <a:t>cell cycle G1/S transition"</a:t>
            </a:r>
          </a:p>
          <a:p>
            <a:pPr algn="just">
              <a:tabLst>
                <a:tab pos="180975" algn="l"/>
              </a:tabLst>
            </a:pPr>
            <a:r>
              <a:rPr lang="en-US" sz="2400" dirty="0">
                <a:ea typeface="Cambria Math" panose="02040503050406030204" pitchFamily="18" charset="0"/>
              </a:rPr>
              <a:t>"DNA replication"</a:t>
            </a:r>
          </a:p>
          <a:p>
            <a:pPr algn="just">
              <a:tabLst>
                <a:tab pos="180975" algn="l"/>
              </a:tabLst>
            </a:pPr>
            <a:r>
              <a:rPr lang="en-US" sz="2400" dirty="0">
                <a:ea typeface="Cambria Math" panose="02040503050406030204" pitchFamily="18" charset="0"/>
              </a:rPr>
              <a:t>"mitotic spindle assembly"</a:t>
            </a:r>
          </a:p>
          <a:p>
            <a:pPr marL="0" indent="0" algn="just">
              <a:buNone/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Вывод: Модуль связан с пролиферацией → характерен для </a:t>
            </a:r>
            <a:r>
              <a:rPr lang="en-US" sz="2400" dirty="0">
                <a:ea typeface="Cambria Math" panose="02040503050406030204" pitchFamily="18" charset="0"/>
              </a:rPr>
              <a:t>TNBC (</a:t>
            </a:r>
            <a:r>
              <a:rPr lang="ru-RU" sz="2400" dirty="0" err="1">
                <a:ea typeface="Cambria Math" panose="02040503050406030204" pitchFamily="18" charset="0"/>
              </a:rPr>
              <a:t>высокопролиферативный</a:t>
            </a:r>
            <a:r>
              <a:rPr lang="ru-RU" sz="2400" dirty="0">
                <a:ea typeface="Cambria Math" panose="02040503050406030204" pitchFamily="18" charset="0"/>
              </a:rPr>
              <a:t> подтип)</a:t>
            </a:r>
          </a:p>
          <a:p>
            <a:pPr marL="0" indent="0" algn="just">
              <a:buNone/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Проверка: </a:t>
            </a:r>
            <a:r>
              <a:rPr lang="en-US" sz="2400" dirty="0">
                <a:ea typeface="Cambria Math" panose="02040503050406030204" pitchFamily="18" charset="0"/>
              </a:rPr>
              <a:t>Correlation heatmap ME × subtype </a:t>
            </a:r>
            <a:r>
              <a:rPr lang="ru-RU" sz="2400" dirty="0">
                <a:ea typeface="Cambria Math" panose="02040503050406030204" pitchFamily="18" charset="0"/>
              </a:rPr>
              <a:t>должен показать активацию модуля в </a:t>
            </a:r>
            <a:r>
              <a:rPr lang="en-US" sz="2400" dirty="0">
                <a:ea typeface="Cambria Math" panose="02040503050406030204" pitchFamily="18" charset="0"/>
              </a:rPr>
              <a:t>TNBC</a:t>
            </a:r>
            <a:endParaRPr lang="ru-RU" sz="2400" i="1" dirty="0"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6594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Итоги практики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algn="just">
              <a:tabLst>
                <a:tab pos="180975" algn="l"/>
              </a:tabLst>
            </a:pPr>
            <a:r>
              <a:rPr lang="ru-RU" sz="2400" dirty="0" err="1">
                <a:ea typeface="Cambria Math" panose="02040503050406030204" pitchFamily="18" charset="0"/>
              </a:rPr>
              <a:t>Hub</a:t>
            </a:r>
            <a:r>
              <a:rPr lang="ru-RU" sz="2400" dirty="0">
                <a:ea typeface="Cambria Math" panose="02040503050406030204" pitchFamily="18" charset="0"/>
              </a:rPr>
              <a:t>-гены функционально обогащены биологически осмысленными путями</a:t>
            </a: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Классификатор демонстрирует предсказательную способность </a:t>
            </a:r>
            <a:r>
              <a:rPr lang="ru-RU" sz="2400" dirty="0" err="1">
                <a:ea typeface="Cambria Math" panose="02040503050406030204" pitchFamily="18" charset="0"/>
              </a:rPr>
              <a:t>hub</a:t>
            </a:r>
            <a:r>
              <a:rPr lang="ru-RU" sz="2400" dirty="0">
                <a:ea typeface="Cambria Math" panose="02040503050406030204" pitchFamily="18" charset="0"/>
              </a:rPr>
              <a:t>-генов</a:t>
            </a: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Идентифицированы ключевые гены-драйверы подтипов BC</a:t>
            </a:r>
          </a:p>
          <a:p>
            <a:pPr algn="just">
              <a:tabLst>
                <a:tab pos="180975" algn="l"/>
              </a:tabLst>
            </a:pPr>
            <a:r>
              <a:rPr lang="ru-RU" sz="2400" dirty="0">
                <a:ea typeface="Cambria Math" panose="02040503050406030204" pitchFamily="18" charset="0"/>
              </a:rPr>
              <a:t>Практики 1–3 завершены — готов полный </a:t>
            </a:r>
            <a:r>
              <a:rPr lang="ru-RU" sz="2400" dirty="0" err="1">
                <a:ea typeface="Cambria Math" panose="02040503050406030204" pitchFamily="18" charset="0"/>
              </a:rPr>
              <a:t>пайплайн</a:t>
            </a:r>
            <a:r>
              <a:rPr lang="ru-RU" sz="2400" dirty="0">
                <a:ea typeface="Cambria Math" panose="02040503050406030204" pitchFamily="18" charset="0"/>
              </a:rPr>
              <a:t> WGCNA</a:t>
            </a:r>
            <a:endParaRPr lang="ru-RU" sz="2400" i="1" dirty="0"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24236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2381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898;g89d9307d70_13_164"/>
          <p:cNvSpPr txBox="1"/>
          <p:nvPr/>
        </p:nvSpPr>
        <p:spPr>
          <a:xfrm>
            <a:off x="3215680" y="2852936"/>
            <a:ext cx="6624736" cy="13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>
              <a:buClr>
                <a:srgbClr val="000000"/>
              </a:buClr>
              <a:buSzPts val="5867"/>
            </a:pP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Спасибо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за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внимание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!</a:t>
            </a:r>
            <a:endParaRPr sz="4800" b="1" dirty="0">
              <a:solidFill>
                <a:schemeClr val="bg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09783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2422</TotalTime>
  <Words>1052</Words>
  <Application>Microsoft Office PowerPoint</Application>
  <PresentationFormat>Широкоэкранный</PresentationFormat>
  <Paragraphs>278</Paragraphs>
  <Slides>23</Slides>
  <Notes>23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PT Sans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Альт</dc:creator>
  <cp:lastModifiedBy>Рамиля Власенкова</cp:lastModifiedBy>
  <cp:revision>101</cp:revision>
  <dcterms:created xsi:type="dcterms:W3CDTF">2025-09-03T07:14:40Z</dcterms:created>
  <dcterms:modified xsi:type="dcterms:W3CDTF">2026-03-25T12:12:55Z</dcterms:modified>
</cp:coreProperties>
</file>