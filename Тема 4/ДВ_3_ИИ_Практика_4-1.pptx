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8" r:id="rId5"/>
    <p:sldId id="270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76" r:id="rId16"/>
    <p:sldId id="287" r:id="rId17"/>
    <p:sldId id="266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4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68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930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266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685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3202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607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419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673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824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4681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fiLwO8VCNBp4KQ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занятие 1. Сетевой анализ и комплексная интерпретация биологических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/>
              <a:t>Цель</a:t>
            </a:r>
            <a:r>
              <a:rPr lang="ru-RU" sz="2400" dirty="0"/>
              <a:t>: освоить полный </a:t>
            </a:r>
            <a:r>
              <a:rPr lang="ru-RU" sz="2400" dirty="0" err="1"/>
              <a:t>пайплайн</a:t>
            </a:r>
            <a:r>
              <a:rPr lang="ru-RU" sz="2400" dirty="0"/>
              <a:t> предобработки </a:t>
            </a:r>
            <a:r>
              <a:rPr lang="ru-RU" sz="2400" dirty="0" err="1"/>
              <a:t>транскриптомных</a:t>
            </a:r>
            <a:r>
              <a:rPr lang="ru-RU" sz="2400" dirty="0"/>
              <a:t> данных и подобрать параметр масштабирования для построения сети WGCNA.</a:t>
            </a:r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r>
              <a:rPr lang="ru-RU" sz="2400" b="1" dirty="0"/>
              <a:t>Задачи</a:t>
            </a:r>
            <a:r>
              <a:rPr lang="ru-RU" sz="2400" dirty="0"/>
              <a:t>:</a:t>
            </a:r>
          </a:p>
          <a:p>
            <a:pPr algn="just"/>
            <a:r>
              <a:rPr lang="ru-RU" sz="2400" dirty="0"/>
              <a:t>Загрузить данные GSE45827 с GEO</a:t>
            </a:r>
          </a:p>
          <a:p>
            <a:pPr algn="just"/>
            <a:r>
              <a:rPr lang="ru-RU" sz="2400" dirty="0"/>
              <a:t>Провести контроль качества образцов и генов</a:t>
            </a:r>
          </a:p>
          <a:p>
            <a:pPr algn="just"/>
            <a:r>
              <a:rPr lang="ru-RU" sz="2400" dirty="0"/>
              <a:t>Отфильтровать гены</a:t>
            </a:r>
          </a:p>
          <a:p>
            <a:pPr algn="just"/>
            <a:r>
              <a:rPr lang="ru-RU" sz="2400" dirty="0"/>
              <a:t>Подобрать </a:t>
            </a:r>
            <a:r>
              <a:rPr lang="ru-RU" sz="2400" dirty="0" err="1"/>
              <a:t>soft-threshold</a:t>
            </a:r>
            <a:r>
              <a:rPr lang="ru-RU" sz="2400" dirty="0"/>
              <a:t> </a:t>
            </a:r>
            <a:r>
              <a:rPr lang="ru-RU" sz="2400" dirty="0" err="1"/>
              <a:t>power</a:t>
            </a:r>
            <a:r>
              <a:rPr lang="ru-RU" sz="2400" dirty="0"/>
              <a:t> по критерию </a:t>
            </a:r>
            <a:r>
              <a:rPr lang="ru-RU" sz="2400" dirty="0" err="1"/>
              <a:t>scale-free</a:t>
            </a:r>
            <a:r>
              <a:rPr lang="ru-RU" sz="2400" dirty="0"/>
              <a:t> топологии</a:t>
            </a:r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Датасет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GSE45827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Источник: GEO (NCBI), платформа </a:t>
            </a:r>
            <a:r>
              <a:rPr lang="ru-RU" sz="2400" dirty="0" err="1"/>
              <a:t>Affymetrix</a:t>
            </a:r>
            <a:r>
              <a:rPr lang="ru-RU" sz="2400" dirty="0"/>
              <a:t> HG-U133 Plus 2.0</a:t>
            </a:r>
          </a:p>
          <a:p>
            <a:pPr marL="0" indent="0" algn="just">
              <a:buNone/>
            </a:pPr>
            <a:r>
              <a:rPr lang="ru-RU" sz="2400" dirty="0"/>
              <a:t>Состав:</a:t>
            </a:r>
          </a:p>
          <a:p>
            <a:pPr algn="just"/>
            <a:r>
              <a:rPr lang="ru-RU" sz="2400" dirty="0"/>
              <a:t>Более 150 образец тканей молочной железы</a:t>
            </a:r>
          </a:p>
          <a:p>
            <a:pPr algn="just"/>
            <a:r>
              <a:rPr lang="ru-RU" sz="2400" dirty="0"/>
              <a:t>Около 30000 зондов (</a:t>
            </a:r>
            <a:r>
              <a:rPr lang="ru-RU" sz="2400" dirty="0" err="1"/>
              <a:t>пробсетов</a:t>
            </a:r>
            <a:r>
              <a:rPr lang="ru-RU" sz="2400" dirty="0"/>
              <a:t>)</a:t>
            </a:r>
          </a:p>
          <a:p>
            <a:pPr algn="just"/>
            <a:r>
              <a:rPr lang="ru-RU" sz="2400" dirty="0"/>
              <a:t>6 групп: </a:t>
            </a:r>
            <a:r>
              <a:rPr lang="ru-RU" sz="2400" dirty="0" err="1"/>
              <a:t>Luminal</a:t>
            </a:r>
            <a:r>
              <a:rPr lang="ru-RU" sz="2400" dirty="0"/>
              <a:t> A (29), </a:t>
            </a:r>
            <a:r>
              <a:rPr lang="ru-RU" sz="2400" dirty="0" err="1"/>
              <a:t>Luminal</a:t>
            </a:r>
            <a:r>
              <a:rPr lang="ru-RU" sz="2400" dirty="0"/>
              <a:t> B (30), HER2+ (30), TNBC (41), норма (11), клеточные линии (14)</a:t>
            </a:r>
          </a:p>
          <a:p>
            <a:pPr marL="0" indent="0" algn="just">
              <a:buNone/>
            </a:pPr>
            <a:r>
              <a:rPr lang="ru-RU" sz="2400" dirty="0"/>
              <a:t>Задача классификации: предсказание молекулярного подтипа (</a:t>
            </a:r>
            <a:r>
              <a:rPr lang="ru-RU" sz="2400" dirty="0" err="1"/>
              <a:t>Luminal</a:t>
            </a:r>
            <a:r>
              <a:rPr lang="ru-RU" sz="2400" dirty="0"/>
              <a:t> A / B, HER2+, TNBC, норма) по профилю экспрессии генов.</a:t>
            </a:r>
          </a:p>
          <a:p>
            <a:pPr marL="0" indent="0" algn="just">
              <a:buNone/>
            </a:pPr>
            <a:r>
              <a:rPr lang="ru-RU" sz="2400" dirty="0"/>
              <a:t>Клиническая значимость: молекулярные подтипы определяют тактику лечения и прогноз; TNBC — наиболее агрессивный подтип без </a:t>
            </a:r>
            <a:r>
              <a:rPr lang="ru-RU" sz="2400" dirty="0" err="1"/>
              <a:t>таргетной</a:t>
            </a:r>
            <a:r>
              <a:rPr lang="ru-RU" sz="2400" dirty="0"/>
              <a:t> терапии.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https://disk.yandex.ru/d/fiLwO8VCNBp4KQ</a:t>
            </a: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Структура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пайплайна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571500" indent="-342900"/>
            <a:r>
              <a:rPr lang="en-US" sz="2400" dirty="0">
                <a:effectLst/>
                <a:ea typeface="Cambria Math" panose="02040503050406030204" pitchFamily="18" charset="0"/>
              </a:rPr>
              <a:t>GEO (</a:t>
            </a:r>
            <a:r>
              <a:rPr lang="en-US" sz="2400" dirty="0" err="1">
                <a:effectLst/>
                <a:ea typeface="Cambria Math" panose="02040503050406030204" pitchFamily="18" charset="0"/>
              </a:rPr>
              <a:t>getGEO</a:t>
            </a:r>
            <a:r>
              <a:rPr lang="en-US" sz="2400" dirty="0">
                <a:effectLst/>
                <a:ea typeface="Cambria Math" panose="02040503050406030204" pitchFamily="18" charset="0"/>
              </a:rPr>
              <a:t>)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Удаление клеточных линий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Контроль качества (</a:t>
            </a:r>
            <a:r>
              <a:rPr lang="en-US" sz="2400" dirty="0" err="1">
                <a:effectLst/>
                <a:ea typeface="Cambria Math" panose="02040503050406030204" pitchFamily="18" charset="0"/>
              </a:rPr>
              <a:t>goodSamplesGenes</a:t>
            </a:r>
            <a:r>
              <a:rPr lang="en-US" sz="2400" dirty="0">
                <a:effectLst/>
                <a:ea typeface="Cambria Math" panose="02040503050406030204" pitchFamily="18" charset="0"/>
              </a:rPr>
              <a:t> + </a:t>
            </a:r>
            <a:r>
              <a:rPr lang="ru-RU" sz="2400" dirty="0">
                <a:effectLst/>
                <a:ea typeface="Cambria Math" panose="02040503050406030204" pitchFamily="18" charset="0"/>
              </a:rPr>
              <a:t>кластеризация)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Фильтрация: топ-5000 генов по дисперсии</a:t>
            </a:r>
          </a:p>
          <a:p>
            <a:pPr marL="571500" indent="-342900"/>
            <a:r>
              <a:rPr lang="en-US" sz="2400" dirty="0" err="1">
                <a:effectLst/>
                <a:ea typeface="Cambria Math" panose="02040503050406030204" pitchFamily="18" charset="0"/>
              </a:rPr>
              <a:t>pickSoftThreshold</a:t>
            </a:r>
            <a:r>
              <a:rPr lang="en-US" sz="2400" dirty="0">
                <a:effectLst/>
                <a:ea typeface="Cambria Math" panose="02040503050406030204" pitchFamily="18" charset="0"/>
              </a:rPr>
              <a:t> → </a:t>
            </a:r>
            <a:r>
              <a:rPr lang="ru-RU" sz="2400" dirty="0">
                <a:effectLst/>
                <a:ea typeface="Cambria Math" panose="02040503050406030204" pitchFamily="18" charset="0"/>
              </a:rPr>
              <a:t>выбор </a:t>
            </a:r>
            <a:r>
              <a:rPr lang="en-US" sz="2400" dirty="0" err="1">
                <a:effectLst/>
                <a:ea typeface="Cambria Math" panose="02040503050406030204" pitchFamily="18" charset="0"/>
              </a:rPr>
              <a:t>softPower</a:t>
            </a:r>
            <a:endParaRPr lang="en-US" sz="2400" dirty="0">
              <a:effectLst/>
              <a:ea typeface="Cambria Math" panose="02040503050406030204" pitchFamily="18" charset="0"/>
            </a:endParaRP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Сохранение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GSE45827_prepared.RData</a:t>
            </a:r>
            <a:endParaRPr lang="en-US" sz="24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Шаг 1. Загрузка данных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GEOquery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); library(WGCNA)</a:t>
            </a:r>
          </a:p>
          <a:p>
            <a:pPr indent="0" algn="l">
              <a:buNone/>
            </a:pPr>
            <a:endParaRPr lang="en-US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getGEO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("GSE45827",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GSEMatrix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TRUE,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AnnotGPL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TRUE)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[[1]]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expr  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exprs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       # 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матрица: гены × образцы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pheno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pData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       # 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клинические данные</a:t>
            </a:r>
          </a:p>
          <a:p>
            <a:pPr indent="0" algn="l">
              <a:buNone/>
            </a:pPr>
            <a:endParaRPr lang="ru-RU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Что проверяем: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dim(expr) →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ожидается ~54 676 × 151</a:t>
            </a:r>
          </a:p>
          <a:p>
            <a:pPr marL="571500" indent="-342900"/>
            <a:r>
              <a:rPr lang="en-US" sz="2000" dirty="0" err="1">
                <a:effectLst/>
                <a:ea typeface="Cambria Math" panose="02040503050406030204" pitchFamily="18" charset="0"/>
              </a:rPr>
              <a:t>colnames</a:t>
            </a:r>
            <a:r>
              <a:rPr lang="en-US" sz="2000" dirty="0">
                <a:effectLst/>
                <a:ea typeface="Cambria Math" panose="02040503050406030204" pitchFamily="18" charset="0"/>
              </a:rPr>
              <a:t>(</a:t>
            </a:r>
            <a:r>
              <a:rPr lang="en-US" sz="2000" dirty="0" err="1">
                <a:effectLst/>
                <a:ea typeface="Cambria Math" panose="02040503050406030204" pitchFamily="18" charset="0"/>
              </a:rPr>
              <a:t>pheno</a:t>
            </a:r>
            <a:r>
              <a:rPr lang="en-US" sz="2000" dirty="0">
                <a:effectLst/>
                <a:ea typeface="Cambria Math" panose="02040503050406030204" pitchFamily="18" charset="0"/>
              </a:rPr>
              <a:t>) →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находим столбец с подтипом (</a:t>
            </a:r>
            <a:r>
              <a:rPr lang="en-US" sz="2000" dirty="0">
                <a:effectLst/>
                <a:ea typeface="Cambria Math" panose="02040503050406030204" pitchFamily="18" charset="0"/>
              </a:rPr>
              <a:t>characteristics_ch1.1)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table(subtype) →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баланс классов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Важно: данные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Affymetrix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уже находятся в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log2-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шкале — дополнительная нормализация не требуется; проверьте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боксплотом</a:t>
            </a:r>
            <a:r>
              <a:rPr lang="ru-RU" sz="2000" dirty="0">
                <a:effectLst/>
                <a:ea typeface="Cambria Math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6121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Шаг 2. Разметка подтипов и фильтрация образцов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subtype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gsub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("tissue: ", "", pheno$`characteristics_ch1.1`)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subtype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trimws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(subtype)</a:t>
            </a:r>
          </a:p>
          <a:p>
            <a:pPr indent="0" algn="l">
              <a:buNone/>
            </a:pPr>
            <a:endParaRPr lang="en-US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Удаление клеточных линий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keep    &lt;- subtype != "cell line"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expr    &lt;- expr[, keep]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subtype &lt;- subtype[keep]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Остаётся ~150 образцов</a:t>
            </a:r>
          </a:p>
          <a:p>
            <a:pPr indent="0" algn="l">
              <a:buNone/>
            </a:pPr>
            <a:endParaRPr lang="ru-RU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Почему удаляем клеточные линии?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Клеточные линии имеют принципиально иной транскриптом по сравнению с тканями — их включение исказит структуру сети и модули WGCNA.</a:t>
            </a:r>
          </a:p>
        </p:txBody>
      </p:sp>
    </p:spTree>
    <p:extLst>
      <p:ext uri="{BB962C8B-B14F-4D97-AF65-F5344CB8AC3E}">
        <p14:creationId xmlns:p14="http://schemas.microsoft.com/office/powerpoint/2010/main" val="3211860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Шаг 3. Контроль качества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Box-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plot</a:t>
            </a:r>
            <a:r>
              <a:rPr lang="ru-RU" sz="2000" dirty="0">
                <a:effectLst/>
                <a:ea typeface="Cambria Math" panose="02040503050406030204" pitchFamily="18" charset="0"/>
              </a:rPr>
              <a:t>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Все образцы должны иметь схожий медианный уровень экспрессии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Сильно отклоняющиеся образцы — кандидаты на удаление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Иерархическая кластеризация:</a:t>
            </a:r>
            <a:endParaRPr lang="ru-RU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sampleTree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hclust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dist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(t(expr)), method = "average")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plot(sampleTree,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cex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0.6)</a:t>
            </a:r>
            <a:endParaRPr lang="ru-RU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ru-RU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Выбросы видны как одиночные ветви, далеко отстоящие от основного кластера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Порог удаления выставляется визуально (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abline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(h = ...))</a:t>
            </a:r>
          </a:p>
          <a:p>
            <a:pPr indent="0" algn="l">
              <a:buNone/>
            </a:pPr>
            <a:endParaRPr lang="ru-RU" sz="2000" dirty="0">
              <a:ea typeface="Cambria Math" panose="02040503050406030204" pitchFamily="18" charset="0"/>
            </a:endParaRPr>
          </a:p>
          <a:p>
            <a:pPr indent="0">
              <a:buNone/>
            </a:pPr>
            <a:r>
              <a:rPr lang="ru-RU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goodSamplesGenes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Автоматически удаляет гены с &gt;10% пропусков и образцы с аномальным числом пропусков</a:t>
            </a:r>
          </a:p>
        </p:txBody>
      </p:sp>
    </p:spTree>
    <p:extLst>
      <p:ext uri="{BB962C8B-B14F-4D97-AF65-F5344CB8AC3E}">
        <p14:creationId xmlns:p14="http://schemas.microsoft.com/office/powerpoint/2010/main" val="797916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Шаг 4. Фильтрация генов по дисперсии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Зачем фильтровать?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54 676 генов → вычислительная нагрузка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запретительна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Гены с низкой дисперсией не несут информации о различиях между подтипами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Стандартная практика WGCNA: топ-5000 по дисперсии</a:t>
            </a:r>
          </a:p>
          <a:p>
            <a:pPr indent="0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datExpr_full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t(expr)             # 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образцы × гены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gene_var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&lt;- apply(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datExpr_full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2, var)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top_genes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&lt;- order(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gene_var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decreasing = TRUE)[1:5000]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datExpr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datExpr_full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top_genes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]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Результат: 137 × 5000</a:t>
            </a:r>
          </a:p>
          <a:p>
            <a:pPr indent="0" algn="l">
              <a:buNone/>
            </a:pPr>
            <a:endParaRPr lang="ru-RU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Дополнительный фильтр: исключить гены с низкой средней экспрессией (среднее &lt; 3 в log2) — они часто соответствуют зондам без специфичной гибридизации.</a:t>
            </a:r>
          </a:p>
        </p:txBody>
      </p:sp>
    </p:spTree>
    <p:extLst>
      <p:ext uri="{BB962C8B-B14F-4D97-AF65-F5344CB8AC3E}">
        <p14:creationId xmlns:p14="http://schemas.microsoft.com/office/powerpoint/2010/main" val="3444915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Scale-free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топология — теория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0C61546-9215-4D0C-81CB-5EE3A5637E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023" y="1223234"/>
                <a:ext cx="11423283" cy="5677647"/>
              </a:xfrm>
            </p:spPr>
            <p:txBody>
              <a:bodyPr numCol="1">
                <a:normAutofit/>
              </a:bodyPr>
              <a:lstStyle/>
              <a:p>
                <a:pPr indent="0" algn="l">
                  <a:buNone/>
                </a:pPr>
                <a:r>
                  <a:rPr lang="ru-RU" sz="2000" dirty="0">
                    <a:effectLst/>
                    <a:ea typeface="Cambria Math" panose="02040503050406030204" pitchFamily="18" charset="0"/>
                  </a:rPr>
                  <a:t>Масштабно-инвариантная (</a:t>
                </a:r>
                <a:r>
                  <a:rPr lang="ru-RU" sz="2000" dirty="0" err="1">
                    <a:effectLst/>
                    <a:ea typeface="Cambria Math" panose="02040503050406030204" pitchFamily="18" charset="0"/>
                  </a:rPr>
                  <a:t>scale-free</a:t>
                </a:r>
                <a:r>
                  <a:rPr lang="ru-RU" sz="2000" dirty="0">
                    <a:effectLst/>
                    <a:ea typeface="Cambria Math" panose="02040503050406030204" pitchFamily="18" charset="0"/>
                  </a:rPr>
                  <a:t>) сеть — сеть, в которой распределение степеней узлов подчиняется степенному закону:</a:t>
                </a:r>
              </a:p>
              <a:p>
                <a:pPr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320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sz="320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ru-RU" sz="3200" b="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3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p>
                      </m:sSup>
                    </m:oMath>
                  </m:oMathPara>
                </a14:m>
                <a:endParaRPr lang="ru-RU" sz="3200" baseline="30000" dirty="0">
                  <a:effectLst/>
                  <a:ea typeface="Cambria Math" panose="02040503050406030204" pitchFamily="18" charset="0"/>
                </a:endParaRPr>
              </a:p>
              <a:p>
                <a:pPr indent="0">
                  <a:buNone/>
                </a:pPr>
                <a:endParaRPr lang="ru-RU" sz="3200" baseline="30000" dirty="0">
                  <a:effectLst/>
                  <a:ea typeface="Cambria Math" panose="02040503050406030204" pitchFamily="18" charset="0"/>
                </a:endParaRPr>
              </a:p>
              <a:p>
                <a:pPr marL="571500" indent="-342900"/>
                <a:r>
                  <a:rPr lang="ru-RU" sz="2000" dirty="0">
                    <a:ea typeface="Cambria Math" panose="02040503050406030204" pitchFamily="18" charset="0"/>
                  </a:rPr>
                  <a:t>Большинство генов имеют мало связей</a:t>
                </a:r>
              </a:p>
              <a:p>
                <a:pPr marL="571500" indent="-342900"/>
                <a:r>
                  <a:rPr lang="ru-RU" sz="2000" dirty="0">
                    <a:ea typeface="Cambria Math" panose="02040503050406030204" pitchFamily="18" charset="0"/>
                  </a:rPr>
                  <a:t>Несколько </a:t>
                </a:r>
                <a:r>
                  <a:rPr lang="ru-RU" sz="2000" dirty="0" err="1">
                    <a:ea typeface="Cambria Math" panose="02040503050406030204" pitchFamily="18" charset="0"/>
                  </a:rPr>
                  <a:t>hub</a:t>
                </a:r>
                <a:r>
                  <a:rPr lang="ru-RU" sz="2000" dirty="0">
                    <a:ea typeface="Cambria Math" panose="02040503050406030204" pitchFamily="18" charset="0"/>
                  </a:rPr>
                  <a:t>-генов имеют очень много связей</a:t>
                </a:r>
              </a:p>
              <a:p>
                <a:pPr marL="571500" indent="-342900"/>
                <a:r>
                  <a:rPr lang="ru-RU" sz="2000" dirty="0">
                    <a:ea typeface="Cambria Math" panose="02040503050406030204" pitchFamily="18" charset="0"/>
                  </a:rPr>
                  <a:t>Биологические сети (PPI, регуляторные) близки к </a:t>
                </a:r>
                <a:r>
                  <a:rPr lang="ru-RU" sz="2000" dirty="0" err="1">
                    <a:ea typeface="Cambria Math" panose="02040503050406030204" pitchFamily="18" charset="0"/>
                  </a:rPr>
                  <a:t>scale-free</a:t>
                </a:r>
                <a:r>
                  <a:rPr lang="ru-RU" sz="2000" dirty="0">
                    <a:ea typeface="Cambria Math" panose="02040503050406030204" pitchFamily="18" charset="0"/>
                  </a:rPr>
                  <a:t> топологии</a:t>
                </a:r>
              </a:p>
              <a:p>
                <a:pPr indent="0" algn="l">
                  <a:buNone/>
                </a:pPr>
                <a:endParaRPr lang="ru-RU" sz="2000" dirty="0">
                  <a:ea typeface="Cambria Math" panose="02040503050406030204" pitchFamily="18" charset="0"/>
                </a:endParaRPr>
              </a:p>
              <a:p>
                <a:pPr indent="0" algn="l">
                  <a:buNone/>
                </a:pPr>
                <a:r>
                  <a:rPr lang="ru-RU" sz="2000" dirty="0">
                    <a:ea typeface="Cambria Math" panose="02040503050406030204" pitchFamily="18" charset="0"/>
                  </a:rPr>
                  <a:t>WGCNA приводит матрицу корреляций к </a:t>
                </a:r>
                <a:r>
                  <a:rPr lang="ru-RU" sz="2000" dirty="0" err="1">
                    <a:ea typeface="Cambria Math" panose="02040503050406030204" pitchFamily="18" charset="0"/>
                  </a:rPr>
                  <a:t>scale-free</a:t>
                </a:r>
                <a:r>
                  <a:rPr lang="ru-RU" sz="2000" dirty="0">
                    <a:ea typeface="Cambria Math" panose="02040503050406030204" pitchFamily="18" charset="0"/>
                  </a:rPr>
                  <a:t> виду через возведение в степень </a:t>
                </a:r>
                <a:r>
                  <a:rPr lang="ru-RU" sz="2000" dirty="0" err="1">
                    <a:ea typeface="Cambria Math" panose="02040503050406030204" pitchFamily="18" charset="0"/>
                  </a:rPr>
                  <a:t>power</a:t>
                </a:r>
                <a:r>
                  <a:rPr lang="ru-RU" sz="2000" dirty="0">
                    <a:ea typeface="Cambria Math" panose="02040503050406030204" pitchFamily="18" charset="0"/>
                  </a:rPr>
                  <a:t>:</a:t>
                </a:r>
              </a:p>
              <a:p>
                <a:pPr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nl-NL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nl-NL" b="0" i="1" dirty="0" smtClean="0">
                          <a:effectLst/>
                          <a:latin typeface="Cambria Math" panose="02040503050406030204" pitchFamily="18" charset="0"/>
                        </a:rPr>
                        <m:t>​=</m:t>
                      </m:r>
                      <m:sSup>
                        <m:sSupPr>
                          <m:ctrlPr>
                            <a:rPr lang="nl-NL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i="1" dirty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nl-NL" i="1" dirty="0">
                              <a:latin typeface="Cambria Math" panose="02040503050406030204" pitchFamily="18" charset="0"/>
                            </a:rPr>
                            <m:t>𝑐𝑜𝑟</m:t>
                          </m:r>
                          <m:r>
                            <a:rPr lang="nl-NL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l-NL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nl-NL" i="1" dirty="0">
                              <a:latin typeface="Cambria Math" panose="02040503050406030204" pitchFamily="18" charset="0"/>
                            </a:rPr>
                            <m:t>)∣</m:t>
                          </m:r>
                        </m:e>
                        <m:sup>
                          <m:r>
                            <a:rPr lang="nl-NL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ru-RU" sz="4000" dirty="0">
                  <a:ea typeface="Cambria Math" panose="02040503050406030204" pitchFamily="18" charset="0"/>
                </a:endParaRPr>
              </a:p>
              <a:p>
                <a:pPr indent="0">
                  <a:buNone/>
                </a:pPr>
                <a:r>
                  <a:rPr lang="ru-RU" sz="2000" dirty="0">
                    <a:ea typeface="Cambria Math" panose="02040503050406030204" pitchFamily="18" charset="0"/>
                  </a:rPr>
                  <a:t>Чем выше </a:t>
                </a:r>
                <a:r>
                  <a:rPr lang="ru-RU" sz="2000" dirty="0" err="1">
                    <a:ea typeface="Cambria Math" panose="02040503050406030204" pitchFamily="18" charset="0"/>
                  </a:rPr>
                  <a:t>power</a:t>
                </a:r>
                <a:r>
                  <a:rPr lang="ru-RU" sz="2000" dirty="0">
                    <a:ea typeface="Cambria Math" panose="02040503050406030204" pitchFamily="18" charset="0"/>
                  </a:rPr>
                  <a:t> — тем резче подавляются слабые корреляции.</a:t>
                </a:r>
              </a:p>
            </p:txBody>
          </p:sp>
        </mc:Choice>
        <mc:Fallback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0C61546-9215-4D0C-81CB-5EE3A5637E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023" y="1223234"/>
                <a:ext cx="11423283" cy="5677647"/>
              </a:xfrm>
              <a:blipFill>
                <a:blip r:embed="rId6"/>
                <a:stretch>
                  <a:fillRect t="-11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942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Шаг 5. </a:t>
              </a:r>
              <a:r>
                <a:rPr lang="en-US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Выбор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soft-threshold power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powers &lt;- 1:20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sft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pickSoftThreshold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datExpr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powerVector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powers,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networkType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"signed",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verbose     = 5)</a:t>
            </a:r>
            <a:endParaRPr lang="ru-RU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ru-RU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Два критерия выбора:</a:t>
            </a:r>
          </a:p>
          <a:p>
            <a:pPr marL="571500" indent="-342900"/>
            <a:r>
              <a:rPr lang="ru-RU" sz="2000" dirty="0" err="1">
                <a:effectLst/>
                <a:ea typeface="Cambria Math" panose="02040503050406030204" pitchFamily="18" charset="0"/>
              </a:rPr>
              <a:t>Scale-free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fit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R² </a:t>
            </a:r>
            <a:r>
              <a:rPr lang="en-US" sz="2000" dirty="0">
                <a:ea typeface="Cambria Math" panose="02040503050406030204" pitchFamily="18" charset="0"/>
              </a:rPr>
              <a:t>     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-</a:t>
            </a:r>
            <a:r>
              <a:rPr lang="en-US" sz="2000" dirty="0">
                <a:effectLst/>
                <a:ea typeface="Cambria Math" panose="02040503050406030204" pitchFamily="18" charset="0"/>
              </a:rPr>
              <a:t>&gt;</a:t>
            </a:r>
            <a:r>
              <a:rPr lang="ru-RU" sz="2000" dirty="0">
                <a:effectLst/>
                <a:ea typeface="Cambria Math" panose="02040503050406030204" pitchFamily="18" charset="0"/>
              </a:rPr>
              <a:t>	Выбрать минимальный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power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с R² ≥ 0.85</a:t>
            </a:r>
          </a:p>
          <a:p>
            <a:pPr marL="571500" indent="-342900"/>
            <a:r>
              <a:rPr lang="ru-RU" sz="2000" dirty="0" err="1">
                <a:effectLst/>
                <a:ea typeface="Cambria Math" panose="02040503050406030204" pitchFamily="18" charset="0"/>
              </a:rPr>
              <a:t>Mean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connectivity</a:t>
            </a:r>
            <a:r>
              <a:rPr lang="en-US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-</a:t>
            </a:r>
            <a:r>
              <a:rPr lang="en-US" sz="2000" dirty="0">
                <a:effectLst/>
                <a:ea typeface="Cambria Math" panose="02040503050406030204" pitchFamily="18" charset="0"/>
              </a:rPr>
              <a:t>&gt;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	Должна оставаться разумно высокой (не стремиться к 0)</a:t>
            </a: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Практическое правило: при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networkType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= "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signed</a:t>
            </a:r>
            <a:r>
              <a:rPr lang="ru-RU" sz="2000" dirty="0">
                <a:effectLst/>
                <a:ea typeface="Cambria Math" panose="02040503050406030204" pitchFamily="18" charset="0"/>
              </a:rPr>
              <a:t>" обычно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power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= 12–18; при "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unsigned</a:t>
            </a:r>
            <a:r>
              <a:rPr lang="ru-RU" sz="2000" dirty="0">
                <a:effectLst/>
                <a:ea typeface="Cambria Math" panose="02040503050406030204" pitchFamily="18" charset="0"/>
              </a:rPr>
              <a:t>" — 6–12.</a:t>
            </a:r>
          </a:p>
        </p:txBody>
      </p:sp>
    </p:spTree>
    <p:extLst>
      <p:ext uri="{BB962C8B-B14F-4D97-AF65-F5344CB8AC3E}">
        <p14:creationId xmlns:p14="http://schemas.microsoft.com/office/powerpoint/2010/main" val="1449758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Интерпретация графиков </a:t>
              </a:r>
              <a:r>
                <a:rPr lang="en-US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pickSoftThreshold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График R² (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Scale-free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fit</a:t>
            </a:r>
            <a:r>
              <a:rPr lang="ru-RU" sz="2000" dirty="0">
                <a:effectLst/>
                <a:ea typeface="Cambria Math" panose="02040503050406030204" pitchFamily="18" charset="0"/>
              </a:rPr>
              <a:t>):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По оси X: значения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power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(1–20)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По оси Y: R² подгонки к степенному закону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Красная пунктирная линия: порог 0.85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Выбираем первый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power</a:t>
            </a:r>
            <a:r>
              <a:rPr lang="ru-RU" sz="2000" dirty="0">
                <a:effectLst/>
                <a:ea typeface="Cambria Math" panose="02040503050406030204" pitchFamily="18" charset="0"/>
              </a:rPr>
              <a:t>, при котором кривая пересекает порог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График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Mean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connectivity</a:t>
            </a:r>
            <a:r>
              <a:rPr lang="ru-RU" sz="2000" dirty="0">
                <a:effectLst/>
                <a:ea typeface="Cambria Math" panose="02040503050406030204" pitchFamily="18" charset="0"/>
              </a:rPr>
              <a:t>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Слишком высокий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power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→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connectivity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→ 0 → сеть вырождается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Ищем баланс: R² ≥ 0.85 при ещё достаточной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connectivit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Если R² не достигает 0.85: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Снизить порог до 0.80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Попробовать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networkType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= "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unsigned</a:t>
            </a:r>
            <a:r>
              <a:rPr lang="ru-RU" sz="2000" dirty="0">
                <a:effectLst/>
                <a:ea typeface="Cambria Math" panose="02040503050406030204" pitchFamily="18" charset="0"/>
              </a:rPr>
              <a:t>"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Проверить наличие не удалённых выбросов в данных</a:t>
            </a:r>
          </a:p>
        </p:txBody>
      </p:sp>
    </p:spTree>
    <p:extLst>
      <p:ext uri="{BB962C8B-B14F-4D97-AF65-F5344CB8AC3E}">
        <p14:creationId xmlns:p14="http://schemas.microsoft.com/office/powerpoint/2010/main" val="2622929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Фиксация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power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 сохранение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Автоматический выбор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softPower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sft_df$Power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[which(sft_df$R2 &gt;= 0.85)[1]]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cat("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Выбранный 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power:",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softPower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Сохранение для Практики 2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save(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datExpr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pheno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subtype,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softPower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file = "GSE45827_prepared.RData")</a:t>
            </a:r>
          </a:p>
          <a:p>
            <a:pPr indent="0" algn="l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a typeface="Cambria Math" panose="02040503050406030204" pitchFamily="18" charset="0"/>
              </a:rPr>
              <a:t>Что сохраняем: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Объект	Содержание</a:t>
            </a:r>
          </a:p>
          <a:p>
            <a:pPr indent="0" algn="l">
              <a:buNone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datExpr</a:t>
            </a:r>
            <a:r>
              <a:rPr lang="ru-RU" sz="2000" dirty="0">
                <a:effectLst/>
                <a:ea typeface="Cambria Math" panose="02040503050406030204" pitchFamily="18" charset="0"/>
              </a:rPr>
              <a:t>	Матрица 137 × 5000 (образцы × гены)</a:t>
            </a:r>
          </a:p>
          <a:p>
            <a:pPr indent="0" algn="l">
              <a:buNone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pheno</a:t>
            </a:r>
            <a:r>
              <a:rPr lang="ru-RU" sz="2000" dirty="0">
                <a:effectLst/>
                <a:ea typeface="Cambria Math" panose="02040503050406030204" pitchFamily="18" charset="0"/>
              </a:rPr>
              <a:t>	</a:t>
            </a:r>
            <a:r>
              <a:rPr lang="en-US" sz="2000" dirty="0">
                <a:effectLst/>
                <a:ea typeface="Cambria Math" panose="02040503050406030204" pitchFamily="18" charset="0"/>
              </a:rPr>
              <a:t>	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Клинические данные образцов</a:t>
            </a:r>
          </a:p>
          <a:p>
            <a:pPr indent="0" algn="l">
              <a:buNone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subtype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	Вектор подтипов (137 значений)</a:t>
            </a:r>
          </a:p>
          <a:p>
            <a:pPr indent="0" algn="l">
              <a:buNone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softPower</a:t>
            </a:r>
            <a:r>
              <a:rPr lang="ru-RU" sz="2000" dirty="0">
                <a:effectLst/>
                <a:ea typeface="Cambria Math" panose="02040503050406030204" pitchFamily="18" charset="0"/>
              </a:rPr>
              <a:t>	Выбранное значение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power</a:t>
            </a:r>
            <a:endParaRPr lang="ru-RU" sz="2000" dirty="0">
              <a:effectLst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06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Типичные ошибки и решения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F5D9041F-3332-49BE-BD9B-1E5FC813A3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6356770"/>
              </p:ext>
            </p:extLst>
          </p:nvPr>
        </p:nvGraphicFramePr>
        <p:xfrm>
          <a:off x="753316" y="1485336"/>
          <a:ext cx="10515600" cy="323088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471956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288034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16501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Проблема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Причина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Решение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603954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R² </a:t>
                      </a:r>
                      <a:r>
                        <a:rPr lang="ru-RU">
                          <a:effectLst/>
                        </a:rPr>
                        <a:t>не достигает 0.85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Выбросы в данных или малая выборка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Проверить кластеризацию, снизить порог до 0.80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6238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goodSamplesGenes </a:t>
                      </a:r>
                      <a:r>
                        <a:rPr lang="ru-RU">
                          <a:effectLst/>
                        </a:rPr>
                        <a:t>удаляет много генов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Пропуски или нулевые значения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Проверить нормализацию исходных данных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089068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Ошибка в имени столбца подтипа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Разные версии аннотации </a:t>
                      </a:r>
                      <a:r>
                        <a:rPr lang="en-US">
                          <a:effectLst/>
                        </a:rPr>
                        <a:t>GEO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Использовать grep для поиска нужного столбца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500691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Загрузка </a:t>
                      </a:r>
                      <a:r>
                        <a:rPr lang="en-US">
                          <a:effectLst/>
                        </a:rPr>
                        <a:t>getGEO </a:t>
                      </a:r>
                      <a:r>
                        <a:rPr lang="ru-RU">
                          <a:effectLst/>
                        </a:rPr>
                        <a:t>зависает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Нет интернета или таймаут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Использовать заранее подготовленный .</a:t>
                      </a:r>
                      <a:r>
                        <a:rPr lang="en-US" dirty="0" err="1">
                          <a:effectLst/>
                        </a:rPr>
                        <a:t>RData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959935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435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Итоги и связь с Практикой 2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Результаты Практики 1: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Очищенная матрица экспрессии </a:t>
            </a:r>
            <a:r>
              <a:rPr lang="en-US" sz="2400" dirty="0" err="1">
                <a:ea typeface="Cambria Math" panose="02040503050406030204" pitchFamily="18" charset="0"/>
              </a:rPr>
              <a:t>datExpr</a:t>
            </a:r>
            <a:r>
              <a:rPr lang="en-US" sz="2400" dirty="0">
                <a:ea typeface="Cambria Math" panose="02040503050406030204" pitchFamily="18" charset="0"/>
              </a:rPr>
              <a:t> (137 </a:t>
            </a:r>
            <a:r>
              <a:rPr lang="ru-RU" sz="2400" dirty="0">
                <a:ea typeface="Cambria Math" panose="02040503050406030204" pitchFamily="18" charset="0"/>
              </a:rPr>
              <a:t>образцов × 5000 генов)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Размеченный вектор подтипов </a:t>
            </a:r>
            <a:r>
              <a:rPr lang="en-US" sz="2400" dirty="0">
                <a:ea typeface="Cambria Math" panose="02040503050406030204" pitchFamily="18" charset="0"/>
              </a:rPr>
              <a:t>subtype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Обоснованно выбранный </a:t>
            </a:r>
            <a:r>
              <a:rPr lang="en-US" sz="2400" dirty="0" err="1">
                <a:ea typeface="Cambria Math" panose="02040503050406030204" pitchFamily="18" charset="0"/>
              </a:rPr>
              <a:t>softPower</a:t>
            </a:r>
            <a:endParaRPr lang="en-US" sz="2400" dirty="0">
              <a:ea typeface="Cambria Math" panose="02040503050406030204" pitchFamily="18" charset="0"/>
            </a:endParaRPr>
          </a:p>
          <a:p>
            <a:pPr marL="0" indent="0" algn="just">
              <a:buNone/>
              <a:tabLst>
                <a:tab pos="180975" algn="l"/>
              </a:tabLst>
            </a:pPr>
            <a:endParaRPr lang="en-US" sz="2400" dirty="0">
              <a:ea typeface="Cambria Math" panose="02040503050406030204" pitchFamily="18" charset="0"/>
            </a:endParaRP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Следующий шаг — Практика 2: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Запуск </a:t>
            </a:r>
            <a:r>
              <a:rPr lang="en-US" sz="2400" dirty="0" err="1">
                <a:ea typeface="Cambria Math" panose="02040503050406030204" pitchFamily="18" charset="0"/>
              </a:rPr>
              <a:t>blockwiseModules</a:t>
            </a:r>
            <a:r>
              <a:rPr lang="en-US" sz="2400" dirty="0">
                <a:ea typeface="Cambria Math" panose="02040503050406030204" pitchFamily="18" charset="0"/>
              </a:rPr>
              <a:t> </a:t>
            </a:r>
            <a:r>
              <a:rPr lang="ru-RU" sz="2400" dirty="0">
                <a:ea typeface="Cambria Math" panose="02040503050406030204" pitchFamily="18" charset="0"/>
              </a:rPr>
              <a:t>с </a:t>
            </a:r>
            <a:r>
              <a:rPr lang="en-US" sz="2400" dirty="0" err="1">
                <a:ea typeface="Cambria Math" panose="02040503050406030204" pitchFamily="18" charset="0"/>
              </a:rPr>
              <a:t>softPower</a:t>
            </a:r>
            <a:endParaRPr lang="en-US" sz="2400" dirty="0">
              <a:ea typeface="Cambria Math" panose="02040503050406030204" pitchFamily="18" charset="0"/>
            </a:endParaRP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Построение </a:t>
            </a:r>
            <a:r>
              <a:rPr lang="ru-RU" sz="2400" dirty="0" err="1">
                <a:ea typeface="Cambria Math" panose="02040503050406030204" pitchFamily="18" charset="0"/>
              </a:rPr>
              <a:t>дендрограммы</a:t>
            </a:r>
            <a:r>
              <a:rPr lang="ru-RU" sz="2400" dirty="0">
                <a:ea typeface="Cambria Math" panose="02040503050406030204" pitchFamily="18" charset="0"/>
              </a:rPr>
              <a:t> модулей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Связь </a:t>
            </a:r>
            <a:r>
              <a:rPr lang="en-US" sz="2400" dirty="0">
                <a:ea typeface="Cambria Math" panose="02040503050406030204" pitchFamily="18" charset="0"/>
              </a:rPr>
              <a:t>Module Eigengenes </a:t>
            </a:r>
            <a:r>
              <a:rPr lang="ru-RU" sz="2400" dirty="0">
                <a:ea typeface="Cambria Math" panose="02040503050406030204" pitchFamily="18" charset="0"/>
              </a:rPr>
              <a:t>с подтипами </a:t>
            </a:r>
            <a:r>
              <a:rPr lang="en-US" sz="2400" dirty="0">
                <a:ea typeface="Cambria Math" panose="02040503050406030204" pitchFamily="18" charset="0"/>
              </a:rPr>
              <a:t>BC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Расчёт </a:t>
            </a:r>
            <a:r>
              <a:rPr lang="en-US" sz="2400" dirty="0" err="1">
                <a:ea typeface="Cambria Math" panose="02040503050406030204" pitchFamily="18" charset="0"/>
              </a:rPr>
              <a:t>kME</a:t>
            </a:r>
            <a:r>
              <a:rPr lang="en-US" sz="2400" dirty="0">
                <a:ea typeface="Cambria Math" panose="02040503050406030204" pitchFamily="18" charset="0"/>
              </a:rPr>
              <a:t> </a:t>
            </a:r>
            <a:r>
              <a:rPr lang="ru-RU" sz="2400" dirty="0">
                <a:ea typeface="Cambria Math" panose="02040503050406030204" pitchFamily="18" charset="0"/>
              </a:rPr>
              <a:t>и выделение </a:t>
            </a:r>
            <a:r>
              <a:rPr lang="en-US" sz="2400" dirty="0">
                <a:ea typeface="Cambria Math" panose="02040503050406030204" pitchFamily="18" charset="0"/>
              </a:rPr>
              <a:t>hub-</a:t>
            </a:r>
            <a:r>
              <a:rPr lang="ru-RU" sz="2400" dirty="0">
                <a:ea typeface="Cambria Math" panose="02040503050406030204" pitchFamily="18" charset="0"/>
              </a:rPr>
              <a:t>генов</a:t>
            </a:r>
            <a:endParaRPr lang="en-US" sz="1800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098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Связь с Заданием 7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Практика 1 — методический фундамент для Задания 7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Корректная матрица </a:t>
            </a:r>
            <a:r>
              <a:rPr lang="ru-RU" sz="2400" dirty="0" err="1">
                <a:ea typeface="Cambria Math" panose="02040503050406030204" pitchFamily="18" charset="0"/>
              </a:rPr>
              <a:t>datExpr</a:t>
            </a:r>
            <a:r>
              <a:rPr lang="ru-RU" sz="2400" dirty="0">
                <a:ea typeface="Cambria Math" panose="02040503050406030204" pitchFamily="18" charset="0"/>
              </a:rPr>
              <a:t> → стабильные модули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Обоснованный выбор </a:t>
            </a:r>
            <a:r>
              <a:rPr lang="ru-RU" sz="2400" dirty="0" err="1">
                <a:ea typeface="Cambria Math" panose="02040503050406030204" pitchFamily="18" charset="0"/>
              </a:rPr>
              <a:t>power</a:t>
            </a:r>
            <a:r>
              <a:rPr lang="ru-RU" sz="2400" dirty="0">
                <a:ea typeface="Cambria Math" panose="02040503050406030204" pitchFamily="18" charset="0"/>
              </a:rPr>
              <a:t> → включается в отчёт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 err="1">
                <a:ea typeface="Cambria Math" panose="02040503050406030204" pitchFamily="18" charset="0"/>
              </a:rPr>
              <a:t>softPower</a:t>
            </a:r>
            <a:r>
              <a:rPr lang="ru-RU" sz="2400" dirty="0">
                <a:ea typeface="Cambria Math" panose="02040503050406030204" pitchFamily="18" charset="0"/>
              </a:rPr>
              <a:t> → входной параметр </a:t>
            </a:r>
            <a:r>
              <a:rPr lang="ru-RU" sz="2400" dirty="0" err="1">
                <a:ea typeface="Cambria Math" panose="02040503050406030204" pitchFamily="18" charset="0"/>
              </a:rPr>
              <a:t>blockwiseModules</a:t>
            </a:r>
            <a:endParaRPr lang="ru-RU" sz="2400" dirty="0">
              <a:ea typeface="Cambria Math" panose="02040503050406030204" pitchFamily="18" charset="0"/>
            </a:endParaRP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Фильтрация генов → вычислимость на 5000 признаках</a:t>
            </a:r>
            <a:endParaRPr lang="en-US" sz="1800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907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</TotalTime>
  <Words>1226</Words>
  <Application>Microsoft Office PowerPoint</Application>
  <PresentationFormat>Широкоэкранный</PresentationFormat>
  <Paragraphs>262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93</cp:revision>
  <dcterms:created xsi:type="dcterms:W3CDTF">2025-09-03T07:14:40Z</dcterms:created>
  <dcterms:modified xsi:type="dcterms:W3CDTF">2026-03-25T11:08:28Z</dcterms:modified>
</cp:coreProperties>
</file>