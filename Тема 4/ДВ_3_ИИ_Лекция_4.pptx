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8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2" r:id="rId20"/>
    <p:sldId id="281" r:id="rId21"/>
    <p:sldId id="284" r:id="rId22"/>
    <p:sldId id="287" r:id="rId23"/>
    <p:sldId id="288" r:id="rId24"/>
    <p:sldId id="289" r:id="rId25"/>
    <p:sldId id="285" r:id="rId26"/>
    <p:sldId id="283" r:id="rId27"/>
    <p:sldId id="266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0" autoAdjust="0"/>
    <p:restoredTop sz="69896" autoAdjust="0"/>
  </p:normalViewPr>
  <p:slideViewPr>
    <p:cSldViewPr snapToGrid="0">
      <p:cViewPr varScale="1">
        <p:scale>
          <a:sx n="50" d="100"/>
          <a:sy n="50" d="100"/>
        </p:scale>
        <p:origin x="133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9370D-F2D9-4CCE-A730-8C5295B5F53C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35BED-E67C-4CE8-A9D1-79A059B95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89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955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441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307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578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410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106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17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4544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b="0" i="0" dirty="0">
              <a:effectLst/>
              <a:latin typeface="fkGroteskNeue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3018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244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8131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6800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1760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0731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0184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719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0658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3358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62182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5669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2845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76939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349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1906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8190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1596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3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7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02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78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23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3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3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18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84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8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10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48A2A-B373-4BED-99C6-55213C852137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8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orvath.genetics.ucla.edu/html/CoexpressionNetwork/Rpackages/WGCNA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0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98;p2">
            <a:extLst>
              <a:ext uri="{FF2B5EF4-FFF2-40B4-BE49-F238E27FC236}">
                <a16:creationId xmlns:a16="http://schemas.microsoft.com/office/drawing/2014/main" id="{0F188103-7B17-734F-BE68-5A893025A082}"/>
              </a:ext>
            </a:extLst>
          </p:cNvPr>
          <p:cNvSpPr txBox="1"/>
          <p:nvPr/>
        </p:nvSpPr>
        <p:spPr>
          <a:xfrm>
            <a:off x="2482607" y="1725043"/>
            <a:ext cx="7997823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Курс ДПП ПП</a:t>
            </a: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Основы биоинформатики и компьютерной биологии</a:t>
            </a:r>
          </a:p>
          <a:p>
            <a:pPr lvl="0" algn="ctr"/>
            <a:endParaRPr lang="ru-RU" sz="2800" b="1" dirty="0">
              <a:solidFill>
                <a:schemeClr val="bg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Алгоритмы искусственного интеллекта в биологии и медицине</a:t>
            </a:r>
          </a:p>
          <a:p>
            <a:pPr lvl="0" algn="ctr"/>
            <a:b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Лекция 4. Сетевой анализ и комплексная интерпретация биологических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23186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8A76A24-00EA-EE42-8A4F-846D0D0A92B0}"/>
              </a:ext>
            </a:extLst>
          </p:cNvPr>
          <p:cNvGrpSpPr/>
          <p:nvPr/>
        </p:nvGrpSpPr>
        <p:grpSpPr>
          <a:xfrm>
            <a:off x="-50" y="0"/>
            <a:ext cx="827700" cy="6858000"/>
            <a:chOff x="-50" y="0"/>
            <a:chExt cx="827700" cy="5143500"/>
          </a:xfrm>
        </p:grpSpPr>
        <p:sp>
          <p:nvSpPr>
            <p:cNvPr id="25" name="Google Shape;106;p3">
              <a:extLst>
                <a:ext uri="{FF2B5EF4-FFF2-40B4-BE49-F238E27FC236}">
                  <a16:creationId xmlns:a16="http://schemas.microsoft.com/office/drawing/2014/main" id="{1212ABD6-BB78-564D-90F4-45A9BF52F65A}"/>
                </a:ext>
              </a:extLst>
            </p:cNvPr>
            <p:cNvSpPr/>
            <p:nvPr/>
          </p:nvSpPr>
          <p:spPr>
            <a:xfrm>
              <a:off x="-50" y="0"/>
              <a:ext cx="827700" cy="5143500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107;p3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C968D678-6F52-2F45-8BE7-5E2313AF23D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87534"/>
              <a:ext cx="553050" cy="432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109;p3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1F22E8DB-9008-9D4B-9E64-C397CC33A9D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7087" y="4422472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110;p3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5E9D660B-F40F-CB41-B4B6-62BD62C97A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7779" y="3741120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111;p3">
              <a:extLst>
                <a:ext uri="{FF2B5EF4-FFF2-40B4-BE49-F238E27FC236}">
                  <a16:creationId xmlns:a16="http://schemas.microsoft.com/office/drawing/2014/main" id="{23A12878-4A5D-E648-A640-94DEA9532F72}"/>
                </a:ext>
              </a:extLst>
            </p:cNvPr>
            <p:cNvSpPr txBox="1"/>
            <p:nvPr/>
          </p:nvSpPr>
          <p:spPr>
            <a:xfrm>
              <a:off x="84051" y="4728776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34" name="Google Shape;112;p3">
              <a:extLst>
                <a:ext uri="{FF2B5EF4-FFF2-40B4-BE49-F238E27FC236}">
                  <a16:creationId xmlns:a16="http://schemas.microsoft.com/office/drawing/2014/main" id="{0525B736-A5F9-A04E-92B8-E50E60AAE2C0}"/>
                </a:ext>
              </a:extLst>
            </p:cNvPr>
            <p:cNvSpPr txBox="1"/>
            <p:nvPr/>
          </p:nvSpPr>
          <p:spPr>
            <a:xfrm>
              <a:off x="84051" y="4083918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37" name="Google Shape;108;p3">
            <a:extLst>
              <a:ext uri="{FF2B5EF4-FFF2-40B4-BE49-F238E27FC236}">
                <a16:creationId xmlns:a16="http://schemas.microsoft.com/office/drawing/2014/main" id="{5493CD04-205D-294C-BD53-0914C34565C1}"/>
              </a:ext>
            </a:extLst>
          </p:cNvPr>
          <p:cNvSpPr txBox="1"/>
          <p:nvPr/>
        </p:nvSpPr>
        <p:spPr>
          <a:xfrm>
            <a:off x="964967" y="220551"/>
            <a:ext cx="734481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Введение</a:t>
            </a:r>
            <a:endParaRPr lang="en-US" dirty="0">
              <a:solidFill>
                <a:srgbClr val="00549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2" name="Объект 2"/>
          <p:cNvSpPr>
            <a:spLocks noGrp="1"/>
          </p:cNvSpPr>
          <p:nvPr>
            <p:ph idx="1"/>
          </p:nvPr>
        </p:nvSpPr>
        <p:spPr>
          <a:xfrm>
            <a:off x="1043608" y="926349"/>
            <a:ext cx="10562698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От генов к сетям: WGCNA и модули генов</a:t>
            </a:r>
          </a:p>
          <a:p>
            <a:pPr marL="0" indent="0" algn="just">
              <a:buNone/>
            </a:pPr>
            <a:r>
              <a:rPr lang="ru-RU" b="0" i="1" dirty="0">
                <a:effectLst/>
                <a:latin typeface="fkGroteskNeue"/>
              </a:rPr>
              <a:t>Парадокс размерности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20,000 генов — это слишком много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При 20,000 генов и 100 пациентах, каждый пациент уникален.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Традиционный подход: выбрать топ-</a:t>
            </a:r>
            <a:r>
              <a:rPr lang="en-US" dirty="0">
                <a:latin typeface="fkGroteskNeue"/>
              </a:rPr>
              <a:t>n </a:t>
            </a:r>
            <a:r>
              <a:rPr lang="ru-RU" b="0" i="0" dirty="0">
                <a:effectLst/>
                <a:latin typeface="fkGroteskNeue"/>
              </a:rPr>
              <a:t>генов </a:t>
            </a:r>
            <a:endParaRPr lang="en-US" b="0" i="0" dirty="0">
              <a:effectLst/>
              <a:latin typeface="fkGroteskNeue"/>
            </a:endParaRPr>
          </a:p>
          <a:p>
            <a:pPr algn="l"/>
            <a:r>
              <a:rPr lang="ru-RU" b="0" i="0" dirty="0">
                <a:effectLst/>
                <a:latin typeface="fkGroteskNeue"/>
              </a:rPr>
              <a:t>Новый подход: Гены работают в модулях (кластерах), как белки в комплексах</a:t>
            </a:r>
          </a:p>
          <a:p>
            <a:pPr algn="l"/>
            <a:r>
              <a:rPr lang="ru-RU" b="0" i="1" dirty="0">
                <a:effectLst/>
                <a:latin typeface="fkGroteskNeue"/>
              </a:rPr>
              <a:t>Задача: найти эти модули автоматически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4079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Шаг 0: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DEA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перед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WGCNA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b="1" i="1" dirty="0">
                <a:effectLst/>
                <a:latin typeface="fkGroteskNeue"/>
              </a:rPr>
              <a:t>WGCNA </a:t>
            </a:r>
            <a:r>
              <a:rPr lang="ru-RU" b="1" i="1" dirty="0">
                <a:effectLst/>
                <a:latin typeface="fkGroteskNeue"/>
              </a:rPr>
              <a:t>на всех 20</a:t>
            </a:r>
            <a:r>
              <a:rPr lang="en-US" b="1" i="1" dirty="0">
                <a:effectLst/>
                <a:latin typeface="fkGroteskNeue"/>
              </a:rPr>
              <a:t>k </a:t>
            </a:r>
            <a:r>
              <a:rPr lang="ru-RU" b="1" i="1" dirty="0">
                <a:effectLst/>
                <a:latin typeface="fkGroteskNeue"/>
              </a:rPr>
              <a:t>генах? Медленно + шум.</a:t>
            </a:r>
          </a:p>
          <a:p>
            <a:pPr marL="0" indent="0" algn="l">
              <a:buNone/>
            </a:pPr>
            <a:r>
              <a:rPr lang="ru-RU" dirty="0">
                <a:effectLst/>
                <a:latin typeface="fkGroteskNeue"/>
              </a:rPr>
              <a:t>1. </a:t>
            </a:r>
            <a:r>
              <a:rPr lang="en-US" dirty="0">
                <a:effectLst/>
                <a:latin typeface="fkGroteskNeue"/>
              </a:rPr>
              <a:t>DEA: tumor vs normal → upregulated/down DEGs (</a:t>
            </a:r>
            <a:r>
              <a:rPr lang="en-US" dirty="0" err="1">
                <a:effectLst/>
                <a:latin typeface="fkGroteskNeue"/>
              </a:rPr>
              <a:t>limma</a:t>
            </a:r>
            <a:r>
              <a:rPr lang="en-US" dirty="0">
                <a:effectLst/>
                <a:latin typeface="fkGroteskNeue"/>
              </a:rPr>
              <a:t>/</a:t>
            </a:r>
            <a:r>
              <a:rPr lang="en-US" dirty="0" err="1">
                <a:effectLst/>
                <a:latin typeface="fkGroteskNeue"/>
              </a:rPr>
              <a:t>edgeR</a:t>
            </a:r>
            <a:r>
              <a:rPr lang="en-US" dirty="0">
                <a:effectLst/>
                <a:latin typeface="fkGroteskNeue"/>
              </a:rPr>
              <a:t>).</a:t>
            </a:r>
          </a:p>
          <a:p>
            <a:pPr marL="0" indent="0" algn="l">
              <a:buNone/>
            </a:pPr>
            <a:r>
              <a:rPr lang="en-US" dirty="0">
                <a:effectLst/>
                <a:latin typeface="fkGroteskNeue"/>
              </a:rPr>
              <a:t>2. Top 5k </a:t>
            </a:r>
            <a:r>
              <a:rPr lang="ru-RU" dirty="0">
                <a:effectLst/>
                <a:latin typeface="fkGroteskNeue"/>
              </a:rPr>
              <a:t>по </a:t>
            </a:r>
            <a:r>
              <a:rPr lang="en-US" dirty="0">
                <a:effectLst/>
                <a:latin typeface="fkGroteskNeue"/>
              </a:rPr>
              <a:t>variance/</a:t>
            </a:r>
            <a:r>
              <a:rPr lang="en-US" dirty="0" err="1">
                <a:effectLst/>
                <a:latin typeface="fkGroteskNeue"/>
              </a:rPr>
              <a:t>adj.p</a:t>
            </a:r>
            <a:r>
              <a:rPr lang="en-US" dirty="0">
                <a:effectLst/>
                <a:latin typeface="fkGroteskNeue"/>
              </a:rPr>
              <a:t>&lt;0.05.</a:t>
            </a:r>
          </a:p>
          <a:p>
            <a:pPr marL="0" indent="0" algn="l">
              <a:buNone/>
            </a:pPr>
            <a:r>
              <a:rPr lang="en-US" dirty="0">
                <a:effectLst/>
                <a:latin typeface="fkGroteskNeue"/>
              </a:rPr>
              <a:t>3. + remove low-expr CPM&gt;3 </a:t>
            </a:r>
            <a:r>
              <a:rPr lang="ru-RU" dirty="0">
                <a:effectLst/>
                <a:latin typeface="fkGroteskNeue"/>
              </a:rPr>
              <a:t>в 30% </a:t>
            </a:r>
            <a:r>
              <a:rPr lang="ru-RU" dirty="0" err="1">
                <a:effectLst/>
                <a:latin typeface="fkGroteskNeue"/>
              </a:rPr>
              <a:t>сэмплов</a:t>
            </a:r>
            <a:r>
              <a:rPr lang="ru-RU" dirty="0">
                <a:effectLst/>
                <a:latin typeface="fkGroteskNeue"/>
              </a:rPr>
              <a:t>.</a:t>
            </a:r>
          </a:p>
          <a:p>
            <a:pPr marL="0" indent="0" algn="l">
              <a:buNone/>
            </a:pPr>
            <a:r>
              <a:rPr lang="ru-RU" dirty="0">
                <a:effectLst/>
                <a:latin typeface="fkGroteskNeue"/>
              </a:rPr>
              <a:t>Пример </a:t>
            </a:r>
            <a:r>
              <a:rPr lang="en-US" dirty="0">
                <a:effectLst/>
                <a:latin typeface="fkGroteskNeue"/>
              </a:rPr>
              <a:t>TCGA breast: 2k DEGs → WGCNA input.</a:t>
            </a:r>
          </a:p>
          <a:p>
            <a:pPr marL="0" indent="0" algn="l">
              <a:buNone/>
            </a:pPr>
            <a:r>
              <a:rPr lang="en-US" dirty="0">
                <a:effectLst/>
                <a:latin typeface="fkGroteskNeue"/>
              </a:rPr>
              <a:t>R: </a:t>
            </a:r>
            <a:r>
              <a:rPr lang="en-US" dirty="0" err="1">
                <a:effectLst/>
                <a:latin typeface="fkGroteskNeue"/>
              </a:rPr>
              <a:t>limma</a:t>
            </a:r>
            <a:r>
              <a:rPr lang="en-US" dirty="0">
                <a:effectLst/>
                <a:latin typeface="fkGroteskNeue"/>
              </a:rPr>
              <a:t>::</a:t>
            </a:r>
            <a:r>
              <a:rPr lang="en-US" dirty="0" err="1">
                <a:effectLst/>
                <a:latin typeface="fkGroteskNeue"/>
              </a:rPr>
              <a:t>topTable</a:t>
            </a:r>
            <a:r>
              <a:rPr lang="en-US" dirty="0">
                <a:effectLst/>
                <a:latin typeface="fkGroteskNeue"/>
              </a:rPr>
              <a:t>(fit, </a:t>
            </a:r>
            <a:r>
              <a:rPr lang="en-US" dirty="0" err="1">
                <a:effectLst/>
                <a:latin typeface="fkGroteskNeue"/>
              </a:rPr>
              <a:t>adj.P.Val</a:t>
            </a:r>
            <a:r>
              <a:rPr lang="en-US" dirty="0">
                <a:effectLst/>
                <a:latin typeface="fkGroteskNeue"/>
              </a:rPr>
              <a:t>&lt;0.05) → variance filter.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614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Почему сети, а не просто гены?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Традиционный подход: "Какой ген предсказывает рак?"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Результат: находим 1-2 гена, но они работают в контексте других генов.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Проблема: гены не работают в изоляции!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Ген A регулирует ген B, ген B регулирует ген C...</a:t>
            </a:r>
          </a:p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Системный подход: "Какой модуль генов, работающих вместе, предсказывает рак?"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Результат: находим 5-10 генов, работающих как "команда" → часто намного более надёжно!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2026497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DD5B490-5511-43B8-8AC8-1BE316A987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97"/>
          <a:stretch/>
        </p:blipFill>
        <p:spPr bwMode="auto">
          <a:xfrm>
            <a:off x="6301298" y="1344006"/>
            <a:ext cx="5617254" cy="4989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Основы теории графов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4" y="1223234"/>
            <a:ext cx="6938994" cy="567764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sz="2000" b="1" i="1" dirty="0">
                <a:effectLst/>
                <a:latin typeface="fkGroteskNeue"/>
              </a:rPr>
              <a:t>Язык сетей</a:t>
            </a:r>
          </a:p>
          <a:p>
            <a:pPr marL="0" indent="0" algn="l">
              <a:buNone/>
            </a:pPr>
            <a:r>
              <a:rPr lang="ru-RU" sz="2000" b="0" i="0" dirty="0">
                <a:effectLst/>
                <a:latin typeface="fkGroteskNeue"/>
              </a:rPr>
              <a:t>Граф = пара (V, 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V = вершины (</a:t>
            </a:r>
            <a:r>
              <a:rPr lang="ru-RU" sz="2000" b="0" i="0" dirty="0" err="1">
                <a:effectLst/>
                <a:latin typeface="fkGroteskNeue"/>
              </a:rPr>
              <a:t>nodes</a:t>
            </a:r>
            <a:r>
              <a:rPr lang="ru-RU" sz="2000" b="0" i="0" dirty="0">
                <a:effectLst/>
                <a:latin typeface="fkGroteskNeue"/>
              </a:rPr>
              <a:t>) — в биомедицине это гены, белки, пациенты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E = рёбра (</a:t>
            </a:r>
            <a:r>
              <a:rPr lang="ru-RU" sz="2000" b="0" i="0" dirty="0" err="1">
                <a:effectLst/>
                <a:latin typeface="fkGroteskNeue"/>
              </a:rPr>
              <a:t>edges</a:t>
            </a:r>
            <a:r>
              <a:rPr lang="ru-RU" sz="2000" b="0" i="0" dirty="0">
                <a:effectLst/>
                <a:latin typeface="fkGroteskNeue"/>
              </a:rPr>
              <a:t>) — связи между ними</a:t>
            </a:r>
            <a:endParaRPr lang="en-US" sz="2000" b="0" i="0" dirty="0">
              <a:effectLst/>
              <a:latin typeface="fkGroteskNeue"/>
            </a:endParaRPr>
          </a:p>
          <a:p>
            <a:pPr marL="0" indent="0" algn="l">
              <a:buNone/>
            </a:pPr>
            <a:r>
              <a:rPr lang="ru-RU" sz="2000" b="0" i="0" dirty="0">
                <a:effectLst/>
                <a:latin typeface="fkGroteskNeue"/>
              </a:rPr>
              <a:t>Взвешенный граф:</a:t>
            </a:r>
          </a:p>
          <a:p>
            <a:pPr algn="l"/>
            <a:r>
              <a:rPr lang="ru-RU" sz="2000" b="0" i="0" dirty="0">
                <a:effectLst/>
                <a:latin typeface="fkGroteskNeue"/>
              </a:rPr>
              <a:t>Каждое ребро имеет вес (</a:t>
            </a:r>
            <a:r>
              <a:rPr lang="ru-RU" sz="2000" b="0" i="0" dirty="0" err="1">
                <a:effectLst/>
                <a:latin typeface="fkGroteskNeue"/>
              </a:rPr>
              <a:t>strength</a:t>
            </a:r>
            <a:r>
              <a:rPr lang="ru-RU" sz="2000" b="0" i="0" dirty="0">
                <a:effectLst/>
                <a:latin typeface="fkGroteskNeue"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Вес 0.9: сильная корреляция экспрессии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Вес 0.3: слабая корреляция</a:t>
            </a:r>
          </a:p>
          <a:p>
            <a:pPr marL="0" indent="0" algn="l">
              <a:buNone/>
            </a:pPr>
            <a:r>
              <a:rPr lang="ru-RU" sz="2000" b="0" i="1" dirty="0">
                <a:effectLst/>
                <a:latin typeface="fkGroteskNeue"/>
              </a:rPr>
              <a:t>Направленный граф (ориентированный):</a:t>
            </a:r>
            <a:br>
              <a:rPr lang="ru-RU" sz="2000" b="0" i="0" dirty="0">
                <a:effectLst/>
                <a:latin typeface="fkGroteskNeue"/>
              </a:rPr>
            </a:br>
            <a:r>
              <a:rPr lang="ru-RU" sz="2000" b="0" i="0" dirty="0">
                <a:effectLst/>
                <a:latin typeface="fkGroteskNeue"/>
              </a:rPr>
              <a:t>Стрелка показывает направление (ген A → ген B = "ген A регулирует ген B")</a:t>
            </a:r>
          </a:p>
          <a:p>
            <a:pPr marL="0" indent="0" algn="l">
              <a:buNone/>
            </a:pPr>
            <a:r>
              <a:rPr lang="ru-RU" sz="2000" b="0" i="1" dirty="0">
                <a:effectLst/>
                <a:latin typeface="fkGroteskNeue"/>
              </a:rPr>
              <a:t>Ненаправленный граф:</a:t>
            </a:r>
            <a:br>
              <a:rPr lang="ru-RU" sz="2000" b="0" i="0" dirty="0">
                <a:effectLst/>
                <a:latin typeface="fkGroteskNeue"/>
              </a:rPr>
            </a:br>
            <a:r>
              <a:rPr lang="ru-RU" sz="2000" b="0" i="0" dirty="0">
                <a:effectLst/>
                <a:latin typeface="fkGroteskNeue"/>
              </a:rPr>
              <a:t>Просто связь (корреляция экспрессии, не важно направление)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sz="2000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3822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Метрики графов (часть 1)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7462377" cy="567764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sz="2400" b="1" i="1" dirty="0">
                <a:effectLst/>
                <a:latin typeface="fkGroteskNeue"/>
              </a:rPr>
              <a:t>Как описать сеть?</a:t>
            </a:r>
          </a:p>
          <a:p>
            <a:pPr marL="0" indent="0" algn="l">
              <a:buNone/>
            </a:pPr>
            <a:r>
              <a:rPr lang="ru-RU" sz="2400" b="0" i="1" dirty="0">
                <a:effectLst/>
                <a:latin typeface="fkGroteskNeue"/>
              </a:rPr>
              <a:t>Степень вершины (</a:t>
            </a:r>
            <a:r>
              <a:rPr lang="ru-RU" sz="2400" b="0" i="1" dirty="0" err="1">
                <a:effectLst/>
                <a:latin typeface="fkGroteskNeue"/>
              </a:rPr>
              <a:t>Degree</a:t>
            </a:r>
            <a:r>
              <a:rPr lang="ru-RU" sz="2400" b="0" i="1" dirty="0">
                <a:effectLst/>
                <a:latin typeface="fkGroteskNeue"/>
              </a:rPr>
              <a:t>):</a:t>
            </a:r>
            <a:r>
              <a:rPr lang="en-US" sz="2400" b="0" i="1" dirty="0">
                <a:effectLst/>
                <a:latin typeface="fkGroteskNeue"/>
              </a:rPr>
              <a:t> </a:t>
            </a:r>
            <a:r>
              <a:rPr lang="ru-RU" sz="2400" b="0" i="0" dirty="0">
                <a:effectLst/>
                <a:latin typeface="fkGroteskNeue"/>
              </a:rPr>
              <a:t>Количество рёбер, соединённых с вершиной.</a:t>
            </a:r>
            <a:endParaRPr lang="en-US" sz="2400" b="0" i="0" dirty="0">
              <a:effectLst/>
              <a:latin typeface="fkGroteskNeue"/>
            </a:endParaRPr>
          </a:p>
          <a:p>
            <a:pPr marL="457200" lvl="1" indent="0">
              <a:buNone/>
            </a:pPr>
            <a:r>
              <a:rPr lang="ru-RU" sz="2000" b="0" i="0" dirty="0" err="1">
                <a:effectLst/>
                <a:latin typeface="fkGroteskNeue"/>
              </a:rPr>
              <a:t>ГенA</a:t>
            </a:r>
            <a:r>
              <a:rPr lang="ru-RU" sz="2000" b="0" i="0" dirty="0">
                <a:effectLst/>
                <a:latin typeface="fkGroteskNeue"/>
              </a:rPr>
              <a:t>: </a:t>
            </a:r>
            <a:r>
              <a:rPr lang="ru-RU" sz="2000" b="0" i="0" dirty="0" err="1">
                <a:effectLst/>
                <a:latin typeface="fkGroteskNeue"/>
              </a:rPr>
              <a:t>degree</a:t>
            </a:r>
            <a:r>
              <a:rPr lang="ru-RU" sz="2000" b="0" i="0" dirty="0">
                <a:effectLst/>
                <a:latin typeface="fkGroteskNeue"/>
              </a:rPr>
              <a:t> = 3  (соединён с B, C, D)</a:t>
            </a:r>
          </a:p>
          <a:p>
            <a:pPr marL="457200" lvl="1" indent="0">
              <a:buNone/>
            </a:pPr>
            <a:r>
              <a:rPr lang="ru-RU" sz="2000" b="0" i="0" dirty="0" err="1">
                <a:effectLst/>
                <a:latin typeface="fkGroteskNeue"/>
              </a:rPr>
              <a:t>ГенE</a:t>
            </a:r>
            <a:r>
              <a:rPr lang="ru-RU" sz="2000" b="0" i="0" dirty="0">
                <a:effectLst/>
                <a:latin typeface="fkGroteskNeue"/>
              </a:rPr>
              <a:t>: </a:t>
            </a:r>
            <a:r>
              <a:rPr lang="ru-RU" sz="2000" b="0" i="0" dirty="0" err="1">
                <a:effectLst/>
                <a:latin typeface="fkGroteskNeue"/>
              </a:rPr>
              <a:t>degree</a:t>
            </a:r>
            <a:r>
              <a:rPr lang="ru-RU" sz="2000" b="0" i="0" dirty="0">
                <a:effectLst/>
                <a:latin typeface="fkGroteskNeue"/>
              </a:rPr>
              <a:t> = 1  (соединён только с D)</a:t>
            </a:r>
          </a:p>
          <a:p>
            <a:pPr marL="0" indent="0" algn="l">
              <a:buNone/>
            </a:pPr>
            <a:r>
              <a:rPr lang="ru-RU" sz="2400" b="0" i="1" dirty="0">
                <a:effectLst/>
                <a:latin typeface="fkGroteskNeue"/>
              </a:rPr>
              <a:t>Гены с высокой степенью = </a:t>
            </a:r>
            <a:r>
              <a:rPr lang="ru-RU" sz="2400" b="0" i="1" dirty="0" err="1">
                <a:effectLst/>
                <a:latin typeface="fkGroteskNeue"/>
              </a:rPr>
              <a:t>hub</a:t>
            </a:r>
            <a:r>
              <a:rPr lang="ru-RU" sz="2400" b="0" i="1" dirty="0">
                <a:effectLst/>
                <a:latin typeface="fkGroteskNeue"/>
              </a:rPr>
              <a:t> гены (центральные, важные)</a:t>
            </a:r>
          </a:p>
          <a:p>
            <a:pPr marL="0" indent="0" algn="l">
              <a:buNone/>
            </a:pPr>
            <a:r>
              <a:rPr lang="ru-RU" sz="2400" b="0" i="1" dirty="0" err="1">
                <a:effectLst/>
                <a:latin typeface="fkGroteskNeue"/>
              </a:rPr>
              <a:t>Кластеризационный</a:t>
            </a:r>
            <a:r>
              <a:rPr lang="ru-RU" sz="2400" b="0" i="1" dirty="0">
                <a:effectLst/>
                <a:latin typeface="fkGroteskNeue"/>
              </a:rPr>
              <a:t> коэффициент (</a:t>
            </a:r>
            <a:r>
              <a:rPr lang="ru-RU" sz="2400" b="0" i="1" dirty="0" err="1">
                <a:effectLst/>
                <a:latin typeface="fkGroteskNeue"/>
              </a:rPr>
              <a:t>Clustering</a:t>
            </a:r>
            <a:r>
              <a:rPr lang="ru-RU" sz="2400" b="0" i="1" dirty="0">
                <a:effectLst/>
                <a:latin typeface="fkGroteskNeue"/>
              </a:rPr>
              <a:t> </a:t>
            </a:r>
            <a:r>
              <a:rPr lang="ru-RU" sz="2400" b="0" i="1" dirty="0" err="1">
                <a:effectLst/>
                <a:latin typeface="fkGroteskNeue"/>
              </a:rPr>
              <a:t>Coefficient</a:t>
            </a:r>
            <a:r>
              <a:rPr lang="ru-RU" sz="2400" b="0" i="1" dirty="0">
                <a:effectLst/>
                <a:latin typeface="fkGroteskNeue"/>
              </a:rPr>
              <a:t>):</a:t>
            </a:r>
            <a:r>
              <a:rPr lang="en-US" sz="2400" b="0" i="1" dirty="0">
                <a:effectLst/>
                <a:latin typeface="fkGroteskNeue"/>
              </a:rPr>
              <a:t> </a:t>
            </a:r>
            <a:r>
              <a:rPr lang="ru-RU" sz="2400" b="0" i="0" dirty="0">
                <a:effectLst/>
                <a:latin typeface="fkGroteskNeue"/>
              </a:rPr>
              <a:t>Насколько соседи вершины соединены между собой?</a:t>
            </a:r>
          </a:p>
          <a:p>
            <a:pPr marL="457200" lvl="1" indent="0">
              <a:buNone/>
            </a:pPr>
            <a:r>
              <a:rPr lang="ru-RU" sz="2000" b="0" i="0" dirty="0">
                <a:effectLst/>
                <a:latin typeface="fkGroteskNeue"/>
              </a:rPr>
              <a:t>Если у </a:t>
            </a:r>
            <a:r>
              <a:rPr lang="ru-RU" sz="2000" b="0" i="0" dirty="0" err="1">
                <a:effectLst/>
                <a:latin typeface="fkGroteskNeue"/>
              </a:rPr>
              <a:t>ГенA</a:t>
            </a:r>
            <a:r>
              <a:rPr lang="ru-RU" sz="2000" b="0" i="0" dirty="0">
                <a:effectLst/>
                <a:latin typeface="fkGroteskNeue"/>
              </a:rPr>
              <a:t> есть соседи B и C:</a:t>
            </a:r>
          </a:p>
          <a:p>
            <a:pPr marL="457200" lvl="1" indent="0">
              <a:buNone/>
            </a:pPr>
            <a:r>
              <a:rPr lang="ru-RU" sz="2000" b="0" i="0" dirty="0">
                <a:effectLst/>
                <a:latin typeface="fkGroteskNeue"/>
              </a:rPr>
              <a:t>- Если B и C соединены → </a:t>
            </a:r>
            <a:r>
              <a:rPr lang="ru-RU" sz="2000" b="0" i="0" dirty="0" err="1">
                <a:effectLst/>
                <a:latin typeface="fkGroteskNeue"/>
              </a:rPr>
              <a:t>clustering</a:t>
            </a:r>
            <a:r>
              <a:rPr lang="ru-RU" sz="2000" b="0" i="0" dirty="0">
                <a:effectLst/>
                <a:latin typeface="fkGroteskNeue"/>
              </a:rPr>
              <a:t> </a:t>
            </a:r>
            <a:r>
              <a:rPr lang="ru-RU" sz="2000" b="0" i="0" dirty="0" err="1">
                <a:effectLst/>
                <a:latin typeface="fkGroteskNeue"/>
              </a:rPr>
              <a:t>coeff</a:t>
            </a:r>
            <a:r>
              <a:rPr lang="ru-RU" sz="2000" b="0" i="0" dirty="0">
                <a:effectLst/>
                <a:latin typeface="fkGroteskNeue"/>
              </a:rPr>
              <a:t> высокий (триангуляция)</a:t>
            </a:r>
          </a:p>
          <a:p>
            <a:pPr marL="457200" lvl="1" indent="0">
              <a:buNone/>
            </a:pPr>
            <a:r>
              <a:rPr lang="ru-RU" sz="2000" b="0" i="0" dirty="0">
                <a:effectLst/>
                <a:latin typeface="fkGroteskNeue"/>
              </a:rPr>
              <a:t>- Если B и C не соединены → </a:t>
            </a:r>
            <a:r>
              <a:rPr lang="ru-RU" sz="2000" b="0" i="0" dirty="0" err="1">
                <a:effectLst/>
                <a:latin typeface="fkGroteskNeue"/>
              </a:rPr>
              <a:t>clustering</a:t>
            </a:r>
            <a:r>
              <a:rPr lang="ru-RU" sz="2000" b="0" i="0" dirty="0">
                <a:effectLst/>
                <a:latin typeface="fkGroteskNeue"/>
              </a:rPr>
              <a:t> </a:t>
            </a:r>
            <a:r>
              <a:rPr lang="ru-RU" sz="2000" b="0" i="0" dirty="0" err="1">
                <a:effectLst/>
                <a:latin typeface="fkGroteskNeue"/>
              </a:rPr>
              <a:t>coeff</a:t>
            </a:r>
            <a:r>
              <a:rPr lang="ru-RU" sz="2000" b="0" i="0" dirty="0">
                <a:effectLst/>
                <a:latin typeface="fkGroteskNeue"/>
              </a:rPr>
              <a:t> низкий</a:t>
            </a:r>
          </a:p>
          <a:p>
            <a:pPr marL="0" indent="0" algn="l">
              <a:buNone/>
            </a:pPr>
            <a:r>
              <a:rPr lang="ru-RU" sz="2400" b="0" i="1" dirty="0">
                <a:effectLst/>
                <a:latin typeface="fkGroteskNeue"/>
              </a:rPr>
              <a:t>Высокий </a:t>
            </a:r>
            <a:r>
              <a:rPr lang="ru-RU" sz="2400" b="0" i="1" dirty="0" err="1">
                <a:effectLst/>
                <a:latin typeface="fkGroteskNeue"/>
              </a:rPr>
              <a:t>clustering</a:t>
            </a:r>
            <a:r>
              <a:rPr lang="ru-RU" sz="2400" b="0" i="1" dirty="0">
                <a:effectLst/>
                <a:latin typeface="fkGroteskNeue"/>
              </a:rPr>
              <a:t> </a:t>
            </a:r>
            <a:r>
              <a:rPr lang="ru-RU" sz="2400" b="0" i="1" dirty="0" err="1">
                <a:effectLst/>
                <a:latin typeface="fkGroteskNeue"/>
              </a:rPr>
              <a:t>coeff</a:t>
            </a:r>
            <a:r>
              <a:rPr lang="ru-RU" sz="2400" b="0" i="1" dirty="0">
                <a:effectLst/>
                <a:latin typeface="fkGroteskNeue"/>
              </a:rPr>
              <a:t> = плотная подсеть ("клика")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C23E70E-BDEF-4B3D-9DA0-1E24E47D2D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4074" y="1170658"/>
            <a:ext cx="5614903" cy="499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823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Метрики графов (часть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2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Централ</a:t>
            </a:r>
            <a:r>
              <a:rPr lang="ru-RU" b="1" i="1" dirty="0">
                <a:latin typeface="fkGroteskNeue"/>
              </a:rPr>
              <a:t>ьность</a:t>
            </a:r>
            <a:r>
              <a:rPr lang="ru-RU" b="1" i="1" dirty="0">
                <a:effectLst/>
                <a:latin typeface="fkGroteskNeue"/>
              </a:rPr>
              <a:t> (</a:t>
            </a:r>
            <a:r>
              <a:rPr lang="ru-RU" b="1" i="1" dirty="0" err="1">
                <a:effectLst/>
                <a:latin typeface="fkGroteskNeue"/>
              </a:rPr>
              <a:t>Centrality</a:t>
            </a:r>
            <a:r>
              <a:rPr lang="ru-RU" b="1" i="1" dirty="0">
                <a:effectLst/>
                <a:latin typeface="fkGroteskNeue"/>
              </a:rPr>
              <a:t>)</a:t>
            </a:r>
          </a:p>
          <a:p>
            <a:pPr marL="0" indent="0" algn="l">
              <a:buNone/>
            </a:pPr>
            <a:r>
              <a:rPr lang="ru-RU" b="0" i="1" dirty="0" err="1">
                <a:effectLst/>
                <a:latin typeface="fkGroteskNeue"/>
              </a:rPr>
              <a:t>Betweenness</a:t>
            </a:r>
            <a:r>
              <a:rPr lang="ru-RU" b="0" i="1" dirty="0">
                <a:effectLst/>
                <a:latin typeface="fkGroteskNeue"/>
              </a:rPr>
              <a:t> </a:t>
            </a:r>
            <a:r>
              <a:rPr lang="ru-RU" b="0" i="1" dirty="0" err="1">
                <a:effectLst/>
                <a:latin typeface="fkGroteskNeue"/>
              </a:rPr>
              <a:t>Centrality</a:t>
            </a:r>
            <a:r>
              <a:rPr lang="ru-RU" b="0" i="0" dirty="0">
                <a:effectLst/>
                <a:latin typeface="fkGroteskNeue"/>
              </a:rPr>
              <a:t>: Сколько кратчайших путей проходит через вершину?</a:t>
            </a:r>
          </a:p>
          <a:p>
            <a:pPr marL="457200" lvl="1" indent="0">
              <a:buNone/>
            </a:pPr>
            <a:r>
              <a:rPr lang="ru-RU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	Гены: A - B - C - D</a:t>
            </a:r>
          </a:p>
          <a:p>
            <a:pPr marL="0" indent="0" algn="l">
              <a:buNone/>
            </a:pPr>
            <a:r>
              <a:rPr lang="ru-RU" b="0" i="1" dirty="0">
                <a:effectLst/>
                <a:latin typeface="fkGroteskNeue"/>
              </a:rPr>
              <a:t>Гены B и C имеют высокий </a:t>
            </a:r>
            <a:r>
              <a:rPr lang="ru-RU" b="0" i="1" dirty="0" err="1">
                <a:effectLst/>
                <a:latin typeface="fkGroteskNeue"/>
              </a:rPr>
              <a:t>betweenness</a:t>
            </a:r>
            <a:r>
              <a:rPr lang="ru-RU" b="0" i="1" dirty="0">
                <a:effectLst/>
                <a:latin typeface="fkGroteskNeue"/>
              </a:rPr>
              <a:t> (пути между A↔D должны через них). </a:t>
            </a:r>
            <a:r>
              <a:rPr lang="ru-RU" b="0" i="0" dirty="0">
                <a:effectLst/>
                <a:latin typeface="fkGroteskNeue"/>
              </a:rPr>
              <a:t>Смысл: гены, которые "соединяют разные части сети"</a:t>
            </a:r>
            <a:endParaRPr lang="ru-RU" b="0" i="1" dirty="0">
              <a:effectLst/>
              <a:latin typeface="fkGroteskNeue"/>
            </a:endParaRPr>
          </a:p>
          <a:p>
            <a:pPr marL="0" indent="0" algn="l">
              <a:buNone/>
            </a:pPr>
            <a:r>
              <a:rPr lang="ru-RU" b="0" i="1" dirty="0" err="1">
                <a:effectLst/>
                <a:latin typeface="fkGroteskNeue"/>
              </a:rPr>
              <a:t>Closeness</a:t>
            </a:r>
            <a:r>
              <a:rPr lang="ru-RU" b="0" i="1" dirty="0">
                <a:effectLst/>
                <a:latin typeface="fkGroteskNeue"/>
              </a:rPr>
              <a:t> </a:t>
            </a:r>
            <a:r>
              <a:rPr lang="ru-RU" b="0" i="1" dirty="0" err="1">
                <a:effectLst/>
                <a:latin typeface="fkGroteskNeue"/>
              </a:rPr>
              <a:t>Centrality</a:t>
            </a:r>
            <a:r>
              <a:rPr lang="ru-RU" b="0" i="1" dirty="0">
                <a:effectLst/>
                <a:latin typeface="fkGroteskNeue"/>
              </a:rPr>
              <a:t>: </a:t>
            </a:r>
            <a:r>
              <a:rPr lang="ru-RU" b="0" i="0" dirty="0">
                <a:effectLst/>
                <a:latin typeface="fkGroteskNeue"/>
              </a:rPr>
              <a:t>Средняя расстояние до всех других вершин.</a:t>
            </a:r>
          </a:p>
          <a:p>
            <a:pPr marL="0" indent="0" algn="l">
              <a:buNone/>
            </a:pPr>
            <a:r>
              <a:rPr lang="ru-RU" b="0" i="1" dirty="0">
                <a:effectLst/>
                <a:latin typeface="fkGroteskNeue"/>
              </a:rPr>
              <a:t>Центральный ген близко ко всем, периферийный ген далеко от многих</a:t>
            </a:r>
          </a:p>
          <a:p>
            <a:pPr marL="0" indent="0" algn="l">
              <a:buNone/>
            </a:pPr>
            <a:r>
              <a:rPr lang="ru-RU" b="0" i="1" dirty="0" err="1">
                <a:effectLst/>
                <a:latin typeface="fkGroteskNeue"/>
              </a:rPr>
              <a:t>Eigenvector</a:t>
            </a:r>
            <a:r>
              <a:rPr lang="ru-RU" b="0" i="1" dirty="0">
                <a:effectLst/>
                <a:latin typeface="fkGroteskNeue"/>
              </a:rPr>
              <a:t> </a:t>
            </a:r>
            <a:r>
              <a:rPr lang="ru-RU" b="0" i="1" dirty="0" err="1">
                <a:effectLst/>
                <a:latin typeface="fkGroteskNeue"/>
              </a:rPr>
              <a:t>Centrality</a:t>
            </a:r>
            <a:r>
              <a:rPr lang="ru-RU" b="0" i="1" dirty="0">
                <a:effectLst/>
                <a:latin typeface="fkGroteskNeue"/>
              </a:rPr>
              <a:t>: </a:t>
            </a:r>
            <a:r>
              <a:rPr lang="ru-RU" b="0" i="0" dirty="0">
                <a:effectLst/>
                <a:latin typeface="fkGroteskNeue"/>
              </a:rPr>
              <a:t>"Ты важен, если соединён с другими важными генами"</a:t>
            </a:r>
            <a:endParaRPr lang="ru-RU" b="0" i="1" dirty="0">
              <a:effectLst/>
              <a:latin typeface="fkGroteskNeue"/>
            </a:endParaRPr>
          </a:p>
          <a:p>
            <a:pPr algn="l"/>
            <a:endParaRPr lang="ru-RU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1888459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Обнаружение сообществ (модулей)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sz="2000" b="1" i="1" dirty="0">
                <a:effectLst/>
                <a:latin typeface="fkGroteskNeue"/>
              </a:rPr>
              <a:t>Где лежат кластеры?</a:t>
            </a:r>
          </a:p>
          <a:p>
            <a:pPr marL="0" indent="0" algn="l">
              <a:buNone/>
            </a:pPr>
            <a:r>
              <a:rPr lang="ru-RU" sz="2000" b="0" i="0" dirty="0">
                <a:effectLst/>
                <a:latin typeface="fkGroteskNeue"/>
              </a:rPr>
              <a:t>Задача: найти группы генов, которые: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Сильно соединены между собой (внутри модуля)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Слабо соединены с другими группами (между модулями)</a:t>
            </a:r>
          </a:p>
          <a:p>
            <a:pPr marL="0" indent="0" algn="l">
              <a:buNone/>
            </a:pPr>
            <a:r>
              <a:rPr lang="ru-RU" sz="2000" b="0" i="1" dirty="0">
                <a:effectLst/>
                <a:latin typeface="fkGroteskNeue"/>
              </a:rPr>
              <a:t>Модульность (</a:t>
            </a:r>
            <a:r>
              <a:rPr lang="ru-RU" sz="2000" b="0" i="1" dirty="0" err="1">
                <a:effectLst/>
                <a:latin typeface="fkGroteskNeue"/>
              </a:rPr>
              <a:t>Modularity</a:t>
            </a:r>
            <a:r>
              <a:rPr lang="ru-RU" sz="2000" b="0" i="1" dirty="0">
                <a:effectLst/>
                <a:latin typeface="fkGroteskNeue"/>
              </a:rPr>
              <a:t>) Q:</a:t>
            </a:r>
          </a:p>
          <a:p>
            <a:pPr marL="0" indent="0" algn="l">
              <a:buNone/>
            </a:pPr>
            <a:r>
              <a:rPr lang="ru-RU" sz="20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Q = (рёбра внутри модулей) / </a:t>
            </a:r>
            <a:r>
              <a:rPr lang="ru-RU" sz="2000" b="0" i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(все </a:t>
            </a:r>
            <a:r>
              <a:rPr lang="ru-RU" sz="20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рёбра) - (ожидаемое случайно)</a:t>
            </a:r>
          </a:p>
          <a:p>
            <a:pPr marL="0" indent="0" algn="l">
              <a:buNone/>
            </a:pPr>
            <a:r>
              <a:rPr lang="ru-RU" sz="2000" dirty="0">
                <a:latin typeface="fkGroteskNeue"/>
              </a:rPr>
              <a:t>Q близко к 1 → хорошая модульная структура</a:t>
            </a:r>
            <a:br>
              <a:rPr lang="ru-RU" sz="2000" dirty="0">
                <a:latin typeface="fkGroteskNeue"/>
              </a:rPr>
            </a:br>
            <a:r>
              <a:rPr lang="ru-RU" sz="2000" dirty="0">
                <a:latin typeface="fkGroteskNeue"/>
              </a:rPr>
              <a:t>Q близко к 0 → нет модулей (все отдельно)</a:t>
            </a:r>
          </a:p>
          <a:p>
            <a:pPr marL="0" indent="0" algn="l">
              <a:buNone/>
            </a:pPr>
            <a:r>
              <a:rPr lang="ru-RU" sz="2000" b="0" i="1" dirty="0">
                <a:effectLst/>
                <a:latin typeface="fkGroteskNeue"/>
              </a:rPr>
              <a:t>Алгоритм </a:t>
            </a:r>
            <a:r>
              <a:rPr lang="ru-RU" sz="2000" b="0" i="1" dirty="0" err="1">
                <a:effectLst/>
                <a:latin typeface="fkGroteskNeue"/>
              </a:rPr>
              <a:t>Louvain</a:t>
            </a:r>
            <a:r>
              <a:rPr lang="ru-RU" sz="2000" b="0" i="1" dirty="0">
                <a:effectLst/>
                <a:latin typeface="fkGroteskNeue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effectLst/>
                <a:latin typeface="fkGroteskNeue"/>
              </a:rPr>
              <a:t>Каждый ген — отдельный модуль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effectLst/>
                <a:latin typeface="fkGroteskNeue"/>
              </a:rPr>
              <a:t>Перемещаем каждый ген в модуль соседа, если Q растёт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effectLst/>
                <a:latin typeface="fkGroteskNeue"/>
              </a:rPr>
              <a:t>Повторяем, пока Q не стабилизируется</a:t>
            </a:r>
          </a:p>
          <a:p>
            <a:pPr marL="0" indent="0" algn="l">
              <a:buNone/>
            </a:pPr>
            <a:r>
              <a:rPr lang="ru-RU" sz="2000" b="0" i="1" dirty="0">
                <a:effectLst/>
                <a:latin typeface="fkGroteskNeue"/>
              </a:rPr>
              <a:t>Результат: автоматически найденные модули генов!</a:t>
            </a:r>
          </a:p>
          <a:p>
            <a:pPr marL="0" indent="0" algn="l">
              <a:buNone/>
            </a:pPr>
            <a:endParaRPr lang="ru-RU" sz="2000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1809856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WGCNA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(1)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sz="2400" b="1" i="1" dirty="0" err="1">
                <a:effectLst/>
                <a:latin typeface="fkGroteskNeue"/>
              </a:rPr>
              <a:t>Weighted</a:t>
            </a:r>
            <a:r>
              <a:rPr lang="ru-RU" sz="2400" b="1" i="1" dirty="0">
                <a:effectLst/>
                <a:latin typeface="fkGroteskNeue"/>
              </a:rPr>
              <a:t> </a:t>
            </a:r>
            <a:r>
              <a:rPr lang="ru-RU" sz="2400" b="1" i="1" dirty="0" err="1">
                <a:effectLst/>
                <a:latin typeface="fkGroteskNeue"/>
              </a:rPr>
              <a:t>Gene</a:t>
            </a:r>
            <a:r>
              <a:rPr lang="ru-RU" sz="2400" b="1" i="1" dirty="0">
                <a:effectLst/>
                <a:latin typeface="fkGroteskNeue"/>
              </a:rPr>
              <a:t> Co-</a:t>
            </a:r>
            <a:r>
              <a:rPr lang="ru-RU" sz="2400" b="1" i="1" dirty="0" err="1">
                <a:effectLst/>
                <a:latin typeface="fkGroteskNeue"/>
              </a:rPr>
              <a:t>expression</a:t>
            </a:r>
            <a:r>
              <a:rPr lang="ru-RU" sz="2400" b="1" i="1" dirty="0">
                <a:effectLst/>
                <a:latin typeface="fkGroteskNeue"/>
              </a:rPr>
              <a:t> Network Analysis</a:t>
            </a:r>
          </a:p>
          <a:p>
            <a:pPr marL="0" indent="0" algn="l">
              <a:buNone/>
            </a:pPr>
            <a:r>
              <a:rPr lang="ru-RU" sz="2400" b="0" i="1" dirty="0">
                <a:effectLst/>
                <a:latin typeface="fkGroteskNeue"/>
              </a:rPr>
              <a:t>WGCNA</a:t>
            </a:r>
            <a:r>
              <a:rPr lang="ru-RU" sz="2400" b="0" i="0" dirty="0">
                <a:effectLst/>
                <a:latin typeface="fkGroteskNeue"/>
              </a:rPr>
              <a:t> = главный инструмент для анализа генных сетей в биомедицине</a:t>
            </a:r>
          </a:p>
          <a:p>
            <a:pPr algn="l"/>
            <a:r>
              <a:rPr lang="ru-RU" sz="2400" b="0" i="0" dirty="0">
                <a:effectLst/>
                <a:latin typeface="fkGroteskNeue"/>
              </a:rPr>
              <a:t>Входные данные: Матрица экспрессии генов (20,000 генов × 500 пациентов)</a:t>
            </a:r>
          </a:p>
          <a:p>
            <a:pPr marL="0" indent="0" algn="l">
              <a:buNone/>
            </a:pPr>
            <a:r>
              <a:rPr lang="ru-RU" sz="2400" b="0" i="1" dirty="0">
                <a:effectLst/>
                <a:latin typeface="fkGroteskNeue"/>
              </a:rPr>
              <a:t>Шаг 1: Корреляция</a:t>
            </a:r>
          </a:p>
          <a:p>
            <a:pPr algn="l"/>
            <a:r>
              <a:rPr lang="ru-RU" sz="2400" b="0" i="0" dirty="0">
                <a:effectLst/>
                <a:latin typeface="fkGroteskNeue"/>
              </a:rPr>
              <a:t>Считаем корреляцию Пирсона между ВСЕМИ парами генов.</a:t>
            </a:r>
          </a:p>
          <a:p>
            <a:pPr algn="l"/>
            <a:r>
              <a:rPr lang="ru-RU" sz="2400" b="0" i="0" dirty="0">
                <a:effectLst/>
                <a:latin typeface="fkGroteskNeue"/>
              </a:rPr>
              <a:t>Результат: матрица </a:t>
            </a:r>
            <a:r>
              <a:rPr lang="ru-RU" sz="2400" dirty="0">
                <a:latin typeface="fkGroteskNeue"/>
              </a:rPr>
              <a:t>20</a:t>
            </a:r>
            <a:r>
              <a:rPr lang="ru-RU" sz="2400" b="0" i="0" dirty="0">
                <a:effectLst/>
                <a:latin typeface="fkGroteskNeue"/>
              </a:rPr>
              <a:t>,000 × </a:t>
            </a:r>
            <a:r>
              <a:rPr lang="ru-RU" sz="2400" dirty="0">
                <a:latin typeface="fkGroteskNeue"/>
              </a:rPr>
              <a:t>20</a:t>
            </a:r>
            <a:r>
              <a:rPr lang="ru-RU" sz="2400" b="0" i="0" dirty="0">
                <a:effectLst/>
                <a:latin typeface="fkGroteskNeue"/>
              </a:rPr>
              <a:t>,000 корреляций</a:t>
            </a:r>
          </a:p>
          <a:p>
            <a:pPr marL="0" indent="0" algn="l">
              <a:buNone/>
            </a:pPr>
            <a:r>
              <a:rPr lang="ru-RU" sz="2400" b="0" i="1" dirty="0">
                <a:effectLst/>
                <a:latin typeface="fkGroteskNeue"/>
              </a:rPr>
              <a:t>Шаг 2: Возведение в степень (</a:t>
            </a:r>
            <a:r>
              <a:rPr lang="ru-RU" sz="2400" b="0" i="1" dirty="0" err="1">
                <a:effectLst/>
                <a:latin typeface="fkGroteskNeue"/>
              </a:rPr>
              <a:t>soft-thresholding</a:t>
            </a:r>
            <a:r>
              <a:rPr lang="ru-RU" sz="2400" b="0" i="1" dirty="0">
                <a:effectLst/>
                <a:latin typeface="fkGroteskNeue"/>
              </a:rPr>
              <a:t>)</a:t>
            </a:r>
          </a:p>
          <a:p>
            <a:pPr marL="0" indent="0" algn="l">
              <a:buNone/>
            </a:pPr>
            <a:r>
              <a:rPr lang="ru-RU" sz="2400" b="0" i="0" dirty="0">
                <a:effectLst/>
                <a:latin typeface="fkGroteskNeue"/>
              </a:rPr>
              <a:t>Вместо использования корреляции напрямую, используем:</a:t>
            </a:r>
          </a:p>
          <a:p>
            <a:pPr marL="0" indent="0" algn="l">
              <a:buNone/>
            </a:pPr>
            <a:r>
              <a:rPr lang="ru-RU" sz="24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pl-PL" sz="24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w_ij = |cor_ij|^β</a:t>
            </a:r>
          </a:p>
          <a:p>
            <a:pPr algn="l"/>
            <a:r>
              <a:rPr lang="ru-RU" sz="2400" b="0" i="0" dirty="0">
                <a:effectLst/>
                <a:latin typeface="fkGroteskNeue"/>
              </a:rPr>
              <a:t>где β = "мягкий порог" (обычно β = 12)</a:t>
            </a:r>
          </a:p>
          <a:p>
            <a:pPr algn="l"/>
            <a:r>
              <a:rPr lang="ru-RU" sz="2400" b="0" i="0" dirty="0">
                <a:effectLst/>
                <a:latin typeface="fkGroteskNeue"/>
              </a:rPr>
              <a:t>Эффект: слабые корреляции → ещё слабее, сильные → сильнее</a:t>
            </a:r>
          </a:p>
          <a:p>
            <a:pPr marL="0" indent="0" algn="l">
              <a:buNone/>
            </a:pPr>
            <a:r>
              <a:rPr lang="ru-RU" sz="2400" b="0" i="0" dirty="0">
                <a:effectLst/>
                <a:latin typeface="fkGroteskNeue"/>
              </a:rPr>
              <a:t>Результат: "мягкое" разделение (не жёсткое как </a:t>
            </a:r>
            <a:r>
              <a:rPr lang="ru-RU" sz="2400" b="0" i="0" dirty="0" err="1">
                <a:effectLst/>
                <a:latin typeface="fkGroteskNeue"/>
              </a:rPr>
              <a:t>binary</a:t>
            </a:r>
            <a:r>
              <a:rPr lang="ru-RU" sz="2400" b="0" i="0" dirty="0">
                <a:effectLst/>
                <a:latin typeface="fkGroteskNeue"/>
              </a:rPr>
              <a:t> </a:t>
            </a:r>
            <a:r>
              <a:rPr lang="ru-RU" sz="2400" b="0" i="0" dirty="0" err="1">
                <a:effectLst/>
                <a:latin typeface="fkGroteskNeue"/>
              </a:rPr>
              <a:t>threshold</a:t>
            </a:r>
            <a:r>
              <a:rPr lang="ru-RU" sz="2400" b="0" i="0" dirty="0">
                <a:effectLst/>
                <a:latin typeface="fkGroteskNeue"/>
              </a:rPr>
              <a:t>)</a:t>
            </a:r>
          </a:p>
          <a:p>
            <a:pPr marL="0" indent="0" algn="l">
              <a:buNone/>
            </a:pPr>
            <a:endParaRPr lang="ru-RU" sz="2400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1721142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E7A854DF-B476-4ED9-9047-901B715A8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021" y="1374825"/>
            <a:ext cx="4536609" cy="464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WGCNA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(2)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7640177" cy="567764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sz="2400" b="0" i="1" dirty="0">
                <a:effectLst/>
                <a:latin typeface="fkGroteskNeue"/>
              </a:rPr>
              <a:t>Шаг 3: Иерархическая кластеризация</a:t>
            </a:r>
          </a:p>
          <a:p>
            <a:pPr algn="l"/>
            <a:r>
              <a:rPr lang="ru-RU" sz="2400" b="0" i="0" dirty="0">
                <a:effectLst/>
                <a:latin typeface="fkGroteskNeue"/>
              </a:rPr>
              <a:t>Расстояние между генами = 1 - </a:t>
            </a:r>
            <a:r>
              <a:rPr lang="ru-RU" sz="2400" b="0" i="0" dirty="0" err="1">
                <a:effectLst/>
                <a:latin typeface="fkGroteskNeue"/>
              </a:rPr>
              <a:t>correlation</a:t>
            </a:r>
            <a:endParaRPr lang="ru-RU" sz="2400" b="0" i="0" dirty="0">
              <a:effectLst/>
              <a:latin typeface="fkGroteskNeue"/>
            </a:endParaRPr>
          </a:p>
          <a:p>
            <a:pPr algn="l"/>
            <a:r>
              <a:rPr lang="ru-RU" sz="2400" b="0" i="0" dirty="0">
                <a:effectLst/>
                <a:latin typeface="fkGroteskNeue"/>
              </a:rPr>
              <a:t>Используем иерархическую кластеризацию (</a:t>
            </a:r>
            <a:r>
              <a:rPr lang="ru-RU" sz="2400" b="0" i="0" dirty="0" err="1">
                <a:effectLst/>
                <a:latin typeface="fkGroteskNeue"/>
              </a:rPr>
              <a:t>linkage</a:t>
            </a:r>
            <a:r>
              <a:rPr lang="ru-RU" sz="2400" b="0" i="0" dirty="0">
                <a:effectLst/>
                <a:latin typeface="fkGroteskNeue"/>
              </a:rPr>
              <a:t> = </a:t>
            </a:r>
            <a:r>
              <a:rPr lang="ru-RU" sz="2400" b="0" i="0" dirty="0" err="1">
                <a:effectLst/>
                <a:latin typeface="fkGroteskNeue"/>
              </a:rPr>
              <a:t>average</a:t>
            </a:r>
            <a:r>
              <a:rPr lang="ru-RU" sz="2400" b="0" i="0" dirty="0">
                <a:effectLst/>
                <a:latin typeface="fkGroteskNeue"/>
              </a:rPr>
              <a:t>)</a:t>
            </a:r>
          </a:p>
          <a:p>
            <a:pPr algn="l"/>
            <a:r>
              <a:rPr lang="ru-RU" sz="2400" b="0" i="0" dirty="0">
                <a:effectLst/>
                <a:latin typeface="fkGroteskNeue"/>
              </a:rPr>
              <a:t>Результат: </a:t>
            </a:r>
            <a:r>
              <a:rPr lang="ru-RU" sz="2400" b="0" i="0" dirty="0" err="1">
                <a:effectLst/>
                <a:latin typeface="fkGroteskNeue"/>
              </a:rPr>
              <a:t>дендрограмма</a:t>
            </a:r>
            <a:r>
              <a:rPr lang="ru-RU" sz="2400" b="0" i="0" dirty="0">
                <a:effectLst/>
                <a:latin typeface="fkGroteskNeue"/>
              </a:rPr>
              <a:t> (дерево) генов</a:t>
            </a:r>
          </a:p>
          <a:p>
            <a:pPr marL="0" indent="0" algn="l">
              <a:buNone/>
            </a:pPr>
            <a:r>
              <a:rPr lang="ru-RU" sz="2400" b="0" i="1" dirty="0">
                <a:effectLst/>
                <a:latin typeface="fkGroteskNeue"/>
              </a:rPr>
              <a:t>Шаг 4: Обнаружение модулей (</a:t>
            </a:r>
            <a:r>
              <a:rPr lang="ru-RU" sz="2400" b="0" i="1" dirty="0" err="1">
                <a:effectLst/>
                <a:latin typeface="fkGroteskNeue"/>
              </a:rPr>
              <a:t>Dynamical</a:t>
            </a:r>
            <a:r>
              <a:rPr lang="ru-RU" sz="2400" b="0" i="1" dirty="0">
                <a:effectLst/>
                <a:latin typeface="fkGroteskNeue"/>
              </a:rPr>
              <a:t> </a:t>
            </a:r>
            <a:r>
              <a:rPr lang="ru-RU" sz="2400" b="0" i="1" dirty="0" err="1">
                <a:effectLst/>
                <a:latin typeface="fkGroteskNeue"/>
              </a:rPr>
              <a:t>Tree</a:t>
            </a:r>
            <a:r>
              <a:rPr lang="ru-RU" sz="2400" b="0" i="1" dirty="0">
                <a:effectLst/>
                <a:latin typeface="fkGroteskNeue"/>
              </a:rPr>
              <a:t> </a:t>
            </a:r>
            <a:r>
              <a:rPr lang="ru-RU" sz="2400" b="0" i="1" dirty="0" err="1">
                <a:effectLst/>
                <a:latin typeface="fkGroteskNeue"/>
              </a:rPr>
              <a:t>Cutting</a:t>
            </a:r>
            <a:r>
              <a:rPr lang="ru-RU" sz="2400" b="0" i="1" dirty="0">
                <a:effectLst/>
                <a:latin typeface="fkGroteskNeue"/>
              </a:rPr>
              <a:t>)</a:t>
            </a:r>
          </a:p>
          <a:p>
            <a:pPr algn="l"/>
            <a:r>
              <a:rPr lang="ru-RU" sz="2400" b="0" i="0" dirty="0">
                <a:effectLst/>
                <a:latin typeface="fkGroteskNeue"/>
              </a:rPr>
              <a:t>Режем </a:t>
            </a:r>
            <a:r>
              <a:rPr lang="ru-RU" sz="2400" b="0" i="0" dirty="0" err="1">
                <a:effectLst/>
                <a:latin typeface="fkGroteskNeue"/>
              </a:rPr>
              <a:t>дендрограмму</a:t>
            </a:r>
            <a:r>
              <a:rPr lang="ru-RU" sz="2400" b="0" i="0" dirty="0">
                <a:effectLst/>
                <a:latin typeface="fkGroteskNeue"/>
              </a:rPr>
              <a:t> на высоте, соответствующей модулям</a:t>
            </a:r>
          </a:p>
          <a:p>
            <a:pPr algn="l"/>
            <a:r>
              <a:rPr lang="ru-RU" sz="2400" b="0" i="0" dirty="0">
                <a:effectLst/>
                <a:latin typeface="fkGroteskNeue"/>
              </a:rPr>
              <a:t>Параметр: минимальный размер модуля (обычно 30-50 генов)</a:t>
            </a:r>
          </a:p>
          <a:p>
            <a:pPr algn="l"/>
            <a:r>
              <a:rPr lang="ru-RU" sz="2400" b="0" i="0" dirty="0">
                <a:effectLst/>
                <a:latin typeface="fkGroteskNeue"/>
              </a:rPr>
              <a:t>Результат: 5-30 модулей (в зависимости от данных)</a:t>
            </a:r>
          </a:p>
          <a:p>
            <a:pPr algn="l"/>
            <a:r>
              <a:rPr lang="ru-RU" sz="2400" b="0" i="0" dirty="0">
                <a:effectLst/>
                <a:latin typeface="fkGroteskNeue"/>
              </a:rPr>
              <a:t>Каждому модулю присваивается цвет:</a:t>
            </a:r>
            <a:br>
              <a:rPr lang="ru-RU" sz="2400" b="0" i="0" dirty="0">
                <a:effectLst/>
                <a:latin typeface="fkGroteskNeue"/>
              </a:rPr>
            </a:br>
            <a:r>
              <a:rPr lang="ru-RU" sz="2400" b="0" i="0" dirty="0">
                <a:effectLst/>
                <a:latin typeface="fkGroteskNeue"/>
              </a:rPr>
              <a:t>Red </a:t>
            </a:r>
            <a:r>
              <a:rPr lang="ru-RU" sz="2400" b="0" i="0" dirty="0" err="1">
                <a:effectLst/>
                <a:latin typeface="fkGroteskNeue"/>
              </a:rPr>
              <a:t>module</a:t>
            </a:r>
            <a:r>
              <a:rPr lang="ru-RU" sz="2400" b="0" i="0" dirty="0">
                <a:effectLst/>
                <a:latin typeface="fkGroteskNeue"/>
              </a:rPr>
              <a:t>, Blue </a:t>
            </a:r>
            <a:r>
              <a:rPr lang="ru-RU" sz="2400" b="0" i="0" dirty="0" err="1">
                <a:effectLst/>
                <a:latin typeface="fkGroteskNeue"/>
              </a:rPr>
              <a:t>module</a:t>
            </a:r>
            <a:r>
              <a:rPr lang="ru-RU" sz="2400" b="0" i="0" dirty="0">
                <a:effectLst/>
                <a:latin typeface="fkGroteskNeue"/>
              </a:rPr>
              <a:t>, Green </a:t>
            </a:r>
            <a:r>
              <a:rPr lang="ru-RU" sz="2400" b="0" i="0" dirty="0" err="1">
                <a:effectLst/>
                <a:latin typeface="fkGroteskNeue"/>
              </a:rPr>
              <a:t>module</a:t>
            </a:r>
            <a:r>
              <a:rPr lang="ru-RU" sz="2400" b="0" i="0" dirty="0">
                <a:effectLst/>
                <a:latin typeface="fkGroteskNeue"/>
              </a:rPr>
              <a:t>...</a:t>
            </a:r>
          </a:p>
          <a:p>
            <a:pPr marL="0" indent="0" algn="l">
              <a:buNone/>
            </a:pPr>
            <a:endParaRPr lang="ru-RU" sz="2400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772534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WGCNA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(3)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Связь с фенотипом</a:t>
            </a:r>
          </a:p>
          <a:p>
            <a:pPr marL="0" indent="0" algn="l">
              <a:buNone/>
            </a:pPr>
            <a:r>
              <a:rPr lang="ru-RU" b="0" i="1" dirty="0">
                <a:effectLst/>
                <a:latin typeface="fkGroteskNeue"/>
              </a:rPr>
              <a:t>Шаг 5: Модульные собственные векторы (ME)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Для каждого модуля считаем: ME = первый главный компонент экспрессии генов в модуле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Геометрическая интерпретация: "среднее направление" модуля</a:t>
            </a:r>
          </a:p>
          <a:p>
            <a:pPr marL="0" indent="0" algn="l">
              <a:buNone/>
            </a:pPr>
            <a:r>
              <a:rPr lang="ru-RU" b="0" i="1" dirty="0">
                <a:effectLst/>
                <a:latin typeface="fkGroteskNeue"/>
              </a:rPr>
              <a:t>Шаг 6: Связь модулей с фенотипом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Считаем корреляцию ME каждого модуля с интересующим фенотипом: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Выживание пациента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Наличие метастазов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Стадия опухоли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fkGroteskNeue"/>
              </a:rPr>
              <a:t>Ответ на лекарство</a:t>
            </a:r>
          </a:p>
        </p:txBody>
      </p:sp>
    </p:spTree>
    <p:extLst>
      <p:ext uri="{BB962C8B-B14F-4D97-AF65-F5344CB8AC3E}">
        <p14:creationId xmlns:p14="http://schemas.microsoft.com/office/powerpoint/2010/main" val="3800774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Hub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гены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sz="2200" b="1" i="1" dirty="0">
                <a:effectLst/>
                <a:latin typeface="fkGroteskNeue"/>
              </a:rPr>
              <a:t>Звёзды сети</a:t>
            </a:r>
          </a:p>
          <a:p>
            <a:pPr marL="0" indent="0" algn="l">
              <a:buNone/>
            </a:pPr>
            <a:r>
              <a:rPr lang="ru-RU" sz="2200" b="0" i="1" dirty="0" err="1">
                <a:effectLst/>
                <a:latin typeface="fkGroteskNeue"/>
              </a:rPr>
              <a:t>Hub</a:t>
            </a:r>
            <a:r>
              <a:rPr lang="ru-RU" sz="2200" b="0" i="1" dirty="0">
                <a:effectLst/>
                <a:latin typeface="fkGroteskNeue"/>
              </a:rPr>
              <a:t> ген </a:t>
            </a:r>
            <a:r>
              <a:rPr lang="ru-RU" sz="2200" b="0" i="0" dirty="0">
                <a:effectLst/>
                <a:latin typeface="fkGroteskNeue"/>
              </a:rPr>
              <a:t>= ген с наибольшей степенью внутри модуля</a:t>
            </a:r>
          </a:p>
          <a:p>
            <a:pPr algn="l"/>
            <a:r>
              <a:rPr lang="ru-RU" sz="2200" b="0" i="0" dirty="0">
                <a:effectLst/>
                <a:latin typeface="fkGroteskNeue"/>
              </a:rPr>
              <a:t>Он соединён со многими другими генами в модуле</a:t>
            </a:r>
          </a:p>
          <a:p>
            <a:pPr marL="0" indent="0" algn="l">
              <a:buNone/>
            </a:pPr>
            <a:r>
              <a:rPr lang="ru-RU" sz="2200" b="0" i="0" dirty="0">
                <a:effectLst/>
                <a:latin typeface="fkGroteskNeue"/>
              </a:rPr>
              <a:t>Метрика:</a:t>
            </a:r>
          </a:p>
          <a:p>
            <a:pPr algn="l"/>
            <a:r>
              <a:rPr lang="ru-RU" sz="2200" b="0" i="0" dirty="0" err="1">
                <a:effectLst/>
                <a:latin typeface="fkGroteskNeue"/>
              </a:rPr>
              <a:t>Intramodular</a:t>
            </a:r>
            <a:r>
              <a:rPr lang="ru-RU" sz="2200" b="0" i="0" dirty="0">
                <a:effectLst/>
                <a:latin typeface="fkGroteskNeue"/>
              </a:rPr>
              <a:t> </a:t>
            </a:r>
            <a:r>
              <a:rPr lang="ru-RU" sz="2200" b="0" i="0" dirty="0" err="1">
                <a:effectLst/>
                <a:latin typeface="fkGroteskNeue"/>
              </a:rPr>
              <a:t>connectivity</a:t>
            </a:r>
            <a:r>
              <a:rPr lang="ru-RU" sz="2200" b="0" i="0" dirty="0">
                <a:effectLst/>
                <a:latin typeface="fkGroteskNeue"/>
              </a:rPr>
              <a:t> (</a:t>
            </a:r>
            <a:r>
              <a:rPr lang="ru-RU" sz="2200" b="0" i="0" dirty="0" err="1">
                <a:effectLst/>
                <a:latin typeface="fkGroteskNeue"/>
              </a:rPr>
              <a:t>kME</a:t>
            </a:r>
            <a:r>
              <a:rPr lang="ru-RU" sz="2200" b="0" i="0" dirty="0">
                <a:effectLst/>
                <a:latin typeface="fkGroteskNeue"/>
              </a:rPr>
              <a:t>): Корреляция гена с модульным собственным вектором ME</a:t>
            </a:r>
          </a:p>
          <a:p>
            <a:pPr marL="0" indent="0" algn="l">
              <a:buNone/>
            </a:pPr>
            <a:r>
              <a:rPr lang="en-US" sz="2200" b="0" i="0" dirty="0">
                <a:effectLst/>
                <a:latin typeface="fkGroteskNeue"/>
              </a:rPr>
              <a:t>Hub </a:t>
            </a:r>
            <a:r>
              <a:rPr lang="ru-RU" sz="2200" b="0" i="0" dirty="0">
                <a:effectLst/>
                <a:latin typeface="fkGroteskNeue"/>
              </a:rPr>
              <a:t>гены часто: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fkGroteskNeue"/>
              </a:rPr>
              <a:t>✓ Имеют высокую связность</a:t>
            </a:r>
            <a:r>
              <a:rPr lang="en-US" sz="2200" b="0" i="0" dirty="0">
                <a:effectLst/>
                <a:latin typeface="fkGroteskNeue"/>
              </a:rPr>
              <a:t> </a:t>
            </a:r>
            <a:r>
              <a:rPr lang="ru-RU" sz="2200" b="0" i="0" dirty="0">
                <a:effectLst/>
                <a:latin typeface="fkGroteskNeue"/>
              </a:rPr>
              <a:t>в своём модуле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fkGroteskNeue"/>
              </a:rPr>
              <a:t>✓ Имеют низкую связность</a:t>
            </a:r>
            <a:r>
              <a:rPr lang="en-US" sz="2200" b="0" i="0" dirty="0">
                <a:effectLst/>
                <a:latin typeface="fkGroteskNeue"/>
              </a:rPr>
              <a:t> </a:t>
            </a:r>
            <a:r>
              <a:rPr lang="ru-RU" sz="2200" b="0" i="0" dirty="0">
                <a:effectLst/>
                <a:latin typeface="fkGroteskNeue"/>
              </a:rPr>
              <a:t>в других модулях (специфичны)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fkGroteskNeue"/>
              </a:rPr>
              <a:t>✓ Имеют высокую степень (много рёбер) </a:t>
            </a:r>
          </a:p>
          <a:p>
            <a:pPr marL="0" indent="0" algn="l">
              <a:buNone/>
            </a:pPr>
            <a:r>
              <a:rPr lang="en-US" sz="2200" b="0" i="1" dirty="0">
                <a:effectLst/>
                <a:latin typeface="fkGroteskNeue"/>
              </a:rPr>
              <a:t>Case Study:</a:t>
            </a:r>
          </a:p>
          <a:p>
            <a:pPr algn="l"/>
            <a:r>
              <a:rPr lang="ru-RU" sz="2200" b="0" i="0" dirty="0">
                <a:effectLst/>
                <a:latin typeface="fkGroteskNeue"/>
              </a:rPr>
              <a:t>В </a:t>
            </a:r>
            <a:r>
              <a:rPr lang="en-US" sz="2200" b="0" i="0" dirty="0">
                <a:effectLst/>
                <a:latin typeface="fkGroteskNeue"/>
              </a:rPr>
              <a:t>Blue module (</a:t>
            </a:r>
            <a:r>
              <a:rPr lang="ru-RU" sz="2200" b="0" i="0" dirty="0">
                <a:effectLst/>
                <a:latin typeface="fkGroteskNeue"/>
              </a:rPr>
              <a:t>ассоциирован с метастазами) </a:t>
            </a:r>
            <a:r>
              <a:rPr lang="en-US" sz="2200" b="0" i="0" dirty="0">
                <a:effectLst/>
                <a:latin typeface="fkGroteskNeue"/>
              </a:rPr>
              <a:t>hub </a:t>
            </a:r>
            <a:r>
              <a:rPr lang="ru-RU" sz="2200" b="0" i="0" dirty="0">
                <a:effectLst/>
                <a:latin typeface="fkGroteskNeue"/>
              </a:rPr>
              <a:t>ген = </a:t>
            </a:r>
            <a:r>
              <a:rPr lang="en-US" sz="2200" b="0" i="0" dirty="0">
                <a:effectLst/>
                <a:latin typeface="fkGroteskNeue"/>
              </a:rPr>
              <a:t>TP53 (</a:t>
            </a:r>
            <a:r>
              <a:rPr lang="ru-RU" sz="2200" b="0" i="0" dirty="0">
                <a:effectLst/>
                <a:latin typeface="fkGroteskNeue"/>
              </a:rPr>
              <a:t>опухолевый супрессор)</a:t>
            </a:r>
          </a:p>
          <a:p>
            <a:pPr algn="l"/>
            <a:r>
              <a:rPr lang="ru-RU" sz="2200" b="0" i="0" dirty="0">
                <a:effectLst/>
                <a:latin typeface="fkGroteskNeue"/>
              </a:rPr>
              <a:t>Вывод: </a:t>
            </a:r>
            <a:r>
              <a:rPr lang="en-US" sz="2200" b="0" i="0" dirty="0">
                <a:effectLst/>
                <a:latin typeface="fkGroteskNeue"/>
              </a:rPr>
              <a:t>TP53 — </a:t>
            </a:r>
            <a:r>
              <a:rPr lang="ru-RU" sz="2200" b="0" i="0" dirty="0">
                <a:effectLst/>
                <a:latin typeface="fkGroteskNeue"/>
              </a:rPr>
              <a:t>ключевой регулятор метастазирования в этой сети</a:t>
            </a:r>
          </a:p>
          <a:p>
            <a:pPr algn="l"/>
            <a:endParaRPr lang="ru-RU" sz="2200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649795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Визуализация сетей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sz="2400" b="1" i="1" dirty="0">
                <a:effectLst/>
                <a:latin typeface="fkGroteskNeue"/>
              </a:rPr>
              <a:t>Как показать 10,000 генов?</a:t>
            </a:r>
          </a:p>
          <a:p>
            <a:pPr algn="l"/>
            <a:r>
              <a:rPr lang="ru-RU" sz="2400" b="0" i="0" dirty="0">
                <a:effectLst/>
                <a:latin typeface="fkGroteskNeue"/>
              </a:rPr>
              <a:t>Проблема: невозможно нарисовать 10,000 узлов так, чтобы было видно</a:t>
            </a:r>
          </a:p>
          <a:p>
            <a:pPr marL="0" indent="0" algn="l">
              <a:buNone/>
            </a:pPr>
            <a:r>
              <a:rPr lang="ru-RU" sz="2400" b="0" i="0" dirty="0">
                <a:effectLst/>
                <a:latin typeface="fkGroteskNeue"/>
              </a:rPr>
              <a:t>Решение 1: TOM </a:t>
            </a:r>
            <a:r>
              <a:rPr lang="ru-RU" sz="2400" b="0" i="0" dirty="0" err="1">
                <a:effectLst/>
                <a:latin typeface="fkGroteskNeue"/>
              </a:rPr>
              <a:t>Plot</a:t>
            </a:r>
            <a:r>
              <a:rPr lang="ru-RU" sz="2400" b="0" i="0" dirty="0">
                <a:effectLst/>
                <a:latin typeface="fkGroteskNeue"/>
              </a:rPr>
              <a:t> (</a:t>
            </a:r>
            <a:r>
              <a:rPr lang="ru-RU" sz="2400" b="0" i="0" dirty="0" err="1">
                <a:effectLst/>
                <a:latin typeface="fkGroteskNeue"/>
              </a:rPr>
              <a:t>Topological</a:t>
            </a:r>
            <a:r>
              <a:rPr lang="ru-RU" sz="2400" b="0" i="0" dirty="0">
                <a:effectLst/>
                <a:latin typeface="fkGroteskNeue"/>
              </a:rPr>
              <a:t> </a:t>
            </a:r>
            <a:r>
              <a:rPr lang="ru-RU" sz="2400" b="0" i="0" dirty="0" err="1">
                <a:effectLst/>
                <a:latin typeface="fkGroteskNeue"/>
              </a:rPr>
              <a:t>Overlap</a:t>
            </a:r>
            <a:r>
              <a:rPr lang="ru-RU" sz="2400" b="0" i="0" dirty="0">
                <a:effectLst/>
                <a:latin typeface="fkGroteskNeue"/>
              </a:rPr>
              <a:t> Matrix)</a:t>
            </a:r>
          </a:p>
          <a:p>
            <a:pPr algn="l"/>
            <a:r>
              <a:rPr lang="ru-RU" sz="2400" b="0" i="0" dirty="0">
                <a:effectLst/>
                <a:latin typeface="fkGroteskNeue"/>
              </a:rPr>
              <a:t>Тепловая карта, показывающая связность всех пар генов</a:t>
            </a:r>
          </a:p>
          <a:p>
            <a:pPr algn="l"/>
            <a:r>
              <a:rPr lang="ru-RU" sz="2400" b="0" i="0" dirty="0">
                <a:effectLst/>
                <a:latin typeface="fkGroteskNeue"/>
              </a:rPr>
              <a:t>Горячие цвета (жёлтый) = сильно соединены</a:t>
            </a:r>
            <a:br>
              <a:rPr lang="ru-RU" sz="2400" b="0" i="0" dirty="0">
                <a:effectLst/>
                <a:latin typeface="fkGroteskNeue"/>
              </a:rPr>
            </a:br>
            <a:r>
              <a:rPr lang="ru-RU" sz="2400" b="0" i="0" dirty="0">
                <a:effectLst/>
                <a:latin typeface="fkGroteskNeue"/>
              </a:rPr>
              <a:t>Холодные цвета (синий) = слабо соединены</a:t>
            </a:r>
          </a:p>
          <a:p>
            <a:pPr algn="l"/>
            <a:r>
              <a:rPr lang="ru-RU" sz="2400" b="0" i="0" dirty="0">
                <a:effectLst/>
                <a:latin typeface="fkGroteskNeue"/>
              </a:rPr>
              <a:t>Видно модульную структуру!</a:t>
            </a:r>
          </a:p>
          <a:p>
            <a:pPr marL="0" indent="0">
              <a:buNone/>
            </a:pPr>
            <a:r>
              <a:rPr lang="ru-RU" sz="2400" dirty="0">
                <a:latin typeface="fkGroteskNeue"/>
              </a:rPr>
              <a:t>Решение 2: </a:t>
            </a:r>
            <a:r>
              <a:rPr lang="en-US" sz="2400" dirty="0" err="1">
                <a:latin typeface="fkGroteskNeue"/>
              </a:rPr>
              <a:t>Cytoscape</a:t>
            </a:r>
            <a:r>
              <a:rPr lang="en-US" sz="2400" dirty="0">
                <a:latin typeface="fkGroteskNeue"/>
              </a:rPr>
              <a:t> (</a:t>
            </a:r>
            <a:r>
              <a:rPr lang="ru-RU" sz="2400" dirty="0">
                <a:latin typeface="fkGroteskNeue"/>
              </a:rPr>
              <a:t>отдельная программа)</a:t>
            </a:r>
          </a:p>
          <a:p>
            <a:r>
              <a:rPr lang="ru-RU" sz="2400" dirty="0">
                <a:latin typeface="fkGroteskNeue"/>
              </a:rPr>
              <a:t>Визуализация графа в 2</a:t>
            </a:r>
            <a:r>
              <a:rPr lang="en-US" sz="2400" dirty="0">
                <a:latin typeface="fkGroteskNeue"/>
              </a:rPr>
              <a:t>D</a:t>
            </a:r>
          </a:p>
          <a:p>
            <a:r>
              <a:rPr lang="ru-RU" sz="2400" dirty="0">
                <a:latin typeface="fkGroteskNeue"/>
              </a:rPr>
              <a:t>Узлы = гены (размер = степень, цвет = модуль)</a:t>
            </a:r>
          </a:p>
          <a:p>
            <a:r>
              <a:rPr lang="ru-RU" sz="2400" dirty="0">
                <a:latin typeface="fkGroteskNeue"/>
              </a:rPr>
              <a:t>Рёбра = корреляция (толщина = сила) </a:t>
            </a:r>
          </a:p>
          <a:p>
            <a:pPr marL="0" indent="0">
              <a:buNone/>
            </a:pPr>
            <a:r>
              <a:rPr lang="ru-RU" sz="2400" dirty="0">
                <a:latin typeface="fkGroteskNeue"/>
              </a:rPr>
              <a:t>Решение 3: </a:t>
            </a:r>
            <a:r>
              <a:rPr lang="en-US" sz="2400" dirty="0" err="1">
                <a:latin typeface="fkGroteskNeue"/>
              </a:rPr>
              <a:t>igraph</a:t>
            </a:r>
            <a:r>
              <a:rPr lang="en-US" sz="2400" dirty="0">
                <a:latin typeface="fkGroteskNeue"/>
              </a:rPr>
              <a:t> / </a:t>
            </a:r>
            <a:r>
              <a:rPr lang="en-US" sz="2400" dirty="0" err="1">
                <a:latin typeface="fkGroteskNeue"/>
              </a:rPr>
              <a:t>tidygraph</a:t>
            </a:r>
            <a:r>
              <a:rPr lang="en-US" sz="2400" dirty="0">
                <a:latin typeface="fkGroteskNeue"/>
              </a:rPr>
              <a:t> </a:t>
            </a:r>
            <a:r>
              <a:rPr lang="ru-RU" sz="2400" dirty="0">
                <a:latin typeface="fkGroteskNeue"/>
              </a:rPr>
              <a:t>в </a:t>
            </a:r>
            <a:r>
              <a:rPr lang="en-US" sz="2400" dirty="0">
                <a:latin typeface="fkGroteskNeue"/>
              </a:rPr>
              <a:t>R</a:t>
            </a:r>
          </a:p>
          <a:p>
            <a:pPr algn="l"/>
            <a:endParaRPr lang="ru-RU" sz="2400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402035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Обогащение (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Enrichment Analysis)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sz="2000" b="1" i="1" dirty="0">
                <a:effectLst/>
                <a:latin typeface="fkGroteskNeue"/>
              </a:rPr>
              <a:t>Что делают гены модуля?</a:t>
            </a:r>
          </a:p>
          <a:p>
            <a:pPr marL="0" indent="0" algn="l">
              <a:buNone/>
            </a:pPr>
            <a:r>
              <a:rPr lang="ru-RU" sz="2000" b="0" i="0" dirty="0">
                <a:effectLst/>
                <a:latin typeface="fkGroteskNeue"/>
              </a:rPr>
              <a:t>Вопрос: В модуле </a:t>
            </a:r>
            <a:r>
              <a:rPr lang="en-US" sz="2000" b="0" i="0" dirty="0">
                <a:effectLst/>
                <a:latin typeface="fkGroteskNeue"/>
              </a:rPr>
              <a:t>(</a:t>
            </a:r>
            <a:r>
              <a:rPr lang="ru-RU" sz="2000" b="0" i="0" dirty="0">
                <a:effectLst/>
                <a:latin typeface="fkGroteskNeue"/>
              </a:rPr>
              <a:t>ассоциирован с опухолью) найдены 150 генов. Что они имеют общего?</a:t>
            </a:r>
          </a:p>
          <a:p>
            <a:pPr marL="0" indent="0" algn="l">
              <a:buNone/>
            </a:pPr>
            <a:r>
              <a:rPr lang="ru-RU" sz="2000" b="0" i="0" dirty="0">
                <a:effectLst/>
                <a:latin typeface="fkGroteskNeue"/>
              </a:rPr>
              <a:t>Ответ:</a:t>
            </a:r>
            <a:r>
              <a:rPr lang="ru-RU" sz="2000" b="0" i="1" dirty="0">
                <a:effectLst/>
                <a:latin typeface="fkGroteskNeue"/>
              </a:rPr>
              <a:t> Функциональное обогащение</a:t>
            </a:r>
          </a:p>
          <a:p>
            <a:pPr marL="0" indent="0" algn="l">
              <a:buNone/>
            </a:pPr>
            <a:r>
              <a:rPr lang="ru-RU" sz="2000" b="0" i="1" dirty="0">
                <a:effectLst/>
                <a:latin typeface="fkGroteskNeue"/>
              </a:rPr>
              <a:t>Инструмент: </a:t>
            </a:r>
            <a:r>
              <a:rPr lang="en-US" sz="2000" b="0" i="1" dirty="0">
                <a:effectLst/>
                <a:latin typeface="fkGroteskNeue"/>
              </a:rPr>
              <a:t>GO (Gene Ontology)</a:t>
            </a:r>
          </a:p>
          <a:p>
            <a:pPr algn="l"/>
            <a:r>
              <a:rPr lang="ru-RU" sz="2000" b="0" i="0" dirty="0">
                <a:effectLst/>
                <a:latin typeface="fkGroteskNeue"/>
              </a:rPr>
              <a:t>Каждому гену присвоены биологические функции: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fkGroteskNeue"/>
              </a:rPr>
              <a:t>Biological Process (GO:BP): "apoptosis", "cell proliferation", "DNA repair"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fkGroteskNeue"/>
              </a:rPr>
              <a:t>Molecular Function (GO:MF): "kinase activity", "transcription factor binding"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fkGroteskNeue"/>
              </a:rPr>
              <a:t>Cellular Component (GO:CC): "mitochondria", "cell membrane"</a:t>
            </a:r>
          </a:p>
          <a:p>
            <a:pPr marL="0" indent="0" algn="l">
              <a:buNone/>
            </a:pPr>
            <a:r>
              <a:rPr lang="ru-RU" sz="2000" b="0" i="0" dirty="0">
                <a:effectLst/>
                <a:latin typeface="fkGroteskNeue"/>
              </a:rPr>
              <a:t>Статистический тест:</a:t>
            </a:r>
          </a:p>
          <a:p>
            <a:pPr algn="l"/>
            <a:r>
              <a:rPr lang="ru-RU" sz="2000" b="0" i="0" dirty="0" err="1">
                <a:effectLst/>
                <a:latin typeface="fkGroteskNeue"/>
              </a:rPr>
              <a:t>Гиперегеометрический</a:t>
            </a:r>
            <a:r>
              <a:rPr lang="ru-RU" sz="2000" b="0" i="0" dirty="0">
                <a:effectLst/>
                <a:latin typeface="fkGroteskNeue"/>
              </a:rPr>
              <a:t> тест: "Если я выбрал 150 генов из 20,000, сколько я ожидаю со свойством </a:t>
            </a:r>
            <a:r>
              <a:rPr lang="en-US" sz="2000" b="0" i="0" dirty="0">
                <a:effectLst/>
                <a:latin typeface="fkGroteskNeue"/>
              </a:rPr>
              <a:t>X?«</a:t>
            </a:r>
            <a:endParaRPr lang="ru-RU" sz="2000" b="0" i="0" dirty="0">
              <a:effectLst/>
              <a:latin typeface="fkGroteskNeue"/>
            </a:endParaRPr>
          </a:p>
          <a:p>
            <a:pPr marL="0" indent="0" algn="l">
              <a:buNone/>
            </a:pPr>
            <a:r>
              <a:rPr lang="ru-RU" sz="2000" b="0" i="1" dirty="0">
                <a:effectLst/>
                <a:latin typeface="fkGroteskNeue"/>
              </a:rPr>
              <a:t>Инструмент: </a:t>
            </a:r>
            <a:r>
              <a:rPr lang="en-US" sz="2000" b="0" i="1" dirty="0">
                <a:effectLst/>
                <a:latin typeface="fkGroteskNeue"/>
              </a:rPr>
              <a:t>KEGG (Kyoto Encyclopedia of Genes and Genomes)</a:t>
            </a:r>
          </a:p>
          <a:p>
            <a:r>
              <a:rPr lang="ru-RU" sz="2000" b="0" i="0" dirty="0">
                <a:effectLst/>
                <a:latin typeface="fkGroteskNeue"/>
              </a:rPr>
              <a:t>Пути (</a:t>
            </a:r>
            <a:r>
              <a:rPr lang="en-US" sz="2000" b="0" i="0" dirty="0">
                <a:effectLst/>
                <a:latin typeface="fkGroteskNeue"/>
              </a:rPr>
              <a:t>pathways): "</a:t>
            </a:r>
            <a:r>
              <a:rPr lang="en-US" sz="2000" b="0" i="0" dirty="0" err="1">
                <a:effectLst/>
                <a:latin typeface="fkGroteskNeue"/>
              </a:rPr>
              <a:t>Wnt</a:t>
            </a:r>
            <a:r>
              <a:rPr lang="en-US" sz="2000" b="0" i="0" dirty="0">
                <a:effectLst/>
                <a:latin typeface="fkGroteskNeue"/>
              </a:rPr>
              <a:t> signaling pathway", "p53 pathway", "MAPK pathway"</a:t>
            </a:r>
          </a:p>
          <a:p>
            <a:r>
              <a:rPr lang="ru-RU" sz="2000" b="0" i="0" dirty="0">
                <a:effectLst/>
                <a:latin typeface="fkGroteskNeue"/>
              </a:rPr>
              <a:t>Аналогично </a:t>
            </a:r>
            <a:r>
              <a:rPr lang="en-US" sz="2000" b="0" i="0" dirty="0">
                <a:effectLst/>
                <a:latin typeface="fkGroteskNeue"/>
              </a:rPr>
              <a:t>GO, </a:t>
            </a:r>
            <a:r>
              <a:rPr lang="ru-RU" sz="2000" b="0" i="0" dirty="0">
                <a:effectLst/>
                <a:latin typeface="fkGroteskNeue"/>
              </a:rPr>
              <a:t>ищем обогащённые пути.</a:t>
            </a:r>
            <a:endParaRPr lang="en-US" sz="2000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991506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WGCNA -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пример на практике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2">
            <a:noAutofit/>
          </a:bodyPr>
          <a:lstStyle/>
          <a:p>
            <a:pPr marL="0" indent="0" algn="l">
              <a:buNone/>
            </a:pPr>
            <a:r>
              <a:rPr lang="en-US" sz="2000" b="1" i="1" dirty="0">
                <a:effectLst/>
                <a:latin typeface="fkGroteskNeue"/>
              </a:rPr>
              <a:t>Case Study: </a:t>
            </a:r>
            <a:r>
              <a:rPr lang="ru-RU" sz="2000" b="1" i="1" dirty="0">
                <a:effectLst/>
                <a:latin typeface="fkGroteskNeue"/>
              </a:rPr>
              <a:t>Рак молочной железы</a:t>
            </a:r>
          </a:p>
          <a:p>
            <a:pPr marL="0" indent="0" algn="l">
              <a:buNone/>
            </a:pPr>
            <a:r>
              <a:rPr lang="ru-RU" sz="2000" b="0" i="1" dirty="0" err="1">
                <a:effectLst/>
                <a:latin typeface="fkGroteskNeue"/>
              </a:rPr>
              <a:t>Датасет</a:t>
            </a:r>
            <a:r>
              <a:rPr lang="ru-RU" sz="2000" b="0" i="1" dirty="0">
                <a:effectLst/>
                <a:latin typeface="fkGroteskNeue"/>
              </a:rPr>
              <a:t>: </a:t>
            </a:r>
            <a:r>
              <a:rPr lang="en-US" sz="2000" b="0" i="1" dirty="0">
                <a:effectLst/>
                <a:latin typeface="fkGroteskNeue"/>
              </a:rPr>
              <a:t>TCGA Breast Cancer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fkGroteskNeue"/>
              </a:rPr>
              <a:t>1,200 </a:t>
            </a:r>
            <a:r>
              <a:rPr lang="ru-RU" sz="2000" b="0" i="0" dirty="0">
                <a:effectLst/>
                <a:latin typeface="fkGroteskNeue"/>
              </a:rPr>
              <a:t>пациентов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20,000 генов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Фенотипы: выживание, стадия, </a:t>
            </a:r>
            <a:r>
              <a:rPr lang="ru-RU" sz="2000" b="0" i="0" dirty="0" err="1">
                <a:effectLst/>
                <a:latin typeface="fkGroteskNeue"/>
              </a:rPr>
              <a:t>гистотип</a:t>
            </a:r>
            <a:r>
              <a:rPr lang="ru-RU" sz="2000" b="0" i="0" dirty="0">
                <a:effectLst/>
                <a:latin typeface="fkGroteskNeue"/>
              </a:rPr>
              <a:t>, </a:t>
            </a:r>
            <a:r>
              <a:rPr lang="en-US" sz="2000" b="0" i="0" dirty="0">
                <a:effectLst/>
                <a:latin typeface="fkGroteskNeue"/>
              </a:rPr>
              <a:t>HER2 </a:t>
            </a:r>
            <a:r>
              <a:rPr lang="ru-RU" sz="2000" b="0" i="0" dirty="0">
                <a:effectLst/>
                <a:latin typeface="fkGroteskNeue"/>
              </a:rPr>
              <a:t>статус</a:t>
            </a:r>
          </a:p>
          <a:p>
            <a:pPr marL="0" indent="0" algn="l">
              <a:buNone/>
            </a:pPr>
            <a:r>
              <a:rPr lang="ru-RU" sz="2000" b="0" i="1" dirty="0">
                <a:effectLst/>
                <a:latin typeface="fkGroteskNeue"/>
              </a:rPr>
              <a:t>Результат </a:t>
            </a:r>
            <a:r>
              <a:rPr lang="en-US" sz="2000" b="0" i="1" dirty="0">
                <a:effectLst/>
                <a:latin typeface="fkGroteskNeue"/>
              </a:rPr>
              <a:t>WGCNA:</a:t>
            </a:r>
          </a:p>
          <a:p>
            <a:pPr algn="l"/>
            <a:r>
              <a:rPr lang="ru-RU" sz="2000" b="0" i="0" dirty="0">
                <a:effectLst/>
                <a:latin typeface="fkGroteskNeue"/>
              </a:rPr>
              <a:t>Найдено 15 модулей: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fkGroteskNeue"/>
              </a:rPr>
              <a:t>Red module: r=0.68 </a:t>
            </a:r>
            <a:r>
              <a:rPr lang="ru-RU" sz="2000" b="0" i="0" dirty="0">
                <a:effectLst/>
                <a:latin typeface="fkGroteskNeue"/>
              </a:rPr>
              <a:t>с выживанием (</a:t>
            </a:r>
            <a:r>
              <a:rPr lang="en-US" sz="2000" b="0" i="0" dirty="0">
                <a:effectLst/>
                <a:latin typeface="fkGroteskNeue"/>
              </a:rPr>
              <a:t>p&lt;0.001) ***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fkGroteskNeue"/>
              </a:rPr>
              <a:t>Blue module: r=-0.45 </a:t>
            </a:r>
            <a:r>
              <a:rPr lang="ru-RU" sz="2000" b="0" i="0" dirty="0">
                <a:effectLst/>
                <a:latin typeface="fkGroteskNeue"/>
              </a:rPr>
              <a:t>с выживанием (</a:t>
            </a:r>
            <a:r>
              <a:rPr lang="en-US" sz="2000" b="0" i="0" dirty="0">
                <a:effectLst/>
                <a:latin typeface="fkGroteskNeue"/>
              </a:rPr>
              <a:t>p=0.01) *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fkGroteskNeue"/>
              </a:rPr>
              <a:t>Green module: r=0.35 </a:t>
            </a:r>
            <a:r>
              <a:rPr lang="ru-RU" sz="2000" b="0" i="0" dirty="0">
                <a:effectLst/>
                <a:latin typeface="fkGroteskNeue"/>
              </a:rPr>
              <a:t>с </a:t>
            </a:r>
            <a:r>
              <a:rPr lang="en-US" sz="2000" b="0" i="0" dirty="0">
                <a:effectLst/>
                <a:latin typeface="fkGroteskNeue"/>
              </a:rPr>
              <a:t>HER2+ (p=0.05) *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fkGroteskNeue"/>
              </a:rPr>
              <a:t>... </a:t>
            </a:r>
            <a:r>
              <a:rPr lang="ru-RU" sz="2000" b="0" i="0" dirty="0">
                <a:effectLst/>
                <a:latin typeface="fkGroteskNeue"/>
              </a:rPr>
              <a:t>остальные не значимы</a:t>
            </a:r>
          </a:p>
          <a:p>
            <a:pPr marL="0" indent="0" algn="l">
              <a:buNone/>
            </a:pPr>
            <a:endParaRPr lang="ru-RU" sz="2000" b="0" i="0" dirty="0">
              <a:effectLst/>
              <a:latin typeface="fkGroteskNeue"/>
            </a:endParaRPr>
          </a:p>
          <a:p>
            <a:pPr marL="0" indent="0" algn="l">
              <a:buNone/>
            </a:pPr>
            <a:endParaRPr lang="ru-RU" sz="2000" dirty="0">
              <a:latin typeface="fkGroteskNeue"/>
            </a:endParaRPr>
          </a:p>
          <a:p>
            <a:pPr marL="0" indent="0" algn="l">
              <a:buNone/>
            </a:pPr>
            <a:r>
              <a:rPr lang="ru-RU" sz="2000" b="0" i="1" dirty="0">
                <a:effectLst/>
                <a:latin typeface="fkGroteskNeue"/>
              </a:rPr>
              <a:t>Функциональное обогащение </a:t>
            </a:r>
            <a:r>
              <a:rPr lang="en-US" sz="2000" b="0" i="1" dirty="0">
                <a:effectLst/>
                <a:latin typeface="fkGroteskNeue"/>
              </a:rPr>
              <a:t>Red module:</a:t>
            </a:r>
          </a:p>
          <a:p>
            <a:pPr marL="0" indent="0" algn="l">
              <a:buNone/>
            </a:pPr>
            <a:r>
              <a:rPr lang="en-US" sz="2000" b="0" i="0" dirty="0">
                <a:effectLst/>
                <a:latin typeface="fkGroteskNeue"/>
              </a:rPr>
              <a:t>Top GO terms:</a:t>
            </a:r>
          </a:p>
          <a:p>
            <a:pPr algn="l">
              <a:buFont typeface="+mj-lt"/>
              <a:buAutoNum type="arabicPeriod"/>
            </a:pPr>
            <a:r>
              <a:rPr lang="en-US" sz="2000" b="0" i="0" dirty="0">
                <a:effectLst/>
                <a:latin typeface="fkGroteskNeue"/>
              </a:rPr>
              <a:t>Immune response (p=1e-50) — </a:t>
            </a:r>
            <a:r>
              <a:rPr lang="ru-RU" sz="2000" b="0" i="0" dirty="0">
                <a:effectLst/>
                <a:latin typeface="fkGroteskNeue"/>
              </a:rPr>
              <a:t>ВСЕ о иммунитете!</a:t>
            </a:r>
          </a:p>
          <a:p>
            <a:pPr algn="l">
              <a:buFont typeface="+mj-lt"/>
              <a:buAutoNum type="arabicPeriod"/>
            </a:pPr>
            <a:r>
              <a:rPr lang="en-US" sz="2000" b="0" i="0" dirty="0">
                <a:effectLst/>
                <a:latin typeface="fkGroteskNeue"/>
              </a:rPr>
              <a:t>T cell activation (p=1e-45)</a:t>
            </a:r>
          </a:p>
          <a:p>
            <a:pPr algn="l">
              <a:buFont typeface="+mj-lt"/>
              <a:buAutoNum type="arabicPeriod"/>
            </a:pPr>
            <a:r>
              <a:rPr lang="en-US" sz="2000" b="0" i="0" dirty="0">
                <a:effectLst/>
                <a:latin typeface="fkGroteskNeue"/>
              </a:rPr>
              <a:t>Leukocyte activation (p=1e-42)</a:t>
            </a:r>
          </a:p>
          <a:p>
            <a:pPr marL="0" indent="0" algn="l">
              <a:buNone/>
            </a:pPr>
            <a:r>
              <a:rPr lang="ru-RU" sz="2000" b="0" i="1" dirty="0">
                <a:effectLst/>
                <a:latin typeface="fkGroteskNeue"/>
              </a:rPr>
              <a:t>Вывод: </a:t>
            </a:r>
            <a:r>
              <a:rPr lang="en-US" sz="2000" b="0" i="1" dirty="0">
                <a:effectLst/>
                <a:latin typeface="fkGroteskNeue"/>
              </a:rPr>
              <a:t>Red module = </a:t>
            </a:r>
            <a:r>
              <a:rPr lang="ru-RU" sz="2000" b="0" i="1" dirty="0">
                <a:effectLst/>
                <a:latin typeface="fkGroteskNeue"/>
              </a:rPr>
              <a:t>иммунный модуль!</a:t>
            </a:r>
          </a:p>
          <a:p>
            <a:pPr marL="0" indent="0" algn="l">
              <a:buNone/>
            </a:pPr>
            <a:r>
              <a:rPr lang="ru-RU" sz="2000" b="0" i="0" dirty="0">
                <a:effectLst/>
                <a:latin typeface="fkGroteskNeue"/>
              </a:rPr>
              <a:t>Пациенты с высокой экспрессией этого модуля → хороший прогноз (иммунитет побеждает рак)</a:t>
            </a:r>
          </a:p>
          <a:p>
            <a:pPr marL="0" indent="0" algn="l">
              <a:buNone/>
            </a:pPr>
            <a:r>
              <a:rPr lang="en-US" sz="2000" b="0" i="1" dirty="0">
                <a:effectLst/>
                <a:latin typeface="fkGroteskNeue"/>
              </a:rPr>
              <a:t>Hub </a:t>
            </a:r>
            <a:r>
              <a:rPr lang="ru-RU" sz="2000" b="0" i="1" dirty="0">
                <a:effectLst/>
                <a:latin typeface="fkGroteskNeue"/>
              </a:rPr>
              <a:t>гены в </a:t>
            </a:r>
            <a:r>
              <a:rPr lang="en-US" sz="2000" b="0" i="1" dirty="0">
                <a:effectLst/>
                <a:latin typeface="fkGroteskNeue"/>
              </a:rPr>
              <a:t>Red module:</a:t>
            </a:r>
          </a:p>
          <a:p>
            <a:pPr algn="l"/>
            <a:r>
              <a:rPr lang="en-US" sz="2000" b="0" i="0" dirty="0">
                <a:effectLst/>
                <a:latin typeface="fkGroteskNeue"/>
              </a:rPr>
              <a:t>Top 5: IL6, TNF, IL1B, IL2, CD8A</a:t>
            </a:r>
            <a:endParaRPr lang="ru-RU" sz="2000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469934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Сравнение сетей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735529" cy="5677647"/>
          </a:xfrm>
        </p:spPr>
        <p:txBody>
          <a:bodyPr numCol="2">
            <a:noAutofit/>
          </a:bodyPr>
          <a:lstStyle/>
          <a:p>
            <a:pPr marL="0" indent="0" algn="l">
              <a:buNone/>
            </a:pPr>
            <a:r>
              <a:rPr lang="ru-RU" b="1" i="1" dirty="0">
                <a:effectLst/>
                <a:latin typeface="fkGroteskNeue"/>
              </a:rPr>
              <a:t>Здоровые </a:t>
            </a:r>
            <a:r>
              <a:rPr lang="ru-RU" b="1" i="1" dirty="0" err="1">
                <a:effectLst/>
                <a:latin typeface="fkGroteskNeue"/>
              </a:rPr>
              <a:t>vs</a:t>
            </a:r>
            <a:r>
              <a:rPr lang="ru-RU" b="1" i="1" dirty="0">
                <a:effectLst/>
                <a:latin typeface="fkGroteskNeue"/>
              </a:rPr>
              <a:t> Больные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fkGroteskNeue"/>
              </a:rPr>
              <a:t>Вопрос: Отличается ли сетевая структура в здоровых и больных?</a:t>
            </a:r>
          </a:p>
          <a:p>
            <a:pPr marL="0" indent="0" algn="l">
              <a:buNone/>
            </a:pPr>
            <a:r>
              <a:rPr lang="ru-RU" b="0" i="1" dirty="0">
                <a:effectLst/>
                <a:latin typeface="fkGroteskNeue"/>
              </a:rPr>
              <a:t>Метод 1: Отдельная WGCNA для каждой группы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Здоровые (n=500) → WGCNA → </a:t>
            </a:r>
            <a:r>
              <a:rPr lang="ru-RU" b="0" i="0" dirty="0" err="1">
                <a:effectLst/>
                <a:latin typeface="fkGroteskNeue"/>
              </a:rPr>
              <a:t>модули_здоровые</a:t>
            </a:r>
            <a:br>
              <a:rPr lang="ru-RU" b="0" i="0" dirty="0">
                <a:effectLst/>
                <a:latin typeface="fkGroteskNeue"/>
              </a:rPr>
            </a:br>
            <a:r>
              <a:rPr lang="ru-RU" dirty="0">
                <a:latin typeface="fkGroteskNeue"/>
              </a:rPr>
              <a:t>Пациенты</a:t>
            </a:r>
            <a:r>
              <a:rPr lang="ru-RU" b="0" i="0" dirty="0">
                <a:effectLst/>
                <a:latin typeface="fkGroteskNeue"/>
              </a:rPr>
              <a:t> (n=500) → WGCNA → </a:t>
            </a:r>
            <a:r>
              <a:rPr lang="ru-RU" b="0" i="0" dirty="0" err="1">
                <a:effectLst/>
                <a:latin typeface="fkGroteskNeue"/>
              </a:rPr>
              <a:t>модули_пациенты</a:t>
            </a:r>
            <a:endParaRPr lang="ru-RU" b="0" i="0" dirty="0">
              <a:effectLst/>
              <a:latin typeface="fkGroteskNeue"/>
            </a:endParaRPr>
          </a:p>
          <a:p>
            <a:pPr algn="l"/>
            <a:r>
              <a:rPr lang="ru-RU" b="0" i="0" dirty="0">
                <a:effectLst/>
                <a:latin typeface="fkGroteskNeue"/>
              </a:rPr>
              <a:t>Результат: разные модули! Сеть переорганизовалась.</a:t>
            </a:r>
          </a:p>
          <a:p>
            <a:pPr marL="0" indent="0" algn="l">
              <a:buNone/>
            </a:pPr>
            <a:endParaRPr lang="ru-RU" b="0" i="0" dirty="0">
              <a:effectLst/>
              <a:latin typeface="fkGroteskNeue"/>
            </a:endParaRPr>
          </a:p>
          <a:p>
            <a:pPr marL="0" indent="0" algn="l">
              <a:buNone/>
            </a:pPr>
            <a:r>
              <a:rPr lang="ru-RU" b="0" i="1" dirty="0">
                <a:effectLst/>
                <a:latin typeface="fkGroteskNeue"/>
              </a:rPr>
              <a:t>Метод 2: </a:t>
            </a:r>
            <a:r>
              <a:rPr lang="ru-RU" b="0" i="1" dirty="0" err="1">
                <a:effectLst/>
                <a:latin typeface="fkGroteskNeue"/>
              </a:rPr>
              <a:t>Differential</a:t>
            </a:r>
            <a:r>
              <a:rPr lang="ru-RU" b="0" i="1" dirty="0">
                <a:effectLst/>
                <a:latin typeface="fkGroteskNeue"/>
              </a:rPr>
              <a:t> </a:t>
            </a:r>
            <a:r>
              <a:rPr lang="ru-RU" b="0" i="1" dirty="0" err="1">
                <a:effectLst/>
                <a:latin typeface="fkGroteskNeue"/>
              </a:rPr>
              <a:t>network</a:t>
            </a:r>
            <a:r>
              <a:rPr lang="ru-RU" b="0" i="1" dirty="0">
                <a:effectLst/>
                <a:latin typeface="fkGroteskNeue"/>
              </a:rPr>
              <a:t> </a:t>
            </a:r>
            <a:r>
              <a:rPr lang="ru-RU" b="0" i="1" dirty="0" err="1">
                <a:effectLst/>
                <a:latin typeface="fkGroteskNeue"/>
              </a:rPr>
              <a:t>analysis</a:t>
            </a:r>
            <a:endParaRPr lang="ru-RU" b="0" i="1" dirty="0">
              <a:effectLst/>
              <a:latin typeface="fkGroteskNeue"/>
            </a:endParaRPr>
          </a:p>
          <a:p>
            <a:pPr algn="l"/>
            <a:r>
              <a:rPr lang="ru-RU" b="0" i="0" dirty="0">
                <a:effectLst/>
                <a:latin typeface="fkGroteskNeue"/>
              </a:rPr>
              <a:t>Берём модули из объединённого </a:t>
            </a:r>
            <a:r>
              <a:rPr lang="ru-RU" b="0" i="0" dirty="0" err="1">
                <a:effectLst/>
                <a:latin typeface="fkGroteskNeue"/>
              </a:rPr>
              <a:t>датасета</a:t>
            </a:r>
            <a:r>
              <a:rPr lang="ru-RU" b="0" i="0" dirty="0">
                <a:effectLst/>
                <a:latin typeface="fkGroteskNeue"/>
              </a:rPr>
              <a:t>.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Для каждого модуля считаем:</a:t>
            </a:r>
          </a:p>
          <a:p>
            <a:pPr lvl="1"/>
            <a:r>
              <a:rPr lang="ru-RU" sz="2000" b="0" i="0" dirty="0">
                <a:effectLst/>
                <a:latin typeface="fkGroteskNeue"/>
              </a:rPr>
              <a:t>Среднюю корреляцию в здоровых</a:t>
            </a:r>
          </a:p>
          <a:p>
            <a:pPr lvl="1"/>
            <a:r>
              <a:rPr lang="ru-RU" sz="2000" b="0" i="0" dirty="0">
                <a:effectLst/>
                <a:latin typeface="fkGroteskNeue"/>
              </a:rPr>
              <a:t>Среднюю корреляцию в больных</a:t>
            </a:r>
          </a:p>
          <a:p>
            <a:pPr lvl="1"/>
            <a:r>
              <a:rPr lang="ru-RU" sz="2000" b="0" i="0" dirty="0">
                <a:effectLst/>
                <a:latin typeface="fkGroteskNeue"/>
              </a:rPr>
              <a:t>t-тест на разницу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Результат: какие связи усилились, какие ослабли?</a:t>
            </a:r>
          </a:p>
          <a:p>
            <a:pPr algn="l"/>
            <a:r>
              <a:rPr lang="ru-RU" b="0" i="0" dirty="0">
                <a:effectLst/>
                <a:latin typeface="fkGroteskNeue"/>
              </a:rPr>
              <a:t>Интерпретация:</a:t>
            </a:r>
          </a:p>
          <a:p>
            <a:pPr lvl="1"/>
            <a:r>
              <a:rPr lang="ru-RU" sz="2000" b="0" i="0" dirty="0">
                <a:effectLst/>
                <a:latin typeface="fkGroteskNeue"/>
              </a:rPr>
              <a:t>Если связь "ген A ← → ген B" исчезла при раке → они уже не работают вместе</a:t>
            </a:r>
          </a:p>
          <a:p>
            <a:pPr lvl="1"/>
            <a:r>
              <a:rPr lang="ru-RU" sz="2000" b="0" i="0" dirty="0">
                <a:effectLst/>
                <a:latin typeface="fkGroteskNeue"/>
              </a:rPr>
              <a:t>Может быть, мутация нарушила связь?</a:t>
            </a:r>
          </a:p>
        </p:txBody>
      </p:sp>
    </p:spTree>
    <p:extLst>
      <p:ext uri="{BB962C8B-B14F-4D97-AF65-F5344CB8AC3E}">
        <p14:creationId xmlns:p14="http://schemas.microsoft.com/office/powerpoint/2010/main" val="3018903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Интеграция данных (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Multi-omics)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145594"/>
            <a:ext cx="11735529" cy="5677647"/>
          </a:xfrm>
        </p:spPr>
        <p:txBody>
          <a:bodyPr numCol="2">
            <a:noAutofit/>
          </a:bodyPr>
          <a:lstStyle/>
          <a:p>
            <a:pPr marL="0" indent="0" algn="l">
              <a:buNone/>
            </a:pPr>
            <a:r>
              <a:rPr lang="ru-RU" sz="2400" b="1" i="1" dirty="0">
                <a:effectLst/>
                <a:latin typeface="fkGroteskNeue"/>
              </a:rPr>
              <a:t>Не только гены</a:t>
            </a:r>
          </a:p>
          <a:p>
            <a:pPr marL="0" indent="0" algn="l">
              <a:buNone/>
            </a:pPr>
            <a:r>
              <a:rPr lang="ru-RU" sz="2400" b="0" i="0" dirty="0">
                <a:effectLst/>
                <a:latin typeface="fkGroteskNeue"/>
              </a:rPr>
              <a:t>Часто есть несколько типов данных: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fkGroteskNeue"/>
              </a:rPr>
              <a:t>Gene expression (RNA-seq)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fkGroteskNeue"/>
              </a:rPr>
              <a:t>DNA methylation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fkGroteskNeue"/>
              </a:rPr>
              <a:t>Protein expression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fkGroteskNeue"/>
              </a:rPr>
              <a:t>CNV (Copy Number Variation)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fkGroteskNeue"/>
              </a:rPr>
              <a:t>Mutations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fkGroteskNeue"/>
              </a:rPr>
              <a:t>miRNA expression</a:t>
            </a:r>
          </a:p>
          <a:p>
            <a:pPr marL="0" indent="0" algn="l">
              <a:buNone/>
            </a:pPr>
            <a:r>
              <a:rPr lang="ru-RU" sz="2400" b="0" i="0" dirty="0">
                <a:effectLst/>
                <a:latin typeface="fkGroteskNeue"/>
              </a:rPr>
              <a:t>Идея: построить сети для каждого типа → интегрировать</a:t>
            </a:r>
          </a:p>
          <a:p>
            <a:pPr marL="0" indent="0" algn="l">
              <a:buNone/>
            </a:pPr>
            <a:r>
              <a:rPr lang="ru-RU" sz="2400" b="0" i="1" dirty="0">
                <a:effectLst/>
                <a:latin typeface="fkGroteskNeue"/>
              </a:rPr>
              <a:t>Подход 1: </a:t>
            </a:r>
            <a:r>
              <a:rPr lang="en-US" sz="2400" b="0" i="1" dirty="0">
                <a:effectLst/>
                <a:latin typeface="fkGroteskNeue"/>
              </a:rPr>
              <a:t>MOFA (Multi-Omics Factor Analysis)</a:t>
            </a:r>
          </a:p>
          <a:p>
            <a:pPr algn="l"/>
            <a:r>
              <a:rPr lang="ru-RU" sz="2400" b="0" i="0" dirty="0">
                <a:effectLst/>
                <a:latin typeface="fkGroteskNeue"/>
              </a:rPr>
              <a:t>Находит общие факторы, объясняющие вариабельность во всех </a:t>
            </a:r>
            <a:r>
              <a:rPr lang="en-US" sz="2400" b="0" i="0" dirty="0">
                <a:effectLst/>
                <a:latin typeface="fkGroteskNeue"/>
              </a:rPr>
              <a:t>omics</a:t>
            </a:r>
          </a:p>
          <a:p>
            <a:pPr marL="0" indent="0" algn="l">
              <a:buNone/>
            </a:pPr>
            <a:r>
              <a:rPr lang="ru-RU" sz="2400" b="0" i="1" dirty="0">
                <a:effectLst/>
                <a:latin typeface="fkGroteskNeue"/>
              </a:rPr>
              <a:t>Подход 2: </a:t>
            </a:r>
            <a:r>
              <a:rPr lang="en-US" sz="2400" b="0" i="1" dirty="0">
                <a:effectLst/>
                <a:latin typeface="fkGroteskNeue"/>
              </a:rPr>
              <a:t>Multiple WGCNA + correlation</a:t>
            </a:r>
          </a:p>
          <a:p>
            <a:pPr algn="l">
              <a:buFont typeface="+mj-lt"/>
              <a:buAutoNum type="arabicPeriod"/>
            </a:pPr>
            <a:r>
              <a:rPr lang="en-US" sz="2400" b="0" i="0" dirty="0">
                <a:effectLst/>
                <a:latin typeface="fkGroteskNeue"/>
              </a:rPr>
              <a:t>WGCNA </a:t>
            </a:r>
            <a:r>
              <a:rPr lang="ru-RU" sz="2400" b="0" i="0" dirty="0">
                <a:effectLst/>
                <a:latin typeface="fkGroteskNeue"/>
              </a:rPr>
              <a:t>для </a:t>
            </a:r>
            <a:r>
              <a:rPr lang="en-US" sz="2400" b="0" i="0" dirty="0">
                <a:effectLst/>
                <a:latin typeface="fkGroteskNeue"/>
              </a:rPr>
              <a:t>RNA-seq → </a:t>
            </a:r>
            <a:r>
              <a:rPr lang="ru-RU" sz="2400" b="0" i="0" dirty="0">
                <a:effectLst/>
                <a:latin typeface="fkGroteskNeue"/>
              </a:rPr>
              <a:t>модули_</a:t>
            </a:r>
            <a:r>
              <a:rPr lang="en-US" sz="2400" b="0" i="0" dirty="0">
                <a:effectLst/>
                <a:latin typeface="fkGroteskNeue"/>
              </a:rPr>
              <a:t>RNA</a:t>
            </a:r>
          </a:p>
          <a:p>
            <a:pPr algn="l">
              <a:buFont typeface="+mj-lt"/>
              <a:buAutoNum type="arabicPeriod"/>
            </a:pPr>
            <a:r>
              <a:rPr lang="en-US" sz="2400" b="0" i="0" dirty="0">
                <a:effectLst/>
                <a:latin typeface="fkGroteskNeue"/>
              </a:rPr>
              <a:t>WGCNA </a:t>
            </a:r>
            <a:r>
              <a:rPr lang="ru-RU" sz="2400" b="0" i="0" dirty="0">
                <a:effectLst/>
                <a:latin typeface="fkGroteskNeue"/>
              </a:rPr>
              <a:t>для </a:t>
            </a:r>
            <a:r>
              <a:rPr lang="en-US" sz="2400" b="0" i="0" dirty="0">
                <a:effectLst/>
                <a:latin typeface="fkGroteskNeue"/>
              </a:rPr>
              <a:t>methylation → </a:t>
            </a:r>
            <a:r>
              <a:rPr lang="ru-RU" sz="2400" b="0" i="0" dirty="0">
                <a:effectLst/>
                <a:latin typeface="fkGroteskNeue"/>
              </a:rPr>
              <a:t>модули_</a:t>
            </a:r>
            <a:r>
              <a:rPr lang="en-US" sz="2400" b="0" i="0" dirty="0">
                <a:effectLst/>
                <a:latin typeface="fkGroteskNeue"/>
              </a:rPr>
              <a:t>methyl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effectLst/>
                <a:latin typeface="fkGroteskNeue"/>
              </a:rPr>
              <a:t>Считаем корреляцию между модулями_</a:t>
            </a:r>
            <a:r>
              <a:rPr lang="en-US" sz="2400" b="0" i="0" dirty="0">
                <a:effectLst/>
                <a:latin typeface="fkGroteskNeue"/>
              </a:rPr>
              <a:t>RNA </a:t>
            </a:r>
            <a:r>
              <a:rPr lang="ru-RU" sz="2400" b="0" i="0" dirty="0">
                <a:effectLst/>
                <a:latin typeface="fkGroteskNeue"/>
              </a:rPr>
              <a:t>и модули_</a:t>
            </a:r>
            <a:r>
              <a:rPr lang="en-US" sz="2400" b="0" i="0" dirty="0">
                <a:effectLst/>
                <a:latin typeface="fkGroteskNeue"/>
              </a:rPr>
              <a:t>methyl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effectLst/>
                <a:latin typeface="fkGroteskNeue"/>
              </a:rPr>
              <a:t>Если коррелированы → взаимодействие!</a:t>
            </a:r>
          </a:p>
          <a:p>
            <a:pPr marL="0" indent="0" algn="l">
              <a:buNone/>
            </a:pPr>
            <a:r>
              <a:rPr lang="ru-RU" sz="2400" b="0" i="0" dirty="0">
                <a:effectLst/>
                <a:latin typeface="fkGroteskNeue"/>
              </a:rPr>
              <a:t>Результат:</a:t>
            </a:r>
          </a:p>
          <a:p>
            <a:pPr algn="l"/>
            <a:r>
              <a:rPr lang="ru-RU" sz="2400" b="0" i="0" dirty="0">
                <a:effectLst/>
                <a:latin typeface="fkGroteskNeue"/>
              </a:rPr>
              <a:t>Например: найдена связь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fkGroteskNeue"/>
              </a:rPr>
              <a:t>High expression </a:t>
            </a:r>
            <a:r>
              <a:rPr lang="ru-RU" sz="2400" b="0" i="0" dirty="0">
                <a:effectLst/>
                <a:latin typeface="fkGroteskNeue"/>
              </a:rPr>
              <a:t>модуля (</a:t>
            </a:r>
            <a:r>
              <a:rPr lang="en-US" sz="2400" b="0" i="0" dirty="0">
                <a:effectLst/>
                <a:latin typeface="fkGroteskNeue"/>
              </a:rPr>
              <a:t>RNA)</a:t>
            </a:r>
            <a:br>
              <a:rPr lang="en-US" sz="2400" b="0" i="0" dirty="0">
                <a:effectLst/>
                <a:latin typeface="fkGroteskNeue"/>
              </a:rPr>
            </a:br>
            <a:r>
              <a:rPr lang="en-US" sz="2400" b="0" i="0" dirty="0">
                <a:effectLst/>
                <a:latin typeface="fkGroteskNeue"/>
              </a:rPr>
              <a:t>↔ Low methylation </a:t>
            </a:r>
            <a:r>
              <a:rPr lang="ru-RU" sz="2400" b="0" i="0" dirty="0">
                <a:effectLst/>
                <a:latin typeface="fkGroteskNeue"/>
              </a:rPr>
              <a:t>модуля (</a:t>
            </a:r>
            <a:r>
              <a:rPr lang="en-US" sz="2400" b="0" i="0" dirty="0">
                <a:effectLst/>
                <a:latin typeface="fkGroteskNeue"/>
              </a:rPr>
              <a:t>DNA methylation)</a:t>
            </a:r>
          </a:p>
          <a:p>
            <a:pPr algn="l"/>
            <a:r>
              <a:rPr lang="ru-RU" sz="2400" b="0" i="0" dirty="0">
                <a:effectLst/>
                <a:latin typeface="fkGroteskNeue"/>
              </a:rPr>
              <a:t>Вывод: эти два процесса работают согласованно!</a:t>
            </a:r>
          </a:p>
        </p:txBody>
      </p:sp>
    </p:spTree>
    <p:extLst>
      <p:ext uri="{BB962C8B-B14F-4D97-AF65-F5344CB8AC3E}">
        <p14:creationId xmlns:p14="http://schemas.microsoft.com/office/powerpoint/2010/main" val="3789328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Сетевые маркеры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145594"/>
            <a:ext cx="11735529" cy="5677647"/>
          </a:xfrm>
        </p:spPr>
        <p:txBody>
          <a:bodyPr numCol="2">
            <a:noAutofit/>
          </a:bodyPr>
          <a:lstStyle/>
          <a:p>
            <a:pPr marL="0" indent="0" algn="l">
              <a:buNone/>
            </a:pPr>
            <a:r>
              <a:rPr lang="ru-RU" sz="2000" b="1" i="1" dirty="0">
                <a:effectLst/>
                <a:latin typeface="fkGroteskNeue"/>
              </a:rPr>
              <a:t>От сети к клинике</a:t>
            </a:r>
          </a:p>
          <a:p>
            <a:pPr marL="0" indent="0" algn="l">
              <a:buNone/>
            </a:pPr>
            <a:r>
              <a:rPr lang="ru-RU" sz="2000" b="0" i="1" dirty="0">
                <a:effectLst/>
                <a:latin typeface="fkGroteskNeue"/>
              </a:rPr>
              <a:t>Персонализированные сетевые индексы:</a:t>
            </a:r>
          </a:p>
          <a:p>
            <a:pPr marL="0" indent="0" algn="l">
              <a:buNone/>
            </a:pPr>
            <a:r>
              <a:rPr lang="ru-RU" sz="2000" b="0" i="0" dirty="0">
                <a:effectLst/>
                <a:latin typeface="fkGroteskNeue"/>
              </a:rPr>
              <a:t>Для каждого пациента считаем "сетевой риск":</a:t>
            </a:r>
          </a:p>
          <a:p>
            <a:pPr marL="0" indent="0" algn="l">
              <a:buNone/>
            </a:pPr>
            <a:r>
              <a:rPr lang="ru-RU" sz="20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Risk_i</a:t>
            </a:r>
            <a:r>
              <a:rPr lang="ru-RU" sz="20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Σ(экспрессия гена j в пациенте i × вес гена j)</a:t>
            </a:r>
          </a:p>
          <a:p>
            <a:pPr marL="0" indent="0" algn="l">
              <a:buNone/>
            </a:pPr>
            <a:r>
              <a:rPr lang="ru-RU" sz="2000" b="0" i="0" dirty="0">
                <a:effectLst/>
                <a:latin typeface="fkGroteskNeue"/>
              </a:rPr>
              <a:t>где вес гена j = его важность в модуле (</a:t>
            </a:r>
            <a:r>
              <a:rPr lang="ru-RU" sz="2000" b="0" i="0" dirty="0" err="1">
                <a:effectLst/>
                <a:latin typeface="fkGroteskNeue"/>
              </a:rPr>
              <a:t>kME</a:t>
            </a:r>
            <a:r>
              <a:rPr lang="ru-RU" sz="2000" b="0" i="0" dirty="0">
                <a:effectLst/>
                <a:latin typeface="fkGroteskNeue"/>
              </a:rPr>
              <a:t> или </a:t>
            </a:r>
            <a:r>
              <a:rPr lang="ru-RU" sz="2000" b="0" i="0" dirty="0" err="1">
                <a:effectLst/>
                <a:latin typeface="fkGroteskNeue"/>
              </a:rPr>
              <a:t>degree</a:t>
            </a:r>
            <a:r>
              <a:rPr lang="ru-RU" sz="2000" b="0" i="0" dirty="0">
                <a:effectLst/>
                <a:latin typeface="fkGroteskNeue"/>
              </a:rPr>
              <a:t>)</a:t>
            </a:r>
          </a:p>
          <a:p>
            <a:pPr marL="0" indent="0" algn="l">
              <a:buNone/>
            </a:pPr>
            <a:r>
              <a:rPr lang="ru-RU" sz="2000" b="0" i="1" dirty="0">
                <a:effectLst/>
                <a:latin typeface="fkGroteskNeue"/>
              </a:rPr>
              <a:t>Вывод:</a:t>
            </a:r>
          </a:p>
          <a:p>
            <a:pPr algn="l"/>
            <a:r>
              <a:rPr lang="ru-RU" sz="2000" b="0" i="0" dirty="0">
                <a:effectLst/>
                <a:latin typeface="fkGroteskNeue"/>
              </a:rPr>
              <a:t>Высокий сетевой риск → плохой прогноз</a:t>
            </a:r>
          </a:p>
          <a:p>
            <a:pPr algn="l"/>
            <a:r>
              <a:rPr lang="ru-RU" sz="2000" b="0" i="0" dirty="0">
                <a:effectLst/>
                <a:latin typeface="fkGroteskNeue"/>
              </a:rPr>
              <a:t>Низкий сетевой риск → хороший прогноз</a:t>
            </a:r>
          </a:p>
          <a:p>
            <a:pPr marL="0" indent="0" algn="l">
              <a:buNone/>
            </a:pPr>
            <a:r>
              <a:rPr lang="ru-RU" sz="2000" b="0" i="0" dirty="0">
                <a:effectLst/>
                <a:latin typeface="fkGroteskNeue"/>
              </a:rPr>
              <a:t>Преимущество над одиночным геном: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Одиночный ген: шум, может быть спонтанная мутация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Сетевой индекс: несколько генов вместе → стабильнее, </a:t>
            </a:r>
            <a:r>
              <a:rPr lang="ru-RU" sz="2000" b="0" i="0" dirty="0" err="1">
                <a:effectLst/>
                <a:latin typeface="fkGroteskNeue"/>
              </a:rPr>
              <a:t>robust</a:t>
            </a:r>
            <a:endParaRPr lang="ru-RU" sz="2000" b="0" i="0" dirty="0">
              <a:effectLst/>
              <a:latin typeface="fkGroteskNeue"/>
            </a:endParaRPr>
          </a:p>
          <a:p>
            <a:pPr marL="0" indent="0" algn="l">
              <a:buNone/>
            </a:pPr>
            <a:r>
              <a:rPr lang="ru-RU" sz="2000" b="0" i="1" dirty="0">
                <a:effectLst/>
                <a:latin typeface="fkGroteskNeue"/>
              </a:rPr>
              <a:t>Case Study:</a:t>
            </a:r>
          </a:p>
          <a:p>
            <a:pPr marL="0" indent="0" algn="l">
              <a:buNone/>
            </a:pPr>
            <a:r>
              <a:rPr lang="ru-RU" sz="2000" b="0" i="0" dirty="0">
                <a:effectLst/>
                <a:latin typeface="fkGroteskNeue"/>
              </a:rPr>
              <a:t>Пациент 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Высокая экспрессия IL6 (один ген)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Но модульный индекс низкий (остальные гены модуля низкие)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Вывод: скорее всего спонтанная флуктуация IL6, не риск</a:t>
            </a:r>
          </a:p>
          <a:p>
            <a:pPr marL="0" indent="0" algn="l">
              <a:buNone/>
            </a:pPr>
            <a:r>
              <a:rPr lang="ru-RU" sz="2000" b="0" i="0" dirty="0">
                <a:effectLst/>
                <a:latin typeface="fkGroteskNeue"/>
              </a:rPr>
              <a:t>Пациент Б: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Умеренная экспрессия IL6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Но все гены иммунного модуля высоко выражены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fkGroteskNeue"/>
              </a:rPr>
              <a:t>Вывод: активирован иммунный ответ, риск высокий!</a:t>
            </a:r>
          </a:p>
          <a:p>
            <a:pPr marL="0" indent="0" algn="l">
              <a:buNone/>
            </a:pPr>
            <a:endParaRPr lang="ru-RU" sz="2000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671788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Когда использовать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WGCNA?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145594"/>
            <a:ext cx="11735529" cy="5677647"/>
          </a:xfrm>
        </p:spPr>
        <p:txBody>
          <a:bodyPr numCol="2">
            <a:noAutofit/>
          </a:bodyPr>
          <a:lstStyle/>
          <a:p>
            <a:pPr marL="0" indent="0" algn="l">
              <a:buNone/>
            </a:pPr>
            <a:r>
              <a:rPr lang="ru-RU" sz="2400" b="1" i="1" dirty="0">
                <a:effectLst/>
                <a:latin typeface="fkGroteskNeue"/>
              </a:rPr>
              <a:t>Практические рекомендации</a:t>
            </a:r>
          </a:p>
          <a:p>
            <a:pPr marL="0" indent="0" algn="l">
              <a:buNone/>
            </a:pPr>
            <a:r>
              <a:rPr lang="ru-RU" sz="2400" b="0" i="1" dirty="0">
                <a:effectLst/>
                <a:latin typeface="fkGroteskNeue"/>
              </a:rPr>
              <a:t>Используй WGCNA когда:</a:t>
            </a:r>
          </a:p>
          <a:p>
            <a:pPr marL="0" indent="0" algn="l">
              <a:buNone/>
            </a:pPr>
            <a:r>
              <a:rPr lang="ru-RU" sz="2400" b="0" i="0" dirty="0">
                <a:effectLst/>
                <a:latin typeface="fkGroteskNeue"/>
              </a:rPr>
              <a:t>✓ Много генов (&gt;5,000) и много образцов (&gt;100)</a:t>
            </a:r>
            <a:br>
              <a:rPr lang="ru-RU" sz="2400" b="0" i="0" dirty="0">
                <a:effectLst/>
                <a:latin typeface="fkGroteskNeue"/>
              </a:rPr>
            </a:br>
            <a:r>
              <a:rPr lang="ru-RU" sz="2400" b="0" i="0" dirty="0">
                <a:effectLst/>
                <a:latin typeface="fkGroteskNeue"/>
              </a:rPr>
              <a:t>✓ Есть матрица экспрессии (RNA-</a:t>
            </a:r>
            <a:r>
              <a:rPr lang="ru-RU" sz="2400" b="0" i="0" dirty="0" err="1">
                <a:effectLst/>
                <a:latin typeface="fkGroteskNeue"/>
              </a:rPr>
              <a:t>seq</a:t>
            </a:r>
            <a:r>
              <a:rPr lang="ru-RU" sz="2400" b="0" i="0" dirty="0">
                <a:effectLst/>
                <a:latin typeface="fkGroteskNeue"/>
              </a:rPr>
              <a:t>, </a:t>
            </a:r>
            <a:r>
              <a:rPr lang="ru-RU" sz="2400" b="0" i="0" dirty="0" err="1">
                <a:effectLst/>
                <a:latin typeface="fkGroteskNeue"/>
              </a:rPr>
              <a:t>microarray</a:t>
            </a:r>
            <a:r>
              <a:rPr lang="ru-RU" sz="2400" b="0" i="0" dirty="0">
                <a:effectLst/>
                <a:latin typeface="fkGroteskNeue"/>
              </a:rPr>
              <a:t>)</a:t>
            </a:r>
            <a:br>
              <a:rPr lang="ru-RU" sz="2400" b="0" i="0" dirty="0">
                <a:effectLst/>
                <a:latin typeface="fkGroteskNeue"/>
              </a:rPr>
            </a:br>
            <a:r>
              <a:rPr lang="ru-RU" sz="2400" b="0" i="0" dirty="0">
                <a:effectLst/>
                <a:latin typeface="fkGroteskNeue"/>
              </a:rPr>
              <a:t>✓ Интересует модульная структура</a:t>
            </a:r>
            <a:br>
              <a:rPr lang="ru-RU" sz="2400" b="0" i="0" dirty="0">
                <a:effectLst/>
                <a:latin typeface="fkGroteskNeue"/>
              </a:rPr>
            </a:br>
            <a:r>
              <a:rPr lang="ru-RU" sz="2400" b="0" i="0" dirty="0">
                <a:effectLst/>
                <a:latin typeface="fkGroteskNeue"/>
              </a:rPr>
              <a:t>✓ Есть фенотип для корреляции</a:t>
            </a:r>
            <a:br>
              <a:rPr lang="ru-RU" sz="2400" b="0" i="0" dirty="0">
                <a:effectLst/>
                <a:latin typeface="fkGroteskNeue"/>
              </a:rPr>
            </a:br>
            <a:r>
              <a:rPr lang="ru-RU" sz="2400" b="0" i="0" dirty="0">
                <a:effectLst/>
                <a:latin typeface="fkGroteskNeue"/>
              </a:rPr>
              <a:t>✓ Мощностей GPU нет (WGCNA работает на CPU)</a:t>
            </a:r>
          </a:p>
          <a:p>
            <a:pPr marL="0" indent="0" algn="l">
              <a:buNone/>
            </a:pPr>
            <a:r>
              <a:rPr lang="ru-RU" sz="2400" b="0" i="1" dirty="0">
                <a:effectLst/>
                <a:latin typeface="fkGroteskNeue"/>
              </a:rPr>
              <a:t>Не используй WGCNA когда:</a:t>
            </a:r>
          </a:p>
          <a:p>
            <a:pPr marL="0" indent="0" algn="l">
              <a:buNone/>
            </a:pPr>
            <a:r>
              <a:rPr lang="ru-RU" sz="2400" b="0" i="0" dirty="0">
                <a:effectLst/>
                <a:latin typeface="fkGroteskNeue"/>
              </a:rPr>
              <a:t>✗ Мало генов (&lt;1,000)</a:t>
            </a:r>
            <a:br>
              <a:rPr lang="ru-RU" sz="2400" b="0" i="0" dirty="0">
                <a:effectLst/>
                <a:latin typeface="fkGroteskNeue"/>
              </a:rPr>
            </a:br>
            <a:r>
              <a:rPr lang="ru-RU" sz="2400" b="0" i="0" dirty="0">
                <a:effectLst/>
                <a:latin typeface="fkGroteskNeue"/>
              </a:rPr>
              <a:t>✗ Мало образцов (&lt;50)</a:t>
            </a:r>
            <a:br>
              <a:rPr lang="ru-RU" sz="2400" b="0" i="0" dirty="0">
                <a:effectLst/>
                <a:latin typeface="fkGroteskNeue"/>
              </a:rPr>
            </a:br>
            <a:r>
              <a:rPr lang="ru-RU" sz="2400" b="0" i="0" dirty="0">
                <a:effectLst/>
                <a:latin typeface="fkGroteskNeue"/>
              </a:rPr>
              <a:t>✗ Чистая классификация (нужна CNN)</a:t>
            </a:r>
            <a:br>
              <a:rPr lang="ru-RU" sz="2400" b="0" i="0" dirty="0">
                <a:effectLst/>
                <a:latin typeface="fkGroteskNeue"/>
              </a:rPr>
            </a:br>
            <a:r>
              <a:rPr lang="ru-RU" sz="2400" b="0" i="0" dirty="0">
                <a:effectLst/>
                <a:latin typeface="fkGroteskNeue"/>
              </a:rPr>
              <a:t>✗ Только два образца (нет вариабельности)</a:t>
            </a:r>
          </a:p>
          <a:p>
            <a:pPr marL="0" indent="0" algn="l">
              <a:buNone/>
            </a:pPr>
            <a:r>
              <a:rPr lang="ru-RU" sz="2400" b="0" i="1" dirty="0">
                <a:effectLst/>
                <a:latin typeface="fkGroteskNeue"/>
              </a:rPr>
              <a:t>Альтернативы: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Если быстро: взять </a:t>
            </a:r>
            <a:r>
              <a:rPr lang="ru-RU" sz="2400" b="0" i="0" dirty="0" err="1">
                <a:effectLst/>
                <a:latin typeface="fkGroteskNeue"/>
              </a:rPr>
              <a:t>top</a:t>
            </a:r>
            <a:r>
              <a:rPr lang="ru-RU" sz="2400" b="0" i="0" dirty="0">
                <a:effectLst/>
                <a:latin typeface="fkGroteskNeue"/>
              </a:rPr>
              <a:t> 500 генов по p-</a:t>
            </a:r>
            <a:r>
              <a:rPr lang="ru-RU" sz="2400" b="0" i="0" dirty="0" err="1">
                <a:effectLst/>
                <a:latin typeface="fkGroteskNeue"/>
              </a:rPr>
              <a:t>value</a:t>
            </a:r>
            <a:r>
              <a:rPr lang="ru-RU" sz="2400" b="0" i="0" dirty="0">
                <a:effectLst/>
                <a:latin typeface="fkGroteskNeue"/>
              </a:rPr>
              <a:t>, построить сеть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Если сложнее: взять MOFA (для </a:t>
            </a:r>
            <a:r>
              <a:rPr lang="ru-RU" sz="2400" b="0" i="0" dirty="0" err="1">
                <a:effectLst/>
                <a:latin typeface="fkGroteskNeue"/>
              </a:rPr>
              <a:t>multi-omics</a:t>
            </a:r>
            <a:r>
              <a:rPr lang="ru-RU" sz="2400" b="0" i="0" dirty="0">
                <a:effectLst/>
                <a:latin typeface="fkGroteskNeu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Если совсем другое: </a:t>
            </a:r>
            <a:r>
              <a:rPr lang="ru-RU" sz="2400" b="0" i="0" dirty="0" err="1">
                <a:effectLst/>
                <a:latin typeface="fkGroteskNeue"/>
              </a:rPr>
              <a:t>графовые</a:t>
            </a:r>
            <a:r>
              <a:rPr lang="ru-RU" sz="2400" b="0" i="0" dirty="0">
                <a:effectLst/>
                <a:latin typeface="fkGroteskNeue"/>
              </a:rPr>
              <a:t> нейронные сети (</a:t>
            </a:r>
            <a:r>
              <a:rPr lang="ru-RU" sz="2400" b="0" i="0" dirty="0" err="1">
                <a:effectLst/>
                <a:latin typeface="fkGroteskNeue"/>
              </a:rPr>
              <a:t>Graph</a:t>
            </a:r>
            <a:r>
              <a:rPr lang="ru-RU" sz="2400" b="0" i="0" dirty="0">
                <a:effectLst/>
                <a:latin typeface="fkGroteskNeue"/>
              </a:rPr>
              <a:t> </a:t>
            </a:r>
            <a:r>
              <a:rPr lang="ru-RU" sz="2400" b="0" i="0" dirty="0" err="1">
                <a:effectLst/>
                <a:latin typeface="fkGroteskNeue"/>
              </a:rPr>
              <a:t>Neural</a:t>
            </a:r>
            <a:r>
              <a:rPr lang="ru-RU" sz="2400" b="0" i="0" dirty="0">
                <a:effectLst/>
                <a:latin typeface="fkGroteskNeue"/>
              </a:rPr>
              <a:t> Networks)</a:t>
            </a:r>
          </a:p>
        </p:txBody>
      </p:sp>
    </p:spTree>
    <p:extLst>
      <p:ext uri="{BB962C8B-B14F-4D97-AF65-F5344CB8AC3E}">
        <p14:creationId xmlns:p14="http://schemas.microsoft.com/office/powerpoint/2010/main" val="3019586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Типичные ошибки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145594"/>
            <a:ext cx="11735529" cy="5677647"/>
          </a:xfrm>
        </p:spPr>
        <p:txBody>
          <a:bodyPr numCol="2">
            <a:noAutofit/>
          </a:bodyPr>
          <a:lstStyle/>
          <a:p>
            <a:pPr marL="0" indent="0" algn="l">
              <a:buNone/>
            </a:pPr>
            <a:r>
              <a:rPr lang="ru-RU" sz="2000" b="1" i="1" dirty="0">
                <a:effectLst/>
                <a:latin typeface="fkGroteskNeue"/>
              </a:rPr>
              <a:t>Чего не делать в WGCNA</a:t>
            </a:r>
          </a:p>
          <a:p>
            <a:pPr marL="0" indent="0" algn="l">
              <a:buNone/>
            </a:pPr>
            <a:r>
              <a:rPr lang="ru-RU" sz="2000" i="1" dirty="0">
                <a:effectLst/>
                <a:latin typeface="fkGroteskNeue"/>
              </a:rPr>
              <a:t>❌ Не настраивать β (</a:t>
            </a:r>
            <a:r>
              <a:rPr lang="ru-RU" sz="2000" i="1" dirty="0" err="1">
                <a:effectLst/>
                <a:latin typeface="fkGroteskNeue"/>
              </a:rPr>
              <a:t>soft-thresholding</a:t>
            </a:r>
            <a:r>
              <a:rPr lang="ru-RU" sz="2000" i="1" dirty="0">
                <a:effectLst/>
                <a:latin typeface="fkGroteskNeue"/>
              </a:rPr>
              <a:t> </a:t>
            </a:r>
            <a:r>
              <a:rPr lang="ru-RU" sz="2000" i="1" dirty="0" err="1">
                <a:effectLst/>
                <a:latin typeface="fkGroteskNeue"/>
              </a:rPr>
              <a:t>power</a:t>
            </a:r>
            <a:r>
              <a:rPr lang="ru-RU" sz="2000" i="1" dirty="0">
                <a:effectLst/>
                <a:latin typeface="fkGroteskNeue"/>
              </a:rPr>
              <a:t>)</a:t>
            </a:r>
          </a:p>
          <a:p>
            <a:pPr marL="0" indent="0" algn="l">
              <a:buNone/>
            </a:pPr>
            <a:r>
              <a:rPr lang="ru-RU" sz="2000" dirty="0">
                <a:effectLst/>
                <a:latin typeface="fkGroteskNeue"/>
              </a:rPr>
              <a:t>Правильно: используйте </a:t>
            </a:r>
            <a:r>
              <a:rPr lang="ru-RU" sz="2000" dirty="0" err="1">
                <a:effectLst/>
                <a:latin typeface="fkGroteskNeue"/>
              </a:rPr>
              <a:t>pickSoftThreshold</a:t>
            </a:r>
            <a:r>
              <a:rPr lang="ru-RU" sz="2000" dirty="0">
                <a:effectLst/>
                <a:latin typeface="fkGroteskNeue"/>
              </a:rPr>
              <a:t>() для нахождения оптимального β</a:t>
            </a:r>
          </a:p>
          <a:p>
            <a:pPr marL="0" indent="0" algn="l">
              <a:buNone/>
            </a:pPr>
            <a:r>
              <a:rPr lang="ru-RU" sz="2000" i="1" dirty="0">
                <a:effectLst/>
                <a:latin typeface="fkGroteskNeue"/>
              </a:rPr>
              <a:t>❌ Фильтровать гены неправильно</a:t>
            </a:r>
          </a:p>
          <a:p>
            <a:pPr marL="0" indent="0" algn="l">
              <a:buNone/>
            </a:pPr>
            <a:r>
              <a:rPr lang="ru-RU" sz="2000" dirty="0">
                <a:effectLst/>
                <a:latin typeface="fkGroteskNeue"/>
              </a:rPr>
              <a:t>Неправильно: просто выбрать </a:t>
            </a:r>
            <a:r>
              <a:rPr lang="ru-RU" sz="2000" dirty="0" err="1">
                <a:effectLst/>
                <a:latin typeface="fkGroteskNeue"/>
              </a:rPr>
              <a:t>top</a:t>
            </a:r>
            <a:r>
              <a:rPr lang="ru-RU" sz="2000" dirty="0">
                <a:effectLst/>
                <a:latin typeface="fkGroteskNeue"/>
              </a:rPr>
              <a:t> 5,000 генов по </a:t>
            </a:r>
            <a:r>
              <a:rPr lang="ru-RU" sz="2000" dirty="0" err="1">
                <a:effectLst/>
                <a:latin typeface="fkGroteskNeue"/>
              </a:rPr>
              <a:t>variance</a:t>
            </a:r>
            <a:endParaRPr lang="ru-RU" sz="2000" dirty="0">
              <a:effectLst/>
              <a:latin typeface="fkGroteskNeue"/>
            </a:endParaRPr>
          </a:p>
          <a:p>
            <a:pPr marL="0" indent="0" algn="l">
              <a:buNone/>
            </a:pPr>
            <a:r>
              <a:rPr lang="ru-RU" sz="2000" dirty="0">
                <a:effectLst/>
                <a:latin typeface="fkGroteskNeue"/>
              </a:rPr>
              <a:t>Правильно: использовать биологическую фильтрацию (</a:t>
            </a:r>
            <a:r>
              <a:rPr lang="ru-RU" sz="2000" dirty="0" err="1">
                <a:effectLst/>
                <a:latin typeface="fkGroteskNeue"/>
              </a:rPr>
              <a:t>remove</a:t>
            </a:r>
            <a:r>
              <a:rPr lang="ru-RU" sz="2000" dirty="0">
                <a:effectLst/>
                <a:latin typeface="fkGroteskNeue"/>
              </a:rPr>
              <a:t> </a:t>
            </a:r>
            <a:r>
              <a:rPr lang="ru-RU" sz="2000" dirty="0" err="1">
                <a:effectLst/>
                <a:latin typeface="fkGroteskNeue"/>
              </a:rPr>
              <a:t>mitochondrial</a:t>
            </a:r>
            <a:r>
              <a:rPr lang="ru-RU" sz="2000" dirty="0">
                <a:effectLst/>
                <a:latin typeface="fkGroteskNeue"/>
              </a:rPr>
              <a:t> </a:t>
            </a:r>
            <a:r>
              <a:rPr lang="ru-RU" sz="2000" dirty="0" err="1">
                <a:effectLst/>
                <a:latin typeface="fkGroteskNeue"/>
              </a:rPr>
              <a:t>genes</a:t>
            </a:r>
            <a:r>
              <a:rPr lang="ru-RU" sz="2000" dirty="0">
                <a:effectLst/>
                <a:latin typeface="fkGroteskNeue"/>
              </a:rPr>
              <a:t>, </a:t>
            </a:r>
            <a:r>
              <a:rPr lang="ru-RU" sz="2000" dirty="0" err="1">
                <a:effectLst/>
                <a:latin typeface="fkGroteskNeue"/>
              </a:rPr>
              <a:t>low</a:t>
            </a:r>
            <a:r>
              <a:rPr lang="ru-RU" sz="2000" dirty="0">
                <a:effectLst/>
                <a:latin typeface="fkGroteskNeue"/>
              </a:rPr>
              <a:t> </a:t>
            </a:r>
            <a:r>
              <a:rPr lang="ru-RU" sz="2000" dirty="0" err="1">
                <a:effectLst/>
                <a:latin typeface="fkGroteskNeue"/>
              </a:rPr>
              <a:t>expressed</a:t>
            </a:r>
            <a:r>
              <a:rPr lang="ru-RU" sz="2000" dirty="0">
                <a:effectLst/>
                <a:latin typeface="fkGroteskNeue"/>
              </a:rPr>
              <a:t> </a:t>
            </a:r>
            <a:r>
              <a:rPr lang="ru-RU" sz="2000" dirty="0" err="1">
                <a:effectLst/>
                <a:latin typeface="fkGroteskNeue"/>
              </a:rPr>
              <a:t>genes</a:t>
            </a:r>
            <a:r>
              <a:rPr lang="ru-RU" sz="2000" dirty="0">
                <a:effectLst/>
                <a:latin typeface="fkGroteskNeue"/>
              </a:rPr>
              <a:t>)</a:t>
            </a:r>
          </a:p>
          <a:p>
            <a:pPr marL="0" indent="0" algn="l">
              <a:buNone/>
            </a:pPr>
            <a:r>
              <a:rPr lang="ru-RU" sz="2000" i="1" dirty="0">
                <a:effectLst/>
                <a:latin typeface="fkGroteskNeue"/>
              </a:rPr>
              <a:t>❌ Забыть про размер модуля</a:t>
            </a:r>
          </a:p>
          <a:p>
            <a:pPr marL="0" indent="0" algn="l">
              <a:buNone/>
            </a:pPr>
            <a:r>
              <a:rPr lang="ru-RU" sz="2000" dirty="0">
                <a:effectLst/>
                <a:latin typeface="fkGroteskNeue"/>
              </a:rPr>
              <a:t>Маленькие модули (&lt;30 генов) → нестабильные</a:t>
            </a:r>
          </a:p>
          <a:p>
            <a:pPr marL="0" indent="0" algn="l">
              <a:buNone/>
            </a:pPr>
            <a:r>
              <a:rPr lang="ru-RU" sz="2000" dirty="0">
                <a:effectLst/>
                <a:latin typeface="fkGroteskNeue"/>
              </a:rPr>
              <a:t>Большие модули (&gt;1,000 генов) → </a:t>
            </a:r>
            <a:r>
              <a:rPr lang="ru-RU" sz="2000" dirty="0" err="1">
                <a:effectLst/>
                <a:latin typeface="fkGroteskNeue"/>
              </a:rPr>
              <a:t>неинтерпретируемые</a:t>
            </a:r>
            <a:endParaRPr lang="ru-RU" sz="2000" dirty="0">
              <a:effectLst/>
              <a:latin typeface="fkGroteskNeue"/>
            </a:endParaRPr>
          </a:p>
          <a:p>
            <a:pPr marL="0" indent="0" algn="l">
              <a:buNone/>
            </a:pPr>
            <a:r>
              <a:rPr lang="ru-RU" sz="2000" dirty="0">
                <a:effectLst/>
                <a:latin typeface="fkGroteskNeue"/>
              </a:rPr>
              <a:t>Оптимум: 50-300 генов на модуль</a:t>
            </a:r>
          </a:p>
          <a:p>
            <a:pPr marL="0" indent="0" algn="l">
              <a:buNone/>
            </a:pPr>
            <a:r>
              <a:rPr lang="ru-RU" sz="2000" i="1" dirty="0">
                <a:effectLst/>
                <a:latin typeface="fkGroteskNeue"/>
              </a:rPr>
              <a:t>❌ Неправильно интерпретировать корреляцию</a:t>
            </a:r>
          </a:p>
          <a:p>
            <a:pPr marL="0" indent="0" algn="l">
              <a:buNone/>
            </a:pPr>
            <a:r>
              <a:rPr lang="ru-RU" sz="2000" dirty="0">
                <a:effectLst/>
                <a:latin typeface="fkGroteskNeue"/>
              </a:rPr>
              <a:t>r = 0.7 между модулем и выживанием → красиво, но </a:t>
            </a:r>
            <a:r>
              <a:rPr lang="ru-RU" sz="2000" dirty="0" err="1">
                <a:effectLst/>
                <a:latin typeface="fkGroteskNeue"/>
              </a:rPr>
              <a:t>валидируйте</a:t>
            </a:r>
            <a:r>
              <a:rPr lang="ru-RU" sz="2000" dirty="0">
                <a:effectLst/>
                <a:latin typeface="fkGroteskNeue"/>
              </a:rPr>
              <a:t>!</a:t>
            </a:r>
          </a:p>
          <a:p>
            <a:pPr marL="0" indent="0" algn="l">
              <a:buNone/>
            </a:pPr>
            <a:r>
              <a:rPr lang="ru-RU" sz="2000" dirty="0">
                <a:effectLst/>
                <a:latin typeface="fkGroteskNeue"/>
              </a:rPr>
              <a:t>В другом </a:t>
            </a:r>
            <a:r>
              <a:rPr lang="ru-RU" sz="2000" dirty="0" err="1">
                <a:effectLst/>
                <a:latin typeface="fkGroteskNeue"/>
              </a:rPr>
              <a:t>датасете</a:t>
            </a:r>
            <a:r>
              <a:rPr lang="ru-RU" sz="2000" dirty="0">
                <a:effectLst/>
                <a:latin typeface="fkGroteskNeue"/>
              </a:rPr>
              <a:t> может быть r = 0.3</a:t>
            </a:r>
          </a:p>
          <a:p>
            <a:pPr marL="0" indent="0" algn="l">
              <a:buNone/>
            </a:pPr>
            <a:r>
              <a:rPr lang="ru-RU" sz="2000" i="1" dirty="0">
                <a:effectLst/>
                <a:latin typeface="fkGroteskNeue"/>
              </a:rPr>
              <a:t>❌ Забыть про </a:t>
            </a:r>
            <a:r>
              <a:rPr lang="ru-RU" sz="2000" i="1" dirty="0" err="1">
                <a:effectLst/>
                <a:latin typeface="fkGroteskNeue"/>
              </a:rPr>
              <a:t>batch</a:t>
            </a:r>
            <a:r>
              <a:rPr lang="ru-RU" sz="2000" i="1" dirty="0">
                <a:effectLst/>
                <a:latin typeface="fkGroteskNeue"/>
              </a:rPr>
              <a:t> </a:t>
            </a:r>
            <a:r>
              <a:rPr lang="ru-RU" sz="2000" i="1" dirty="0" err="1">
                <a:effectLst/>
                <a:latin typeface="fkGroteskNeue"/>
              </a:rPr>
              <a:t>effects</a:t>
            </a:r>
            <a:endParaRPr lang="ru-RU" sz="2000" i="1" dirty="0">
              <a:effectLst/>
              <a:latin typeface="fkGroteskNeue"/>
            </a:endParaRPr>
          </a:p>
          <a:p>
            <a:pPr marL="0" indent="0" algn="l">
              <a:buNone/>
            </a:pPr>
            <a:r>
              <a:rPr lang="ru-RU" sz="2000" dirty="0">
                <a:effectLst/>
                <a:latin typeface="fkGroteskNeue"/>
              </a:rPr>
              <a:t>Если данные из разных лабораторий → надо нормализовать!</a:t>
            </a:r>
          </a:p>
        </p:txBody>
      </p:sp>
    </p:spTree>
    <p:extLst>
      <p:ext uri="{BB962C8B-B14F-4D97-AF65-F5344CB8AC3E}">
        <p14:creationId xmlns:p14="http://schemas.microsoft.com/office/powerpoint/2010/main" val="514563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Интеграция с алгоритмами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ML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145594"/>
            <a:ext cx="11735529" cy="5677647"/>
          </a:xfrm>
        </p:spPr>
        <p:txBody>
          <a:bodyPr numCol="2">
            <a:noAutofit/>
          </a:bodyPr>
          <a:lstStyle/>
          <a:p>
            <a:pPr marL="0" indent="0" algn="l">
              <a:buNone/>
            </a:pPr>
            <a:r>
              <a:rPr lang="ru-RU" sz="2400" b="1" i="1" dirty="0">
                <a:effectLst/>
                <a:latin typeface="fkGroteskNeue"/>
              </a:rPr>
              <a:t>Сети + Классификаторы</a:t>
            </a:r>
          </a:p>
          <a:p>
            <a:pPr marL="0" indent="0" algn="l">
              <a:buNone/>
            </a:pPr>
            <a:r>
              <a:rPr lang="ru-RU" sz="2400" b="0" i="1" dirty="0">
                <a:effectLst/>
                <a:latin typeface="fkGroteskNeue"/>
              </a:rPr>
              <a:t>Идея: использовать модули как признаки для классификатора!</a:t>
            </a:r>
          </a:p>
          <a:p>
            <a:pPr marL="0" indent="0" algn="l">
              <a:buNone/>
            </a:pPr>
            <a:r>
              <a:rPr lang="ru-RU" sz="2400" b="0" i="1" dirty="0" err="1">
                <a:effectLst/>
                <a:latin typeface="fkGroteskNeue"/>
              </a:rPr>
              <a:t>Workflow</a:t>
            </a:r>
            <a:r>
              <a:rPr lang="ru-RU" sz="2400" b="0" i="1" dirty="0">
                <a:effectLst/>
                <a:latin typeface="fkGroteskNeue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effectLst/>
                <a:latin typeface="fkGroteskNeue"/>
              </a:rPr>
              <a:t>WGCNA: находим модули + ME (связь с фенотипом)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effectLst/>
                <a:latin typeface="fkGroteskNeue"/>
              </a:rPr>
              <a:t>Берём ME / хаб-гены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effectLst/>
                <a:latin typeface="fkGroteskNeue"/>
              </a:rPr>
              <a:t>Обучаем </a:t>
            </a:r>
            <a:r>
              <a:rPr lang="ru-RU" sz="2400" b="0" i="0" dirty="0" err="1">
                <a:effectLst/>
                <a:latin typeface="fkGroteskNeue"/>
              </a:rPr>
              <a:t>Random</a:t>
            </a:r>
            <a:r>
              <a:rPr lang="ru-RU" sz="2400" b="0" i="0" dirty="0">
                <a:effectLst/>
                <a:latin typeface="fkGroteskNeue"/>
              </a:rPr>
              <a:t> </a:t>
            </a:r>
            <a:r>
              <a:rPr lang="ru-RU" sz="2400" b="0" i="0" dirty="0" err="1">
                <a:effectLst/>
                <a:latin typeface="fkGroteskNeue"/>
              </a:rPr>
              <a:t>Forest</a:t>
            </a:r>
            <a:r>
              <a:rPr lang="ru-RU" sz="2400" b="0" i="0" dirty="0">
                <a:effectLst/>
                <a:latin typeface="fkGroteskNeue"/>
              </a:rPr>
              <a:t> / </a:t>
            </a:r>
            <a:r>
              <a:rPr lang="ru-RU" sz="2400" b="0" i="0" dirty="0" err="1">
                <a:effectLst/>
                <a:latin typeface="fkGroteskNeue"/>
              </a:rPr>
              <a:t>logistic</a:t>
            </a:r>
            <a:r>
              <a:rPr lang="ru-RU" sz="2400" b="0" i="0" dirty="0">
                <a:effectLst/>
                <a:latin typeface="fkGroteskNeue"/>
              </a:rPr>
              <a:t> </a:t>
            </a:r>
            <a:r>
              <a:rPr lang="ru-RU" sz="2400" b="0" i="0" dirty="0" err="1">
                <a:effectLst/>
                <a:latin typeface="fkGroteskNeue"/>
              </a:rPr>
              <a:t>regression</a:t>
            </a:r>
            <a:r>
              <a:rPr lang="ru-RU" sz="2400" b="0" i="0" dirty="0">
                <a:effectLst/>
                <a:latin typeface="fkGroteskNeue"/>
              </a:rPr>
              <a:t> на этих новых признаках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effectLst/>
                <a:latin typeface="fkGroteskNeue"/>
              </a:rPr>
              <a:t>Вместо 20,000 генов → несколько признаков</a:t>
            </a:r>
            <a:endParaRPr lang="ru-RU" sz="2400" dirty="0">
              <a:latin typeface="fkGroteskNeue"/>
            </a:endParaRPr>
          </a:p>
          <a:p>
            <a:pPr algn="l">
              <a:buFont typeface="+mj-lt"/>
              <a:buAutoNum type="arabicPeriod"/>
            </a:pPr>
            <a:endParaRPr lang="ru-RU" sz="2400" dirty="0">
              <a:latin typeface="fkGroteskNeue"/>
            </a:endParaRPr>
          </a:p>
          <a:p>
            <a:pPr algn="l">
              <a:buFont typeface="+mj-lt"/>
              <a:buAutoNum type="arabicPeriod"/>
            </a:pPr>
            <a:endParaRPr lang="ru-RU" sz="2400" b="0" i="0" dirty="0">
              <a:effectLst/>
              <a:latin typeface="fkGroteskNeue"/>
            </a:endParaRPr>
          </a:p>
          <a:p>
            <a:pPr marL="0" indent="0" algn="l">
              <a:buNone/>
            </a:pPr>
            <a:r>
              <a:rPr lang="ru-RU" sz="2400" b="0" i="1" dirty="0">
                <a:effectLst/>
                <a:latin typeface="fkGroteskNeue"/>
              </a:rPr>
              <a:t>Преимущества: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 err="1">
                <a:effectLst/>
                <a:latin typeface="fkGroteskNeue"/>
              </a:rPr>
              <a:t>Dimensionality</a:t>
            </a:r>
            <a:r>
              <a:rPr lang="ru-RU" sz="2400" b="0" i="0" dirty="0">
                <a:effectLst/>
                <a:latin typeface="fkGroteskNeue"/>
              </a:rPr>
              <a:t> </a:t>
            </a:r>
            <a:r>
              <a:rPr lang="ru-RU" sz="2400" b="0" i="0" dirty="0" err="1">
                <a:effectLst/>
                <a:latin typeface="fkGroteskNeue"/>
              </a:rPr>
              <a:t>reduction</a:t>
            </a:r>
            <a:r>
              <a:rPr lang="ru-RU" sz="2400" b="0" i="0" dirty="0">
                <a:effectLst/>
                <a:latin typeface="fkGroteskNeue"/>
              </a:rPr>
              <a:t> (20,000 → 15 признаков)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 err="1">
                <a:effectLst/>
                <a:latin typeface="fkGroteskNeue"/>
              </a:rPr>
              <a:t>Interpretable</a:t>
            </a:r>
            <a:r>
              <a:rPr lang="ru-RU" sz="2400" b="0" i="0" dirty="0">
                <a:effectLst/>
                <a:latin typeface="fkGroteskNeue"/>
              </a:rPr>
              <a:t> (каждый признак = модуль, имеет GO </a:t>
            </a:r>
            <a:r>
              <a:rPr lang="ru-RU" sz="2400" b="0" i="0" dirty="0" err="1">
                <a:effectLst/>
                <a:latin typeface="fkGroteskNeue"/>
              </a:rPr>
              <a:t>annotation</a:t>
            </a:r>
            <a:r>
              <a:rPr lang="ru-RU" sz="2400" b="0" i="0" dirty="0">
                <a:effectLst/>
                <a:latin typeface="fkGroteskNeu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 err="1">
                <a:effectLst/>
                <a:latin typeface="fkGroteskNeue"/>
              </a:rPr>
              <a:t>Robust</a:t>
            </a:r>
            <a:r>
              <a:rPr lang="ru-RU" sz="2400" b="0" i="0" dirty="0">
                <a:effectLst/>
                <a:latin typeface="fkGroteskNeue"/>
              </a:rPr>
              <a:t> (шум в одном гене не разрушает модуль)</a:t>
            </a:r>
          </a:p>
          <a:p>
            <a:pPr marL="0" indent="0" algn="l">
              <a:buNone/>
            </a:pPr>
            <a:r>
              <a:rPr lang="ru-RU" sz="2400" b="0" i="1" dirty="0">
                <a:effectLst/>
                <a:latin typeface="fkGroteskNeue"/>
              </a:rPr>
              <a:t>Результат часто: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 err="1">
                <a:effectLst/>
                <a:latin typeface="fkGroteskNeue"/>
              </a:rPr>
              <a:t>Accuracy</a:t>
            </a:r>
            <a:r>
              <a:rPr lang="ru-RU" sz="2400" b="0" i="0" dirty="0">
                <a:effectLst/>
                <a:latin typeface="fkGroteskNeue"/>
              </a:rPr>
              <a:t> выше, чем на исходных генах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Модель компактнее и быстрее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fkGroteskNeue"/>
              </a:rPr>
              <a:t>Можно объяснить каждое предсказание</a:t>
            </a:r>
          </a:p>
        </p:txBody>
      </p:sp>
    </p:spTree>
    <p:extLst>
      <p:ext uri="{BB962C8B-B14F-4D97-AF65-F5344CB8AC3E}">
        <p14:creationId xmlns:p14="http://schemas.microsoft.com/office/powerpoint/2010/main" val="2838377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gure 2">
            <a:extLst>
              <a:ext uri="{FF2B5EF4-FFF2-40B4-BE49-F238E27FC236}">
                <a16:creationId xmlns:a16="http://schemas.microsoft.com/office/drawing/2014/main" id="{D95211E0-81B1-4F46-98C1-EBBE3F137A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66" t="70000"/>
          <a:stretch/>
        </p:blipFill>
        <p:spPr bwMode="auto">
          <a:xfrm>
            <a:off x="6229350" y="1069587"/>
            <a:ext cx="5494426" cy="418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Пример 1: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WGCNA + Cox risk score (breast cancer, PMC9990777)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145594"/>
            <a:ext cx="6636877" cy="5677647"/>
          </a:xfrm>
        </p:spPr>
        <p:txBody>
          <a:bodyPr numCol="1">
            <a:noAutofit/>
          </a:bodyPr>
          <a:lstStyle/>
          <a:p>
            <a:r>
              <a:rPr lang="en-US" sz="2400" dirty="0">
                <a:effectLst/>
                <a:latin typeface="fkGroteskNeue"/>
              </a:rPr>
              <a:t>TCGA breast IIB–IIIC (stages).</a:t>
            </a:r>
          </a:p>
          <a:p>
            <a:r>
              <a:rPr lang="en-US" sz="2400" dirty="0">
                <a:effectLst/>
                <a:latin typeface="fkGroteskNeue"/>
              </a:rPr>
              <a:t>WGCNA → DEGs intersect → 4 hub: SVOPL, EDAR, GSTA1, ABCA13.</a:t>
            </a:r>
          </a:p>
          <a:p>
            <a:r>
              <a:rPr lang="en-US" sz="2400" dirty="0">
                <a:effectLst/>
                <a:latin typeface="fkGroteskNeue"/>
              </a:rPr>
              <a:t>Cox: risk score </a:t>
            </a:r>
            <a:r>
              <a:rPr lang="ru-RU" sz="2400" dirty="0">
                <a:effectLst/>
                <a:latin typeface="fkGroteskNeue"/>
              </a:rPr>
              <a:t>из 4 генов. </a:t>
            </a:r>
          </a:p>
          <a:p>
            <a:r>
              <a:rPr lang="en-US" sz="2400" dirty="0">
                <a:effectLst/>
                <a:latin typeface="fkGroteskNeue"/>
              </a:rPr>
              <a:t>Immune </a:t>
            </a:r>
            <a:r>
              <a:rPr lang="ru-RU" sz="2400" dirty="0">
                <a:effectLst/>
                <a:latin typeface="fkGroteskNeue"/>
              </a:rPr>
              <a:t>корреляция: </a:t>
            </a:r>
            <a:r>
              <a:rPr lang="en-US" sz="2400" dirty="0">
                <a:effectLst/>
                <a:latin typeface="fkGroteskNeue"/>
              </a:rPr>
              <a:t>low risk ↑ T cells/monocytes.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B5A53E-8CA3-41A6-AD88-4B9F007DE6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448" y="4146632"/>
            <a:ext cx="640080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822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Пример 2: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WGCNA + RF classifier (LUAD CSC, Frontiers 2020)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145594"/>
            <a:ext cx="6636877" cy="5677647"/>
          </a:xfrm>
        </p:spPr>
        <p:txBody>
          <a:bodyPr numCol="1">
            <a:noAutofit/>
          </a:bodyPr>
          <a:lstStyle/>
          <a:p>
            <a:r>
              <a:rPr lang="en-US" sz="2400" dirty="0">
                <a:effectLst/>
                <a:latin typeface="fkGroteskNeue"/>
              </a:rPr>
              <a:t>TCGA/GEO LUAD</a:t>
            </a:r>
            <a:endParaRPr lang="ru-RU" sz="2400" dirty="0">
              <a:effectLst/>
              <a:latin typeface="fkGroteskNeue"/>
            </a:endParaRPr>
          </a:p>
          <a:p>
            <a:r>
              <a:rPr lang="en-US" sz="2400" dirty="0">
                <a:effectLst/>
                <a:latin typeface="fkGroteskNeue"/>
              </a:rPr>
              <a:t>WGCNA → green/blue modules (cell cycle).</a:t>
            </a:r>
          </a:p>
          <a:p>
            <a:r>
              <a:rPr lang="en-US" sz="2400" dirty="0">
                <a:effectLst/>
                <a:latin typeface="fkGroteskNeue"/>
              </a:rPr>
              <a:t>Hub 6 </a:t>
            </a:r>
            <a:r>
              <a:rPr lang="ru-RU" sz="2400" dirty="0">
                <a:effectLst/>
                <a:latin typeface="fkGroteskNeue"/>
              </a:rPr>
              <a:t>генов (из </a:t>
            </a:r>
            <a:r>
              <a:rPr lang="en-US" sz="2400" dirty="0">
                <a:effectLst/>
                <a:latin typeface="fkGroteskNeue"/>
              </a:rPr>
              <a:t>PPI/MCODE).</a:t>
            </a:r>
          </a:p>
          <a:p>
            <a:r>
              <a:rPr lang="en-US" sz="2400" dirty="0">
                <a:effectLst/>
                <a:latin typeface="fkGroteskNeue"/>
              </a:rPr>
              <a:t>RF classifier </a:t>
            </a:r>
            <a:r>
              <a:rPr lang="ru-RU" sz="2400" dirty="0">
                <a:effectLst/>
                <a:latin typeface="fkGroteskNeue"/>
              </a:rPr>
              <a:t>на 6 </a:t>
            </a:r>
            <a:r>
              <a:rPr lang="en-US" sz="2400" dirty="0">
                <a:effectLst/>
                <a:latin typeface="fkGroteskNeue"/>
              </a:rPr>
              <a:t>genes → LUAD subtypes.</a:t>
            </a:r>
          </a:p>
          <a:p>
            <a:r>
              <a:rPr lang="en-US" sz="2400" dirty="0">
                <a:effectLst/>
                <a:latin typeface="fkGroteskNeue"/>
              </a:rPr>
              <a:t>Accuracy 85%, prognostic: high CSC poor OS.</a:t>
            </a:r>
          </a:p>
          <a:p>
            <a:r>
              <a:rPr lang="ru-RU" sz="2400" dirty="0">
                <a:effectLst/>
                <a:latin typeface="fkGroteskNeue"/>
              </a:rPr>
              <a:t>Практика: </a:t>
            </a:r>
            <a:r>
              <a:rPr lang="en-US" sz="2400" dirty="0">
                <a:effectLst/>
                <a:latin typeface="fkGroteskNeue"/>
              </a:rPr>
              <a:t>ME → RF </a:t>
            </a:r>
            <a:r>
              <a:rPr lang="ru-RU" sz="2400" dirty="0">
                <a:effectLst/>
                <a:latin typeface="fkGroteskNeue"/>
              </a:rPr>
              <a:t>на подтипы/рецидив.</a:t>
            </a:r>
            <a:endParaRPr lang="en-US" sz="2400" dirty="0">
              <a:effectLst/>
              <a:latin typeface="fkGroteskNeue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206B2F5-E0E2-4B67-8279-13E993CCE9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22" b="50000"/>
          <a:stretch/>
        </p:blipFill>
        <p:spPr bwMode="auto">
          <a:xfrm>
            <a:off x="6279937" y="1117057"/>
            <a:ext cx="5340563" cy="510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F2F22B-AC3F-4ECA-A50B-29D832EFE6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9318" y="3899500"/>
            <a:ext cx="4124325" cy="266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82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igure 5">
            <a:extLst>
              <a:ext uri="{FF2B5EF4-FFF2-40B4-BE49-F238E27FC236}">
                <a16:creationId xmlns:a16="http://schemas.microsoft.com/office/drawing/2014/main" id="{3361A94C-E166-4273-9588-D6A578E1F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508" y="1138565"/>
            <a:ext cx="5862170" cy="481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Пример 3: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WGCNA + LASSO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Cox (Gastric diffuse, Frontiers 2020)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145594"/>
            <a:ext cx="5665327" cy="5677647"/>
          </a:xfrm>
        </p:spPr>
        <p:txBody>
          <a:bodyPr numCol="1">
            <a:noAutofit/>
          </a:bodyPr>
          <a:lstStyle/>
          <a:p>
            <a:r>
              <a:rPr lang="en-US" sz="2000" dirty="0">
                <a:effectLst/>
                <a:latin typeface="fkGroteskNeue"/>
              </a:rPr>
              <a:t>TCGA gastric diffuse vs intestinal.</a:t>
            </a:r>
          </a:p>
          <a:p>
            <a:r>
              <a:rPr lang="en-US" sz="2000" dirty="0">
                <a:effectLst/>
                <a:latin typeface="fkGroteskNeue"/>
              </a:rPr>
              <a:t>WGCNA → </a:t>
            </a:r>
            <a:r>
              <a:rPr lang="ru-RU" sz="2000" dirty="0">
                <a:effectLst/>
                <a:latin typeface="fkGroteskNeue"/>
              </a:rPr>
              <a:t>модуль по </a:t>
            </a:r>
            <a:r>
              <a:rPr lang="en-US" sz="2000" dirty="0">
                <a:effectLst/>
                <a:latin typeface="fkGroteskNeue"/>
              </a:rPr>
              <a:t>subtype → LASSO Cox → 10 lncRNA signature.</a:t>
            </a:r>
          </a:p>
          <a:p>
            <a:r>
              <a:rPr lang="en-US" sz="2000" dirty="0">
                <a:effectLst/>
                <a:latin typeface="fkGroteskNeue"/>
              </a:rPr>
              <a:t>Risk high/low: OS p=2.8e-10, C-index=0.97, AUC=1.0 (1/3/5y).</a:t>
            </a:r>
          </a:p>
          <a:p>
            <a:r>
              <a:rPr lang="en-US" sz="2000" dirty="0">
                <a:effectLst/>
                <a:latin typeface="fkGroteskNeue"/>
              </a:rPr>
              <a:t>GSEA: tumor pathways ↑ high risk.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88B00A-FDE8-49CC-9622-7A256B984B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174" y="3804716"/>
            <a:ext cx="5699542" cy="215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22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Итоги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145594"/>
            <a:ext cx="11735529" cy="5677647"/>
          </a:xfrm>
        </p:spPr>
        <p:txBody>
          <a:bodyPr numCol="1">
            <a:noAutofit/>
          </a:bodyPr>
          <a:lstStyle/>
          <a:p>
            <a:pPr marL="0" indent="0" algn="l">
              <a:buNone/>
            </a:pPr>
            <a:r>
              <a:rPr lang="ru-RU" sz="2000" b="1" i="1" dirty="0">
                <a:effectLst/>
                <a:latin typeface="fkGroteskNeue"/>
              </a:rPr>
              <a:t>Сетевой анализ: полный цикл</a:t>
            </a:r>
          </a:p>
          <a:p>
            <a:pPr marL="0" indent="0" algn="l">
              <a:buNone/>
            </a:pPr>
            <a:r>
              <a:rPr lang="ru-RU" sz="2000" b="0" i="0" dirty="0">
                <a:effectLst/>
                <a:latin typeface="fkGroteskNeue"/>
              </a:rPr>
              <a:t>Что мы сегодня изучили:</a:t>
            </a:r>
          </a:p>
          <a:p>
            <a:pPr marL="0" indent="0" algn="l">
              <a:buNone/>
            </a:pPr>
            <a:r>
              <a:rPr lang="ru-RU" sz="2000" b="0" i="0" dirty="0">
                <a:effectLst/>
                <a:latin typeface="fkGroteskNeue"/>
              </a:rPr>
              <a:t>✓ Основы теории графов (</a:t>
            </a:r>
            <a:r>
              <a:rPr lang="en-US" sz="2000" b="0" i="0" dirty="0">
                <a:effectLst/>
                <a:latin typeface="fkGroteskNeue"/>
              </a:rPr>
              <a:t>nodes, edges, weights)</a:t>
            </a:r>
            <a:br>
              <a:rPr lang="en-US" sz="2000" b="0" i="0" dirty="0">
                <a:effectLst/>
                <a:latin typeface="fkGroteskNeue"/>
              </a:rPr>
            </a:br>
            <a:r>
              <a:rPr lang="en-US" sz="2000" b="0" i="0" dirty="0">
                <a:effectLst/>
                <a:latin typeface="fkGroteskNeue"/>
              </a:rPr>
              <a:t>✓ </a:t>
            </a:r>
            <a:r>
              <a:rPr lang="ru-RU" sz="2000" b="0" i="0" dirty="0">
                <a:effectLst/>
                <a:latin typeface="fkGroteskNeue"/>
              </a:rPr>
              <a:t>Метрики графов (</a:t>
            </a:r>
            <a:r>
              <a:rPr lang="en-US" sz="2000" b="0" i="0" dirty="0">
                <a:effectLst/>
                <a:latin typeface="fkGroteskNeue"/>
              </a:rPr>
              <a:t>degree, centrality, clustering </a:t>
            </a:r>
            <a:r>
              <a:rPr lang="en-US" sz="2000" b="0" i="0" dirty="0" err="1">
                <a:effectLst/>
                <a:latin typeface="fkGroteskNeue"/>
              </a:rPr>
              <a:t>coeff</a:t>
            </a:r>
            <a:r>
              <a:rPr lang="en-US" sz="2000" b="0" i="0" dirty="0">
                <a:effectLst/>
                <a:latin typeface="fkGroteskNeue"/>
              </a:rPr>
              <a:t>)</a:t>
            </a:r>
            <a:br>
              <a:rPr lang="en-US" sz="2000" b="0" i="0" dirty="0">
                <a:effectLst/>
                <a:latin typeface="fkGroteskNeue"/>
              </a:rPr>
            </a:br>
            <a:r>
              <a:rPr lang="en-US" sz="2000" b="0" i="0" dirty="0">
                <a:effectLst/>
                <a:latin typeface="fkGroteskNeue"/>
              </a:rPr>
              <a:t>✓ </a:t>
            </a:r>
            <a:r>
              <a:rPr lang="ru-RU" sz="2000" b="0" i="0" dirty="0">
                <a:effectLst/>
                <a:latin typeface="fkGroteskNeue"/>
              </a:rPr>
              <a:t>Обнаружение модулей (</a:t>
            </a:r>
            <a:r>
              <a:rPr lang="en-US" sz="2000" b="0" i="0" dirty="0">
                <a:effectLst/>
                <a:latin typeface="fkGroteskNeue"/>
              </a:rPr>
              <a:t>Louvain, modularity)</a:t>
            </a:r>
            <a:br>
              <a:rPr lang="en-US" sz="2000" b="0" i="0" dirty="0">
                <a:effectLst/>
                <a:latin typeface="fkGroteskNeue"/>
              </a:rPr>
            </a:br>
            <a:r>
              <a:rPr lang="en-US" sz="2000" b="0" i="0" dirty="0">
                <a:effectLst/>
                <a:latin typeface="fkGroteskNeue"/>
              </a:rPr>
              <a:t>✓ WGCNA: step-by-step </a:t>
            </a:r>
            <a:r>
              <a:rPr lang="ru-RU" sz="2000" b="0" i="0" dirty="0">
                <a:effectLst/>
                <a:latin typeface="fkGroteskNeue"/>
              </a:rPr>
              <a:t>с примерами</a:t>
            </a:r>
            <a:br>
              <a:rPr lang="ru-RU" sz="2000" b="0" i="0" dirty="0">
                <a:effectLst/>
                <a:latin typeface="fkGroteskNeue"/>
              </a:rPr>
            </a:br>
            <a:r>
              <a:rPr lang="ru-RU" sz="2000" b="0" i="0" dirty="0">
                <a:effectLst/>
                <a:latin typeface="fkGroteskNeue"/>
              </a:rPr>
              <a:t>✓ </a:t>
            </a:r>
            <a:r>
              <a:rPr lang="en-US" sz="2000" b="0" i="0" dirty="0">
                <a:effectLst/>
                <a:latin typeface="fkGroteskNeue"/>
              </a:rPr>
              <a:t>Hub </a:t>
            </a:r>
            <a:r>
              <a:rPr lang="ru-RU" sz="2000" b="0" i="0" dirty="0">
                <a:effectLst/>
                <a:latin typeface="fkGroteskNeue"/>
              </a:rPr>
              <a:t>гены и их роль</a:t>
            </a:r>
            <a:br>
              <a:rPr lang="ru-RU" sz="2000" b="0" i="0" dirty="0">
                <a:effectLst/>
                <a:latin typeface="fkGroteskNeue"/>
              </a:rPr>
            </a:br>
            <a:r>
              <a:rPr lang="ru-RU" sz="2000" b="0" i="0" dirty="0">
                <a:effectLst/>
                <a:latin typeface="fkGroteskNeue"/>
              </a:rPr>
              <a:t>✓ Визуализация (</a:t>
            </a:r>
            <a:r>
              <a:rPr lang="en-US" sz="2000" b="0" i="0" dirty="0">
                <a:effectLst/>
                <a:latin typeface="fkGroteskNeue"/>
              </a:rPr>
              <a:t>TOM plots, </a:t>
            </a:r>
            <a:r>
              <a:rPr lang="en-US" sz="2000" b="0" i="0" dirty="0" err="1">
                <a:effectLst/>
                <a:latin typeface="fkGroteskNeue"/>
              </a:rPr>
              <a:t>Cytoscape</a:t>
            </a:r>
            <a:r>
              <a:rPr lang="en-US" sz="2000" b="0" i="0" dirty="0">
                <a:effectLst/>
                <a:latin typeface="fkGroteskNeue"/>
              </a:rPr>
              <a:t>)</a:t>
            </a:r>
            <a:br>
              <a:rPr lang="en-US" sz="2000" b="0" i="0" dirty="0">
                <a:effectLst/>
                <a:latin typeface="fkGroteskNeue"/>
              </a:rPr>
            </a:br>
            <a:r>
              <a:rPr lang="en-US" sz="2000" b="0" i="0" dirty="0">
                <a:effectLst/>
                <a:latin typeface="fkGroteskNeue"/>
              </a:rPr>
              <a:t>✓ </a:t>
            </a:r>
            <a:r>
              <a:rPr lang="ru-RU" sz="2000" b="0" i="0" dirty="0">
                <a:effectLst/>
                <a:latin typeface="fkGroteskNeue"/>
              </a:rPr>
              <a:t>Функциональное обогащение (</a:t>
            </a:r>
            <a:r>
              <a:rPr lang="en-US" sz="2000" b="0" i="0" dirty="0">
                <a:effectLst/>
                <a:latin typeface="fkGroteskNeue"/>
              </a:rPr>
              <a:t>GO, KEGG)</a:t>
            </a:r>
            <a:br>
              <a:rPr lang="en-US" sz="2000" b="0" i="0" dirty="0">
                <a:effectLst/>
                <a:latin typeface="fkGroteskNeue"/>
              </a:rPr>
            </a:br>
            <a:r>
              <a:rPr lang="en-US" sz="2000" b="0" i="0" dirty="0">
                <a:effectLst/>
                <a:latin typeface="fkGroteskNeue"/>
              </a:rPr>
              <a:t>✓ </a:t>
            </a:r>
            <a:r>
              <a:rPr lang="ru-RU" sz="2000" b="0" i="0" dirty="0">
                <a:effectLst/>
                <a:latin typeface="fkGroteskNeue"/>
              </a:rPr>
              <a:t>Практические примеры (рак молочной железы)</a:t>
            </a:r>
            <a:br>
              <a:rPr lang="ru-RU" sz="2000" b="0" i="0" dirty="0">
                <a:effectLst/>
                <a:latin typeface="fkGroteskNeue"/>
              </a:rPr>
            </a:br>
            <a:r>
              <a:rPr lang="ru-RU" sz="2000" b="0" i="0" dirty="0">
                <a:effectLst/>
                <a:latin typeface="fkGroteskNeue"/>
              </a:rPr>
              <a:t>✓ Интеграция с </a:t>
            </a:r>
            <a:r>
              <a:rPr lang="en-US" sz="2000" b="0" i="0" dirty="0">
                <a:effectLst/>
                <a:latin typeface="fkGroteskNeue"/>
              </a:rPr>
              <a:t>ML</a:t>
            </a:r>
          </a:p>
          <a:p>
            <a:pPr marL="0" indent="0" algn="l">
              <a:buNone/>
            </a:pPr>
            <a:r>
              <a:rPr lang="ru-RU" sz="2000" b="0" i="1" dirty="0">
                <a:effectLst/>
                <a:latin typeface="fkGroteskNeue"/>
              </a:rPr>
              <a:t>Ключевая идея: Гены не работают одиночно — они работают во взаимодействии. Сетевой анализ раскрывает это.</a:t>
            </a:r>
          </a:p>
        </p:txBody>
      </p:sp>
    </p:spTree>
    <p:extLst>
      <p:ext uri="{BB962C8B-B14F-4D97-AF65-F5344CB8AC3E}">
        <p14:creationId xmlns:p14="http://schemas.microsoft.com/office/powerpoint/2010/main" val="7253273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Ресурсы и литература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145594"/>
            <a:ext cx="11735529" cy="5677647"/>
          </a:xfrm>
        </p:spPr>
        <p:txBody>
          <a:bodyPr numCol="2">
            <a:noAutofit/>
          </a:bodyPr>
          <a:lstStyle/>
          <a:p>
            <a:pPr marL="0" indent="0" algn="l">
              <a:buNone/>
            </a:pPr>
            <a:r>
              <a:rPr lang="ru-RU" sz="2000" b="1" i="1" dirty="0">
                <a:effectLst/>
                <a:latin typeface="fkGroteskNeue"/>
              </a:rPr>
              <a:t>Как начать?</a:t>
            </a:r>
            <a:endParaRPr lang="ru-RU" sz="2000" b="1" dirty="0">
              <a:effectLst/>
              <a:latin typeface="fkGroteskNeue"/>
            </a:endParaRPr>
          </a:p>
          <a:p>
            <a:pPr marL="0" indent="0" algn="l">
              <a:buNone/>
            </a:pPr>
            <a:r>
              <a:rPr lang="ru-RU" sz="2000" dirty="0">
                <a:effectLst/>
                <a:latin typeface="fkGroteskNeue"/>
              </a:rPr>
              <a:t>Главный источник:</a:t>
            </a:r>
          </a:p>
          <a:p>
            <a:pPr marL="0" indent="0" algn="l">
              <a:buNone/>
            </a:pPr>
            <a:r>
              <a:rPr lang="en-US" sz="2000" dirty="0">
                <a:effectLst/>
                <a:latin typeface="fkGroteskNeue"/>
              </a:rPr>
              <a:t>Langfelder P, Horvath S. WGCNA: an R package for weighted correlation network analysis. BMC Bioinformatics. 2008.</a:t>
            </a:r>
          </a:p>
          <a:p>
            <a:pPr marL="0" indent="0" algn="l">
              <a:buNone/>
            </a:pPr>
            <a:r>
              <a:rPr lang="en-US" sz="2000" dirty="0">
                <a:effectLst/>
                <a:latin typeface="fkGroteskNeue"/>
                <a:hlinkClick r:id="rId6"/>
              </a:rPr>
              <a:t>https://horvath.genetics.ucla.edu/html/CoexpressionNetwork/Rpackages/WGCNA/</a:t>
            </a:r>
            <a:endParaRPr lang="ru-RU" sz="2000" dirty="0">
              <a:effectLst/>
              <a:latin typeface="fkGroteskNeue"/>
            </a:endParaRPr>
          </a:p>
          <a:p>
            <a:pPr marL="0" indent="0" algn="l">
              <a:buNone/>
            </a:pPr>
            <a:endParaRPr lang="en-US" sz="2000" dirty="0">
              <a:effectLst/>
              <a:latin typeface="fkGroteskNeue"/>
            </a:endParaRPr>
          </a:p>
          <a:p>
            <a:pPr marL="0" indent="0" algn="l">
              <a:buNone/>
            </a:pPr>
            <a:r>
              <a:rPr lang="ru-RU" sz="2000" dirty="0">
                <a:effectLst/>
                <a:latin typeface="fkGroteskNeue"/>
              </a:rPr>
              <a:t>Пакеты </a:t>
            </a:r>
            <a:r>
              <a:rPr lang="en-US" sz="2000" dirty="0">
                <a:effectLst/>
                <a:latin typeface="fkGroteskNeue"/>
              </a:rPr>
              <a:t>R:</a:t>
            </a:r>
          </a:p>
          <a:p>
            <a:pPr marL="0" indent="0" algn="l">
              <a:buNone/>
            </a:pPr>
            <a:r>
              <a:rPr lang="en-US" sz="2000" dirty="0" err="1">
                <a:effectLst/>
                <a:latin typeface="fkGroteskNeue"/>
              </a:rPr>
              <a:t>install.packages</a:t>
            </a:r>
            <a:r>
              <a:rPr lang="en-US" sz="2000" dirty="0">
                <a:effectLst/>
                <a:latin typeface="fkGroteskNeue"/>
              </a:rPr>
              <a:t>("WGCNA")</a:t>
            </a:r>
          </a:p>
          <a:p>
            <a:pPr marL="0" indent="0" algn="l">
              <a:buNone/>
            </a:pPr>
            <a:r>
              <a:rPr lang="en-US" sz="2000" dirty="0" err="1">
                <a:effectLst/>
                <a:latin typeface="fkGroteskNeue"/>
              </a:rPr>
              <a:t>install.packages</a:t>
            </a:r>
            <a:r>
              <a:rPr lang="en-US" sz="2000" dirty="0">
                <a:effectLst/>
                <a:latin typeface="fkGroteskNeue"/>
              </a:rPr>
              <a:t>("</a:t>
            </a:r>
            <a:r>
              <a:rPr lang="en-US" sz="2000" dirty="0" err="1">
                <a:effectLst/>
                <a:latin typeface="fkGroteskNeue"/>
              </a:rPr>
              <a:t>igraph</a:t>
            </a:r>
            <a:r>
              <a:rPr lang="en-US" sz="2000" dirty="0">
                <a:effectLst/>
                <a:latin typeface="fkGroteskNeue"/>
              </a:rPr>
              <a:t>")</a:t>
            </a:r>
          </a:p>
          <a:p>
            <a:pPr marL="0" indent="0" algn="l">
              <a:buNone/>
            </a:pPr>
            <a:r>
              <a:rPr lang="en-US" sz="2000" dirty="0" err="1">
                <a:effectLst/>
                <a:latin typeface="fkGroteskNeue"/>
              </a:rPr>
              <a:t>install.packages</a:t>
            </a:r>
            <a:r>
              <a:rPr lang="en-US" sz="2000" dirty="0">
                <a:effectLst/>
                <a:latin typeface="fkGroteskNeue"/>
              </a:rPr>
              <a:t>("</a:t>
            </a:r>
            <a:r>
              <a:rPr lang="en-US" sz="2000" dirty="0" err="1">
                <a:effectLst/>
                <a:latin typeface="fkGroteskNeue"/>
              </a:rPr>
              <a:t>STRINGdb</a:t>
            </a:r>
            <a:r>
              <a:rPr lang="en-US" sz="2000" dirty="0">
                <a:effectLst/>
                <a:latin typeface="fkGroteskNeue"/>
              </a:rPr>
              <a:t>")  # </a:t>
            </a:r>
            <a:r>
              <a:rPr lang="ru-RU" sz="2000" dirty="0">
                <a:effectLst/>
                <a:latin typeface="fkGroteskNeue"/>
              </a:rPr>
              <a:t>для </a:t>
            </a:r>
            <a:r>
              <a:rPr lang="en-US" sz="2000" dirty="0">
                <a:effectLst/>
                <a:latin typeface="fkGroteskNeue"/>
              </a:rPr>
              <a:t>protein interactions</a:t>
            </a:r>
            <a:endParaRPr lang="ru-RU" sz="2000" dirty="0">
              <a:effectLst/>
              <a:latin typeface="fkGroteskNeue"/>
            </a:endParaRPr>
          </a:p>
          <a:p>
            <a:pPr marL="0" indent="0" algn="l">
              <a:buNone/>
            </a:pPr>
            <a:endParaRPr lang="ru-RU" sz="2000" dirty="0">
              <a:effectLst/>
              <a:latin typeface="fkGroteskNeue"/>
            </a:endParaRPr>
          </a:p>
          <a:p>
            <a:pPr marL="0" indent="0" algn="l">
              <a:buNone/>
            </a:pPr>
            <a:endParaRPr lang="en-US" sz="2000" dirty="0">
              <a:effectLst/>
              <a:latin typeface="fkGroteskNeue"/>
            </a:endParaRPr>
          </a:p>
          <a:p>
            <a:pPr marL="0" indent="0" algn="l">
              <a:buNone/>
            </a:pPr>
            <a:r>
              <a:rPr lang="ru-RU" sz="2000" dirty="0">
                <a:effectLst/>
                <a:latin typeface="fkGroteskNeue"/>
              </a:rPr>
              <a:t>Визуализация:</a:t>
            </a:r>
          </a:p>
          <a:p>
            <a:pPr marL="0" indent="0" algn="l">
              <a:buNone/>
            </a:pPr>
            <a:r>
              <a:rPr lang="en-US" sz="2000" dirty="0" err="1">
                <a:effectLst/>
                <a:latin typeface="fkGroteskNeue"/>
              </a:rPr>
              <a:t>Cytoscape</a:t>
            </a:r>
            <a:r>
              <a:rPr lang="en-US" sz="2000" dirty="0">
                <a:effectLst/>
                <a:latin typeface="fkGroteskNeue"/>
              </a:rPr>
              <a:t>: cytoscape.org (</a:t>
            </a:r>
            <a:r>
              <a:rPr lang="ru-RU" sz="2000" dirty="0">
                <a:effectLst/>
                <a:latin typeface="fkGroteskNeue"/>
              </a:rPr>
              <a:t>бесплатно, мощно)</a:t>
            </a:r>
          </a:p>
          <a:p>
            <a:pPr marL="0" indent="0" algn="l">
              <a:buNone/>
            </a:pPr>
            <a:r>
              <a:rPr lang="en-US" sz="2000" dirty="0" err="1">
                <a:effectLst/>
                <a:latin typeface="fkGroteskNeue"/>
              </a:rPr>
              <a:t>ggraph</a:t>
            </a:r>
            <a:r>
              <a:rPr lang="en-US" sz="2000" dirty="0">
                <a:effectLst/>
                <a:latin typeface="fkGroteskNeue"/>
              </a:rPr>
              <a:t>: R </a:t>
            </a:r>
            <a:r>
              <a:rPr lang="ru-RU" sz="2000" dirty="0">
                <a:effectLst/>
                <a:latin typeface="fkGroteskNeue"/>
              </a:rPr>
              <a:t>пакет для красивых графов</a:t>
            </a:r>
          </a:p>
          <a:p>
            <a:pPr marL="0" indent="0" algn="l">
              <a:buNone/>
            </a:pPr>
            <a:r>
              <a:rPr lang="en-US" sz="2000" dirty="0">
                <a:effectLst/>
                <a:latin typeface="fkGroteskNeue"/>
              </a:rPr>
              <a:t>networkD3: </a:t>
            </a:r>
            <a:r>
              <a:rPr lang="ru-RU" sz="2000" dirty="0">
                <a:effectLst/>
                <a:latin typeface="fkGroteskNeue"/>
              </a:rPr>
              <a:t>интерактивные графы в браузере</a:t>
            </a:r>
          </a:p>
          <a:p>
            <a:pPr marL="0" indent="0" algn="l">
              <a:buNone/>
            </a:pPr>
            <a:endParaRPr lang="ru-RU" sz="2000" dirty="0">
              <a:effectLst/>
              <a:latin typeface="fkGroteskNeue"/>
            </a:endParaRPr>
          </a:p>
          <a:p>
            <a:pPr marL="0" indent="0" algn="l">
              <a:buNone/>
            </a:pPr>
            <a:r>
              <a:rPr lang="ru-RU" sz="2000" i="1" dirty="0" err="1">
                <a:effectLst/>
                <a:latin typeface="fkGroteskNeue"/>
              </a:rPr>
              <a:t>Датасеты</a:t>
            </a:r>
            <a:r>
              <a:rPr lang="ru-RU" sz="2000" i="1" dirty="0">
                <a:effectLst/>
                <a:latin typeface="fkGroteskNeue"/>
              </a:rPr>
              <a:t> для практики:</a:t>
            </a:r>
          </a:p>
          <a:p>
            <a:pPr marL="0" indent="0" algn="l">
              <a:buNone/>
            </a:pPr>
            <a:r>
              <a:rPr lang="en-US" sz="2000" dirty="0">
                <a:effectLst/>
                <a:latin typeface="fkGroteskNeue"/>
              </a:rPr>
              <a:t>GEO (Gene Expression Omnibus): https://www.ncbi.nlm.nih.gov/geo/</a:t>
            </a:r>
          </a:p>
          <a:p>
            <a:pPr marL="0" indent="0" algn="l">
              <a:buNone/>
            </a:pPr>
            <a:r>
              <a:rPr lang="en-US" sz="2000" dirty="0">
                <a:effectLst/>
                <a:latin typeface="fkGroteskNeue"/>
              </a:rPr>
              <a:t>TCGA: https://portal.gdc.cancer.gov/</a:t>
            </a:r>
          </a:p>
          <a:p>
            <a:pPr marL="0" indent="0" algn="l">
              <a:buNone/>
            </a:pPr>
            <a:r>
              <a:rPr lang="ru-RU" sz="2000" dirty="0">
                <a:effectLst/>
                <a:latin typeface="fkGroteskNeue"/>
              </a:rPr>
              <a:t>Реальные </a:t>
            </a:r>
            <a:r>
              <a:rPr lang="ru-RU" sz="2000" dirty="0" err="1">
                <a:effectLst/>
                <a:latin typeface="fkGroteskNeue"/>
              </a:rPr>
              <a:t>датасеты</a:t>
            </a:r>
            <a:r>
              <a:rPr lang="ru-RU" sz="2000" dirty="0">
                <a:effectLst/>
                <a:latin typeface="fkGroteskNeue"/>
              </a:rPr>
              <a:t> с публикациями (</a:t>
            </a:r>
            <a:r>
              <a:rPr lang="en-US" sz="2000" dirty="0">
                <a:effectLst/>
                <a:latin typeface="fkGroteskNeue"/>
              </a:rPr>
              <a:t>Google Scholar)</a:t>
            </a:r>
            <a:endParaRPr lang="ru-RU" sz="200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88704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2381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98;g89d9307d70_13_164"/>
          <p:cNvSpPr txBox="1"/>
          <p:nvPr/>
        </p:nvSpPr>
        <p:spPr>
          <a:xfrm>
            <a:off x="3215680" y="2852936"/>
            <a:ext cx="6624736" cy="13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5867"/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Спасибо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за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внимание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!</a:t>
            </a:r>
            <a:endParaRPr sz="4800" b="1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0978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2744</Words>
  <Application>Microsoft Office PowerPoint</Application>
  <PresentationFormat>Широкоэкранный</PresentationFormat>
  <Paragraphs>465</Paragraphs>
  <Slides>27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fkGroteskNeue</vt:lpstr>
      <vt:lpstr>PT Sans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Альт</dc:creator>
  <cp:lastModifiedBy>Рамиля Власенкова</cp:lastModifiedBy>
  <cp:revision>58</cp:revision>
  <dcterms:created xsi:type="dcterms:W3CDTF">2025-09-03T07:14:40Z</dcterms:created>
  <dcterms:modified xsi:type="dcterms:W3CDTF">2026-02-19T09:24:42Z</dcterms:modified>
</cp:coreProperties>
</file>