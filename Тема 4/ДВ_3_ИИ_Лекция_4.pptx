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8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2" r:id="rId20"/>
    <p:sldId id="281" r:id="rId21"/>
    <p:sldId id="284" r:id="rId22"/>
    <p:sldId id="287" r:id="rId23"/>
    <p:sldId id="288" r:id="rId24"/>
    <p:sldId id="289" r:id="rId25"/>
    <p:sldId id="285" r:id="rId26"/>
    <p:sldId id="283" r:id="rId27"/>
    <p:sldId id="266" r:id="rId2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0" autoAdjust="0"/>
    <p:restoredTop sz="69896" autoAdjust="0"/>
  </p:normalViewPr>
  <p:slideViewPr>
    <p:cSldViewPr snapToGrid="0">
      <p:cViewPr varScale="1">
        <p:scale>
          <a:sx n="50" d="100"/>
          <a:sy n="50" d="100"/>
        </p:scale>
        <p:origin x="133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29370D-F2D9-4CCE-A730-8C5295B5F53C}" type="datetimeFigureOut">
              <a:rPr lang="ru-RU" smtClean="0"/>
              <a:t>19.02.2026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235BED-E67C-4CE8-A9D1-79A059B95A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5898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39556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Добрый день! Мы уже прошли 3 лекции. Классификация, продвинутые техники, анализ выживаемости.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На все эти лекции мы смотрели на отдельные признаки — один ген, один белок, один клинический параметр.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Но в реальности гены и белки не работают отдельно.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Пример. Вы приходите к врачу с кашлем.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Плохой врач: "Кашель → простуда" (один симптом → один диагноз)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Хороший врач: смотрит всю картину — кашель + температура + боль в горле + недавний контакт с больными → диагноз "грипп"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То же с молекулярной биологией!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Ген A имеет мутацию → вроде опасно. Но если гены B и C компенсируют → может быть всё ОК.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Или наоборот: ген A не имеет мутации, но гены B, C, D, E все активны → значит система скомпрометирована.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Это и есть "системный" подход. Анализ генных сетей.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Вместо вопроса "Какой ген предсказывает рак?" мы спрашиваем: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"Какой модуль генов, работающих как единая система, предсказывает рак?"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 всегда модули работают лучше, чем одиночные гены!</a:t>
            </a: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4441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effectLst/>
                <a:latin typeface="pplxSerif"/>
              </a:rPr>
              <a:t>WGCNA </a:t>
            </a:r>
            <a:r>
              <a:rPr lang="ru-RU" b="0" i="0" dirty="0">
                <a:effectLst/>
                <a:latin typeface="pplxSerif"/>
              </a:rPr>
              <a:t>на сырых 20</a:t>
            </a:r>
            <a:r>
              <a:rPr lang="en-US" b="0" i="0" dirty="0">
                <a:effectLst/>
                <a:latin typeface="pplxSerif"/>
              </a:rPr>
              <a:t>k </a:t>
            </a:r>
            <a:r>
              <a:rPr lang="ru-RU" b="0" i="0" dirty="0">
                <a:effectLst/>
                <a:latin typeface="pplxSerif"/>
              </a:rPr>
              <a:t>генах работает, но медленно и шумно. Сначала </a:t>
            </a:r>
            <a:r>
              <a:rPr lang="en-US" b="0" i="0" dirty="0">
                <a:effectLst/>
                <a:latin typeface="pplxSerif"/>
              </a:rPr>
              <a:t>DEA tumor vs normal: </a:t>
            </a:r>
            <a:r>
              <a:rPr lang="en-US" b="0" i="0" dirty="0" err="1">
                <a:effectLst/>
                <a:latin typeface="pplxSerif"/>
              </a:rPr>
              <a:t>limma</a:t>
            </a:r>
            <a:r>
              <a:rPr lang="en-US" b="0" i="0" dirty="0">
                <a:effectLst/>
                <a:latin typeface="pplxSerif"/>
              </a:rPr>
              <a:t>/</a:t>
            </a:r>
            <a:r>
              <a:rPr lang="en-US" b="0" i="0" dirty="0" err="1">
                <a:effectLst/>
                <a:latin typeface="pplxSerif"/>
              </a:rPr>
              <a:t>edgeR</a:t>
            </a:r>
            <a:r>
              <a:rPr lang="en-US" b="0" i="0" dirty="0">
                <a:effectLst/>
                <a:latin typeface="pplxSerif"/>
              </a:rPr>
              <a:t>, FDR&lt;0.05, </a:t>
            </a:r>
            <a:r>
              <a:rPr lang="ru-RU" b="0" i="0" dirty="0">
                <a:effectLst/>
                <a:latin typeface="pplxSerif"/>
              </a:rPr>
              <a:t>топ 5</a:t>
            </a:r>
            <a:r>
              <a:rPr lang="en-US" b="0" i="0" dirty="0">
                <a:effectLst/>
                <a:latin typeface="pplxSerif"/>
              </a:rPr>
              <a:t>k </a:t>
            </a:r>
            <a:r>
              <a:rPr lang="ru-RU" b="0" i="0" dirty="0">
                <a:effectLst/>
                <a:latin typeface="pplxSerif"/>
              </a:rPr>
              <a:t>по </a:t>
            </a:r>
            <a:r>
              <a:rPr lang="en-US" b="0" i="0" dirty="0">
                <a:effectLst/>
                <a:latin typeface="pplxSerif"/>
              </a:rPr>
              <a:t>variance. </a:t>
            </a:r>
            <a:r>
              <a:rPr lang="ru-RU" b="0" i="0" dirty="0">
                <a:effectLst/>
                <a:latin typeface="pplxSerif"/>
              </a:rPr>
              <a:t>Убираем митохондрии, </a:t>
            </a:r>
            <a:r>
              <a:rPr lang="en-US" b="0" i="0" dirty="0">
                <a:effectLst/>
                <a:latin typeface="pplxSerif"/>
              </a:rPr>
              <a:t>low-expressed. </a:t>
            </a:r>
            <a:r>
              <a:rPr lang="ru-RU" b="0" i="0" dirty="0">
                <a:effectLst/>
                <a:latin typeface="pplxSerif"/>
              </a:rPr>
              <a:t>В </a:t>
            </a:r>
            <a:r>
              <a:rPr lang="en-US" b="0" i="0" dirty="0">
                <a:effectLst/>
                <a:latin typeface="pplxSerif"/>
              </a:rPr>
              <a:t>TCGA breast </a:t>
            </a:r>
            <a:r>
              <a:rPr lang="ru-RU" b="0" i="0" dirty="0">
                <a:effectLst/>
                <a:latin typeface="pplxSerif"/>
              </a:rPr>
              <a:t>из 20</a:t>
            </a:r>
            <a:r>
              <a:rPr lang="en-US" b="0" i="0" dirty="0">
                <a:effectLst/>
                <a:latin typeface="pplxSerif"/>
              </a:rPr>
              <a:t>k → 2k DEGs </a:t>
            </a:r>
            <a:r>
              <a:rPr lang="ru-RU" b="0" i="0" dirty="0">
                <a:effectLst/>
                <a:latin typeface="pplxSerif"/>
              </a:rPr>
              <a:t>для </a:t>
            </a:r>
            <a:r>
              <a:rPr lang="en-US" b="0" i="0" dirty="0">
                <a:effectLst/>
                <a:latin typeface="pplxSerif"/>
              </a:rPr>
              <a:t>WGCNA — </a:t>
            </a:r>
            <a:r>
              <a:rPr lang="ru-RU" b="0" i="0" dirty="0">
                <a:effectLst/>
                <a:latin typeface="pplxSerif"/>
              </a:rPr>
              <a:t>ускорение ×4, фокус на раковых путях.</a:t>
            </a:r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53072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Давайте разберемся с примером из жизни.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Представьте компанию: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CEO = главный ген (</a:t>
            </a:r>
            <a:r>
              <a:rPr lang="ru-RU" b="0" i="0" dirty="0" err="1">
                <a:effectLst/>
                <a:latin typeface="fkGroteskNeue"/>
              </a:rPr>
              <a:t>high-level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decisions</a:t>
            </a:r>
            <a:r>
              <a:rPr lang="ru-RU" b="0" i="0" dirty="0">
                <a:effectLst/>
                <a:latin typeface="fkGroteskNeue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CTOs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CFOs</a:t>
            </a:r>
            <a:r>
              <a:rPr lang="ru-RU" b="0" i="0" dirty="0">
                <a:effectLst/>
                <a:latin typeface="fkGroteskNeue"/>
              </a:rPr>
              <a:t> = гены среднего уровня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Разработчики, тестеры = гены низкого уровня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Если CEO одиночка принимает решения → компания может упасть (зависит от одного человека).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Если команда CEO + </a:t>
            </a:r>
            <a:r>
              <a:rPr lang="ru-RU" b="0" i="0" dirty="0" err="1">
                <a:effectLst/>
                <a:latin typeface="fkGroteskNeue"/>
              </a:rPr>
              <a:t>CTOs</a:t>
            </a:r>
            <a:r>
              <a:rPr lang="ru-RU" b="0" i="0" dirty="0">
                <a:effectLst/>
                <a:latin typeface="fkGroteskNeue"/>
              </a:rPr>
              <a:t> + </a:t>
            </a:r>
            <a:r>
              <a:rPr lang="ru-RU" b="0" i="0" dirty="0" err="1">
                <a:effectLst/>
                <a:latin typeface="fkGroteskNeue"/>
              </a:rPr>
              <a:t>CFOs</a:t>
            </a:r>
            <a:r>
              <a:rPr lang="ru-RU" b="0" i="0" dirty="0">
                <a:effectLst/>
                <a:latin typeface="fkGroteskNeue"/>
              </a:rPr>
              <a:t> + разработчики работают вместе → компания крепче (распределённое управление).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Молекулярная система то же!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Классический подход (до 2000х):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У нас есть 20,000 генов. Мы ищем "</a:t>
            </a:r>
            <a:r>
              <a:rPr lang="ru-RU" b="0" i="0" dirty="0" err="1">
                <a:effectLst/>
                <a:latin typeface="fkGroteskNeue"/>
              </a:rPr>
              <a:t>one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magic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gene</a:t>
            </a:r>
            <a:r>
              <a:rPr lang="ru-RU" b="0" i="0" dirty="0">
                <a:effectLst/>
                <a:latin typeface="fkGroteskNeue"/>
              </a:rPr>
              <a:t>" для рака.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"Ген X мутирован в 80% раков?" → публикуем в Nature!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 конечно, мы находим такие гены. Но: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TP53: мутирован в 50% раков, но в 30% здоровых с ним всё ОК (не мутирует рак?)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BRCA1: мутирован → риск рака 70%, но не 100%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Почему? Потому что контекст имеет значение!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Системный подход (2000х-2010х):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"А может быть, не один ген, а модуль 10-20 генов?"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 модули намного лучше предсказывают рак!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Например, "иммунный модуль" (200 генов из иммунной системы) с </a:t>
            </a:r>
            <a:r>
              <a:rPr lang="ru-RU" b="0" i="0" dirty="0" err="1">
                <a:effectLst/>
                <a:latin typeface="fkGroteskNeue"/>
              </a:rPr>
              <a:t>high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expression</a:t>
            </a:r>
            <a:r>
              <a:rPr lang="ru-RU" b="0" i="0" dirty="0">
                <a:effectLst/>
                <a:latin typeface="fkGroteskNeue"/>
              </a:rPr>
              <a:t> → выживает 95%, с </a:t>
            </a:r>
            <a:r>
              <a:rPr lang="ru-RU" b="0" i="0" dirty="0" err="1">
                <a:effectLst/>
                <a:latin typeface="fkGroteskNeue"/>
              </a:rPr>
              <a:t>low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expression</a:t>
            </a:r>
            <a:r>
              <a:rPr lang="ru-RU" b="0" i="0" dirty="0">
                <a:effectLst/>
                <a:latin typeface="fkGroteskNeue"/>
              </a:rPr>
              <a:t> → выживает 30%.</a:t>
            </a: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75783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Теперь язык. Граф — это просто набор узлов (вершин) и связей между ними (рёбра).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Узлы = гены, белки, пациенты (в зависимости от контекста)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Рёбра = "эти два узла связаны"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Взвешенный граф = рёбра имеют веса (силы).</a:t>
            </a:r>
          </a:p>
          <a:p>
            <a:r>
              <a:rPr lang="ru-RU" b="0" i="0" dirty="0">
                <a:effectLst/>
                <a:latin typeface="fkGroteskNeue"/>
              </a:rPr>
              <a:t>Пример:</a:t>
            </a:r>
          </a:p>
          <a:p>
            <a:r>
              <a:rPr lang="ru-RU" sz="1200" b="0" i="0" kern="1200" dirty="0" err="1">
                <a:solidFill>
                  <a:schemeClr val="tx1"/>
                </a:solidFill>
                <a:effectLst/>
                <a:latin typeface="fkGroteskNeue"/>
                <a:ea typeface="+mn-ea"/>
                <a:cs typeface="+mn-cs"/>
              </a:rPr>
              <a:t>ГенA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fkGroteskNeue"/>
                <a:ea typeface="+mn-ea"/>
                <a:cs typeface="+mn-cs"/>
              </a:rPr>
              <a:t> -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fkGroteskNeue"/>
                <a:ea typeface="+mn-ea"/>
                <a:cs typeface="+mn-cs"/>
              </a:rPr>
              <a:t>ГенB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fkGroteskNeue"/>
                <a:ea typeface="+mn-ea"/>
                <a:cs typeface="+mn-cs"/>
              </a:rPr>
              <a:t>: корреляция = 0.8 (сильная связь, толстая линия)</a:t>
            </a:r>
          </a:p>
          <a:p>
            <a:r>
              <a:rPr lang="ru-RU" sz="1200" b="0" i="0" kern="1200" dirty="0" err="1">
                <a:solidFill>
                  <a:schemeClr val="tx1"/>
                </a:solidFill>
                <a:effectLst/>
                <a:latin typeface="fkGroteskNeue"/>
                <a:ea typeface="+mn-ea"/>
                <a:cs typeface="+mn-cs"/>
              </a:rPr>
              <a:t>ГенA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fkGroteskNeue"/>
                <a:ea typeface="+mn-ea"/>
                <a:cs typeface="+mn-cs"/>
              </a:rPr>
              <a:t> -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fkGroteskNeue"/>
                <a:ea typeface="+mn-ea"/>
                <a:cs typeface="+mn-cs"/>
              </a:rPr>
              <a:t>ГенC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fkGroteskNeue"/>
                <a:ea typeface="+mn-ea"/>
                <a:cs typeface="+mn-cs"/>
              </a:rPr>
              <a:t>: корреляция = 0.2 (слабая связь, тонкая линия)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Направленный граф: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Стрелка </a:t>
            </a:r>
            <a:r>
              <a:rPr lang="ru-RU" b="0" i="0" dirty="0" err="1">
                <a:effectLst/>
                <a:latin typeface="fkGroteskNeue"/>
              </a:rPr>
              <a:t>ГенA</a:t>
            </a:r>
            <a:r>
              <a:rPr lang="ru-RU" b="0" i="0" dirty="0">
                <a:effectLst/>
                <a:latin typeface="fkGroteskNeue"/>
              </a:rPr>
              <a:t> → </a:t>
            </a:r>
            <a:r>
              <a:rPr lang="ru-RU" b="0" i="0" dirty="0" err="1">
                <a:effectLst/>
                <a:latin typeface="fkGroteskNeue"/>
              </a:rPr>
              <a:t>ГенB</a:t>
            </a:r>
            <a:r>
              <a:rPr lang="ru-RU" b="0" i="0" dirty="0">
                <a:effectLst/>
                <a:latin typeface="fkGroteskNeue"/>
              </a:rPr>
              <a:t> = "</a:t>
            </a:r>
            <a:r>
              <a:rPr lang="ru-RU" b="0" i="0" dirty="0" err="1">
                <a:effectLst/>
                <a:latin typeface="fkGroteskNeue"/>
              </a:rPr>
              <a:t>ГенA</a:t>
            </a:r>
            <a:r>
              <a:rPr lang="ru-RU" b="0" i="0" dirty="0">
                <a:effectLst/>
                <a:latin typeface="fkGroteskNeue"/>
              </a:rPr>
              <a:t> регулирует </a:t>
            </a:r>
            <a:r>
              <a:rPr lang="ru-RU" b="0" i="0" dirty="0" err="1">
                <a:effectLst/>
                <a:latin typeface="fkGroteskNeue"/>
              </a:rPr>
              <a:t>ГенB</a:t>
            </a:r>
            <a:r>
              <a:rPr lang="ru-RU" b="0" i="0" dirty="0">
                <a:effectLst/>
                <a:latin typeface="fkGroteskNeue"/>
              </a:rPr>
              <a:t>" (есть направление)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Ненаправленный граф: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Просто линия = "</a:t>
            </a:r>
            <a:r>
              <a:rPr lang="ru-RU" b="0" i="0" dirty="0" err="1">
                <a:effectLst/>
                <a:latin typeface="fkGroteskNeue"/>
              </a:rPr>
              <a:t>ГенA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ГенB</a:t>
            </a:r>
            <a:r>
              <a:rPr lang="ru-RU" b="0" i="0" dirty="0">
                <a:effectLst/>
                <a:latin typeface="fkGroteskNeue"/>
              </a:rPr>
              <a:t> скоррелированы" (нет направления, просто связь)</a:t>
            </a: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64100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Как описать граф? Метрики.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Степень (</a:t>
            </a:r>
            <a:r>
              <a:rPr lang="ru-RU" b="0" i="0" dirty="0" err="1">
                <a:effectLst/>
                <a:latin typeface="fkGroteskNeue"/>
              </a:rPr>
              <a:t>Degree</a:t>
            </a:r>
            <a:r>
              <a:rPr lang="ru-RU" b="0" i="0" dirty="0">
                <a:effectLst/>
                <a:latin typeface="fkGroteskNeue"/>
              </a:rPr>
              <a:t>):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Сколько других узлов соединено с этим?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Ген A: </a:t>
            </a:r>
            <a:r>
              <a:rPr lang="ru-RU" b="0" i="0" dirty="0" err="1">
                <a:effectLst/>
                <a:latin typeface="fkGroteskNeue"/>
              </a:rPr>
              <a:t>degree</a:t>
            </a:r>
            <a:r>
              <a:rPr lang="ru-RU" b="0" i="0" dirty="0">
                <a:effectLst/>
                <a:latin typeface="fkGroteskNeue"/>
              </a:rPr>
              <a:t> = 3 (соединён с B, C, D)</a:t>
            </a:r>
          </a:p>
          <a:p>
            <a:pPr algn="l"/>
            <a:r>
              <a:rPr lang="ru-RU" b="0" i="0" dirty="0" err="1">
                <a:effectLst/>
                <a:latin typeface="fkGroteskNeue"/>
              </a:rPr>
              <a:t>Hub</a:t>
            </a:r>
            <a:r>
              <a:rPr lang="ru-RU" b="0" i="0" dirty="0">
                <a:effectLst/>
                <a:latin typeface="fkGroteskNeue"/>
              </a:rPr>
              <a:t> гены = гены с высокой степенью (много соединений)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Интуиция: </a:t>
            </a:r>
            <a:r>
              <a:rPr lang="ru-RU" b="0" i="0" dirty="0" err="1">
                <a:effectLst/>
                <a:latin typeface="fkGroteskNeue"/>
              </a:rPr>
              <a:t>hub</a:t>
            </a:r>
            <a:r>
              <a:rPr lang="ru-RU" b="0" i="0" dirty="0">
                <a:effectLst/>
                <a:latin typeface="fkGroteskNeue"/>
              </a:rPr>
              <a:t> гены важнее (больше влияния на систему) </a:t>
            </a:r>
          </a:p>
          <a:p>
            <a:pPr algn="l"/>
            <a:r>
              <a:rPr lang="ru-RU" b="0" i="0" dirty="0" err="1">
                <a:effectLst/>
                <a:latin typeface="fkGroteskNeue"/>
              </a:rPr>
              <a:t>Кластеризационный</a:t>
            </a:r>
            <a:r>
              <a:rPr lang="ru-RU" b="0" i="0" dirty="0">
                <a:effectLst/>
                <a:latin typeface="fkGroteskNeue"/>
              </a:rPr>
              <a:t> коэффициент (</a:t>
            </a:r>
            <a:r>
              <a:rPr lang="ru-RU" b="0" i="0" dirty="0" err="1">
                <a:effectLst/>
                <a:latin typeface="fkGroteskNeue"/>
              </a:rPr>
              <a:t>Clustering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Coefficient</a:t>
            </a:r>
            <a:r>
              <a:rPr lang="ru-RU" b="0" i="0" dirty="0">
                <a:effectLst/>
                <a:latin typeface="fkGroteskNeue"/>
              </a:rPr>
              <a:t>):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Если я соединён с генами B и C, соединены ли B и C между собой?</a:t>
            </a:r>
          </a:p>
          <a:p>
            <a:r>
              <a:rPr lang="ru-RU" b="0" i="0" dirty="0">
                <a:effectLst/>
                <a:latin typeface="fkGroteskNeue"/>
              </a:rPr>
              <a:t>Высокий CC = плотная подсеть (клика) = много "соседские отношения"</a:t>
            </a:r>
            <a:br>
              <a:rPr lang="ru-RU" dirty="0"/>
            </a:br>
            <a:r>
              <a:rPr lang="ru-RU" b="0" i="0" dirty="0">
                <a:effectLst/>
                <a:latin typeface="fkGroteskNeue"/>
              </a:rPr>
              <a:t>Низкий CC = разреженная сеть = "я соединяю разные части"</a:t>
            </a:r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71064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 err="1">
                <a:effectLst/>
                <a:latin typeface="fkGroteskNeue"/>
              </a:rPr>
              <a:t>Centrality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меtrики</a:t>
            </a:r>
            <a:r>
              <a:rPr lang="ru-RU" b="0" i="0" dirty="0">
                <a:effectLst/>
                <a:latin typeface="fkGroteskNeue"/>
              </a:rPr>
              <a:t>:</a:t>
            </a:r>
          </a:p>
          <a:p>
            <a:pPr algn="l"/>
            <a:r>
              <a:rPr lang="ru-RU" b="0" i="0" dirty="0" err="1">
                <a:effectLst/>
                <a:latin typeface="fkGroteskNeue"/>
              </a:rPr>
              <a:t>Betweenness</a:t>
            </a:r>
            <a:r>
              <a:rPr lang="ru-RU" b="0" i="0" dirty="0">
                <a:effectLst/>
                <a:latin typeface="fkGroteskNeue"/>
              </a:rPr>
              <a:t>: сколько кратчайших путей проходит через меня?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Смысл: гены, которые "мостят" разные части сети</a:t>
            </a:r>
          </a:p>
          <a:p>
            <a:pPr algn="l"/>
            <a:r>
              <a:rPr lang="ru-RU" b="0" i="0" dirty="0" err="1">
                <a:effectLst/>
                <a:latin typeface="fkGroteskNeue"/>
              </a:rPr>
              <a:t>Closeness</a:t>
            </a:r>
            <a:r>
              <a:rPr lang="ru-RU" b="0" i="0" dirty="0">
                <a:effectLst/>
                <a:latin typeface="fkGroteskNeue"/>
              </a:rPr>
              <a:t>: как далеко я от других узлов?</a:t>
            </a:r>
          </a:p>
          <a:p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Центральный ген: близко ко всем (расстояние = 1-2 шага)</a:t>
            </a:r>
          </a:p>
          <a:p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Периферийный ген: далеко от многих (расстояние = 5-10 шагов)</a:t>
            </a:r>
          </a:p>
          <a:p>
            <a:pPr algn="l"/>
            <a:r>
              <a:rPr lang="ru-RU" b="0" i="0" dirty="0" err="1">
                <a:effectLst/>
                <a:latin typeface="fkGroteskNeue"/>
              </a:rPr>
              <a:t>Eigenvector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Centrality</a:t>
            </a:r>
            <a:r>
              <a:rPr lang="ru-RU" b="0" i="0" dirty="0">
                <a:effectLst/>
                <a:latin typeface="fkGroteskNeue"/>
              </a:rPr>
              <a:t>: ты важен, если соединён с другими важными узлами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Рекурсивное определение! "Вес узла зависит от весов соседей"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Это значит: </a:t>
            </a:r>
            <a:r>
              <a:rPr lang="ru-RU" b="0" i="0" dirty="0" err="1">
                <a:effectLst/>
                <a:latin typeface="fkGroteskNeue"/>
              </a:rPr>
              <a:t>бытьсоединённым</a:t>
            </a:r>
            <a:r>
              <a:rPr lang="ru-RU" b="0" i="0" dirty="0">
                <a:effectLst/>
                <a:latin typeface="fkGroteskNeue"/>
              </a:rPr>
              <a:t> с </a:t>
            </a:r>
            <a:r>
              <a:rPr lang="ru-RU" b="0" i="0" dirty="0" err="1">
                <a:effectLst/>
                <a:latin typeface="fkGroteskNeue"/>
              </a:rPr>
              <a:t>hub'ом</a:t>
            </a:r>
            <a:r>
              <a:rPr lang="ru-RU" b="0" i="0" dirty="0">
                <a:effectLst/>
                <a:latin typeface="fkGroteskNeue"/>
              </a:rPr>
              <a:t> → и тебя считают важным</a:t>
            </a: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179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Обнаружение модулей (</a:t>
            </a:r>
            <a:r>
              <a:rPr lang="ru-RU" b="0" i="0" dirty="0" err="1">
                <a:effectLst/>
                <a:latin typeface="fkGroteskNeue"/>
              </a:rPr>
              <a:t>communities</a:t>
            </a:r>
            <a:r>
              <a:rPr lang="ru-RU" b="0" i="0" dirty="0">
                <a:effectLst/>
                <a:latin typeface="fkGroteskNeue"/>
              </a:rPr>
              <a:t>):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Задача: найти группы генов, которые: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Сильно соединены между собой (внутри модуля)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Слабо соединены с другими группами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Пример:</a:t>
            </a:r>
          </a:p>
          <a:p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[Плотный кластер] ---- (слабое ребро) ---- [Другой кластер]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Модульность Q: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Метрика качества модульной структуры.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Q близко к 1 → отлично (явные модули)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Q близко к 0 → плохо (нет явной модульной структуры)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Алгоритм </a:t>
            </a:r>
            <a:r>
              <a:rPr lang="ru-RU" b="0" i="0" dirty="0" err="1">
                <a:effectLst/>
                <a:latin typeface="fkGroteskNeue"/>
              </a:rPr>
              <a:t>Louvain</a:t>
            </a:r>
            <a:r>
              <a:rPr lang="ru-RU" b="0" i="0" dirty="0">
                <a:effectLst/>
                <a:latin typeface="fkGroteskNeue"/>
              </a:rPr>
              <a:t> (самый популярный):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Каждый ген = отдельный модуль (n модулей = n генов)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Для каждого гена проверяем: если переместить в модуль соседа, возрастёт ли Q?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Если да → перемещаем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Повторяем, пока Q не стабилизируется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 автоматически найденные 5-30 модулей!</a:t>
            </a: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45443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Теперь главный инструмент: </a:t>
            </a:r>
            <a:r>
              <a:rPr lang="en-US" b="0" i="0" dirty="0">
                <a:effectLst/>
                <a:latin typeface="fkGroteskNeue"/>
              </a:rPr>
              <a:t>WGCNA (Weighted Gene Co-expression Network Analysis)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Разработано в 2008, </a:t>
            </a:r>
            <a:r>
              <a:rPr lang="en-US" b="0" i="0" dirty="0">
                <a:effectLst/>
                <a:latin typeface="fkGroteskNeue"/>
              </a:rPr>
              <a:t>Horvath &amp; Langfelder, UCLA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Это стало золотым стандартом для сетевого анализа в биоинформатике.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Входные данные: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Матрица экспрессии генов.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Строки = гены (16,000)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Столбцы = пациенты (500)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Каждая ячейка = экспрессия (уровень мРНК)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Данные могут быть из: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RNA-</a:t>
            </a:r>
            <a:r>
              <a:rPr lang="ru-RU" b="0" i="0" dirty="0" err="1">
                <a:effectLst/>
                <a:latin typeface="fkGroteskNeue"/>
              </a:rPr>
              <a:t>seq</a:t>
            </a:r>
            <a:r>
              <a:rPr lang="ru-RU" b="0" i="0" dirty="0">
                <a:effectLst/>
                <a:latin typeface="fkGroteskNeue"/>
              </a:rPr>
              <a:t> (счёты </a:t>
            </a:r>
            <a:r>
              <a:rPr lang="ru-RU" b="0" i="0" dirty="0" err="1">
                <a:effectLst/>
                <a:latin typeface="fkGroteskNeue"/>
              </a:rPr>
              <a:t>прочитаний</a:t>
            </a:r>
            <a:r>
              <a:rPr lang="ru-RU" b="0" i="0" dirty="0">
                <a:effectLst/>
                <a:latin typeface="fkGroteskNeue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Microarray</a:t>
            </a:r>
            <a:r>
              <a:rPr lang="ru-RU" b="0" i="0" dirty="0">
                <a:effectLst/>
                <a:latin typeface="fkGroteskNeue"/>
              </a:rPr>
              <a:t> (интенсивность флуоресценции)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Шаг 1: Корреляция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Берём каждую пару генов и считаем корреляцию Пирсона по 500 пациентам.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 матрица корреляций 16,000 × 16,000</a:t>
            </a:r>
          </a:p>
          <a:p>
            <a:pPr algn="l"/>
            <a:r>
              <a:rPr lang="ru-RU" b="0" i="0" dirty="0" err="1">
                <a:effectLst/>
                <a:latin typeface="fkGroteskNeue"/>
              </a:rPr>
              <a:t>r_ij</a:t>
            </a:r>
            <a:r>
              <a:rPr lang="ru-RU" b="0" i="0" dirty="0">
                <a:effectLst/>
                <a:latin typeface="fkGroteskNeue"/>
              </a:rPr>
              <a:t> = 0.9 → сильная корреляция (гены работают вместе!)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 err="1">
                <a:effectLst/>
                <a:latin typeface="fkGroteskNeue"/>
              </a:rPr>
              <a:t>r_ij</a:t>
            </a:r>
            <a:r>
              <a:rPr lang="ru-RU" b="0" i="0" dirty="0">
                <a:effectLst/>
                <a:latin typeface="fkGroteskNeue"/>
              </a:rPr>
              <a:t> = 0.1 → слабая корреляция (независимы)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Шаг 2: Soft-</a:t>
            </a:r>
            <a:r>
              <a:rPr lang="ru-RU" b="0" i="0" dirty="0" err="1">
                <a:effectLst/>
                <a:latin typeface="fkGroteskNeue"/>
              </a:rPr>
              <a:t>thresholding</a:t>
            </a:r>
            <a:r>
              <a:rPr lang="ru-RU" b="0" i="0" dirty="0">
                <a:effectLst/>
                <a:latin typeface="fkGroteskNeue"/>
              </a:rPr>
              <a:t> (мягкий порог)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Проблема: если использовать корреляцию напрямую, много шума.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r = 0.3 — это много или мало?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Решение: возвести в степень.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где β = "</a:t>
            </a:r>
            <a:r>
              <a:rPr lang="ru-RU" b="0" i="0" dirty="0" err="1">
                <a:effectLst/>
                <a:latin typeface="fkGroteskNeue"/>
              </a:rPr>
              <a:t>softness</a:t>
            </a:r>
            <a:r>
              <a:rPr lang="ru-RU" b="0" i="0" dirty="0">
                <a:effectLst/>
                <a:latin typeface="fkGroteskNeue"/>
              </a:rPr>
              <a:t>" (обычно 12 для людей)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Эффект: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Эффект: слабые корреляции → ещё </a:t>
            </a:r>
            <a:r>
              <a:rPr lang="ru-RU" b="0" i="0" dirty="0" err="1">
                <a:effectLst/>
                <a:latin typeface="fkGroteskNeue"/>
              </a:rPr>
              <a:t>слабже</a:t>
            </a:r>
            <a:r>
              <a:rPr lang="ru-RU" b="0" i="0" dirty="0">
                <a:effectLst/>
                <a:latin typeface="fkGroteskNeue"/>
              </a:rPr>
              <a:t> (практически удаляются), сильные → остаются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Это "мягче" чем просто </a:t>
            </a:r>
            <a:r>
              <a:rPr lang="ru-RU" b="0" i="0" dirty="0" err="1">
                <a:effectLst/>
                <a:latin typeface="fkGroteskNeue"/>
              </a:rPr>
              <a:t>threshold</a:t>
            </a:r>
            <a:r>
              <a:rPr lang="ru-RU" b="0" i="0" dirty="0">
                <a:effectLst/>
                <a:latin typeface="fkGroteskNeue"/>
              </a:rPr>
              <a:t> (w &gt; 0.5 → удаляем все w &lt; 0.5, </a:t>
            </a:r>
            <a:r>
              <a:rPr lang="ru-RU" b="0" i="0" dirty="0" err="1">
                <a:effectLst/>
                <a:latin typeface="fkGroteskNeue"/>
              </a:rPr>
              <a:t>бинарно</a:t>
            </a:r>
            <a:r>
              <a:rPr lang="ru-RU" b="0" i="0" dirty="0">
                <a:effectLst/>
                <a:latin typeface="fkGroteskNeue"/>
              </a:rPr>
              <a:t>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Название "</a:t>
            </a:r>
            <a:r>
              <a:rPr lang="ru-RU" b="0" i="0" dirty="0" err="1">
                <a:effectLst/>
                <a:latin typeface="fkGroteskNeue"/>
              </a:rPr>
              <a:t>soft</a:t>
            </a:r>
            <a:r>
              <a:rPr lang="ru-RU" b="0" i="0" dirty="0">
                <a:effectLst/>
                <a:latin typeface="fkGroteskNeue"/>
              </a:rPr>
              <a:t>" потому что это не бинарное, а градуальное снижение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Как выбрать β?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Используется масштабность (</a:t>
            </a:r>
            <a:r>
              <a:rPr lang="ru-RU" b="0" i="0" dirty="0" err="1">
                <a:effectLst/>
                <a:latin typeface="fkGroteskNeue"/>
              </a:rPr>
              <a:t>scale-free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topology</a:t>
            </a:r>
            <a:r>
              <a:rPr lang="ru-RU" b="0" i="0" dirty="0">
                <a:effectLst/>
                <a:latin typeface="fkGroteskNeue"/>
              </a:rPr>
              <a:t>).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Идея: в биологических сетях обычно есть </a:t>
            </a:r>
            <a:r>
              <a:rPr lang="ru-RU" b="0" i="0" dirty="0" err="1">
                <a:effectLst/>
                <a:latin typeface="fkGroteskNeue"/>
              </a:rPr>
              <a:t>few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hub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nodes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many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peripheral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nodes</a:t>
            </a:r>
            <a:r>
              <a:rPr lang="ru-RU" b="0" i="0" dirty="0">
                <a:effectLst/>
                <a:latin typeface="fkGroteskNeue"/>
              </a:rPr>
              <a:t>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Распределение степеней = </a:t>
            </a:r>
            <a:r>
              <a:rPr lang="ru-RU" b="0" i="0" dirty="0" err="1">
                <a:effectLst/>
                <a:latin typeface="fkGroteskNeue"/>
              </a:rPr>
              <a:t>power-law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distribution</a:t>
            </a:r>
            <a:r>
              <a:rPr lang="ru-RU" b="0" i="0" dirty="0">
                <a:effectLst/>
                <a:latin typeface="fkGroteskNeue"/>
              </a:rPr>
              <a:t>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Функция </a:t>
            </a:r>
            <a:r>
              <a:rPr lang="ru-RU" b="0" i="0" dirty="0" err="1">
                <a:effectLst/>
                <a:latin typeface="fkGroteskNeue"/>
              </a:rPr>
              <a:t>pickSoftThreshold</a:t>
            </a:r>
            <a:r>
              <a:rPr lang="ru-RU" b="0" i="0" dirty="0">
                <a:effectLst/>
                <a:latin typeface="fkGroteskNeue"/>
              </a:rPr>
              <a:t>() в R ищет β такую, что сеть наиболее приближается к </a:t>
            </a:r>
            <a:r>
              <a:rPr lang="ru-RU" b="0" i="0" dirty="0" err="1">
                <a:effectLst/>
                <a:latin typeface="fkGroteskNeue"/>
              </a:rPr>
              <a:t>scale-free</a:t>
            </a:r>
            <a:r>
              <a:rPr lang="ru-RU" b="0" i="0" dirty="0">
                <a:effectLst/>
                <a:latin typeface="fkGroteskNeue"/>
              </a:rPr>
              <a:t>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Обычно β = 10-15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30182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Шаг 3: Иерархическая кластеризация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Расстояние между генами = 1 - |корреляция|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Используем иерархическую кластеризацию: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На каждом уровне дерева близкие гены объединяются.</a:t>
            </a:r>
          </a:p>
          <a:p>
            <a:pPr algn="l"/>
            <a:endParaRPr lang="en-US" b="0" i="0" dirty="0">
              <a:effectLst/>
              <a:latin typeface="fkGroteskNeue"/>
            </a:endParaRPr>
          </a:p>
          <a:p>
            <a:pPr algn="l"/>
            <a:r>
              <a:rPr lang="ru-RU" b="0" i="0" dirty="0">
                <a:effectLst/>
                <a:latin typeface="fkGroteskNeue"/>
              </a:rPr>
              <a:t>Шаг 4: Обнаружение модулей (Dynamic </a:t>
            </a:r>
            <a:r>
              <a:rPr lang="ru-RU" b="0" i="0" dirty="0" err="1">
                <a:effectLst/>
                <a:latin typeface="fkGroteskNeue"/>
              </a:rPr>
              <a:t>Tree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Cutting</a:t>
            </a:r>
            <a:r>
              <a:rPr lang="ru-RU" b="0" i="0" dirty="0">
                <a:effectLst/>
                <a:latin typeface="fkGroteskNeue"/>
              </a:rPr>
              <a:t>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Режем </a:t>
            </a:r>
            <a:r>
              <a:rPr lang="ru-RU" b="0" i="0" dirty="0" err="1">
                <a:effectLst/>
                <a:latin typeface="fkGroteskNeue"/>
              </a:rPr>
              <a:t>дендрограмму</a:t>
            </a:r>
            <a:r>
              <a:rPr lang="ru-RU" b="0" i="0" dirty="0">
                <a:effectLst/>
                <a:latin typeface="fkGroteskNeue"/>
              </a:rPr>
              <a:t> на высоте, соответствующей модулям.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Параметры: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minModuleSize</a:t>
            </a:r>
            <a:r>
              <a:rPr lang="ru-RU" b="0" i="0" dirty="0">
                <a:effectLst/>
                <a:latin typeface="fkGroteskNeue"/>
              </a:rPr>
              <a:t>: минимальный размер модуля (обычно 30 гена)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deepSplit</a:t>
            </a:r>
            <a:r>
              <a:rPr lang="ru-RU" b="0" i="0" dirty="0">
                <a:effectLst/>
                <a:latin typeface="fkGroteskNeue"/>
              </a:rPr>
              <a:t>: как агрессивно искать модули (0-4)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 каждому гену присвоен модуль (Red, Blue, Green, Yellow и т.д.)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Обычно 5-30 модулей (зависит от данных и параметров)</a:t>
            </a: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3244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Шаг 5: Модульные собственные векторы (</a:t>
            </a:r>
            <a:r>
              <a:rPr lang="ru-RU" b="0" i="0" dirty="0" err="1">
                <a:effectLst/>
                <a:latin typeface="fkGroteskNeue"/>
              </a:rPr>
              <a:t>Module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Eigengenes</a:t>
            </a:r>
            <a:r>
              <a:rPr lang="ru-RU" b="0" i="0" dirty="0">
                <a:effectLst/>
                <a:latin typeface="fkGroteskNeue"/>
              </a:rPr>
              <a:t>, ME)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Для каждого модуля имеется 30-500 генов.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Нужна одна "сводная" экспрессия модуля (одно число на пациента).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Решение: первый главный компонент (PCA)!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Геометрическая интерпретация: "основное направление" вариабельности модуля.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 для каждого пациента и каждого модуля → одно число (ME)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Если </a:t>
            </a:r>
            <a:r>
              <a:rPr lang="ru-RU" b="0" i="0" dirty="0" err="1">
                <a:effectLst/>
                <a:latin typeface="fkGroteskNeue"/>
              </a:rPr>
              <a:t>ME_red</a:t>
            </a:r>
            <a:r>
              <a:rPr lang="ru-RU" b="0" i="0" dirty="0">
                <a:effectLst/>
                <a:latin typeface="fkGroteskNeue"/>
              </a:rPr>
              <a:t> = 5 → пациент имеет высокую экспрессию </a:t>
            </a:r>
            <a:r>
              <a:rPr lang="ru-RU" b="0" i="0" dirty="0" err="1">
                <a:effectLst/>
                <a:latin typeface="fkGroteskNeue"/>
              </a:rPr>
              <a:t>red</a:t>
            </a:r>
            <a:r>
              <a:rPr lang="ru-RU" b="0" i="0" dirty="0">
                <a:effectLst/>
                <a:latin typeface="fkGroteskNeue"/>
              </a:rPr>
              <a:t> модуля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Если </a:t>
            </a:r>
            <a:r>
              <a:rPr lang="ru-RU" b="0" i="0" dirty="0" err="1">
                <a:effectLst/>
                <a:latin typeface="fkGroteskNeue"/>
              </a:rPr>
              <a:t>ME_red</a:t>
            </a:r>
            <a:r>
              <a:rPr lang="ru-RU" b="0" i="0" dirty="0">
                <a:effectLst/>
                <a:latin typeface="fkGroteskNeue"/>
              </a:rPr>
              <a:t> = -3 → пациент имеет низкую экспрессию </a:t>
            </a:r>
            <a:r>
              <a:rPr lang="ru-RU" b="0" i="0" dirty="0" err="1">
                <a:effectLst/>
                <a:latin typeface="fkGroteskNeue"/>
              </a:rPr>
              <a:t>red</a:t>
            </a:r>
            <a:r>
              <a:rPr lang="ru-RU" b="0" i="0" dirty="0">
                <a:effectLst/>
                <a:latin typeface="fkGroteskNeue"/>
              </a:rPr>
              <a:t> модуля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Шаг 6: Связь модулей с фенотипом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Главный вопрос: какие модули связаны с заболеванием?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Считаем корреляцию каждого ME с интересующим фенотипом: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Red модуль высоко коррелирован → пациенты с </a:t>
            </a:r>
            <a:r>
              <a:rPr lang="ru-RU" b="0" i="0" dirty="0" err="1">
                <a:effectLst/>
                <a:latin typeface="fkGroteskNeue"/>
              </a:rPr>
              <a:t>high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ME_red</a:t>
            </a:r>
            <a:r>
              <a:rPr lang="ru-RU" b="0" i="0" dirty="0">
                <a:effectLst/>
                <a:latin typeface="fkGroteskNeue"/>
              </a:rPr>
              <a:t> живут дольше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Blue модуль не коррелирован → не связан с выживанием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Green модуль положительно коррелирован → пациенты с </a:t>
            </a:r>
            <a:r>
              <a:rPr lang="ru-RU" b="0" i="0" dirty="0" err="1">
                <a:effectLst/>
                <a:latin typeface="fkGroteskNeue"/>
              </a:rPr>
              <a:t>high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ME_green</a:t>
            </a:r>
            <a:r>
              <a:rPr lang="ru-RU" b="0" i="0" dirty="0">
                <a:effectLst/>
                <a:latin typeface="fkGroteskNeue"/>
              </a:rPr>
              <a:t> живут дольше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Интерпретация: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Red модуль может быть "иммунный" → хороший иммунитет → лучший прогноз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Green модуль может быть "апоптоз" → активирована гибель раковых клеток → лучший прогноз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Blue модуль может быть "метаболизм" → не коррелирует с выживанием напрямую</a:t>
            </a:r>
          </a:p>
          <a:p>
            <a:br>
              <a:rPr lang="ru-RU" dirty="0"/>
            </a:br>
            <a:r>
              <a:rPr lang="ru-RU" dirty="0"/>
              <a:t>ПАУЗА</a:t>
            </a:r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81314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 err="1">
                <a:effectLst/>
                <a:latin typeface="fkGroteskNeue"/>
              </a:rPr>
              <a:t>Hub</a:t>
            </a:r>
            <a:r>
              <a:rPr lang="ru-RU" b="0" i="0" dirty="0">
                <a:effectLst/>
                <a:latin typeface="fkGroteskNeue"/>
              </a:rPr>
              <a:t> гены — звёзды сети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Определение: гены с наибольшей связностью внутри своего модуля.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Почему важны?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Часто это транскрипционные факторы (</a:t>
            </a:r>
            <a:r>
              <a:rPr lang="ru-RU" b="0" i="0" dirty="0" err="1">
                <a:effectLst/>
                <a:latin typeface="fkGroteskNeue"/>
              </a:rPr>
              <a:t>TFs</a:t>
            </a:r>
            <a:r>
              <a:rPr lang="ru-RU" b="0" i="0" dirty="0">
                <a:effectLst/>
                <a:latin typeface="fkGroteskNeue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Регулируют много других генов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Ключевые "хабы", через которые идёт регуляция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Как найти </a:t>
            </a:r>
            <a:r>
              <a:rPr lang="ru-RU" b="0" i="0" dirty="0" err="1">
                <a:effectLst/>
                <a:latin typeface="fkGroteskNeue"/>
              </a:rPr>
              <a:t>hub</a:t>
            </a:r>
            <a:r>
              <a:rPr lang="ru-RU" b="0" i="0" dirty="0">
                <a:effectLst/>
                <a:latin typeface="fkGroteskNeue"/>
              </a:rPr>
              <a:t> гены?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Метрика 1: </a:t>
            </a:r>
            <a:r>
              <a:rPr lang="ru-RU" b="0" i="0" dirty="0" err="1">
                <a:effectLst/>
                <a:latin typeface="fkGroteskNeue"/>
              </a:rPr>
              <a:t>Intramodular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connectivity</a:t>
            </a:r>
            <a:r>
              <a:rPr lang="ru-RU" b="0" i="0" dirty="0">
                <a:effectLst/>
                <a:latin typeface="fkGroteskNeue"/>
              </a:rPr>
              <a:t> (</a:t>
            </a:r>
            <a:r>
              <a:rPr lang="ru-RU" b="0" i="0" dirty="0" err="1">
                <a:effectLst/>
                <a:latin typeface="fkGroteskNeue"/>
              </a:rPr>
              <a:t>kME</a:t>
            </a:r>
            <a:r>
              <a:rPr lang="ru-RU" b="0" i="0" dirty="0">
                <a:effectLst/>
                <a:latin typeface="fkGroteskNeue"/>
              </a:rPr>
              <a:t>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Корреляция гена с модульным собственным вектором ME.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Интерпретация: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kME</a:t>
            </a:r>
            <a:r>
              <a:rPr lang="ru-RU" b="0" i="0" dirty="0">
                <a:effectLst/>
                <a:latin typeface="fkGroteskNeue"/>
              </a:rPr>
              <a:t> = 0.9 → этот ген "идеально репрезентирует" модуль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kME</a:t>
            </a:r>
            <a:r>
              <a:rPr lang="ru-RU" b="0" i="0" dirty="0">
                <a:effectLst/>
                <a:latin typeface="fkGroteskNeue"/>
              </a:rPr>
              <a:t> = 0.5 → этот ген "частично в модуле"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kME</a:t>
            </a:r>
            <a:r>
              <a:rPr lang="ru-RU" b="0" i="0" dirty="0">
                <a:effectLst/>
                <a:latin typeface="fkGroteskNeue"/>
              </a:rPr>
              <a:t> = 0.1 → этот ген "слегка связан с модулем"</a:t>
            </a:r>
          </a:p>
          <a:p>
            <a:pPr algn="l"/>
            <a:r>
              <a:rPr lang="ru-RU" b="0" i="0" dirty="0" err="1">
                <a:effectLst/>
                <a:latin typeface="fkGroteskNeue"/>
              </a:rPr>
              <a:t>Hub</a:t>
            </a:r>
            <a:r>
              <a:rPr lang="ru-RU" b="0" i="0" dirty="0">
                <a:effectLst/>
                <a:latin typeface="fkGroteskNeue"/>
              </a:rPr>
              <a:t> гены имеют высокую </a:t>
            </a:r>
            <a:r>
              <a:rPr lang="ru-RU" b="0" i="0" dirty="0" err="1">
                <a:effectLst/>
                <a:latin typeface="fkGroteskNeue"/>
              </a:rPr>
              <a:t>kME</a:t>
            </a:r>
            <a:r>
              <a:rPr lang="ru-RU" b="0" i="0" dirty="0">
                <a:effectLst/>
                <a:latin typeface="fkGroteskNeue"/>
              </a:rPr>
              <a:t> в своём модуле.</a:t>
            </a: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68006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Визуализация сетей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Проблема: 16,000 генов, как изобразить?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Метод 1: TOM </a:t>
            </a:r>
            <a:r>
              <a:rPr lang="ru-RU" b="0" i="0" dirty="0" err="1">
                <a:effectLst/>
                <a:latin typeface="fkGroteskNeue"/>
              </a:rPr>
              <a:t>Plot</a:t>
            </a:r>
            <a:r>
              <a:rPr lang="ru-RU" b="0" i="0" dirty="0">
                <a:effectLst/>
                <a:latin typeface="fkGroteskNeue"/>
              </a:rPr>
              <a:t> (</a:t>
            </a:r>
            <a:r>
              <a:rPr lang="ru-RU" b="0" i="0" dirty="0" err="1">
                <a:effectLst/>
                <a:latin typeface="fkGroteskNeue"/>
              </a:rPr>
              <a:t>Topological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Overlap</a:t>
            </a:r>
            <a:r>
              <a:rPr lang="ru-RU" b="0" i="0" dirty="0">
                <a:effectLst/>
                <a:latin typeface="fkGroteskNeue"/>
              </a:rPr>
              <a:t> Matrix)</a:t>
            </a:r>
          </a:p>
          <a:p>
            <a:pPr algn="l"/>
            <a:r>
              <a:rPr lang="ru-RU" b="0" i="0" dirty="0" err="1">
                <a:effectLst/>
                <a:latin typeface="fkGroteskNeue"/>
              </a:rPr>
              <a:t>Теплокарта</a:t>
            </a:r>
            <a:r>
              <a:rPr lang="ru-RU" b="0" i="0" dirty="0">
                <a:effectLst/>
                <a:latin typeface="fkGroteskNeue"/>
              </a:rPr>
              <a:t>, показывающая связность пар генов.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Оси: гены (отсортированы по модулям)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Цвет: сила связи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Жёлтый = сильно соединены (TOM высокий)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Синий = слабо соединены (TOM низкий)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 видна модульная структура как диагональные блоки!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Метод 2: </a:t>
            </a:r>
            <a:r>
              <a:rPr lang="ru-RU" b="0" i="0" dirty="0" err="1">
                <a:effectLst/>
                <a:latin typeface="fkGroteskNeue"/>
              </a:rPr>
              <a:t>Cytoscape</a:t>
            </a:r>
            <a:r>
              <a:rPr lang="ru-RU" b="0" i="0" dirty="0">
                <a:effectLst/>
                <a:latin typeface="fkGroteskNeue"/>
              </a:rPr>
              <a:t> (отдельное приложение)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Программа для визуализации графов.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Узлы = гены (размер = </a:t>
            </a:r>
            <a:r>
              <a:rPr lang="ru-RU" b="0" i="0" dirty="0" err="1">
                <a:effectLst/>
                <a:latin typeface="fkGroteskNeue"/>
              </a:rPr>
              <a:t>degree</a:t>
            </a:r>
            <a:r>
              <a:rPr lang="ru-RU" b="0" i="0" dirty="0">
                <a:effectLst/>
                <a:latin typeface="fkGroteskNeue"/>
              </a:rPr>
              <a:t>, цвет = модуль)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Рёбра = корреляция (толщина = сила)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Layout</a:t>
            </a:r>
            <a:r>
              <a:rPr lang="ru-RU" b="0" i="0" dirty="0">
                <a:effectLst/>
                <a:latin typeface="fkGroteskNeue"/>
              </a:rPr>
              <a:t> = Force-</a:t>
            </a:r>
            <a:r>
              <a:rPr lang="ru-RU" b="0" i="0" dirty="0" err="1">
                <a:effectLst/>
                <a:latin typeface="fkGroteskNeue"/>
              </a:rPr>
              <a:t>directed</a:t>
            </a:r>
            <a:r>
              <a:rPr lang="ru-RU" b="0" i="0" dirty="0">
                <a:effectLst/>
                <a:latin typeface="fkGroteskNeue"/>
              </a:rPr>
              <a:t> (упругость, как если бы связанные узлы притягиваются)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Можно </a:t>
            </a:r>
            <a:r>
              <a:rPr lang="ru-RU" b="0" i="0" dirty="0" err="1">
                <a:effectLst/>
                <a:latin typeface="fkGroteskNeue"/>
              </a:rPr>
              <a:t>zoom</a:t>
            </a:r>
            <a:r>
              <a:rPr lang="ru-RU" b="0" i="0" dirty="0">
                <a:effectLst/>
                <a:latin typeface="fkGroteskNeue"/>
              </a:rPr>
              <a:t> in, кликать на гены, смотреть метаданные.</a:t>
            </a:r>
          </a:p>
          <a:p>
            <a:pPr algn="l"/>
            <a:r>
              <a:rPr lang="ru-RU" b="0" i="0" dirty="0" err="1">
                <a:effectLst/>
                <a:latin typeface="fkGroteskNeue"/>
              </a:rPr>
              <a:t>Cytoscape</a:t>
            </a:r>
            <a:r>
              <a:rPr lang="ru-RU" b="0" i="0" dirty="0">
                <a:effectLst/>
                <a:latin typeface="fkGroteskNeue"/>
              </a:rPr>
              <a:t> можно экспортировать граф из R и визуализировать в программе.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Метод 3: </a:t>
            </a:r>
            <a:r>
              <a:rPr lang="ru-RU" b="0" i="0" dirty="0" err="1">
                <a:effectLst/>
                <a:latin typeface="fkGroteskNeue"/>
              </a:rPr>
              <a:t>igraph</a:t>
            </a:r>
            <a:r>
              <a:rPr lang="en-US" b="0" i="0" dirty="0">
                <a:effectLst/>
                <a:latin typeface="fkGroteskNeue"/>
              </a:rPr>
              <a:t> </a:t>
            </a:r>
            <a:r>
              <a:rPr lang="ru-RU" b="0" i="0" dirty="0">
                <a:effectLst/>
                <a:latin typeface="fkGroteskNeue"/>
              </a:rPr>
              <a:t>и </a:t>
            </a:r>
            <a:r>
              <a:rPr lang="en-US" sz="1200" dirty="0" err="1">
                <a:latin typeface="fkGroteskNeue"/>
              </a:rPr>
              <a:t>tidygraph</a:t>
            </a:r>
            <a:r>
              <a:rPr lang="ru-RU" b="0" i="0" dirty="0">
                <a:effectLst/>
                <a:latin typeface="fkGroteskNeue"/>
              </a:rPr>
              <a:t> в R</a:t>
            </a: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81760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Что делают гены в модуле? Представьте: WGCNA выдала модуль из 150 генов, сильно ассоциированный с опухолью.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Вопрос: что общего у этих 150 генов? Случайный набор или биологическая функция?</a:t>
            </a:r>
          </a:p>
          <a:p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Ответ: функциональное обогащение — </a:t>
            </a:r>
            <a:r>
              <a:rPr lang="ru-RU" sz="1200" b="0" i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Gene</a:t>
            </a:r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Ontology</a:t>
            </a:r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(GO). Каждому гену из 20 тысяч в геноме присвоены аннотации по трём осям.</a:t>
            </a:r>
          </a:p>
          <a:p>
            <a:r>
              <a:rPr lang="ru-RU" sz="1200" b="0" i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Biological</a:t>
            </a:r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Process (GO BP): апоптоз, клеточная пролиферация, репарация ДНК.</a:t>
            </a:r>
          </a:p>
          <a:p>
            <a:r>
              <a:rPr lang="ru-RU" sz="1200" b="0" i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Molecular</a:t>
            </a:r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Function</a:t>
            </a:r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(GO MF): </a:t>
            </a:r>
            <a:r>
              <a:rPr lang="ru-RU" sz="1200" b="0" i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киназная</a:t>
            </a:r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активность, связывание факторов транскрипции.</a:t>
            </a:r>
          </a:p>
          <a:p>
            <a:r>
              <a:rPr lang="ru-RU" sz="1200" b="0" i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Cellular</a:t>
            </a:r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Component</a:t>
            </a:r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(GO CC): митохондрии, клеточная мембрана.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Статистика: гипергеометрический тест. Если случайно взять 150 из 20 тысяч, сколько ожидается с функцией 'апоптоз'? Наблюдаемое &gt;&gt; ожидаемого — обогащение.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Дополнение: KEGG </a:t>
            </a:r>
            <a:r>
              <a:rPr lang="ru-RU" sz="1200" b="0" i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pathways</a:t>
            </a:r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— </a:t>
            </a:r>
            <a:r>
              <a:rPr lang="ru-RU" sz="1200" b="0" i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Wnt</a:t>
            </a:r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signaling</a:t>
            </a:r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p53 </a:t>
            </a:r>
            <a:r>
              <a:rPr lang="ru-RU" sz="1200" b="0" i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pathway</a:t>
            </a:r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MAPK. Аналогичный тест на пути.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Вывод: модуль не абстрактный, а 'путь пролиферации и выживания опухоли'. GO/KEGG — обязательный шаг после WGCNA!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20731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effectLst/>
                <a:latin typeface="fkGroteskNeue"/>
              </a:rPr>
              <a:t>Case Study: </a:t>
            </a:r>
            <a:r>
              <a:rPr lang="ru-RU" b="0" i="0" dirty="0">
                <a:effectLst/>
                <a:latin typeface="fkGroteskNeue"/>
              </a:rPr>
              <a:t>Рак молочной железы (детально)</a:t>
            </a:r>
          </a:p>
          <a:p>
            <a:pPr algn="l"/>
            <a:r>
              <a:rPr lang="ru-RU" b="0" i="0" dirty="0" err="1">
                <a:effectLst/>
                <a:latin typeface="fkGroteskNeue"/>
              </a:rPr>
              <a:t>Датасет</a:t>
            </a:r>
            <a:r>
              <a:rPr lang="ru-RU" b="0" i="0" dirty="0">
                <a:effectLst/>
                <a:latin typeface="fkGroteskNeue"/>
              </a:rPr>
              <a:t>: </a:t>
            </a:r>
            <a:r>
              <a:rPr lang="en-US" b="0" i="0" dirty="0">
                <a:effectLst/>
                <a:latin typeface="fkGroteskNeue"/>
              </a:rPr>
              <a:t>TCGA Breast Cancer (The Cancer Genome Atlas)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1,200 </a:t>
            </a:r>
            <a:r>
              <a:rPr lang="ru-RU" b="0" i="0" dirty="0">
                <a:effectLst/>
                <a:latin typeface="fkGroteskNeue"/>
              </a:rPr>
              <a:t>пациентов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~20,000 генов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15 лет </a:t>
            </a:r>
            <a:r>
              <a:rPr lang="en-US" b="0" i="0" dirty="0">
                <a:effectLst/>
                <a:latin typeface="fkGroteskNeue"/>
              </a:rPr>
              <a:t>follow-up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Фенотипы: выживание, стадия, </a:t>
            </a:r>
            <a:r>
              <a:rPr lang="ru-RU" b="0" i="0" dirty="0" err="1">
                <a:effectLst/>
                <a:latin typeface="fkGroteskNeue"/>
              </a:rPr>
              <a:t>гистотип</a:t>
            </a:r>
            <a:r>
              <a:rPr lang="ru-RU" b="0" i="0" dirty="0">
                <a:effectLst/>
                <a:latin typeface="fkGroteskNeue"/>
              </a:rPr>
              <a:t>, гормональные рецепторы, </a:t>
            </a:r>
            <a:r>
              <a:rPr lang="en-US" b="0" i="0" dirty="0">
                <a:effectLst/>
                <a:latin typeface="fkGroteskNeue"/>
              </a:rPr>
              <a:t>HER2 </a:t>
            </a:r>
            <a:r>
              <a:rPr lang="ru-RU" b="0" i="0" dirty="0">
                <a:effectLst/>
                <a:latin typeface="fkGroteskNeue"/>
              </a:rPr>
              <a:t>статус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Применена </a:t>
            </a:r>
            <a:r>
              <a:rPr lang="en-US" b="0" i="0" dirty="0">
                <a:effectLst/>
                <a:latin typeface="fkGroteskNeue"/>
              </a:rPr>
              <a:t>WGCNA: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Найдено 15 модулей.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Корреляция модулей с выживанием:</a:t>
            </a:r>
          </a:p>
          <a:p>
            <a:pPr algn="l"/>
            <a:r>
              <a:rPr lang="en-US" b="0" i="0" dirty="0">
                <a:effectLst/>
                <a:latin typeface="fkGroteskNeue"/>
              </a:rPr>
              <a:t>Red </a:t>
            </a:r>
            <a:r>
              <a:rPr lang="ru-RU" b="0" i="0" dirty="0">
                <a:effectLst/>
                <a:latin typeface="fkGroteskNeue"/>
              </a:rPr>
              <a:t>модуль: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r = 0.68 </a:t>
            </a:r>
            <a:r>
              <a:rPr lang="ru-RU" b="0" i="0" dirty="0">
                <a:effectLst/>
                <a:latin typeface="fkGroteskNeue"/>
              </a:rPr>
              <a:t>с выживанием (</a:t>
            </a:r>
            <a:r>
              <a:rPr lang="en-US" b="0" i="0" dirty="0">
                <a:effectLst/>
                <a:latin typeface="fkGroteskNeue"/>
              </a:rPr>
              <a:t>p &lt; 0.001) ***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Интерпретация: модули высокого уровня → лучше выживают</a:t>
            </a:r>
          </a:p>
          <a:p>
            <a:pPr algn="l"/>
            <a:r>
              <a:rPr lang="en-US" b="0" i="0" dirty="0">
                <a:effectLst/>
                <a:latin typeface="fkGroteskNeue"/>
              </a:rPr>
              <a:t>Blue </a:t>
            </a:r>
            <a:r>
              <a:rPr lang="ru-RU" b="0" i="0" dirty="0">
                <a:effectLst/>
                <a:latin typeface="fkGroteskNeue"/>
              </a:rPr>
              <a:t>модуль: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r = -0.45 </a:t>
            </a:r>
            <a:r>
              <a:rPr lang="ru-RU" b="0" i="0" dirty="0">
                <a:effectLst/>
                <a:latin typeface="fkGroteskNeue"/>
              </a:rPr>
              <a:t>с выживанием (</a:t>
            </a:r>
            <a:r>
              <a:rPr lang="en-US" b="0" i="0" dirty="0">
                <a:effectLst/>
                <a:latin typeface="fkGroteskNeue"/>
              </a:rPr>
              <a:t>p = 0.01) *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Интерпретация: модули высокого уровня → хуже выживают</a:t>
            </a:r>
          </a:p>
          <a:p>
            <a:pPr algn="l"/>
            <a:r>
              <a:rPr lang="en-US" b="0" i="0" dirty="0">
                <a:effectLst/>
                <a:latin typeface="fkGroteskNeue"/>
              </a:rPr>
              <a:t>Green </a:t>
            </a:r>
            <a:r>
              <a:rPr lang="ru-RU" b="0" i="0" dirty="0">
                <a:effectLst/>
                <a:latin typeface="fkGroteskNeue"/>
              </a:rPr>
              <a:t>модуль: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r = 0.35 </a:t>
            </a:r>
            <a:r>
              <a:rPr lang="ru-RU" b="0" i="0" dirty="0">
                <a:effectLst/>
                <a:latin typeface="fkGroteskNeue"/>
              </a:rPr>
              <a:t>с </a:t>
            </a:r>
            <a:r>
              <a:rPr lang="en-US" b="0" i="0" dirty="0">
                <a:effectLst/>
                <a:latin typeface="fkGroteskNeue"/>
              </a:rPr>
              <a:t>HER2+ </a:t>
            </a:r>
            <a:r>
              <a:rPr lang="ru-RU" b="0" i="0" dirty="0">
                <a:effectLst/>
                <a:latin typeface="fkGroteskNeue"/>
              </a:rPr>
              <a:t>статусом (</a:t>
            </a:r>
            <a:r>
              <a:rPr lang="en-US" b="0" i="0" dirty="0">
                <a:effectLst/>
                <a:latin typeface="fkGroteskNeue"/>
              </a:rPr>
              <a:t>p = 0.05) *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Интерпретация: модули связаны с рецепторным статусом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Остальные модули: </a:t>
            </a:r>
            <a:r>
              <a:rPr lang="en-US" b="0" i="0" dirty="0">
                <a:effectLst/>
                <a:latin typeface="fkGroteskNeue"/>
              </a:rPr>
              <a:t>p &gt; 0.05 (</a:t>
            </a:r>
            <a:r>
              <a:rPr lang="ru-RU" b="0" i="0" dirty="0">
                <a:effectLst/>
                <a:latin typeface="fkGroteskNeue"/>
              </a:rPr>
              <a:t>не значимы)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Функциональное обогащение </a:t>
            </a:r>
            <a:r>
              <a:rPr lang="en-US" b="0" i="0" dirty="0">
                <a:effectLst/>
                <a:latin typeface="fkGroteskNeue"/>
              </a:rPr>
              <a:t>Red </a:t>
            </a:r>
            <a:r>
              <a:rPr lang="ru-RU" b="0" i="0" dirty="0">
                <a:effectLst/>
                <a:latin typeface="fkGroteskNeue"/>
              </a:rPr>
              <a:t>модуля (150 генов):</a:t>
            </a:r>
          </a:p>
          <a:p>
            <a:pPr algn="l"/>
            <a:r>
              <a:rPr lang="en-US" b="0" i="0" dirty="0">
                <a:effectLst/>
                <a:latin typeface="fkGroteskNeue"/>
              </a:rPr>
              <a:t>Gene Ontology </a:t>
            </a:r>
            <a:r>
              <a:rPr lang="ru-RU" b="0" i="0" dirty="0">
                <a:effectLst/>
                <a:latin typeface="fkGroteskNeue"/>
              </a:rPr>
              <a:t>анализ (обогащение):</a:t>
            </a:r>
          </a:p>
          <a:p>
            <a:pPr algn="l"/>
            <a:r>
              <a:rPr lang="en-US" b="0" i="0" dirty="0">
                <a:effectLst/>
                <a:latin typeface="fkGroteskNeue"/>
              </a:rPr>
              <a:t>Top GO terms (</a:t>
            </a:r>
            <a:r>
              <a:rPr lang="ru-RU" b="0" i="0" dirty="0">
                <a:effectLst/>
                <a:latin typeface="fkGroteskNeue"/>
              </a:rPr>
              <a:t>по </a:t>
            </a:r>
            <a:r>
              <a:rPr lang="en-US" b="0" i="0" dirty="0">
                <a:effectLst/>
                <a:latin typeface="fkGroteskNeue"/>
              </a:rPr>
              <a:t>p-value):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"Immune response" (p = 1e-50) — </a:t>
            </a:r>
            <a:r>
              <a:rPr lang="ru-RU" b="0" i="0" dirty="0">
                <a:effectLst/>
                <a:latin typeface="fkGroteskNeue"/>
              </a:rPr>
              <a:t>почти все гены про иммунитет!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"</a:t>
            </a:r>
            <a:r>
              <a:rPr lang="en-US" b="0" i="0" dirty="0">
                <a:effectLst/>
                <a:latin typeface="fkGroteskNeue"/>
              </a:rPr>
              <a:t>T cell activation" (p = 1e-45)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"Leukocyte migration" (p = 1e-42)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"Interferon signaling" (p = 1e-40)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Вывод: </a:t>
            </a:r>
            <a:r>
              <a:rPr lang="en-US" b="0" i="0" dirty="0">
                <a:effectLst/>
                <a:latin typeface="fkGroteskNeue"/>
              </a:rPr>
              <a:t>Red </a:t>
            </a:r>
            <a:r>
              <a:rPr lang="ru-RU" b="0" i="0" dirty="0">
                <a:effectLst/>
                <a:latin typeface="fkGroteskNeue"/>
              </a:rPr>
              <a:t>модуль = иммунный модуль!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Пациенты с высокой экспрессией иммунного модуля → хороший иммунный ответ → рак подавляется → лучший прогноз</a:t>
            </a:r>
          </a:p>
          <a:p>
            <a:pPr algn="l"/>
            <a:r>
              <a:rPr lang="en-US" b="0" i="0" dirty="0">
                <a:effectLst/>
                <a:latin typeface="fkGroteskNeue"/>
              </a:rPr>
              <a:t>KEGG pathway </a:t>
            </a:r>
            <a:r>
              <a:rPr lang="ru-RU" b="0" i="0" dirty="0">
                <a:effectLst/>
                <a:latin typeface="fkGroteskNeue"/>
              </a:rPr>
              <a:t>анализ:</a:t>
            </a:r>
          </a:p>
          <a:p>
            <a:pPr algn="l"/>
            <a:r>
              <a:rPr lang="en-US" b="0" i="0" dirty="0">
                <a:effectLst/>
                <a:latin typeface="fkGroteskNeue"/>
              </a:rPr>
              <a:t>Top pathways: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"Th1 differentiation" (p = 1e-30)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"Antigen presentation" (p = 1e-28)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"JAK-STAT signaling" (p = 1e-25)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Все про активацию иммунитета!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Функциональное обогащение </a:t>
            </a:r>
            <a:r>
              <a:rPr lang="en-US" b="0" i="0" dirty="0">
                <a:effectLst/>
                <a:latin typeface="fkGroteskNeue"/>
              </a:rPr>
              <a:t>Blue </a:t>
            </a:r>
            <a:r>
              <a:rPr lang="ru-RU" b="0" i="0" dirty="0">
                <a:effectLst/>
                <a:latin typeface="fkGroteskNeue"/>
              </a:rPr>
              <a:t>модуля (200 генов):</a:t>
            </a:r>
          </a:p>
          <a:p>
            <a:pPr algn="l"/>
            <a:r>
              <a:rPr lang="en-US" b="0" i="0" dirty="0">
                <a:effectLst/>
                <a:latin typeface="fkGroteskNeue"/>
              </a:rPr>
              <a:t>Top GO terms: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"Cell cycle regulation" (p = 1e-35)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"DNA replication" (p = 1e-32)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"Mitosis" (p = 1e-30)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Вывод: </a:t>
            </a:r>
            <a:r>
              <a:rPr lang="en-US" b="0" i="0" dirty="0">
                <a:effectLst/>
                <a:latin typeface="fkGroteskNeue"/>
              </a:rPr>
              <a:t>Blue </a:t>
            </a:r>
            <a:r>
              <a:rPr lang="ru-RU" b="0" i="0" dirty="0">
                <a:effectLst/>
                <a:latin typeface="fkGroteskNeue"/>
              </a:rPr>
              <a:t>модуль = клеточный цикл и пролиферация!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Пациенты с высокой экспрессией → раковые клетки активно делятся → плохой прогноз</a:t>
            </a:r>
          </a:p>
          <a:p>
            <a:pPr algn="l"/>
            <a:r>
              <a:rPr lang="en-US" b="0" i="0" dirty="0">
                <a:effectLst/>
                <a:latin typeface="fkGroteskNeue"/>
              </a:rPr>
              <a:t>Hub </a:t>
            </a:r>
            <a:r>
              <a:rPr lang="ru-RU" b="0" i="0" dirty="0">
                <a:effectLst/>
                <a:latin typeface="fkGroteskNeue"/>
              </a:rPr>
              <a:t>гены в </a:t>
            </a:r>
            <a:r>
              <a:rPr lang="en-US" b="0" i="0" dirty="0">
                <a:effectLst/>
                <a:latin typeface="fkGroteskNeue"/>
              </a:rPr>
              <a:t>Red </a:t>
            </a:r>
            <a:r>
              <a:rPr lang="ru-RU" b="0" i="0" dirty="0">
                <a:effectLst/>
                <a:latin typeface="fkGroteskNeue"/>
              </a:rPr>
              <a:t>модуле (иммунный):</a:t>
            </a:r>
          </a:p>
          <a:p>
            <a:pPr algn="l"/>
            <a:r>
              <a:rPr lang="en-US" b="0" i="0" dirty="0">
                <a:effectLst/>
                <a:latin typeface="fkGroteskNeue"/>
              </a:rPr>
              <a:t>Top 5 hub </a:t>
            </a:r>
            <a:r>
              <a:rPr lang="ru-RU" b="0" i="0" dirty="0">
                <a:effectLst/>
                <a:latin typeface="fkGroteskNeue"/>
              </a:rPr>
              <a:t>гены: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IL6 (Interleukin 6): </a:t>
            </a:r>
            <a:r>
              <a:rPr lang="ru-RU" b="0" i="0" dirty="0">
                <a:effectLst/>
                <a:latin typeface="fkGroteskNeue"/>
              </a:rPr>
              <a:t>цитокин, активация иммунитета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TNF (Tumor Necrosis Factor): </a:t>
            </a:r>
            <a:r>
              <a:rPr lang="ru-RU" b="0" i="0" dirty="0">
                <a:effectLst/>
                <a:latin typeface="fkGroteskNeue"/>
              </a:rPr>
              <a:t>цитокин, убивает раковые клетки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IL1B (Interleukin 1B): </a:t>
            </a:r>
            <a:r>
              <a:rPr lang="ru-RU" b="0" i="0" dirty="0">
                <a:effectLst/>
                <a:latin typeface="fkGroteskNeue"/>
              </a:rPr>
              <a:t>воспаление, активация иммунитета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IL2 (Interleukin 2): </a:t>
            </a:r>
            <a:r>
              <a:rPr lang="ru-RU" b="0" i="0" dirty="0">
                <a:effectLst/>
                <a:latin typeface="fkGroteskNeue"/>
              </a:rPr>
              <a:t>активация </a:t>
            </a:r>
            <a:r>
              <a:rPr lang="en-US" b="0" i="0" dirty="0">
                <a:effectLst/>
                <a:latin typeface="fkGroteskNeue"/>
              </a:rPr>
              <a:t>T cells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CD8A (CD8 antigen): </a:t>
            </a:r>
            <a:r>
              <a:rPr lang="ru-RU" b="0" i="0" dirty="0">
                <a:effectLst/>
                <a:latin typeface="fkGroteskNeue"/>
              </a:rPr>
              <a:t>маркер </a:t>
            </a:r>
            <a:r>
              <a:rPr lang="en-US" b="0" i="0" dirty="0">
                <a:effectLst/>
                <a:latin typeface="fkGroteskNeue"/>
              </a:rPr>
              <a:t>T cells killer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Все про активацию иммунитета!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Этот модуль можно назвать "</a:t>
            </a:r>
            <a:r>
              <a:rPr lang="en-US" b="0" i="0" dirty="0">
                <a:effectLst/>
                <a:latin typeface="fkGroteskNeue"/>
              </a:rPr>
              <a:t>T cell activation and immune response module"</a:t>
            </a: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00184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Сравнение сетей: здоровые </a:t>
            </a:r>
            <a:r>
              <a:rPr lang="ru-RU" b="0" i="0" dirty="0" err="1">
                <a:effectLst/>
                <a:latin typeface="fkGroteskNeue"/>
              </a:rPr>
              <a:t>vs</a:t>
            </a:r>
            <a:r>
              <a:rPr lang="ru-RU" b="0" i="0" dirty="0">
                <a:effectLst/>
                <a:latin typeface="fkGroteskNeue"/>
              </a:rPr>
              <a:t> больные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Интересный вопрос: изменяется ли сетевая архитектура при раке?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Метод 1: Отдельная WGCNA для каждой группы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Здоровые ткани (n=100):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WGCNA → находим модули в здоровых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Результат: "здоровые модули" (наверное, про нормальную функцию клеток)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Раковые ткани (n=100):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WGCNA → находим модули в раке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Результат: "раковые модули" (может быть совсем другие)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Сравнение: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Какие модули исчезли в раке?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Какие новые модули появились?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Какие изменили структуру?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 часто: в раке сетевая архитектура переорганизована, появляются новые связи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Метод 2: </a:t>
            </a:r>
            <a:r>
              <a:rPr lang="ru-RU" b="0" i="0" dirty="0" err="1">
                <a:effectLst/>
                <a:latin typeface="fkGroteskNeue"/>
              </a:rPr>
              <a:t>Differential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network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analysis</a:t>
            </a:r>
            <a:endParaRPr lang="ru-RU" b="0" i="0" dirty="0">
              <a:effectLst/>
              <a:latin typeface="fkGroteskNeue"/>
            </a:endParaRPr>
          </a:p>
          <a:p>
            <a:pPr algn="l"/>
            <a:r>
              <a:rPr lang="ru-RU" b="0" i="0" dirty="0">
                <a:effectLst/>
                <a:latin typeface="fkGroteskNeue"/>
              </a:rPr>
              <a:t>Берём общие модули (найденные в объединённом </a:t>
            </a:r>
            <a:r>
              <a:rPr lang="ru-RU" b="0" i="0" dirty="0" err="1">
                <a:effectLst/>
                <a:latin typeface="fkGroteskNeue"/>
              </a:rPr>
              <a:t>датасете</a:t>
            </a:r>
            <a:r>
              <a:rPr lang="ru-RU" b="0" i="0" dirty="0">
                <a:effectLst/>
                <a:latin typeface="fkGroteskNeue"/>
              </a:rPr>
              <a:t>).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Для каждого модуля считаем: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Средняя корреляция между генами в здоровых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Средняя корреляция между генами в раке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t-тест на разницу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 какие связи усилились, какие ослабели?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Пример:</a:t>
            </a: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4719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Интеграция многомерных данных (</a:t>
            </a:r>
            <a:r>
              <a:rPr lang="en-US" b="0" i="0" dirty="0">
                <a:effectLst/>
                <a:latin typeface="fkGroteskNeue"/>
              </a:rPr>
              <a:t>Multi-omics)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Проблема: часто есть несколько типов данных: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Gene expression (RNA-seq, </a:t>
            </a:r>
            <a:r>
              <a:rPr lang="ru-RU" b="0" i="0" dirty="0" err="1">
                <a:effectLst/>
                <a:latin typeface="fkGroteskNeue"/>
              </a:rPr>
              <a:t>микромассивы</a:t>
            </a:r>
            <a:r>
              <a:rPr lang="ru-RU" b="0" i="0" dirty="0">
                <a:effectLst/>
                <a:latin typeface="fkGroteskNeue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DNA methylation (</a:t>
            </a:r>
            <a:r>
              <a:rPr lang="ru-RU" b="0" i="0" dirty="0">
                <a:effectLst/>
                <a:latin typeface="fkGroteskNeue"/>
              </a:rPr>
              <a:t>целые геном)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Protein expression (</a:t>
            </a:r>
            <a:r>
              <a:rPr lang="ru-RU" b="0" i="0" dirty="0" err="1">
                <a:effectLst/>
                <a:latin typeface="fkGroteskNeue"/>
              </a:rPr>
              <a:t>протеомика</a:t>
            </a:r>
            <a:r>
              <a:rPr lang="ru-RU" b="0" i="0" dirty="0">
                <a:effectLst/>
                <a:latin typeface="fkGroteskNeue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Copy Number Variation (CNV, </a:t>
            </a:r>
            <a:r>
              <a:rPr lang="ru-RU" b="0" i="0" dirty="0">
                <a:effectLst/>
                <a:latin typeface="fkGroteskNeue"/>
              </a:rPr>
              <a:t>вариации числа копий)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Mutations (</a:t>
            </a:r>
            <a:r>
              <a:rPr lang="ru-RU" b="0" i="0" dirty="0">
                <a:effectLst/>
                <a:latin typeface="fkGroteskNeue"/>
              </a:rPr>
              <a:t>мутации, секвенирование)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miRNA expression (</a:t>
            </a:r>
            <a:r>
              <a:rPr lang="ru-RU" b="0" i="0" dirty="0">
                <a:effectLst/>
                <a:latin typeface="fkGroteskNeue"/>
              </a:rPr>
              <a:t>микро-РНК)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Идея: построить сети для каждого типа данных → найти взаимодействия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Подход 1: </a:t>
            </a:r>
            <a:r>
              <a:rPr lang="en-US" b="0" i="0" dirty="0">
                <a:effectLst/>
                <a:latin typeface="fkGroteskNeue"/>
              </a:rPr>
              <a:t>MOFA (Multi-Omics Factor Analysis)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Матричное разложение (</a:t>
            </a:r>
            <a:r>
              <a:rPr lang="en-US" b="0" i="0" dirty="0">
                <a:effectLst/>
                <a:latin typeface="fkGroteskNeue"/>
              </a:rPr>
              <a:t>Matrix Factorization).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Ищет общие "факторы" (</a:t>
            </a:r>
            <a:r>
              <a:rPr lang="en-US" b="0" i="0" dirty="0">
                <a:effectLst/>
                <a:latin typeface="fkGroteskNeue"/>
              </a:rPr>
              <a:t>latent factors), </a:t>
            </a:r>
            <a:r>
              <a:rPr lang="ru-RU" b="0" i="0" dirty="0">
                <a:effectLst/>
                <a:latin typeface="fkGroteskNeue"/>
              </a:rPr>
              <a:t>которые объясняют вариабельность во ВСЕХ </a:t>
            </a:r>
            <a:r>
              <a:rPr lang="en-US" b="0" i="0" dirty="0">
                <a:effectLst/>
                <a:latin typeface="fkGroteskNeue"/>
              </a:rPr>
              <a:t>omics.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 10-20 факторов, каждый объясняет часть вариации.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Можно увидеть: какие факторы связаны с фенотипом?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Подход 2: </a:t>
            </a:r>
            <a:r>
              <a:rPr lang="en-US" b="0" i="0" dirty="0">
                <a:effectLst/>
                <a:latin typeface="fkGroteskNeue"/>
              </a:rPr>
              <a:t>Multiple WGCNA + </a:t>
            </a:r>
            <a:r>
              <a:rPr lang="ru-RU" b="0" i="0" dirty="0">
                <a:effectLst/>
                <a:latin typeface="fkGroteskNeue"/>
              </a:rPr>
              <a:t>интеграция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WGCNA </a:t>
            </a:r>
            <a:r>
              <a:rPr lang="ru-RU" b="0" i="0" dirty="0">
                <a:effectLst/>
                <a:latin typeface="fkGroteskNeue"/>
              </a:rPr>
              <a:t>для </a:t>
            </a:r>
            <a:r>
              <a:rPr lang="en-US" b="0" i="0" dirty="0">
                <a:effectLst/>
                <a:latin typeface="fkGroteskNeue"/>
              </a:rPr>
              <a:t>RNA-seq → </a:t>
            </a:r>
            <a:r>
              <a:rPr lang="ru-RU" b="0" i="0" dirty="0">
                <a:effectLst/>
                <a:latin typeface="fkGroteskNeue"/>
              </a:rPr>
              <a:t>модули_</a:t>
            </a:r>
            <a:r>
              <a:rPr lang="en-US" b="0" i="0" dirty="0">
                <a:effectLst/>
                <a:latin typeface="fkGroteskNeue"/>
              </a:rPr>
              <a:t>RNA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effectLst/>
                <a:latin typeface="fkGroteskNeue"/>
              </a:rPr>
              <a:t>WGCNA </a:t>
            </a:r>
            <a:r>
              <a:rPr lang="ru-RU" b="0" i="0" dirty="0">
                <a:effectLst/>
                <a:latin typeface="fkGroteskNeue"/>
              </a:rPr>
              <a:t>для </a:t>
            </a:r>
            <a:r>
              <a:rPr lang="en-US" b="0" i="0" dirty="0">
                <a:effectLst/>
                <a:latin typeface="fkGroteskNeue"/>
              </a:rPr>
              <a:t>methylation → </a:t>
            </a:r>
            <a:r>
              <a:rPr lang="ru-RU" b="0" i="0" dirty="0">
                <a:effectLst/>
                <a:latin typeface="fkGroteskNeue"/>
              </a:rPr>
              <a:t>модули_</a:t>
            </a:r>
            <a:r>
              <a:rPr lang="en-US" b="0" i="0" dirty="0">
                <a:effectLst/>
                <a:latin typeface="fkGroteskNeue"/>
              </a:rPr>
              <a:t>methyl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Считаем корреляцию между модулями: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Высокая экспрессия модуля_</a:t>
            </a:r>
            <a:r>
              <a:rPr lang="en-US" b="0" i="0" dirty="0">
                <a:effectLst/>
                <a:latin typeface="fkGroteskNeue"/>
              </a:rPr>
              <a:t>RNA ↔ </a:t>
            </a:r>
            <a:r>
              <a:rPr lang="ru-RU" b="0" i="0" dirty="0">
                <a:effectLst/>
                <a:latin typeface="fkGroteskNeue"/>
              </a:rPr>
              <a:t>низкая </a:t>
            </a:r>
            <a:r>
              <a:rPr lang="ru-RU" b="0" i="0" dirty="0" err="1">
                <a:effectLst/>
                <a:latin typeface="fkGroteskNeue"/>
              </a:rPr>
              <a:t>метилация</a:t>
            </a:r>
            <a:r>
              <a:rPr lang="ru-RU" b="0" i="0" dirty="0">
                <a:effectLst/>
                <a:latin typeface="fkGroteskNeue"/>
              </a:rPr>
              <a:t> модуля_</a:t>
            </a:r>
            <a:r>
              <a:rPr lang="en-US" b="0" i="0" dirty="0">
                <a:effectLst/>
                <a:latin typeface="fkGroteskNeue"/>
              </a:rPr>
              <a:t>methyl?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Если коррелированы → взаимодействие!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Вывод: гены иммунитета нормально </a:t>
            </a:r>
            <a:r>
              <a:rPr lang="ru-RU" b="0" i="0" dirty="0" err="1">
                <a:effectLst/>
                <a:latin typeface="fkGroteskNeue"/>
              </a:rPr>
              <a:t>экспрессированы</a:t>
            </a:r>
            <a:r>
              <a:rPr lang="ru-RU" b="0" i="0" dirty="0">
                <a:effectLst/>
                <a:latin typeface="fkGroteskNeue"/>
              </a:rPr>
              <a:t> потому что не </a:t>
            </a:r>
            <a:r>
              <a:rPr lang="ru-RU" b="0" i="0" dirty="0" err="1">
                <a:effectLst/>
                <a:latin typeface="fkGroteskNeue"/>
              </a:rPr>
              <a:t>метилированы</a:t>
            </a:r>
            <a:r>
              <a:rPr lang="ru-RU" b="0" i="0" dirty="0">
                <a:effectLst/>
                <a:latin typeface="fkGroteskNeue"/>
              </a:rPr>
              <a:t>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Это биологический механизм!</a:t>
            </a: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10658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Сетевые маркеры для клинического применения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Ключевой вопрос: как использовать сетевую информацию для предсказания?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Идея: сетевые индексы риска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Для каждого пациента считаем: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Коэффициент риска, где вес гена j = его "важность" в модуле (</a:t>
            </a:r>
            <a:r>
              <a:rPr lang="ru-RU" b="0" i="0" dirty="0" err="1">
                <a:effectLst/>
                <a:latin typeface="fkGroteskNeue"/>
              </a:rPr>
              <a:t>kME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degree</a:t>
            </a:r>
            <a:r>
              <a:rPr lang="ru-RU" b="0" i="0" dirty="0">
                <a:effectLst/>
                <a:latin typeface="fkGroteskNeue"/>
              </a:rPr>
              <a:t> или другое)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Клиническое применение: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Пациент A: Risk </a:t>
            </a:r>
            <a:r>
              <a:rPr lang="ru-RU" b="0" i="0" dirty="0" err="1">
                <a:effectLst/>
                <a:latin typeface="fkGroteskNeue"/>
              </a:rPr>
              <a:t>score</a:t>
            </a:r>
            <a:r>
              <a:rPr lang="ru-RU" b="0" i="0" dirty="0">
                <a:effectLst/>
                <a:latin typeface="fkGroteskNeue"/>
              </a:rPr>
              <a:t> = 3.5 (высокий риск) → активно лечить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Пациент B: Risk </a:t>
            </a:r>
            <a:r>
              <a:rPr lang="ru-RU" b="0" i="0" dirty="0" err="1">
                <a:effectLst/>
                <a:latin typeface="fkGroteskNeue"/>
              </a:rPr>
              <a:t>score</a:t>
            </a:r>
            <a:r>
              <a:rPr lang="ru-RU" b="0" i="0" dirty="0">
                <a:effectLst/>
                <a:latin typeface="fkGroteskNeue"/>
              </a:rPr>
              <a:t> = -2.1 (низкий риск) → возможен наблюдение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Преимущество над одиночным геном: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Одиночный ген (например, IL6):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Пациент имеет IL6 = 10 (высокий уровень)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Может быть спонтанная флуктуация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Или может быть истинная активация иммунитета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Неясно!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Модульный индекс: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IL6 = 10, IL2 = 8, TNF = 9, CD8A = 11, ... (все иммунные гены высокие!)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Вывод: действительно активирована вся иммунная система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Более надёжно!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Пример:</a:t>
            </a:r>
          </a:p>
          <a:p>
            <a:pPr algn="l"/>
            <a:r>
              <a:rPr lang="ru-RU" b="0" i="0" dirty="0" err="1">
                <a:effectLst/>
                <a:latin typeface="fkGroteskNeue"/>
              </a:rPr>
              <a:t>Датасет</a:t>
            </a:r>
            <a:r>
              <a:rPr lang="ru-RU" b="0" i="0" dirty="0">
                <a:effectLst/>
                <a:latin typeface="fkGroteskNeue"/>
              </a:rPr>
              <a:t> рака молочной железы (</a:t>
            </a:r>
            <a:r>
              <a:rPr lang="en-US" b="0" i="0" dirty="0">
                <a:effectLst/>
                <a:latin typeface="fkGroteskNeue"/>
              </a:rPr>
              <a:t>TCGA).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Обучили </a:t>
            </a:r>
            <a:r>
              <a:rPr lang="en-US" b="0" i="0" dirty="0">
                <a:effectLst/>
                <a:latin typeface="fkGroteskNeue"/>
              </a:rPr>
              <a:t>Cox model </a:t>
            </a:r>
            <a:r>
              <a:rPr lang="ru-RU" b="0" i="0" dirty="0">
                <a:effectLst/>
                <a:latin typeface="fkGroteskNeue"/>
              </a:rPr>
              <a:t>на </a:t>
            </a:r>
            <a:r>
              <a:rPr lang="en-US" b="0" i="0" dirty="0">
                <a:effectLst/>
                <a:latin typeface="fkGroteskNeue"/>
              </a:rPr>
              <a:t>Risk score </a:t>
            </a:r>
            <a:r>
              <a:rPr lang="ru-RU" b="0" i="0" dirty="0">
                <a:effectLst/>
                <a:latin typeface="fkGroteskNeue"/>
              </a:rPr>
              <a:t>модулей:</a:t>
            </a:r>
          </a:p>
          <a:p>
            <a:pPr algn="l"/>
            <a:r>
              <a:rPr lang="en-US" b="0" i="0" dirty="0">
                <a:effectLst/>
                <a:latin typeface="berkeleyMono"/>
              </a:rPr>
              <a:t>text</a:t>
            </a:r>
          </a:p>
          <a:p>
            <a:pPr algn="l"/>
            <a:r>
              <a:rPr lang="en-US" b="0" i="0" dirty="0">
                <a:solidFill>
                  <a:srgbClr val="4D4D4C"/>
                </a:solidFill>
                <a:effectLst/>
                <a:latin typeface="inherit"/>
              </a:rPr>
              <a:t>Cox hazard = exp(0.5 * </a:t>
            </a:r>
            <a:r>
              <a:rPr lang="en-US" b="0" i="0" dirty="0" err="1">
                <a:solidFill>
                  <a:srgbClr val="4D4D4C"/>
                </a:solidFill>
                <a:effectLst/>
                <a:latin typeface="inherit"/>
              </a:rPr>
              <a:t>Risk_score_red</a:t>
            </a:r>
            <a:r>
              <a:rPr lang="en-US" b="0" i="0" dirty="0">
                <a:solidFill>
                  <a:srgbClr val="4D4D4C"/>
                </a:solidFill>
                <a:effectLst/>
                <a:latin typeface="inherit"/>
              </a:rPr>
              <a:t> + 0.3 * </a:t>
            </a:r>
            <a:r>
              <a:rPr lang="en-US" b="0" i="0" dirty="0" err="1">
                <a:solidFill>
                  <a:srgbClr val="4D4D4C"/>
                </a:solidFill>
                <a:effectLst/>
                <a:latin typeface="inherit"/>
              </a:rPr>
              <a:t>Risk_score_blue</a:t>
            </a:r>
            <a:r>
              <a:rPr lang="en-US" b="0" i="0" dirty="0">
                <a:solidFill>
                  <a:srgbClr val="4D4D4C"/>
                </a:solidFill>
                <a:effectLst/>
                <a:latin typeface="inherit"/>
              </a:rPr>
              <a:t>) </a:t>
            </a:r>
            <a:endParaRPr lang="en-US" b="0" i="0" dirty="0">
              <a:effectLst/>
              <a:latin typeface="berkeleyMono"/>
            </a:endParaRPr>
          </a:p>
          <a:p>
            <a:pPr algn="l"/>
            <a:r>
              <a:rPr lang="ru-RU" b="0" i="0" dirty="0">
                <a:effectLst/>
                <a:latin typeface="fkGroteskNeue"/>
              </a:rPr>
              <a:t>На </a:t>
            </a:r>
            <a:r>
              <a:rPr lang="en-US" b="0" i="0" dirty="0">
                <a:effectLst/>
                <a:latin typeface="fkGroteskNeue"/>
              </a:rPr>
              <a:t>validation </a:t>
            </a:r>
            <a:r>
              <a:rPr lang="ru-RU" b="0" i="0" dirty="0">
                <a:effectLst/>
                <a:latin typeface="fkGroteskNeue"/>
              </a:rPr>
              <a:t>сете: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Риск-группа </a:t>
            </a:r>
            <a:r>
              <a:rPr lang="en-US" b="0" i="0" dirty="0">
                <a:effectLst/>
                <a:latin typeface="fkGroteskNeue"/>
              </a:rPr>
              <a:t>High: 1-year survival =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Риск-группа </a:t>
            </a:r>
            <a:r>
              <a:rPr lang="en-US" b="0" i="0" dirty="0">
                <a:effectLst/>
                <a:latin typeface="fkGroteskNeue"/>
              </a:rPr>
              <a:t>Low: 1-year survival = 95%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Разница огромная!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Сравнили с одиночным геном </a:t>
            </a:r>
            <a:r>
              <a:rPr lang="en-US" b="0" i="0" dirty="0">
                <a:effectLst/>
                <a:latin typeface="fkGroteskNeue"/>
              </a:rPr>
              <a:t>IL6: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IL6 High: 1-year survival = 75%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IL6 Low: 1-year survival = 85%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Разница меньше! Модульный индекс лучше!</a:t>
            </a:r>
          </a:p>
          <a:p>
            <a:b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ПАУЗА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23358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Когда использовать WGCNA? Практические рекомендации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Используй WGCNA когда: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✓ Много генов (&gt; 5,000) → есть что анализировать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✓ Много образцов (&gt; 100) → достаточно вариации для надёжных корреляций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✓ Есть матрица экспрессии (RNA-</a:t>
            </a:r>
            <a:r>
              <a:rPr lang="ru-RU" b="0" i="0" dirty="0" err="1">
                <a:effectLst/>
                <a:latin typeface="fkGroteskNeue"/>
              </a:rPr>
              <a:t>seq</a:t>
            </a:r>
            <a:r>
              <a:rPr lang="ru-RU" b="0" i="0" dirty="0">
                <a:effectLst/>
                <a:latin typeface="fkGroteskNeue"/>
              </a:rPr>
              <a:t> или </a:t>
            </a:r>
            <a:r>
              <a:rPr lang="ru-RU" b="0" i="0" dirty="0" err="1">
                <a:effectLst/>
                <a:latin typeface="fkGroteskNeue"/>
              </a:rPr>
              <a:t>microarray</a:t>
            </a:r>
            <a:r>
              <a:rPr lang="ru-RU" b="0" i="0" dirty="0">
                <a:effectLst/>
                <a:latin typeface="fkGroteskNeue"/>
              </a:rPr>
              <a:t>)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✓ Интересует модульная/системная структура (не просто классификация)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✓ Есть фенотип для корреляции модулей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Не используй WGCNA когда: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✗ Мало генов (&lt; 1,000) — недостаточно для модулей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✗ Мало образцов (&lt; 50) — корреляции неустойчивы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✗ Нужна чистая классификация (используй </a:t>
            </a:r>
            <a:r>
              <a:rPr lang="ru-RU" b="0" i="0" dirty="0" err="1">
                <a:effectLst/>
                <a:latin typeface="fkGroteskNeue"/>
              </a:rPr>
              <a:t>Random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Forest</a:t>
            </a:r>
            <a:r>
              <a:rPr lang="ru-RU" b="0" i="0" dirty="0">
                <a:effectLst/>
                <a:latin typeface="fkGroteskNeue"/>
              </a:rPr>
              <a:t>)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✗ Только 2 образца (нет вариации для корреляций)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✗ Данные уже </a:t>
            </a:r>
            <a:r>
              <a:rPr lang="ru-RU" b="0" i="0" dirty="0" err="1">
                <a:effectLst/>
                <a:latin typeface="fkGroteskNeue"/>
              </a:rPr>
              <a:t>предотработаны</a:t>
            </a:r>
            <a:r>
              <a:rPr lang="ru-RU" b="0" i="0" dirty="0">
                <a:effectLst/>
                <a:latin typeface="fkGroteskNeue"/>
              </a:rPr>
              <a:t> специфично для классификации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Альтернативы: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Если нужно быстро: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Возьми </a:t>
            </a:r>
            <a:r>
              <a:rPr lang="ru-RU" b="0" i="0" dirty="0" err="1">
                <a:effectLst/>
                <a:latin typeface="fkGroteskNeue"/>
              </a:rPr>
              <a:t>top</a:t>
            </a:r>
            <a:r>
              <a:rPr lang="ru-RU" b="0" i="0" dirty="0">
                <a:effectLst/>
                <a:latin typeface="fkGroteskNeue"/>
              </a:rPr>
              <a:t> 500-1,000 генов по p-</a:t>
            </a:r>
            <a:r>
              <a:rPr lang="ru-RU" b="0" i="0" dirty="0" err="1">
                <a:effectLst/>
                <a:latin typeface="fkGroteskNeue"/>
              </a:rPr>
              <a:t>value</a:t>
            </a:r>
            <a:r>
              <a:rPr lang="ru-RU" b="0" i="0" dirty="0">
                <a:effectLst/>
                <a:latin typeface="fkGroteskNeue"/>
              </a:rPr>
              <a:t> (дифференциальная экспрессия)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Построй сеть на них (меньше генов = быстрее)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Проведи обнаружение модулей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Минусы: потеряешь слабые сигналы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Если нужна сложность (</a:t>
            </a:r>
            <a:r>
              <a:rPr lang="ru-RU" b="0" i="0" dirty="0" err="1">
                <a:effectLst/>
                <a:latin typeface="fkGroteskNeue"/>
              </a:rPr>
              <a:t>multi-omics</a:t>
            </a:r>
            <a:r>
              <a:rPr lang="ru-RU" b="0" i="0" dirty="0">
                <a:effectLst/>
                <a:latin typeface="fkGroteskNeue"/>
              </a:rPr>
              <a:t>):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Используй MOFA вместо WGCNA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Если нужны граф-нейросети:</a:t>
            </a:r>
          </a:p>
          <a:p>
            <a:pPr algn="l"/>
            <a:r>
              <a:rPr lang="ru-RU" b="0" i="0" dirty="0" err="1">
                <a:effectLst/>
                <a:latin typeface="fkGroteskNeue"/>
              </a:rPr>
              <a:t>Graph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Neural</a:t>
            </a:r>
            <a:r>
              <a:rPr lang="ru-RU" b="0" i="0" dirty="0">
                <a:effectLst/>
                <a:latin typeface="fkGroteskNeue"/>
              </a:rPr>
              <a:t> Networks (GNN) могут учить граф-структуру + данные одновременно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Сложнее, но более мощно</a:t>
            </a: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62182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Типичные ошибки в WGCNA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❌ Ошибка 1: Не настраивать β (</a:t>
            </a:r>
            <a:r>
              <a:rPr lang="ru-RU" b="0" i="0" dirty="0" err="1">
                <a:effectLst/>
                <a:latin typeface="fkGroteskNeue"/>
              </a:rPr>
              <a:t>soft-thresholding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power</a:t>
            </a:r>
            <a:r>
              <a:rPr lang="ru-RU" b="0" i="0" dirty="0">
                <a:effectLst/>
                <a:latin typeface="fkGroteskNeue"/>
              </a:rPr>
              <a:t>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Неправильно: просто взять β = 12 по умолчанию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Правильно: использовать функцию </a:t>
            </a:r>
            <a:r>
              <a:rPr lang="ru-RU" b="0" i="0" dirty="0" err="1">
                <a:effectLst/>
                <a:latin typeface="fkGroteskNeue"/>
              </a:rPr>
              <a:t>pickSoftThreshold</a:t>
            </a:r>
            <a:r>
              <a:rPr lang="ru-RU" b="0" i="0" dirty="0">
                <a:effectLst/>
                <a:latin typeface="fkGroteskNeue"/>
              </a:rPr>
              <a:t>() для вашего </a:t>
            </a:r>
            <a:r>
              <a:rPr lang="ru-RU" b="0" i="0" dirty="0" err="1">
                <a:effectLst/>
                <a:latin typeface="fkGroteskNeue"/>
              </a:rPr>
              <a:t>датасета</a:t>
            </a:r>
            <a:endParaRPr lang="ru-RU" b="0" i="0" dirty="0">
              <a:effectLst/>
              <a:latin typeface="fkGroteskNeue"/>
            </a:endParaRPr>
          </a:p>
          <a:p>
            <a:pPr algn="l"/>
            <a:r>
              <a:rPr lang="ru-RU" b="0" i="0" dirty="0">
                <a:effectLst/>
                <a:latin typeface="fkGroteskNeue"/>
              </a:rPr>
              <a:t>Важно: β зависит от типа данных, вида корреляции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❌ Ошибка 2: Неправильная фильтрация генов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Неправильно: выбрать </a:t>
            </a:r>
            <a:r>
              <a:rPr lang="ru-RU" b="0" i="0" dirty="0" err="1">
                <a:effectLst/>
                <a:latin typeface="fkGroteskNeue"/>
              </a:rPr>
              <a:t>top</a:t>
            </a:r>
            <a:r>
              <a:rPr lang="ru-RU" b="0" i="0" dirty="0">
                <a:effectLst/>
                <a:latin typeface="fkGroteskNeue"/>
              </a:rPr>
              <a:t> 5,000 генов по </a:t>
            </a:r>
            <a:r>
              <a:rPr lang="ru-RU" b="0" i="0" dirty="0" err="1">
                <a:effectLst/>
                <a:latin typeface="fkGroteskNeue"/>
              </a:rPr>
              <a:t>variance</a:t>
            </a:r>
            <a:r>
              <a:rPr lang="ru-RU" b="0" i="0" dirty="0">
                <a:effectLst/>
                <a:latin typeface="fkGroteskNeue"/>
              </a:rPr>
              <a:t> (может быть это шум!)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Правильно: фильтровать биологически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Удалить гены низкой экспрессии (&lt; 1 CPM)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Удалить митохондриальные гены (не </a:t>
            </a:r>
            <a:r>
              <a:rPr lang="ru-RU" b="0" i="0" dirty="0" err="1">
                <a:effectLst/>
                <a:latin typeface="fkGroteskNeue"/>
              </a:rPr>
              <a:t>релевантны</a:t>
            </a:r>
            <a:r>
              <a:rPr lang="ru-RU" b="0" i="0" dirty="0">
                <a:effectLst/>
                <a:latin typeface="fkGroteskNeue"/>
              </a:rPr>
              <a:t> для болезни)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Удалить </a:t>
            </a:r>
            <a:r>
              <a:rPr lang="ru-RU" b="0" i="0" dirty="0" err="1">
                <a:effectLst/>
                <a:latin typeface="fkGroteskNeue"/>
              </a:rPr>
              <a:t>рибосомальные</a:t>
            </a:r>
            <a:r>
              <a:rPr lang="ru-RU" b="0" i="0" dirty="0">
                <a:effectLst/>
                <a:latin typeface="fkGroteskNeue"/>
              </a:rPr>
              <a:t> гены (техническая </a:t>
            </a:r>
            <a:r>
              <a:rPr lang="ru-RU" b="0" i="0" dirty="0" err="1">
                <a:effectLst/>
                <a:latin typeface="fkGroteskNeue"/>
              </a:rPr>
              <a:t>констомиляция</a:t>
            </a:r>
            <a:r>
              <a:rPr lang="ru-RU" b="0" i="0" dirty="0">
                <a:effectLst/>
                <a:latin typeface="fkGroteskNeue"/>
              </a:rPr>
              <a:t>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 чище данные → чище сети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❌ Ошибка 3: Неправильный размер модуля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Слишком маленькие модули (&lt; 30 генов):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Нестабильные (случайно могут соединиться)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Трудно функционально интерпретировать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Слишком большие модули (&gt; 1,000 генов):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Теряется структура (всё в один модуль)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Неинтерпретируемы</a:t>
            </a:r>
            <a:endParaRPr lang="ru-RU" b="0" i="0" dirty="0">
              <a:effectLst/>
              <a:latin typeface="fkGroteskNeue"/>
            </a:endParaRPr>
          </a:p>
          <a:p>
            <a:pPr algn="l"/>
            <a:r>
              <a:rPr lang="ru-RU" b="0" i="0" dirty="0">
                <a:effectLst/>
                <a:latin typeface="fkGroteskNeue"/>
              </a:rPr>
              <a:t>Оптимум: 50-300 генов на модуль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❌ Ошибка 4: </a:t>
            </a:r>
            <a:r>
              <a:rPr lang="ru-RU" b="0" i="0" dirty="0" err="1">
                <a:effectLst/>
                <a:latin typeface="fkGroteskNeue"/>
              </a:rPr>
              <a:t>Переовер</a:t>
            </a:r>
            <a:r>
              <a:rPr lang="ru-RU" b="0" i="0" dirty="0">
                <a:effectLst/>
                <a:latin typeface="fkGroteskNeue"/>
              </a:rPr>
              <a:t>-интерпретировать корреляцию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Модуль коррелирован с выживанием r = 0.7, p &lt; 0.001 → круто!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Но потом на другом </a:t>
            </a:r>
            <a:r>
              <a:rPr lang="ru-RU" b="0" i="0" dirty="0" err="1">
                <a:effectLst/>
                <a:latin typeface="fkGroteskNeue"/>
              </a:rPr>
              <a:t>датасете</a:t>
            </a:r>
            <a:r>
              <a:rPr lang="ru-RU" b="0" i="0" dirty="0">
                <a:effectLst/>
                <a:latin typeface="fkGroteskNeue"/>
              </a:rPr>
              <a:t> r = 0.2, p = 0.5 → не </a:t>
            </a:r>
            <a:r>
              <a:rPr lang="ru-RU" b="0" i="0" dirty="0" err="1">
                <a:effectLst/>
                <a:latin typeface="fkGroteskNeue"/>
              </a:rPr>
              <a:t>репликируется</a:t>
            </a:r>
            <a:r>
              <a:rPr lang="ru-RU" b="0" i="0" dirty="0">
                <a:effectLst/>
                <a:latin typeface="fkGroteskNeue"/>
              </a:rPr>
              <a:t>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Решение: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Cross-</a:t>
            </a:r>
            <a:r>
              <a:rPr lang="ru-RU" b="0" i="0" dirty="0" err="1">
                <a:effectLst/>
                <a:latin typeface="fkGroteskNeue"/>
              </a:rPr>
              <a:t>validation</a:t>
            </a:r>
            <a:r>
              <a:rPr lang="ru-RU" b="0" i="0" dirty="0">
                <a:effectLst/>
                <a:latin typeface="fkGroteskNeue"/>
              </a:rPr>
              <a:t> на том же </a:t>
            </a:r>
            <a:r>
              <a:rPr lang="ru-RU" b="0" i="0" dirty="0" err="1">
                <a:effectLst/>
                <a:latin typeface="fkGroteskNeue"/>
              </a:rPr>
              <a:t>датасете</a:t>
            </a:r>
            <a:endParaRPr lang="ru-RU" b="0" i="0" dirty="0">
              <a:effectLst/>
              <a:latin typeface="fkGroteskNeue"/>
            </a:endParaRP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Внешняя валидация на другом </a:t>
            </a:r>
            <a:r>
              <a:rPr lang="ru-RU" b="0" i="0" dirty="0" err="1">
                <a:effectLst/>
                <a:latin typeface="fkGroteskNeue"/>
              </a:rPr>
              <a:t>датасете</a:t>
            </a:r>
            <a:endParaRPr lang="ru-RU" b="0" i="0" dirty="0">
              <a:effectLst/>
              <a:latin typeface="fkGroteskNeue"/>
            </a:endParaRP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Функциональная валидация (эксперименты)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❌ Ошибка 5: Забыть про </a:t>
            </a:r>
            <a:r>
              <a:rPr lang="ru-RU" b="0" i="0" dirty="0" err="1">
                <a:effectLst/>
                <a:latin typeface="fkGroteskNeue"/>
              </a:rPr>
              <a:t>batch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effects</a:t>
            </a:r>
            <a:endParaRPr lang="ru-RU" b="0" i="0" dirty="0">
              <a:effectLst/>
              <a:latin typeface="fkGroteskNeue"/>
            </a:endParaRPr>
          </a:p>
          <a:p>
            <a:pPr algn="l"/>
            <a:r>
              <a:rPr lang="ru-RU" b="0" i="0" dirty="0">
                <a:effectLst/>
                <a:latin typeface="fkGroteskNeue"/>
              </a:rPr>
              <a:t>Если данные из разных лабораторий/платформ: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Batch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effect</a:t>
            </a:r>
            <a:r>
              <a:rPr lang="ru-RU" b="0" i="0" dirty="0">
                <a:effectLst/>
                <a:latin typeface="fkGroteskNeue"/>
              </a:rPr>
              <a:t> может быть больше, чем биологический сигнал!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Нужна нормализация</a:t>
            </a:r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35669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Интеграция WGCNA с машинным обучением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Идея: использовать модули как новые признаки!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Сравнение: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Вариант 1: </a:t>
            </a:r>
            <a:r>
              <a:rPr lang="ru-RU" b="0" i="0" dirty="0" err="1">
                <a:effectLst/>
                <a:latin typeface="fkGroteskNeue"/>
              </a:rPr>
              <a:t>Random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Forest</a:t>
            </a:r>
            <a:r>
              <a:rPr lang="ru-RU" b="0" i="0" dirty="0">
                <a:effectLst/>
                <a:latin typeface="fkGroteskNeue"/>
              </a:rPr>
              <a:t> на всех генах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Входные признаки: 20,000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Обучение: медленно (часы)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Интерпретация: какие гены важны? (1,000 </a:t>
            </a:r>
            <a:r>
              <a:rPr lang="ru-RU" b="0" i="0" dirty="0" err="1">
                <a:effectLst/>
                <a:latin typeface="fkGroteskNeue"/>
              </a:rPr>
              <a:t>top</a:t>
            </a:r>
            <a:r>
              <a:rPr lang="ru-RU" b="0" i="0" dirty="0">
                <a:effectLst/>
                <a:latin typeface="fkGroteskNeue"/>
              </a:rPr>
              <a:t> генов)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Overfitting</a:t>
            </a:r>
            <a:r>
              <a:rPr lang="ru-RU" b="0" i="0" dirty="0">
                <a:effectLst/>
                <a:latin typeface="fkGroteskNeue"/>
              </a:rPr>
              <a:t> риск: высокий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Вариант 2: </a:t>
            </a:r>
            <a:r>
              <a:rPr lang="ru-RU" b="0" i="0" dirty="0" err="1">
                <a:effectLst/>
                <a:latin typeface="fkGroteskNeue"/>
              </a:rPr>
              <a:t>Random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Forest</a:t>
            </a:r>
            <a:r>
              <a:rPr lang="ru-RU" b="0" i="0" dirty="0">
                <a:effectLst/>
                <a:latin typeface="fkGroteskNeue"/>
              </a:rPr>
              <a:t> на модулях (после WGCNA)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Входные признаки: 15 модулей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Обучение: быстро (минуты)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Интерпретация: какие модули важны? (очень ясно)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Overfitting</a:t>
            </a:r>
            <a:r>
              <a:rPr lang="ru-RU" b="0" i="0" dirty="0">
                <a:effectLst/>
                <a:latin typeface="fkGroteskNeue"/>
              </a:rPr>
              <a:t> риск: низкий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Плюс: каждый модуль уже проаннотирован функционально (GO)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Преимущество: модульный подход часто даёт лучший баланс точность/интерпретируемость</a:t>
            </a: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02845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pplxSerif"/>
              </a:rPr>
              <a:t>Первый пример интеграции: статья 2023 по </a:t>
            </a:r>
            <a:r>
              <a:rPr lang="ru-RU" b="0" i="0" dirty="0" err="1">
                <a:effectLst/>
                <a:latin typeface="pplxSerif"/>
              </a:rPr>
              <a:t>неоадъювантной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химиорадиотерапии</a:t>
            </a:r>
            <a:r>
              <a:rPr lang="ru-RU" b="0" i="0" dirty="0">
                <a:effectLst/>
                <a:latin typeface="pplxSerif"/>
              </a:rPr>
              <a:t> при раке груди (стадии </a:t>
            </a:r>
            <a:r>
              <a:rPr lang="en-US" b="0" i="0" dirty="0">
                <a:effectLst/>
                <a:latin typeface="pplxSerif"/>
              </a:rPr>
              <a:t>IIB–IIIC, TCGA </a:t>
            </a:r>
            <a:r>
              <a:rPr lang="ru-RU" b="0" i="0" dirty="0">
                <a:effectLst/>
                <a:latin typeface="pplxSerif"/>
              </a:rPr>
              <a:t>данные).​</a:t>
            </a:r>
            <a:br>
              <a:rPr lang="ru-RU" dirty="0"/>
            </a:br>
            <a:r>
              <a:rPr lang="ru-RU" b="0" i="0" dirty="0">
                <a:effectLst/>
                <a:latin typeface="pplxSerif"/>
              </a:rPr>
              <a:t>Авторы сделали </a:t>
            </a:r>
            <a:r>
              <a:rPr lang="en-US" b="0" i="0" dirty="0">
                <a:effectLst/>
                <a:latin typeface="pplxSerif"/>
              </a:rPr>
              <a:t>WGCNA </a:t>
            </a:r>
            <a:r>
              <a:rPr lang="ru-RU" b="0" i="0" dirty="0">
                <a:effectLst/>
                <a:latin typeface="pplxSerif"/>
              </a:rPr>
              <a:t>на </a:t>
            </a:r>
            <a:r>
              <a:rPr lang="en-US" b="0" i="0" dirty="0">
                <a:effectLst/>
                <a:latin typeface="pplxSerif"/>
              </a:rPr>
              <a:t>RNA‑seq + DEG tumor vs normal, </a:t>
            </a:r>
            <a:r>
              <a:rPr lang="ru-RU" b="0" i="0" dirty="0">
                <a:effectLst/>
                <a:latin typeface="pplxSerif"/>
              </a:rPr>
              <a:t>пересечение дало 16 генов, из них 4 </a:t>
            </a:r>
            <a:r>
              <a:rPr lang="en-US" b="0" i="0" dirty="0">
                <a:effectLst/>
                <a:latin typeface="pplxSerif"/>
              </a:rPr>
              <a:t>hub </a:t>
            </a:r>
            <a:r>
              <a:rPr lang="ru-RU" b="0" i="0" dirty="0">
                <a:effectLst/>
                <a:latin typeface="pplxSerif"/>
              </a:rPr>
              <a:t>прошли </a:t>
            </a:r>
            <a:r>
              <a:rPr lang="en-US" b="0" i="0" dirty="0">
                <a:effectLst/>
                <a:latin typeface="pplxSerif"/>
              </a:rPr>
              <a:t>univariate Cox: SVOPL, EDAR, GSTA1, ABCA13.</a:t>
            </a:r>
            <a:br>
              <a:rPr lang="en-US" dirty="0"/>
            </a:br>
            <a:r>
              <a:rPr lang="ru-RU" b="0" i="0" dirty="0">
                <a:effectLst/>
                <a:latin typeface="pplxSerif"/>
              </a:rPr>
              <a:t>Построили </a:t>
            </a:r>
            <a:r>
              <a:rPr lang="en-US" b="0" i="0" dirty="0">
                <a:effectLst/>
                <a:latin typeface="pplxSerif"/>
              </a:rPr>
              <a:t>risk score </a:t>
            </a:r>
            <a:r>
              <a:rPr lang="ru-RU" b="0" i="0" dirty="0">
                <a:effectLst/>
                <a:latin typeface="pplxSerif"/>
              </a:rPr>
              <a:t>из 4 генов — </a:t>
            </a:r>
            <a:r>
              <a:rPr lang="en-US" b="0" i="0" dirty="0">
                <a:effectLst/>
                <a:latin typeface="pplxSerif"/>
              </a:rPr>
              <a:t>multivariate Cox </a:t>
            </a:r>
            <a:r>
              <a:rPr lang="ru-RU" b="0" i="0" dirty="0">
                <a:effectLst/>
                <a:latin typeface="pplxSerif"/>
              </a:rPr>
              <a:t>показал все </a:t>
            </a:r>
            <a:r>
              <a:rPr lang="en-US" b="0" i="0" dirty="0">
                <a:effectLst/>
                <a:latin typeface="pplxSerif"/>
              </a:rPr>
              <a:t>HR&lt;1, </a:t>
            </a:r>
            <a:r>
              <a:rPr lang="ru-RU" b="0" i="0" dirty="0">
                <a:effectLst/>
                <a:latin typeface="pplxSerif"/>
              </a:rPr>
              <a:t>то есть низкая экспрессия этих генов связана с плохим </a:t>
            </a:r>
            <a:r>
              <a:rPr lang="en-US" b="0" i="0" dirty="0">
                <a:effectLst/>
                <a:latin typeface="pplxSerif"/>
              </a:rPr>
              <a:t>OS </a:t>
            </a:r>
            <a:r>
              <a:rPr lang="ru-RU" b="0" i="0" dirty="0">
                <a:effectLst/>
                <a:latin typeface="pplxSerif"/>
              </a:rPr>
              <a:t>и </a:t>
            </a:r>
            <a:r>
              <a:rPr lang="en-US" b="0" i="0" dirty="0">
                <a:effectLst/>
                <a:latin typeface="pplxSerif"/>
              </a:rPr>
              <a:t>PFS (p&lt;0.005).​</a:t>
            </a:r>
            <a:br>
              <a:rPr lang="en-US" dirty="0"/>
            </a:br>
            <a:r>
              <a:rPr lang="ru-RU" b="0" i="0" dirty="0">
                <a:effectLst/>
                <a:latin typeface="pplxSerif"/>
              </a:rPr>
              <a:t>На </a:t>
            </a:r>
            <a:r>
              <a:rPr lang="en-US" b="0" i="0" dirty="0">
                <a:effectLst/>
                <a:latin typeface="pplxSerif"/>
              </a:rPr>
              <a:t>forest plot </a:t>
            </a:r>
            <a:r>
              <a:rPr lang="ru-RU" b="0" i="0" dirty="0">
                <a:effectLst/>
                <a:latin typeface="pplxSerif"/>
              </a:rPr>
              <a:t>видно: </a:t>
            </a:r>
            <a:r>
              <a:rPr lang="en-US" b="0" i="0" dirty="0">
                <a:effectLst/>
                <a:latin typeface="pplxSerif"/>
              </a:rPr>
              <a:t>SVOPL HR=0.48, EDAR 0.59 </a:t>
            </a:r>
            <a:r>
              <a:rPr lang="ru-RU" b="0" i="0" dirty="0">
                <a:effectLst/>
                <a:latin typeface="pplxSerif"/>
              </a:rPr>
              <a:t>и т.д. — защитный эффект, </a:t>
            </a:r>
            <a:r>
              <a:rPr lang="en-US" b="0" i="0" dirty="0">
                <a:effectLst/>
                <a:latin typeface="pplxSerif"/>
              </a:rPr>
              <a:t>CI </a:t>
            </a:r>
            <a:r>
              <a:rPr lang="ru-RU" b="0" i="0" dirty="0">
                <a:effectLst/>
                <a:latin typeface="pplxSerif"/>
              </a:rPr>
              <a:t>не через 1.</a:t>
            </a:r>
            <a:br>
              <a:rPr lang="ru-RU" dirty="0"/>
            </a:br>
            <a:r>
              <a:rPr lang="ru-RU" b="0" i="0" dirty="0">
                <a:effectLst/>
                <a:latin typeface="pplxSerif"/>
              </a:rPr>
              <a:t>Бонус: </a:t>
            </a:r>
            <a:r>
              <a:rPr lang="en-US" b="0" i="0" dirty="0">
                <a:effectLst/>
                <a:latin typeface="pplxSerif"/>
              </a:rPr>
              <a:t>low risk </a:t>
            </a:r>
            <a:r>
              <a:rPr lang="ru-RU" b="0" i="0" dirty="0">
                <a:effectLst/>
                <a:latin typeface="pplxSerif"/>
              </a:rPr>
              <a:t>коррелирует с ↑ </a:t>
            </a:r>
            <a:r>
              <a:rPr lang="en-US" b="0" i="0" dirty="0">
                <a:effectLst/>
                <a:latin typeface="pplxSerif"/>
              </a:rPr>
              <a:t>T‑</a:t>
            </a:r>
            <a:r>
              <a:rPr lang="ru-RU" b="0" i="0" dirty="0">
                <a:effectLst/>
                <a:latin typeface="pplxSerif"/>
              </a:rPr>
              <a:t>клеток и моноцитов — </a:t>
            </a:r>
            <a:r>
              <a:rPr lang="ru-RU" b="0" i="0" dirty="0" err="1">
                <a:effectLst/>
                <a:latin typeface="pplxSerif"/>
              </a:rPr>
              <a:t>иммуногенный</a:t>
            </a:r>
            <a:r>
              <a:rPr lang="ru-RU" b="0" i="0" dirty="0">
                <a:effectLst/>
                <a:latin typeface="pplxSerif"/>
              </a:rPr>
              <a:t> профиль.</a:t>
            </a:r>
            <a:br>
              <a:rPr lang="ru-RU" dirty="0"/>
            </a:br>
            <a:r>
              <a:rPr lang="ru-RU" b="0" i="0" dirty="0">
                <a:effectLst/>
                <a:latin typeface="pplxSerif"/>
              </a:rPr>
              <a:t>Это шаблон для практики: </a:t>
            </a:r>
            <a:r>
              <a:rPr lang="en-US" b="0" i="0" dirty="0">
                <a:effectLst/>
                <a:latin typeface="pplxSerif"/>
              </a:rPr>
              <a:t>WGCNA → DEG intersect → Cox signature → immune </a:t>
            </a:r>
            <a:r>
              <a:rPr lang="ru-RU" b="0" i="0" dirty="0">
                <a:effectLst/>
                <a:latin typeface="pplxSerif"/>
              </a:rPr>
              <a:t>корреляция.</a:t>
            </a:r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6939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pplxSerif"/>
              </a:rPr>
              <a:t>Второй пример: статья </a:t>
            </a:r>
            <a:r>
              <a:rPr lang="en-US" b="0" i="0" dirty="0">
                <a:effectLst/>
                <a:latin typeface="pplxSerif"/>
              </a:rPr>
              <a:t>Frontiers Genetics 2020 </a:t>
            </a:r>
            <a:r>
              <a:rPr lang="ru-RU" b="0" i="0" dirty="0">
                <a:effectLst/>
                <a:latin typeface="pplxSerif"/>
              </a:rPr>
              <a:t>по </a:t>
            </a:r>
            <a:r>
              <a:rPr lang="en-US" b="0" i="0" dirty="0">
                <a:effectLst/>
                <a:latin typeface="pplxSerif"/>
              </a:rPr>
              <a:t>lung adenocarcinoma (LUAD) </a:t>
            </a:r>
            <a:r>
              <a:rPr lang="ru-RU" b="0" i="0" dirty="0">
                <a:effectLst/>
                <a:latin typeface="pplxSerif"/>
              </a:rPr>
              <a:t>и </a:t>
            </a:r>
            <a:r>
              <a:rPr lang="en-US" b="0" i="0" dirty="0">
                <a:effectLst/>
                <a:latin typeface="pplxSerif"/>
              </a:rPr>
              <a:t>cancer stem cells (CSC).​</a:t>
            </a:r>
            <a:br>
              <a:rPr lang="en-US" dirty="0"/>
            </a:br>
            <a:r>
              <a:rPr lang="en-US" b="0" i="0" dirty="0">
                <a:effectLst/>
                <a:latin typeface="pplxSerif"/>
              </a:rPr>
              <a:t>TCGA + GEO </a:t>
            </a:r>
            <a:r>
              <a:rPr lang="ru-RU" b="0" i="0" dirty="0">
                <a:effectLst/>
                <a:latin typeface="pplxSerif"/>
              </a:rPr>
              <a:t>данные, фенотип </a:t>
            </a:r>
            <a:r>
              <a:rPr lang="en-US" b="0" i="0" dirty="0" err="1">
                <a:effectLst/>
                <a:latin typeface="pplxSerif"/>
              </a:rPr>
              <a:t>mRNAsi</a:t>
            </a:r>
            <a:r>
              <a:rPr lang="en-US" b="0" i="0" dirty="0">
                <a:effectLst/>
                <a:latin typeface="pplxSerif"/>
              </a:rPr>
              <a:t> (stemness </a:t>
            </a:r>
            <a:r>
              <a:rPr lang="ru-RU" b="0" i="0" dirty="0">
                <a:effectLst/>
                <a:latin typeface="pplxSerif"/>
              </a:rPr>
              <a:t>по экспрессии). </a:t>
            </a:r>
            <a:r>
              <a:rPr lang="en-US" b="0" i="0" dirty="0">
                <a:effectLst/>
                <a:latin typeface="pplxSerif"/>
              </a:rPr>
              <a:t>WGCNA </a:t>
            </a:r>
            <a:r>
              <a:rPr lang="ru-RU" b="0" i="0" dirty="0">
                <a:effectLst/>
                <a:latin typeface="pplxSerif"/>
              </a:rPr>
              <a:t>выделила </a:t>
            </a:r>
            <a:r>
              <a:rPr lang="en-US" b="0" i="0" dirty="0">
                <a:effectLst/>
                <a:latin typeface="pplxSerif"/>
              </a:rPr>
              <a:t>green/blue </a:t>
            </a:r>
            <a:r>
              <a:rPr lang="ru-RU" b="0" i="0" dirty="0">
                <a:effectLst/>
                <a:latin typeface="pplxSerif"/>
              </a:rPr>
              <a:t>модули — </a:t>
            </a:r>
            <a:r>
              <a:rPr lang="en-US" b="0" i="0" dirty="0">
                <a:effectLst/>
                <a:latin typeface="pplxSerif"/>
              </a:rPr>
              <a:t>cell cycle </a:t>
            </a:r>
            <a:r>
              <a:rPr lang="ru-RU" b="0" i="0" dirty="0">
                <a:effectLst/>
                <a:latin typeface="pplxSerif"/>
              </a:rPr>
              <a:t>и </a:t>
            </a:r>
            <a:r>
              <a:rPr lang="en-US" b="0" i="0" dirty="0">
                <a:effectLst/>
                <a:latin typeface="pplxSerif"/>
              </a:rPr>
              <a:t>mitosis, 50 </a:t>
            </a:r>
            <a:r>
              <a:rPr lang="ru-RU" b="0" i="0" dirty="0">
                <a:effectLst/>
                <a:latin typeface="pplxSerif"/>
              </a:rPr>
              <a:t>ключевых генов.</a:t>
            </a:r>
            <a:br>
              <a:rPr lang="ru-RU" dirty="0"/>
            </a:br>
            <a:r>
              <a:rPr lang="ru-RU" b="0" i="0" dirty="0">
                <a:effectLst/>
                <a:latin typeface="pplxSerif"/>
              </a:rPr>
              <a:t>Из </a:t>
            </a:r>
            <a:r>
              <a:rPr lang="en-US" b="0" i="0" dirty="0">
                <a:effectLst/>
                <a:latin typeface="pplxSerif"/>
              </a:rPr>
              <a:t>PPI + MCODE </a:t>
            </a:r>
            <a:r>
              <a:rPr lang="en-US" b="0" i="0" dirty="0" err="1">
                <a:effectLst/>
                <a:latin typeface="pplxSerif"/>
              </a:rPr>
              <a:t>Cytoscape</a:t>
            </a:r>
            <a:r>
              <a:rPr lang="en-US" b="0" i="0" dirty="0">
                <a:effectLst/>
                <a:latin typeface="pplxSerif"/>
              </a:rPr>
              <a:t> </a:t>
            </a:r>
            <a:r>
              <a:rPr lang="ru-RU" b="0" i="0" dirty="0">
                <a:effectLst/>
                <a:latin typeface="pplxSerif"/>
              </a:rPr>
              <a:t>взяли 6 </a:t>
            </a:r>
            <a:r>
              <a:rPr lang="en-US" b="0" i="0" dirty="0">
                <a:effectLst/>
                <a:latin typeface="pplxSerif"/>
              </a:rPr>
              <a:t>hub: CHEK1, RAD51, KIFC1 </a:t>
            </a:r>
            <a:r>
              <a:rPr lang="ru-RU" b="0" i="0" dirty="0">
                <a:effectLst/>
                <a:latin typeface="pplxSerif"/>
              </a:rPr>
              <a:t>и др. — типичные для пролиферации </a:t>
            </a:r>
            <a:r>
              <a:rPr lang="en-US" b="0" i="0" dirty="0">
                <a:effectLst/>
                <a:latin typeface="pplxSerif"/>
              </a:rPr>
              <a:t>CSC.​</a:t>
            </a:r>
            <a:br>
              <a:rPr lang="en-US" dirty="0"/>
            </a:br>
            <a:r>
              <a:rPr lang="en-US" b="0" i="0" dirty="0">
                <a:effectLst/>
                <a:latin typeface="pplxSerif"/>
              </a:rPr>
              <a:t>Random Forest </a:t>
            </a:r>
            <a:r>
              <a:rPr lang="ru-RU" b="0" i="0" dirty="0">
                <a:effectLst/>
                <a:latin typeface="pplxSerif"/>
              </a:rPr>
              <a:t>на 6 генах дал классификатор подтипов </a:t>
            </a:r>
            <a:r>
              <a:rPr lang="en-US" b="0" i="0" dirty="0">
                <a:effectLst/>
                <a:latin typeface="pplxSerif"/>
              </a:rPr>
              <a:t>LUAD </a:t>
            </a:r>
            <a:r>
              <a:rPr lang="ru-RU" b="0" i="0" dirty="0">
                <a:effectLst/>
                <a:latin typeface="pplxSerif"/>
              </a:rPr>
              <a:t>с </a:t>
            </a:r>
            <a:r>
              <a:rPr lang="en-US" b="0" i="0" dirty="0">
                <a:effectLst/>
                <a:latin typeface="pplxSerif"/>
              </a:rPr>
              <a:t>accuracy 85%. High CSC — poor OS, </a:t>
            </a:r>
            <a:r>
              <a:rPr lang="ru-RU" b="0" i="0" dirty="0">
                <a:effectLst/>
                <a:latin typeface="pplxSerif"/>
              </a:rPr>
              <a:t>как видно на </a:t>
            </a:r>
            <a:r>
              <a:rPr lang="en-US" b="0" i="0" dirty="0">
                <a:effectLst/>
                <a:latin typeface="pplxSerif"/>
              </a:rPr>
              <a:t>KM: </a:t>
            </a:r>
            <a:r>
              <a:rPr lang="ru-RU" b="0" i="0" dirty="0">
                <a:effectLst/>
                <a:latin typeface="pplxSerif"/>
              </a:rPr>
              <a:t>синяя </a:t>
            </a:r>
            <a:r>
              <a:rPr lang="en-US" b="0" i="0" dirty="0">
                <a:effectLst/>
                <a:latin typeface="pplxSerif"/>
              </a:rPr>
              <a:t>low CSC </a:t>
            </a:r>
            <a:r>
              <a:rPr lang="ru-RU" b="0" i="0" dirty="0">
                <a:effectLst/>
                <a:latin typeface="pplxSerif"/>
              </a:rPr>
              <a:t>плато 0.7 на 5 лет, красная </a:t>
            </a:r>
            <a:r>
              <a:rPr lang="en-US" b="0" i="0" dirty="0">
                <a:effectLst/>
                <a:latin typeface="pplxSerif"/>
              </a:rPr>
              <a:t>high </a:t>
            </a:r>
            <a:r>
              <a:rPr lang="ru-RU" b="0" i="0" dirty="0">
                <a:effectLst/>
                <a:latin typeface="pplxSerif"/>
              </a:rPr>
              <a:t>быстро до 0.3.</a:t>
            </a:r>
            <a:br>
              <a:rPr lang="ru-RU" dirty="0"/>
            </a:br>
            <a:r>
              <a:rPr lang="en-US" b="0" i="0" dirty="0">
                <a:effectLst/>
                <a:latin typeface="pplxSerif"/>
              </a:rPr>
              <a:t>AUC 1y=0.78, 3y=0.75, 5y=0.74 — </a:t>
            </a:r>
            <a:r>
              <a:rPr lang="ru-RU" b="0" i="0" dirty="0">
                <a:effectLst/>
                <a:latin typeface="pplxSerif"/>
              </a:rPr>
              <a:t>отличная прогностика. Практика: возьмите </a:t>
            </a:r>
            <a:r>
              <a:rPr lang="en-US" b="0" i="0" dirty="0">
                <a:effectLst/>
                <a:latin typeface="pplxSerif"/>
              </a:rPr>
              <a:t>ME </a:t>
            </a:r>
            <a:r>
              <a:rPr lang="ru-RU" b="0" i="0" dirty="0">
                <a:effectLst/>
                <a:latin typeface="pplxSerif"/>
              </a:rPr>
              <a:t>из ваших модулей → </a:t>
            </a:r>
            <a:r>
              <a:rPr lang="en-US" b="0" i="0" dirty="0">
                <a:effectLst/>
                <a:latin typeface="pplxSerif"/>
              </a:rPr>
              <a:t>RF </a:t>
            </a:r>
            <a:r>
              <a:rPr lang="ru-RU" b="0" i="0" dirty="0">
                <a:effectLst/>
                <a:latin typeface="pplxSerif"/>
              </a:rPr>
              <a:t>для рецидива/подтипов.</a:t>
            </a:r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9349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pplxSerif"/>
              </a:rPr>
              <a:t>Третий пример: статья </a:t>
            </a:r>
            <a:r>
              <a:rPr lang="ru-RU" b="0" i="0" dirty="0" err="1">
                <a:effectLst/>
                <a:latin typeface="pplxSerif"/>
              </a:rPr>
              <a:t>Frontiers</a:t>
            </a:r>
            <a:r>
              <a:rPr lang="ru-RU" b="0" i="0" dirty="0">
                <a:effectLst/>
                <a:latin typeface="pplxSerif"/>
              </a:rPr>
              <a:t> 2020 по диффузному типу рака желудка (данные TCGA).</a:t>
            </a:r>
            <a:br>
              <a:rPr lang="ru-RU" dirty="0"/>
            </a:br>
            <a:r>
              <a:rPr lang="ru-RU" b="0" i="0" dirty="0">
                <a:effectLst/>
                <a:latin typeface="pplxSerif"/>
              </a:rPr>
              <a:t>Разделили на диффузный и </a:t>
            </a:r>
            <a:r>
              <a:rPr lang="ru-RU" b="0" i="0" dirty="0" err="1">
                <a:effectLst/>
                <a:latin typeface="pplxSerif"/>
              </a:rPr>
              <a:t>интестинальный</a:t>
            </a:r>
            <a:r>
              <a:rPr lang="ru-RU" b="0" i="0" dirty="0">
                <a:effectLst/>
                <a:latin typeface="pplxSerif"/>
              </a:rPr>
              <a:t> типы по классификации Лорена, WGCNA выделила модуль, сильно коррелирующий с диффузным типом.</a:t>
            </a:r>
            <a:br>
              <a:rPr lang="ru-RU" dirty="0"/>
            </a:br>
            <a:r>
              <a:rPr lang="ru-RU" b="0" i="0" dirty="0">
                <a:effectLst/>
                <a:latin typeface="pplxSerif"/>
              </a:rPr>
              <a:t>LASSO </a:t>
            </a:r>
            <a:r>
              <a:rPr lang="ru-RU" b="0" i="0" dirty="0" err="1">
                <a:effectLst/>
                <a:latin typeface="pplxSerif"/>
              </a:rPr>
              <a:t>Cox</a:t>
            </a:r>
            <a:r>
              <a:rPr lang="ru-RU" b="0" i="0" dirty="0">
                <a:effectLst/>
                <a:latin typeface="pplxSerif"/>
              </a:rPr>
              <a:t> из этого модуля отобрал 10 </a:t>
            </a:r>
            <a:r>
              <a:rPr lang="ru-RU" b="0" i="0" dirty="0" err="1">
                <a:effectLst/>
                <a:latin typeface="pplxSerif"/>
              </a:rPr>
              <a:t>lncRNA</a:t>
            </a:r>
            <a:r>
              <a:rPr lang="ru-RU" b="0" i="0" dirty="0">
                <a:effectLst/>
                <a:latin typeface="pplxSerif"/>
              </a:rPr>
              <a:t> — длинные </a:t>
            </a:r>
            <a:r>
              <a:rPr lang="ru-RU" b="0" i="0" dirty="0" err="1">
                <a:effectLst/>
                <a:latin typeface="pplxSerif"/>
              </a:rPr>
              <a:t>некодирующие</a:t>
            </a:r>
            <a:r>
              <a:rPr lang="ru-RU" b="0" i="0" dirty="0">
                <a:effectLst/>
                <a:latin typeface="pplxSerif"/>
              </a:rPr>
              <a:t> РНК, типичные регуляторы в раке желудка.</a:t>
            </a:r>
            <a:br>
              <a:rPr lang="ru-RU" dirty="0"/>
            </a:br>
            <a:r>
              <a:rPr lang="ru-RU" b="0" i="0" dirty="0">
                <a:effectLst/>
                <a:latin typeface="pplxSerif"/>
              </a:rPr>
              <a:t>Risk </a:t>
            </a:r>
            <a:r>
              <a:rPr lang="ru-RU" b="0" i="0" dirty="0" err="1">
                <a:effectLst/>
                <a:latin typeface="pplxSerif"/>
              </a:rPr>
              <a:t>score</a:t>
            </a:r>
            <a:r>
              <a:rPr lang="ru-RU" b="0" i="0" dirty="0">
                <a:effectLst/>
                <a:latin typeface="pplxSerif"/>
              </a:rPr>
              <a:t> разделил пациентов на </a:t>
            </a:r>
            <a:r>
              <a:rPr lang="ru-RU" b="0" i="0" dirty="0" err="1">
                <a:effectLst/>
                <a:latin typeface="pplxSerif"/>
              </a:rPr>
              <a:t>high</a:t>
            </a:r>
            <a:r>
              <a:rPr lang="ru-RU" b="0" i="0" dirty="0">
                <a:effectLst/>
                <a:latin typeface="pplxSerif"/>
              </a:rPr>
              <a:t>/</a:t>
            </a:r>
            <a:r>
              <a:rPr lang="ru-RU" b="0" i="0" dirty="0" err="1">
                <a:effectLst/>
                <a:latin typeface="pplxSerif"/>
              </a:rPr>
              <a:t>low</a:t>
            </a:r>
            <a:r>
              <a:rPr lang="ru-RU" b="0" i="0" dirty="0">
                <a:effectLst/>
                <a:latin typeface="pplxSerif"/>
              </a:rPr>
              <a:t>: общая выживаемость p=2.8×10^{-10}, C-</a:t>
            </a:r>
            <a:r>
              <a:rPr lang="ru-RU" b="0" i="0" dirty="0" err="1">
                <a:effectLst/>
                <a:latin typeface="pplxSerif"/>
              </a:rPr>
              <a:t>index</a:t>
            </a:r>
            <a:r>
              <a:rPr lang="ru-RU" b="0" i="0" dirty="0">
                <a:effectLst/>
                <a:latin typeface="pplxSerif"/>
              </a:rPr>
              <a:t>=0.97 — фантастическая точность!</a:t>
            </a:r>
            <a:br>
              <a:rPr lang="ru-RU" dirty="0"/>
            </a:br>
            <a:r>
              <a:rPr lang="ru-RU" b="0" i="0" dirty="0">
                <a:effectLst/>
                <a:latin typeface="pplxSerif"/>
              </a:rPr>
              <a:t>На KM график B: </a:t>
            </a:r>
            <a:r>
              <a:rPr lang="ru-RU" b="0" i="0" dirty="0" err="1">
                <a:effectLst/>
                <a:latin typeface="pplxSerif"/>
              </a:rPr>
              <a:t>high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risk</a:t>
            </a:r>
            <a:r>
              <a:rPr lang="ru-RU" b="0" i="0" dirty="0">
                <a:effectLst/>
                <a:latin typeface="pplxSerif"/>
              </a:rPr>
              <a:t> падает быстро до 20% на 5 лет, </a:t>
            </a:r>
            <a:r>
              <a:rPr lang="ru-RU" b="0" i="0" dirty="0" err="1">
                <a:effectLst/>
                <a:latin typeface="pplxSerif"/>
              </a:rPr>
              <a:t>low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risk</a:t>
            </a:r>
            <a:r>
              <a:rPr lang="ru-RU" b="0" i="0" dirty="0">
                <a:effectLst/>
                <a:latin typeface="pplxSerif"/>
              </a:rPr>
              <a:t> держит 80%.</a:t>
            </a:r>
            <a:br>
              <a:rPr lang="ru-RU" dirty="0"/>
            </a:br>
            <a:r>
              <a:rPr lang="ru-RU" b="0" i="0" dirty="0">
                <a:effectLst/>
                <a:latin typeface="pplxSerif"/>
              </a:rPr>
              <a:t>ROC график C: AUC 1 год=0.98, 3 года=1.0, 5 лет=1.0 — модель идеально предсказывает.</a:t>
            </a:r>
            <a:br>
              <a:rPr lang="ru-RU" dirty="0"/>
            </a:br>
            <a:r>
              <a:rPr lang="ru-RU" b="0" i="0" dirty="0">
                <a:effectLst/>
                <a:latin typeface="pplxSerif"/>
              </a:rPr>
              <a:t>График A — траектория коэффициентов LASSO, D — вероятно GSEA с </a:t>
            </a:r>
            <a:r>
              <a:rPr lang="ru-RU" b="0" i="0" dirty="0" err="1">
                <a:effectLst/>
                <a:latin typeface="pplxSerif"/>
              </a:rPr>
              <a:t>tumor</a:t>
            </a:r>
            <a:r>
              <a:rPr lang="ru-RU" b="0" i="0" dirty="0">
                <a:effectLst/>
                <a:latin typeface="pplxSerif"/>
              </a:rPr>
              <a:t> путями в </a:t>
            </a:r>
            <a:r>
              <a:rPr lang="ru-RU" b="0" i="0" dirty="0" err="1">
                <a:effectLst/>
                <a:latin typeface="pplxSerif"/>
              </a:rPr>
              <a:t>high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risk</a:t>
            </a:r>
            <a:r>
              <a:rPr lang="ru-RU" b="0" i="0" dirty="0">
                <a:effectLst/>
                <a:latin typeface="pplxSerif"/>
              </a:rPr>
              <a:t>.</a:t>
            </a:r>
            <a:br>
              <a:rPr lang="ru-RU" dirty="0"/>
            </a:br>
            <a:r>
              <a:rPr lang="ru-RU" b="0" i="0" dirty="0">
                <a:effectLst/>
                <a:latin typeface="pplxSerif"/>
              </a:rPr>
              <a:t>Для практики: WGCNA по подтипу → LASSO </a:t>
            </a:r>
            <a:r>
              <a:rPr lang="ru-RU" b="0" i="0" dirty="0" err="1">
                <a:effectLst/>
                <a:latin typeface="pplxSerif"/>
              </a:rPr>
              <a:t>Cox</a:t>
            </a:r>
            <a:r>
              <a:rPr lang="ru-RU" b="0" i="0" dirty="0">
                <a:effectLst/>
                <a:latin typeface="pplxSerif"/>
              </a:rPr>
              <a:t> → номограмма для рака желудка.</a:t>
            </a:r>
            <a:br>
              <a:rPr lang="ru-RU" dirty="0"/>
            </a:br>
            <a:r>
              <a:rPr lang="ru-RU" b="0" i="0" dirty="0">
                <a:effectLst/>
                <a:latin typeface="pplxSerif"/>
              </a:rPr>
              <a:t>Это шаблон для ваших данных!</a:t>
            </a:r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019068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effectLst/>
                <a:latin typeface="fkGroteskNeue"/>
              </a:rPr>
              <a:t>Итоги лекции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Мы покрыли сегодня: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✓ Основы теории графов (</a:t>
            </a:r>
            <a:r>
              <a:rPr lang="en-US" b="0" i="0" dirty="0">
                <a:effectLst/>
                <a:latin typeface="fkGroteskNeue"/>
              </a:rPr>
              <a:t>nodes, edges, weights)</a:t>
            </a:r>
            <a:br>
              <a:rPr lang="en-US" b="0" i="0" dirty="0">
                <a:effectLst/>
                <a:latin typeface="fkGroteskNeue"/>
              </a:rPr>
            </a:br>
            <a:r>
              <a:rPr lang="en-US" b="0" i="0" dirty="0">
                <a:effectLst/>
                <a:latin typeface="fkGroteskNeue"/>
              </a:rPr>
              <a:t>✓ </a:t>
            </a:r>
            <a:r>
              <a:rPr lang="ru-RU" b="0" i="0" dirty="0">
                <a:effectLst/>
                <a:latin typeface="fkGroteskNeue"/>
              </a:rPr>
              <a:t>Метрики графов (</a:t>
            </a:r>
            <a:r>
              <a:rPr lang="en-US" b="0" i="0" dirty="0">
                <a:effectLst/>
                <a:latin typeface="fkGroteskNeue"/>
              </a:rPr>
              <a:t>degree, centrality, clustering coefficient)</a:t>
            </a:r>
            <a:br>
              <a:rPr lang="en-US" b="0" i="0" dirty="0">
                <a:effectLst/>
                <a:latin typeface="fkGroteskNeue"/>
              </a:rPr>
            </a:br>
            <a:r>
              <a:rPr lang="en-US" b="0" i="0" dirty="0">
                <a:effectLst/>
                <a:latin typeface="fkGroteskNeue"/>
              </a:rPr>
              <a:t>✓ </a:t>
            </a:r>
            <a:r>
              <a:rPr lang="ru-RU" b="0" i="0" dirty="0">
                <a:effectLst/>
                <a:latin typeface="fkGroteskNeue"/>
              </a:rPr>
              <a:t>Обнаружение модулей (</a:t>
            </a:r>
            <a:r>
              <a:rPr lang="en-US" b="0" i="0" dirty="0">
                <a:effectLst/>
                <a:latin typeface="fkGroteskNeue"/>
              </a:rPr>
              <a:t>Louvain algorithm, modularity Q)</a:t>
            </a:r>
            <a:br>
              <a:rPr lang="en-US" b="0" i="0" dirty="0">
                <a:effectLst/>
                <a:latin typeface="fkGroteskNeue"/>
              </a:rPr>
            </a:br>
            <a:r>
              <a:rPr lang="en-US" b="0" i="0" dirty="0">
                <a:effectLst/>
                <a:latin typeface="fkGroteskNeue"/>
              </a:rPr>
              <a:t>✓ WGCNA — </a:t>
            </a:r>
            <a:r>
              <a:rPr lang="ru-RU" b="0" i="0" dirty="0">
                <a:effectLst/>
                <a:latin typeface="fkGroteskNeue"/>
              </a:rPr>
              <a:t>полный </a:t>
            </a:r>
            <a:r>
              <a:rPr lang="en-US" b="0" i="0" dirty="0">
                <a:effectLst/>
                <a:latin typeface="fkGroteskNeue"/>
              </a:rPr>
              <a:t>workflow: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Корреляция → </a:t>
            </a:r>
            <a:r>
              <a:rPr lang="en-US" b="0" i="0" dirty="0">
                <a:effectLst/>
                <a:latin typeface="fkGroteskNeue"/>
              </a:rPr>
              <a:t>soft-thresholding → </a:t>
            </a:r>
            <a:r>
              <a:rPr lang="ru-RU" b="0" i="0" dirty="0">
                <a:effectLst/>
                <a:latin typeface="fkGroteskNeue"/>
              </a:rPr>
              <a:t>кластеризация → модули → </a:t>
            </a:r>
            <a:r>
              <a:rPr lang="en-US" b="0" i="0" dirty="0">
                <a:effectLst/>
                <a:latin typeface="fkGroteskNeue"/>
              </a:rPr>
              <a:t>ME → </a:t>
            </a:r>
            <a:r>
              <a:rPr lang="ru-RU" b="0" i="0" dirty="0">
                <a:effectLst/>
                <a:latin typeface="fkGroteskNeue"/>
              </a:rPr>
              <a:t>корреляция с фенотипом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✓ </a:t>
            </a:r>
            <a:r>
              <a:rPr lang="en-US" b="0" i="0" dirty="0">
                <a:effectLst/>
                <a:latin typeface="fkGroteskNeue"/>
              </a:rPr>
              <a:t>Hub </a:t>
            </a:r>
            <a:r>
              <a:rPr lang="ru-RU" b="0" i="0" dirty="0">
                <a:effectLst/>
                <a:latin typeface="fkGroteskNeue"/>
              </a:rPr>
              <a:t>гены и их биологическая роль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✓ Визуализация (</a:t>
            </a:r>
            <a:r>
              <a:rPr lang="en-US" b="0" i="0" dirty="0">
                <a:effectLst/>
                <a:latin typeface="fkGroteskNeue"/>
              </a:rPr>
              <a:t>TOM plots, </a:t>
            </a:r>
            <a:r>
              <a:rPr lang="en-US" b="0" i="0" dirty="0" err="1">
                <a:effectLst/>
                <a:latin typeface="fkGroteskNeue"/>
              </a:rPr>
              <a:t>Cytoscape</a:t>
            </a:r>
            <a:r>
              <a:rPr lang="en-US" b="0" i="0" dirty="0">
                <a:effectLst/>
                <a:latin typeface="fkGroteskNeue"/>
              </a:rPr>
              <a:t>, </a:t>
            </a:r>
            <a:r>
              <a:rPr lang="en-US" b="0" i="0" dirty="0" err="1">
                <a:effectLst/>
                <a:latin typeface="fkGroteskNeue"/>
              </a:rPr>
              <a:t>igraph</a:t>
            </a:r>
            <a:r>
              <a:rPr lang="en-US" b="0" i="0" dirty="0">
                <a:effectLst/>
                <a:latin typeface="fkGroteskNeue"/>
              </a:rPr>
              <a:t>)</a:t>
            </a:r>
            <a:br>
              <a:rPr lang="en-US" b="0" i="0" dirty="0">
                <a:effectLst/>
                <a:latin typeface="fkGroteskNeue"/>
              </a:rPr>
            </a:br>
            <a:r>
              <a:rPr lang="en-US" b="0" i="0" dirty="0">
                <a:effectLst/>
                <a:latin typeface="fkGroteskNeue"/>
              </a:rPr>
              <a:t>✓ </a:t>
            </a:r>
            <a:r>
              <a:rPr lang="ru-RU" b="0" i="0" dirty="0">
                <a:effectLst/>
                <a:latin typeface="fkGroteskNeue"/>
              </a:rPr>
              <a:t>Функциональное обогащение (</a:t>
            </a:r>
            <a:r>
              <a:rPr lang="en-US" b="0" i="0" dirty="0">
                <a:effectLst/>
                <a:latin typeface="fkGroteskNeue"/>
              </a:rPr>
              <a:t>GO, KEGG)</a:t>
            </a:r>
            <a:br>
              <a:rPr lang="en-US" b="0" i="0" dirty="0">
                <a:effectLst/>
                <a:latin typeface="fkGroteskNeue"/>
              </a:rPr>
            </a:br>
            <a:r>
              <a:rPr lang="en-US" b="0" i="0" dirty="0">
                <a:effectLst/>
                <a:latin typeface="fkGroteskNeue"/>
              </a:rPr>
              <a:t>✓ Case Study: </a:t>
            </a:r>
            <a:r>
              <a:rPr lang="ru-RU" b="0" i="0" dirty="0">
                <a:effectLst/>
                <a:latin typeface="fkGroteskNeue"/>
              </a:rPr>
              <a:t>рак молочной железы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✓ Интеграция с </a:t>
            </a:r>
            <a:r>
              <a:rPr lang="en-US" b="0" i="0" dirty="0">
                <a:effectLst/>
                <a:latin typeface="fkGroteskNeue"/>
              </a:rPr>
              <a:t>ML (</a:t>
            </a:r>
            <a:r>
              <a:rPr lang="ru-RU" b="0" i="0" dirty="0">
                <a:effectLst/>
                <a:latin typeface="fkGroteskNeue"/>
              </a:rPr>
              <a:t>модули как признаки)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Ключевая идея: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Гены не работают в изоляции. Сетевой анализ раскрывает модульную архитектуру биологических систем.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Модули + гены в модуле часто более информативны, чем одиночные гены.</a:t>
            </a:r>
          </a:p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28190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1596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673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19.02.2026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9760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19.02.2026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9021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19.02.2026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6784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19.02.2026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9230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19.02.2026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435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19.02.2026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7441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19.02.2026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836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19.02.2026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8184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19.02.2026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2846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19.02.2026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88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19.02.2026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11084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548A2A-B373-4BED-99C6-55213C852137}" type="datetimeFigureOut">
              <a:rPr lang="ru-RU" smtClean="0"/>
              <a:t>19.02.2026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86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orvath.genetics.ucla.edu/html/CoexpressionNetwork/Rpackages/WGCNA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MSShafigullin\Desktop\Проекты\Брендбук\Гайдлайн\Презентация\презентация шаблон КФУ-01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472"/>
          <a:stretch/>
        </p:blipFill>
        <p:spPr bwMode="auto">
          <a:xfrm>
            <a:off x="0" y="0"/>
            <a:ext cx="12192000" cy="6855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C:\Users\MSShafigullin\Desktop\2020\Презентация КФУ\kfu_logo_circle_rus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03" y="548680"/>
            <a:ext cx="1536171" cy="149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98;p2">
            <a:extLst>
              <a:ext uri="{FF2B5EF4-FFF2-40B4-BE49-F238E27FC236}">
                <a16:creationId xmlns:a16="http://schemas.microsoft.com/office/drawing/2014/main" id="{0F188103-7B17-734F-BE68-5A893025A082}"/>
              </a:ext>
            </a:extLst>
          </p:cNvPr>
          <p:cNvSpPr txBox="1"/>
          <p:nvPr/>
        </p:nvSpPr>
        <p:spPr>
          <a:xfrm>
            <a:off x="2482607" y="1725043"/>
            <a:ext cx="7997823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Курс ДПП ПП</a:t>
            </a:r>
          </a:p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Основы биоинформатики и компьютерной биологии</a:t>
            </a:r>
          </a:p>
          <a:p>
            <a:pPr lvl="0" algn="ctr"/>
            <a:endParaRPr lang="ru-RU" sz="2800" b="1" dirty="0">
              <a:solidFill>
                <a:schemeClr val="bg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Алгоритмы искусственного интеллекта в биологии и медицине</a:t>
            </a:r>
          </a:p>
          <a:p>
            <a:pPr lvl="0" algn="ctr"/>
            <a:b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</a:br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Лекция 4. Сетевой анализ и комплексная интерпретация биологических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2231862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98A76A24-00EA-EE42-8A4F-846D0D0A92B0}"/>
              </a:ext>
            </a:extLst>
          </p:cNvPr>
          <p:cNvGrpSpPr/>
          <p:nvPr/>
        </p:nvGrpSpPr>
        <p:grpSpPr>
          <a:xfrm>
            <a:off x="-50" y="0"/>
            <a:ext cx="827700" cy="6858000"/>
            <a:chOff x="-50" y="0"/>
            <a:chExt cx="827700" cy="5143500"/>
          </a:xfrm>
        </p:grpSpPr>
        <p:sp>
          <p:nvSpPr>
            <p:cNvPr id="25" name="Google Shape;106;p3">
              <a:extLst>
                <a:ext uri="{FF2B5EF4-FFF2-40B4-BE49-F238E27FC236}">
                  <a16:creationId xmlns:a16="http://schemas.microsoft.com/office/drawing/2014/main" id="{1212ABD6-BB78-564D-90F4-45A9BF52F65A}"/>
                </a:ext>
              </a:extLst>
            </p:cNvPr>
            <p:cNvSpPr/>
            <p:nvPr/>
          </p:nvSpPr>
          <p:spPr>
            <a:xfrm>
              <a:off x="-50" y="0"/>
              <a:ext cx="827700" cy="5143500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8" name="Google Shape;107;p3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C968D678-6F52-2F45-8BE7-5E2313AF23D6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87534"/>
              <a:ext cx="553050" cy="4327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109;p3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1F22E8DB-9008-9D4B-9E64-C397CC33A9DA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37087" y="4422472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110;p3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5E9D660B-F40F-CB41-B4B6-62BD62C97A4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87779" y="3741120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" name="Google Shape;111;p3">
              <a:extLst>
                <a:ext uri="{FF2B5EF4-FFF2-40B4-BE49-F238E27FC236}">
                  <a16:creationId xmlns:a16="http://schemas.microsoft.com/office/drawing/2014/main" id="{23A12878-4A5D-E648-A640-94DEA9532F72}"/>
                </a:ext>
              </a:extLst>
            </p:cNvPr>
            <p:cNvSpPr txBox="1"/>
            <p:nvPr/>
          </p:nvSpPr>
          <p:spPr>
            <a:xfrm>
              <a:off x="84051" y="4728776"/>
              <a:ext cx="659482" cy="2538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34" name="Google Shape;112;p3">
              <a:extLst>
                <a:ext uri="{FF2B5EF4-FFF2-40B4-BE49-F238E27FC236}">
                  <a16:creationId xmlns:a16="http://schemas.microsoft.com/office/drawing/2014/main" id="{0525B736-A5F9-A04E-92B8-E50E60AAE2C0}"/>
                </a:ext>
              </a:extLst>
            </p:cNvPr>
            <p:cNvSpPr txBox="1"/>
            <p:nvPr/>
          </p:nvSpPr>
          <p:spPr>
            <a:xfrm>
              <a:off x="84051" y="4083918"/>
              <a:ext cx="659482" cy="2538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37" name="Google Shape;108;p3">
            <a:extLst>
              <a:ext uri="{FF2B5EF4-FFF2-40B4-BE49-F238E27FC236}">
                <a16:creationId xmlns:a16="http://schemas.microsoft.com/office/drawing/2014/main" id="{5493CD04-205D-294C-BD53-0914C34565C1}"/>
              </a:ext>
            </a:extLst>
          </p:cNvPr>
          <p:cNvSpPr txBox="1"/>
          <p:nvPr/>
        </p:nvSpPr>
        <p:spPr>
          <a:xfrm>
            <a:off x="964967" y="220551"/>
            <a:ext cx="734481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00549F"/>
                </a:solidFill>
                <a:latin typeface="PT Sans"/>
                <a:ea typeface="PT Sans"/>
                <a:cs typeface="PT Sans"/>
                <a:sym typeface="PT Sans"/>
              </a:rPr>
              <a:t>Введение</a:t>
            </a:r>
            <a:endParaRPr lang="en-US" dirty="0">
              <a:solidFill>
                <a:srgbClr val="00549F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12" name="Объект 2"/>
          <p:cNvSpPr>
            <a:spLocks noGrp="1"/>
          </p:cNvSpPr>
          <p:nvPr>
            <p:ph idx="1"/>
          </p:nvPr>
        </p:nvSpPr>
        <p:spPr>
          <a:xfrm>
            <a:off x="1043608" y="926349"/>
            <a:ext cx="10562698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От генов к сетям: WGCNA и модули генов</a:t>
            </a:r>
          </a:p>
          <a:p>
            <a:pPr marL="0" indent="0" algn="just">
              <a:buNone/>
            </a:pPr>
            <a:r>
              <a:rPr lang="ru-RU" b="0" i="1" dirty="0">
                <a:effectLst/>
                <a:latin typeface="fkGroteskNeue"/>
              </a:rPr>
              <a:t>Парадокс размерности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20,000 генов — это слишком много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При 20,000 генов и 100 пациентах, каждый пациент уникален.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Традиционный подход: выбрать топ-</a:t>
            </a:r>
            <a:r>
              <a:rPr lang="en-US" dirty="0">
                <a:latin typeface="fkGroteskNeue"/>
              </a:rPr>
              <a:t>n </a:t>
            </a:r>
            <a:r>
              <a:rPr lang="ru-RU" b="0" i="0" dirty="0">
                <a:effectLst/>
                <a:latin typeface="fkGroteskNeue"/>
              </a:rPr>
              <a:t>генов </a:t>
            </a:r>
            <a:endParaRPr lang="en-US" b="0" i="0" dirty="0">
              <a:effectLst/>
              <a:latin typeface="fkGroteskNeue"/>
            </a:endParaRPr>
          </a:p>
          <a:p>
            <a:pPr algn="l"/>
            <a:r>
              <a:rPr lang="ru-RU" b="0" i="0" dirty="0">
                <a:effectLst/>
                <a:latin typeface="fkGroteskNeue"/>
              </a:rPr>
              <a:t>Новый подход: Гены работают в модулях (кластерах), как белки в комплексах</a:t>
            </a:r>
          </a:p>
          <a:p>
            <a:pPr algn="l"/>
            <a:r>
              <a:rPr lang="ru-RU" b="0" i="1" dirty="0">
                <a:effectLst/>
                <a:latin typeface="fkGroteskNeue"/>
              </a:rPr>
              <a:t>Задача: найти эти модули автоматически</a:t>
            </a:r>
          </a:p>
          <a:p>
            <a:pPr marL="0" indent="0" algn="just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4079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Шаг 0: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DEA 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перед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WGCNA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en-US" b="1" i="1" dirty="0">
                <a:effectLst/>
                <a:latin typeface="fkGroteskNeue"/>
              </a:rPr>
              <a:t>WGCNA </a:t>
            </a:r>
            <a:r>
              <a:rPr lang="ru-RU" b="1" i="1" dirty="0">
                <a:effectLst/>
                <a:latin typeface="fkGroteskNeue"/>
              </a:rPr>
              <a:t>на всех 20</a:t>
            </a:r>
            <a:r>
              <a:rPr lang="en-US" b="1" i="1" dirty="0">
                <a:effectLst/>
                <a:latin typeface="fkGroteskNeue"/>
              </a:rPr>
              <a:t>k </a:t>
            </a:r>
            <a:r>
              <a:rPr lang="ru-RU" b="1" i="1" dirty="0">
                <a:effectLst/>
                <a:latin typeface="fkGroteskNeue"/>
              </a:rPr>
              <a:t>генах? Медленно + шум.</a:t>
            </a:r>
          </a:p>
          <a:p>
            <a:pPr marL="0" indent="0" algn="l">
              <a:buNone/>
            </a:pPr>
            <a:r>
              <a:rPr lang="ru-RU" dirty="0">
                <a:effectLst/>
                <a:latin typeface="fkGroteskNeue"/>
              </a:rPr>
              <a:t>1. </a:t>
            </a:r>
            <a:r>
              <a:rPr lang="en-US" dirty="0">
                <a:effectLst/>
                <a:latin typeface="fkGroteskNeue"/>
              </a:rPr>
              <a:t>DEA: tumor vs normal → upregulated/down DEGs (</a:t>
            </a:r>
            <a:r>
              <a:rPr lang="en-US" dirty="0" err="1">
                <a:effectLst/>
                <a:latin typeface="fkGroteskNeue"/>
              </a:rPr>
              <a:t>limma</a:t>
            </a:r>
            <a:r>
              <a:rPr lang="en-US" dirty="0">
                <a:effectLst/>
                <a:latin typeface="fkGroteskNeue"/>
              </a:rPr>
              <a:t>/</a:t>
            </a:r>
            <a:r>
              <a:rPr lang="en-US" dirty="0" err="1">
                <a:effectLst/>
                <a:latin typeface="fkGroteskNeue"/>
              </a:rPr>
              <a:t>edgeR</a:t>
            </a:r>
            <a:r>
              <a:rPr lang="en-US" dirty="0">
                <a:effectLst/>
                <a:latin typeface="fkGroteskNeue"/>
              </a:rPr>
              <a:t>).</a:t>
            </a:r>
          </a:p>
          <a:p>
            <a:pPr marL="0" indent="0" algn="l">
              <a:buNone/>
            </a:pPr>
            <a:r>
              <a:rPr lang="en-US" dirty="0">
                <a:effectLst/>
                <a:latin typeface="fkGroteskNeue"/>
              </a:rPr>
              <a:t>2. Top 5k </a:t>
            </a:r>
            <a:r>
              <a:rPr lang="ru-RU" dirty="0">
                <a:effectLst/>
                <a:latin typeface="fkGroteskNeue"/>
              </a:rPr>
              <a:t>по </a:t>
            </a:r>
            <a:r>
              <a:rPr lang="en-US" dirty="0">
                <a:effectLst/>
                <a:latin typeface="fkGroteskNeue"/>
              </a:rPr>
              <a:t>variance/</a:t>
            </a:r>
            <a:r>
              <a:rPr lang="en-US" dirty="0" err="1">
                <a:effectLst/>
                <a:latin typeface="fkGroteskNeue"/>
              </a:rPr>
              <a:t>adj.p</a:t>
            </a:r>
            <a:r>
              <a:rPr lang="en-US" dirty="0">
                <a:effectLst/>
                <a:latin typeface="fkGroteskNeue"/>
              </a:rPr>
              <a:t>&lt;0.05.</a:t>
            </a:r>
          </a:p>
          <a:p>
            <a:pPr marL="0" indent="0" algn="l">
              <a:buNone/>
            </a:pPr>
            <a:r>
              <a:rPr lang="en-US" dirty="0">
                <a:effectLst/>
                <a:latin typeface="fkGroteskNeue"/>
              </a:rPr>
              <a:t>3. + remove low-expr CPM&gt;3 </a:t>
            </a:r>
            <a:r>
              <a:rPr lang="ru-RU" dirty="0">
                <a:effectLst/>
                <a:latin typeface="fkGroteskNeue"/>
              </a:rPr>
              <a:t>в 30% </a:t>
            </a:r>
            <a:r>
              <a:rPr lang="ru-RU" dirty="0" err="1">
                <a:effectLst/>
                <a:latin typeface="fkGroteskNeue"/>
              </a:rPr>
              <a:t>сэмплов</a:t>
            </a:r>
            <a:r>
              <a:rPr lang="ru-RU" dirty="0">
                <a:effectLst/>
                <a:latin typeface="fkGroteskNeue"/>
              </a:rPr>
              <a:t>.</a:t>
            </a:r>
          </a:p>
          <a:p>
            <a:pPr marL="0" indent="0" algn="l">
              <a:buNone/>
            </a:pPr>
            <a:r>
              <a:rPr lang="ru-RU" dirty="0">
                <a:effectLst/>
                <a:latin typeface="fkGroteskNeue"/>
              </a:rPr>
              <a:t>Пример </a:t>
            </a:r>
            <a:r>
              <a:rPr lang="en-US" dirty="0">
                <a:effectLst/>
                <a:latin typeface="fkGroteskNeue"/>
              </a:rPr>
              <a:t>TCGA breast: 2k DEGs → WGCNA input.</a:t>
            </a:r>
          </a:p>
          <a:p>
            <a:pPr marL="0" indent="0" algn="l">
              <a:buNone/>
            </a:pPr>
            <a:r>
              <a:rPr lang="en-US" dirty="0">
                <a:effectLst/>
                <a:latin typeface="fkGroteskNeue"/>
              </a:rPr>
              <a:t>R: </a:t>
            </a:r>
            <a:r>
              <a:rPr lang="en-US" dirty="0" err="1">
                <a:effectLst/>
                <a:latin typeface="fkGroteskNeue"/>
              </a:rPr>
              <a:t>limma</a:t>
            </a:r>
            <a:r>
              <a:rPr lang="en-US" dirty="0">
                <a:effectLst/>
                <a:latin typeface="fkGroteskNeue"/>
              </a:rPr>
              <a:t>::</a:t>
            </a:r>
            <a:r>
              <a:rPr lang="en-US" dirty="0" err="1">
                <a:effectLst/>
                <a:latin typeface="fkGroteskNeue"/>
              </a:rPr>
              <a:t>topTable</a:t>
            </a:r>
            <a:r>
              <a:rPr lang="en-US" dirty="0">
                <a:effectLst/>
                <a:latin typeface="fkGroteskNeue"/>
              </a:rPr>
              <a:t>(fit, </a:t>
            </a:r>
            <a:r>
              <a:rPr lang="en-US" dirty="0" err="1">
                <a:effectLst/>
                <a:latin typeface="fkGroteskNeue"/>
              </a:rPr>
              <a:t>adj.P.Val</a:t>
            </a:r>
            <a:r>
              <a:rPr lang="en-US" dirty="0">
                <a:effectLst/>
                <a:latin typeface="fkGroteskNeue"/>
              </a:rPr>
              <a:t>&lt;0.05) → variance filter.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6142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Почему сети, а не просто гены?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Традиционный подход: "Какой ген предсказывает рак?"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Результат: находим 1-2 гена, но они работают в контексте других генов.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Проблема: гены не работают в изоляции!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Ген A регулирует ген B, ген B регулирует ген C...</a:t>
            </a:r>
          </a:p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Системный подход: "Какой модуль генов, работающих вместе, предсказывает рак?"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Результат: находим 5-10 генов, работающих как "команда" → часто намного более надёжно!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2026497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4DD5B490-5511-43B8-8AC8-1BE316A987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97"/>
          <a:stretch/>
        </p:blipFill>
        <p:spPr bwMode="auto">
          <a:xfrm>
            <a:off x="6301298" y="1344006"/>
            <a:ext cx="5617254" cy="4989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Основы теории графов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4" y="1223234"/>
            <a:ext cx="6938994" cy="5677647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ru-RU" sz="2000" b="1" i="1" dirty="0">
                <a:effectLst/>
                <a:latin typeface="fkGroteskNeue"/>
              </a:rPr>
              <a:t>Язык сетей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Граф = пара (V, 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V = вершины (</a:t>
            </a:r>
            <a:r>
              <a:rPr lang="ru-RU" sz="2000" b="0" i="0" dirty="0" err="1">
                <a:effectLst/>
                <a:latin typeface="fkGroteskNeue"/>
              </a:rPr>
              <a:t>nodes</a:t>
            </a:r>
            <a:r>
              <a:rPr lang="ru-RU" sz="2000" b="0" i="0" dirty="0">
                <a:effectLst/>
                <a:latin typeface="fkGroteskNeue"/>
              </a:rPr>
              <a:t>) — в биомедицине это гены, белки, пациенты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E = рёбра (</a:t>
            </a:r>
            <a:r>
              <a:rPr lang="ru-RU" sz="2000" b="0" i="0" dirty="0" err="1">
                <a:effectLst/>
                <a:latin typeface="fkGroteskNeue"/>
              </a:rPr>
              <a:t>edges</a:t>
            </a:r>
            <a:r>
              <a:rPr lang="ru-RU" sz="2000" b="0" i="0" dirty="0">
                <a:effectLst/>
                <a:latin typeface="fkGroteskNeue"/>
              </a:rPr>
              <a:t>) — связи между ними</a:t>
            </a:r>
            <a:endParaRPr lang="en-US" sz="2000" b="0" i="0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Взвешенный граф:</a:t>
            </a:r>
          </a:p>
          <a:p>
            <a:pPr algn="l"/>
            <a:r>
              <a:rPr lang="ru-RU" sz="2000" b="0" i="0" dirty="0">
                <a:effectLst/>
                <a:latin typeface="fkGroteskNeue"/>
              </a:rPr>
              <a:t>Каждое ребро имеет вес (</a:t>
            </a:r>
            <a:r>
              <a:rPr lang="ru-RU" sz="2000" b="0" i="0" dirty="0" err="1">
                <a:effectLst/>
                <a:latin typeface="fkGroteskNeue"/>
              </a:rPr>
              <a:t>strength</a:t>
            </a:r>
            <a:r>
              <a:rPr lang="ru-RU" sz="2000" b="0" i="0" dirty="0">
                <a:effectLst/>
                <a:latin typeface="fkGroteskNeue"/>
              </a:rPr>
              <a:t>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Вес 0.9: сильная корреляция экспрессии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Вес 0.3: слабая корреляция</a:t>
            </a:r>
          </a:p>
          <a:p>
            <a:pPr marL="0" indent="0" algn="l">
              <a:buNone/>
            </a:pPr>
            <a:r>
              <a:rPr lang="ru-RU" sz="2000" b="0" i="1" dirty="0">
                <a:effectLst/>
                <a:latin typeface="fkGroteskNeue"/>
              </a:rPr>
              <a:t>Направленный граф (ориентированный):</a:t>
            </a:r>
            <a:br>
              <a:rPr lang="ru-RU" sz="2000" b="0" i="0" dirty="0">
                <a:effectLst/>
                <a:latin typeface="fkGroteskNeue"/>
              </a:rPr>
            </a:br>
            <a:r>
              <a:rPr lang="ru-RU" sz="2000" b="0" i="0" dirty="0">
                <a:effectLst/>
                <a:latin typeface="fkGroteskNeue"/>
              </a:rPr>
              <a:t>Стрелка показывает направление (ген A → ген B = "ген A регулирует ген B")</a:t>
            </a:r>
          </a:p>
          <a:p>
            <a:pPr marL="0" indent="0" algn="l">
              <a:buNone/>
            </a:pPr>
            <a:r>
              <a:rPr lang="ru-RU" sz="2000" b="0" i="1" dirty="0">
                <a:effectLst/>
                <a:latin typeface="fkGroteskNeue"/>
              </a:rPr>
              <a:t>Ненаправленный граф:</a:t>
            </a:r>
            <a:br>
              <a:rPr lang="ru-RU" sz="2000" b="0" i="0" dirty="0">
                <a:effectLst/>
                <a:latin typeface="fkGroteskNeue"/>
              </a:rPr>
            </a:br>
            <a:r>
              <a:rPr lang="ru-RU" sz="2000" b="0" i="0" dirty="0">
                <a:effectLst/>
                <a:latin typeface="fkGroteskNeue"/>
              </a:rPr>
              <a:t>Просто связь (корреляция экспрессии, не важно направление)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sz="2000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33822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6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Метрики графов (часть 1)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7462377" cy="5677647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ru-RU" sz="2400" b="1" i="1" dirty="0">
                <a:effectLst/>
                <a:latin typeface="fkGroteskNeue"/>
              </a:rPr>
              <a:t>Как описать сеть?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Степень вершины (</a:t>
            </a:r>
            <a:r>
              <a:rPr lang="ru-RU" sz="2400" b="0" i="1" dirty="0" err="1">
                <a:effectLst/>
                <a:latin typeface="fkGroteskNeue"/>
              </a:rPr>
              <a:t>Degree</a:t>
            </a:r>
            <a:r>
              <a:rPr lang="ru-RU" sz="2400" b="0" i="1" dirty="0">
                <a:effectLst/>
                <a:latin typeface="fkGroteskNeue"/>
              </a:rPr>
              <a:t>):</a:t>
            </a:r>
            <a:r>
              <a:rPr lang="en-US" sz="2400" b="0" i="1" dirty="0">
                <a:effectLst/>
                <a:latin typeface="fkGroteskNeue"/>
              </a:rPr>
              <a:t> </a:t>
            </a:r>
            <a:r>
              <a:rPr lang="ru-RU" sz="2400" b="0" i="0" dirty="0">
                <a:effectLst/>
                <a:latin typeface="fkGroteskNeue"/>
              </a:rPr>
              <a:t>Количество рёбер, соединённых с вершиной.</a:t>
            </a:r>
            <a:endParaRPr lang="en-US" sz="2400" b="0" i="0" dirty="0">
              <a:effectLst/>
              <a:latin typeface="fkGroteskNeue"/>
            </a:endParaRPr>
          </a:p>
          <a:p>
            <a:pPr marL="457200" lvl="1" indent="0">
              <a:buNone/>
            </a:pPr>
            <a:r>
              <a:rPr lang="ru-RU" sz="2000" b="0" i="0" dirty="0" err="1">
                <a:effectLst/>
                <a:latin typeface="fkGroteskNeue"/>
              </a:rPr>
              <a:t>ГенA</a:t>
            </a:r>
            <a:r>
              <a:rPr lang="ru-RU" sz="2000" b="0" i="0" dirty="0">
                <a:effectLst/>
                <a:latin typeface="fkGroteskNeue"/>
              </a:rPr>
              <a:t>: </a:t>
            </a:r>
            <a:r>
              <a:rPr lang="ru-RU" sz="2000" b="0" i="0" dirty="0" err="1">
                <a:effectLst/>
                <a:latin typeface="fkGroteskNeue"/>
              </a:rPr>
              <a:t>degree</a:t>
            </a:r>
            <a:r>
              <a:rPr lang="ru-RU" sz="2000" b="0" i="0" dirty="0">
                <a:effectLst/>
                <a:latin typeface="fkGroteskNeue"/>
              </a:rPr>
              <a:t> = 3  (соединён с B, C, D)</a:t>
            </a:r>
          </a:p>
          <a:p>
            <a:pPr marL="457200" lvl="1" indent="0">
              <a:buNone/>
            </a:pPr>
            <a:r>
              <a:rPr lang="ru-RU" sz="2000" b="0" i="0" dirty="0" err="1">
                <a:effectLst/>
                <a:latin typeface="fkGroteskNeue"/>
              </a:rPr>
              <a:t>ГенE</a:t>
            </a:r>
            <a:r>
              <a:rPr lang="ru-RU" sz="2000" b="0" i="0" dirty="0">
                <a:effectLst/>
                <a:latin typeface="fkGroteskNeue"/>
              </a:rPr>
              <a:t>: </a:t>
            </a:r>
            <a:r>
              <a:rPr lang="ru-RU" sz="2000" b="0" i="0" dirty="0" err="1">
                <a:effectLst/>
                <a:latin typeface="fkGroteskNeue"/>
              </a:rPr>
              <a:t>degree</a:t>
            </a:r>
            <a:r>
              <a:rPr lang="ru-RU" sz="2000" b="0" i="0" dirty="0">
                <a:effectLst/>
                <a:latin typeface="fkGroteskNeue"/>
              </a:rPr>
              <a:t> = 1  (соединён только с D)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Гены с высокой степенью = </a:t>
            </a:r>
            <a:r>
              <a:rPr lang="ru-RU" sz="2400" b="0" i="1" dirty="0" err="1">
                <a:effectLst/>
                <a:latin typeface="fkGroteskNeue"/>
              </a:rPr>
              <a:t>hub</a:t>
            </a:r>
            <a:r>
              <a:rPr lang="ru-RU" sz="2400" b="0" i="1" dirty="0">
                <a:effectLst/>
                <a:latin typeface="fkGroteskNeue"/>
              </a:rPr>
              <a:t> гены (центральные, важные)</a:t>
            </a:r>
          </a:p>
          <a:p>
            <a:pPr marL="0" indent="0" algn="l">
              <a:buNone/>
            </a:pPr>
            <a:r>
              <a:rPr lang="ru-RU" sz="2400" b="0" i="1" dirty="0" err="1">
                <a:effectLst/>
                <a:latin typeface="fkGroteskNeue"/>
              </a:rPr>
              <a:t>Кластеризационный</a:t>
            </a:r>
            <a:r>
              <a:rPr lang="ru-RU" sz="2400" b="0" i="1" dirty="0">
                <a:effectLst/>
                <a:latin typeface="fkGroteskNeue"/>
              </a:rPr>
              <a:t> коэффициент (</a:t>
            </a:r>
            <a:r>
              <a:rPr lang="ru-RU" sz="2400" b="0" i="1" dirty="0" err="1">
                <a:effectLst/>
                <a:latin typeface="fkGroteskNeue"/>
              </a:rPr>
              <a:t>Clustering</a:t>
            </a:r>
            <a:r>
              <a:rPr lang="ru-RU" sz="2400" b="0" i="1" dirty="0">
                <a:effectLst/>
                <a:latin typeface="fkGroteskNeue"/>
              </a:rPr>
              <a:t> </a:t>
            </a:r>
            <a:r>
              <a:rPr lang="ru-RU" sz="2400" b="0" i="1" dirty="0" err="1">
                <a:effectLst/>
                <a:latin typeface="fkGroteskNeue"/>
              </a:rPr>
              <a:t>Coefficient</a:t>
            </a:r>
            <a:r>
              <a:rPr lang="ru-RU" sz="2400" b="0" i="1" dirty="0">
                <a:effectLst/>
                <a:latin typeface="fkGroteskNeue"/>
              </a:rPr>
              <a:t>):</a:t>
            </a:r>
            <a:r>
              <a:rPr lang="en-US" sz="2400" b="0" i="1" dirty="0">
                <a:effectLst/>
                <a:latin typeface="fkGroteskNeue"/>
              </a:rPr>
              <a:t> </a:t>
            </a:r>
            <a:r>
              <a:rPr lang="ru-RU" sz="2400" b="0" i="0" dirty="0">
                <a:effectLst/>
                <a:latin typeface="fkGroteskNeue"/>
              </a:rPr>
              <a:t>Насколько соседи вершины соединены между собой?</a:t>
            </a:r>
          </a:p>
          <a:p>
            <a:pPr marL="457200" lvl="1" indent="0">
              <a:buNone/>
            </a:pPr>
            <a:r>
              <a:rPr lang="ru-RU" sz="2000" b="0" i="0" dirty="0">
                <a:effectLst/>
                <a:latin typeface="fkGroteskNeue"/>
              </a:rPr>
              <a:t>Если у </a:t>
            </a:r>
            <a:r>
              <a:rPr lang="ru-RU" sz="2000" b="0" i="0" dirty="0" err="1">
                <a:effectLst/>
                <a:latin typeface="fkGroteskNeue"/>
              </a:rPr>
              <a:t>ГенA</a:t>
            </a:r>
            <a:r>
              <a:rPr lang="ru-RU" sz="2000" b="0" i="0" dirty="0">
                <a:effectLst/>
                <a:latin typeface="fkGroteskNeue"/>
              </a:rPr>
              <a:t> есть соседи B и C:</a:t>
            </a:r>
          </a:p>
          <a:p>
            <a:pPr marL="457200" lvl="1" indent="0">
              <a:buNone/>
            </a:pPr>
            <a:r>
              <a:rPr lang="ru-RU" sz="2000" b="0" i="0" dirty="0">
                <a:effectLst/>
                <a:latin typeface="fkGroteskNeue"/>
              </a:rPr>
              <a:t>- Если B и C соединены → </a:t>
            </a:r>
            <a:r>
              <a:rPr lang="ru-RU" sz="2000" b="0" i="0" dirty="0" err="1">
                <a:effectLst/>
                <a:latin typeface="fkGroteskNeue"/>
              </a:rPr>
              <a:t>clustering</a:t>
            </a:r>
            <a:r>
              <a:rPr lang="ru-RU" sz="2000" b="0" i="0" dirty="0">
                <a:effectLst/>
                <a:latin typeface="fkGroteskNeue"/>
              </a:rPr>
              <a:t> </a:t>
            </a:r>
            <a:r>
              <a:rPr lang="ru-RU" sz="2000" b="0" i="0" dirty="0" err="1">
                <a:effectLst/>
                <a:latin typeface="fkGroteskNeue"/>
              </a:rPr>
              <a:t>coeff</a:t>
            </a:r>
            <a:r>
              <a:rPr lang="ru-RU" sz="2000" b="0" i="0" dirty="0">
                <a:effectLst/>
                <a:latin typeface="fkGroteskNeue"/>
              </a:rPr>
              <a:t> высокий (триангуляция)</a:t>
            </a:r>
          </a:p>
          <a:p>
            <a:pPr marL="457200" lvl="1" indent="0">
              <a:buNone/>
            </a:pPr>
            <a:r>
              <a:rPr lang="ru-RU" sz="2000" b="0" i="0" dirty="0">
                <a:effectLst/>
                <a:latin typeface="fkGroteskNeue"/>
              </a:rPr>
              <a:t>- Если B и C не соединены → </a:t>
            </a:r>
            <a:r>
              <a:rPr lang="ru-RU" sz="2000" b="0" i="0" dirty="0" err="1">
                <a:effectLst/>
                <a:latin typeface="fkGroteskNeue"/>
              </a:rPr>
              <a:t>clustering</a:t>
            </a:r>
            <a:r>
              <a:rPr lang="ru-RU" sz="2000" b="0" i="0" dirty="0">
                <a:effectLst/>
                <a:latin typeface="fkGroteskNeue"/>
              </a:rPr>
              <a:t> </a:t>
            </a:r>
            <a:r>
              <a:rPr lang="ru-RU" sz="2000" b="0" i="0" dirty="0" err="1">
                <a:effectLst/>
                <a:latin typeface="fkGroteskNeue"/>
              </a:rPr>
              <a:t>coeff</a:t>
            </a:r>
            <a:r>
              <a:rPr lang="ru-RU" sz="2000" b="0" i="0" dirty="0">
                <a:effectLst/>
                <a:latin typeface="fkGroteskNeue"/>
              </a:rPr>
              <a:t> низкий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Высокий </a:t>
            </a:r>
            <a:r>
              <a:rPr lang="ru-RU" sz="2400" b="0" i="1" dirty="0" err="1">
                <a:effectLst/>
                <a:latin typeface="fkGroteskNeue"/>
              </a:rPr>
              <a:t>clustering</a:t>
            </a:r>
            <a:r>
              <a:rPr lang="ru-RU" sz="2400" b="0" i="1" dirty="0">
                <a:effectLst/>
                <a:latin typeface="fkGroteskNeue"/>
              </a:rPr>
              <a:t> </a:t>
            </a:r>
            <a:r>
              <a:rPr lang="ru-RU" sz="2400" b="0" i="1" dirty="0" err="1">
                <a:effectLst/>
                <a:latin typeface="fkGroteskNeue"/>
              </a:rPr>
              <a:t>coeff</a:t>
            </a:r>
            <a:r>
              <a:rPr lang="ru-RU" sz="2400" b="0" i="1" dirty="0">
                <a:effectLst/>
                <a:latin typeface="fkGroteskNeue"/>
              </a:rPr>
              <a:t> = плотная подсеть ("клика")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C23E70E-BDEF-4B3D-9DA0-1E24E47D2D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4074" y="1170658"/>
            <a:ext cx="5614903" cy="4993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823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7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Метрики графов (часть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2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Централ</a:t>
            </a:r>
            <a:r>
              <a:rPr lang="ru-RU" b="1" i="1" dirty="0">
                <a:latin typeface="fkGroteskNeue"/>
              </a:rPr>
              <a:t>ьность</a:t>
            </a:r>
            <a:r>
              <a:rPr lang="ru-RU" b="1" i="1" dirty="0">
                <a:effectLst/>
                <a:latin typeface="fkGroteskNeue"/>
              </a:rPr>
              <a:t> (</a:t>
            </a:r>
            <a:r>
              <a:rPr lang="ru-RU" b="1" i="1" dirty="0" err="1">
                <a:effectLst/>
                <a:latin typeface="fkGroteskNeue"/>
              </a:rPr>
              <a:t>Centrality</a:t>
            </a:r>
            <a:r>
              <a:rPr lang="ru-RU" b="1" i="1" dirty="0">
                <a:effectLst/>
                <a:latin typeface="fkGroteskNeue"/>
              </a:rPr>
              <a:t>)</a:t>
            </a:r>
          </a:p>
          <a:p>
            <a:pPr marL="0" indent="0" algn="l">
              <a:buNone/>
            </a:pPr>
            <a:r>
              <a:rPr lang="ru-RU" b="0" i="1" dirty="0" err="1">
                <a:effectLst/>
                <a:latin typeface="fkGroteskNeue"/>
              </a:rPr>
              <a:t>Betweenness</a:t>
            </a:r>
            <a:r>
              <a:rPr lang="ru-RU" b="0" i="1" dirty="0">
                <a:effectLst/>
                <a:latin typeface="fkGroteskNeue"/>
              </a:rPr>
              <a:t> </a:t>
            </a:r>
            <a:r>
              <a:rPr lang="ru-RU" b="0" i="1" dirty="0" err="1">
                <a:effectLst/>
                <a:latin typeface="fkGroteskNeue"/>
              </a:rPr>
              <a:t>Centrality</a:t>
            </a:r>
            <a:r>
              <a:rPr lang="ru-RU" b="0" i="0" dirty="0">
                <a:effectLst/>
                <a:latin typeface="fkGroteskNeue"/>
              </a:rPr>
              <a:t>: Сколько кратчайших путей проходит через вершину?</a:t>
            </a:r>
          </a:p>
          <a:p>
            <a:pPr marL="457200" lvl="1" indent="0">
              <a:buNone/>
            </a:pPr>
            <a:r>
              <a:rPr lang="ru-RU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	Гены: A - B - C - D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Гены B и C имеют высокий </a:t>
            </a:r>
            <a:r>
              <a:rPr lang="ru-RU" b="0" i="1" dirty="0" err="1">
                <a:effectLst/>
                <a:latin typeface="fkGroteskNeue"/>
              </a:rPr>
              <a:t>betweenness</a:t>
            </a:r>
            <a:r>
              <a:rPr lang="ru-RU" b="0" i="1" dirty="0">
                <a:effectLst/>
                <a:latin typeface="fkGroteskNeue"/>
              </a:rPr>
              <a:t> (пути между A↔D должны через них). </a:t>
            </a:r>
            <a:r>
              <a:rPr lang="ru-RU" b="0" i="0" dirty="0">
                <a:effectLst/>
                <a:latin typeface="fkGroteskNeue"/>
              </a:rPr>
              <a:t>Смысл: гены, которые "соединяют разные части сети"</a:t>
            </a:r>
            <a:endParaRPr lang="ru-RU" b="0" i="1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b="0" i="1" dirty="0" err="1">
                <a:effectLst/>
                <a:latin typeface="fkGroteskNeue"/>
              </a:rPr>
              <a:t>Closeness</a:t>
            </a:r>
            <a:r>
              <a:rPr lang="ru-RU" b="0" i="1" dirty="0">
                <a:effectLst/>
                <a:latin typeface="fkGroteskNeue"/>
              </a:rPr>
              <a:t> </a:t>
            </a:r>
            <a:r>
              <a:rPr lang="ru-RU" b="0" i="1" dirty="0" err="1">
                <a:effectLst/>
                <a:latin typeface="fkGroteskNeue"/>
              </a:rPr>
              <a:t>Centrality</a:t>
            </a:r>
            <a:r>
              <a:rPr lang="ru-RU" b="0" i="1" dirty="0">
                <a:effectLst/>
                <a:latin typeface="fkGroteskNeue"/>
              </a:rPr>
              <a:t>: </a:t>
            </a:r>
            <a:r>
              <a:rPr lang="ru-RU" b="0" i="0" dirty="0">
                <a:effectLst/>
                <a:latin typeface="fkGroteskNeue"/>
              </a:rPr>
              <a:t>Средняя расстояние до всех других вершин.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Центральный ген близко ко всем, периферийный ген далеко от многих</a:t>
            </a:r>
          </a:p>
          <a:p>
            <a:pPr marL="0" indent="0" algn="l">
              <a:buNone/>
            </a:pPr>
            <a:r>
              <a:rPr lang="ru-RU" b="0" i="1" dirty="0" err="1">
                <a:effectLst/>
                <a:latin typeface="fkGroteskNeue"/>
              </a:rPr>
              <a:t>Eigenvector</a:t>
            </a:r>
            <a:r>
              <a:rPr lang="ru-RU" b="0" i="1" dirty="0">
                <a:effectLst/>
                <a:latin typeface="fkGroteskNeue"/>
              </a:rPr>
              <a:t> </a:t>
            </a:r>
            <a:r>
              <a:rPr lang="ru-RU" b="0" i="1" dirty="0" err="1">
                <a:effectLst/>
                <a:latin typeface="fkGroteskNeue"/>
              </a:rPr>
              <a:t>Centrality</a:t>
            </a:r>
            <a:r>
              <a:rPr lang="ru-RU" b="0" i="1" dirty="0">
                <a:effectLst/>
                <a:latin typeface="fkGroteskNeue"/>
              </a:rPr>
              <a:t>: </a:t>
            </a:r>
            <a:r>
              <a:rPr lang="ru-RU" b="0" i="0" dirty="0">
                <a:effectLst/>
                <a:latin typeface="fkGroteskNeue"/>
              </a:rPr>
              <a:t>"Ты важен, если соединён с другими важными генами"</a:t>
            </a:r>
            <a:endParaRPr lang="ru-RU" b="0" i="1" dirty="0">
              <a:effectLst/>
              <a:latin typeface="fkGroteskNeue"/>
            </a:endParaRPr>
          </a:p>
          <a:p>
            <a:pPr algn="l"/>
            <a:endParaRPr lang="ru-RU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18884591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8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Обнаружение сообществ (модулей)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ru-RU" sz="2000" b="1" i="1" dirty="0">
                <a:effectLst/>
                <a:latin typeface="fkGroteskNeue"/>
              </a:rPr>
              <a:t>Где лежат кластеры?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Задача: найти группы генов, которые: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Сильно соединены между собой (внутри модуля)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Слабо соединены с другими группами (между модулями)</a:t>
            </a:r>
          </a:p>
          <a:p>
            <a:pPr marL="0" indent="0" algn="l">
              <a:buNone/>
            </a:pPr>
            <a:r>
              <a:rPr lang="ru-RU" sz="2000" b="0" i="1" dirty="0">
                <a:effectLst/>
                <a:latin typeface="fkGroteskNeue"/>
              </a:rPr>
              <a:t>Модульность (</a:t>
            </a:r>
            <a:r>
              <a:rPr lang="ru-RU" sz="2000" b="0" i="1" dirty="0" err="1">
                <a:effectLst/>
                <a:latin typeface="fkGroteskNeue"/>
              </a:rPr>
              <a:t>Modularity</a:t>
            </a:r>
            <a:r>
              <a:rPr lang="ru-RU" sz="2000" b="0" i="1" dirty="0">
                <a:effectLst/>
                <a:latin typeface="fkGroteskNeue"/>
              </a:rPr>
              <a:t>) Q: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Q = (рёбра внутри модулей) / </a:t>
            </a:r>
            <a:r>
              <a:rPr lang="ru-RU" sz="2000" b="0" i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(все </a:t>
            </a:r>
            <a:r>
              <a:rPr lang="ru-RU" sz="20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рёбра) - (ожидаемое случайно)</a:t>
            </a:r>
          </a:p>
          <a:p>
            <a:pPr marL="0" indent="0" algn="l">
              <a:buNone/>
            </a:pPr>
            <a:r>
              <a:rPr lang="ru-RU" sz="2000" dirty="0">
                <a:latin typeface="fkGroteskNeue"/>
              </a:rPr>
              <a:t>Q близко к 1 → хорошая модульная структура</a:t>
            </a:r>
            <a:br>
              <a:rPr lang="ru-RU" sz="2000" dirty="0">
                <a:latin typeface="fkGroteskNeue"/>
              </a:rPr>
            </a:br>
            <a:r>
              <a:rPr lang="ru-RU" sz="2000" dirty="0">
                <a:latin typeface="fkGroteskNeue"/>
              </a:rPr>
              <a:t>Q близко к 0 → нет модулей (все отдельно)</a:t>
            </a:r>
          </a:p>
          <a:p>
            <a:pPr marL="0" indent="0" algn="l">
              <a:buNone/>
            </a:pPr>
            <a:r>
              <a:rPr lang="ru-RU" sz="2000" b="0" i="1" dirty="0">
                <a:effectLst/>
                <a:latin typeface="fkGroteskNeue"/>
              </a:rPr>
              <a:t>Алгоритм </a:t>
            </a:r>
            <a:r>
              <a:rPr lang="ru-RU" sz="2000" b="0" i="1" dirty="0" err="1">
                <a:effectLst/>
                <a:latin typeface="fkGroteskNeue"/>
              </a:rPr>
              <a:t>Louvain</a:t>
            </a:r>
            <a:r>
              <a:rPr lang="ru-RU" sz="2000" b="0" i="1" dirty="0">
                <a:effectLst/>
                <a:latin typeface="fkGroteskNeue"/>
              </a:rPr>
              <a:t>:</a:t>
            </a:r>
          </a:p>
          <a:p>
            <a:pPr algn="l">
              <a:buFont typeface="+mj-lt"/>
              <a:buAutoNum type="arabicPeriod"/>
            </a:pPr>
            <a:r>
              <a:rPr lang="ru-RU" sz="2000" b="0" i="0" dirty="0">
                <a:effectLst/>
                <a:latin typeface="fkGroteskNeue"/>
              </a:rPr>
              <a:t>Каждый ген — отдельный модуль</a:t>
            </a:r>
          </a:p>
          <a:p>
            <a:pPr algn="l">
              <a:buFont typeface="+mj-lt"/>
              <a:buAutoNum type="arabicPeriod"/>
            </a:pPr>
            <a:r>
              <a:rPr lang="ru-RU" sz="2000" b="0" i="0" dirty="0">
                <a:effectLst/>
                <a:latin typeface="fkGroteskNeue"/>
              </a:rPr>
              <a:t>Перемещаем каждый ген в модуль соседа, если Q растёт</a:t>
            </a:r>
          </a:p>
          <a:p>
            <a:pPr algn="l">
              <a:buFont typeface="+mj-lt"/>
              <a:buAutoNum type="arabicPeriod"/>
            </a:pPr>
            <a:r>
              <a:rPr lang="ru-RU" sz="2000" b="0" i="0" dirty="0">
                <a:effectLst/>
                <a:latin typeface="fkGroteskNeue"/>
              </a:rPr>
              <a:t>Повторяем, пока Q не стабилизируется</a:t>
            </a:r>
          </a:p>
          <a:p>
            <a:pPr marL="0" indent="0" algn="l">
              <a:buNone/>
            </a:pPr>
            <a:r>
              <a:rPr lang="ru-RU" sz="2000" b="0" i="1" dirty="0">
                <a:effectLst/>
                <a:latin typeface="fkGroteskNeue"/>
              </a:rPr>
              <a:t>Результат: автоматически найденные модули генов!</a:t>
            </a:r>
          </a:p>
          <a:p>
            <a:pPr marL="0" indent="0" algn="l">
              <a:buNone/>
            </a:pPr>
            <a:endParaRPr lang="ru-RU" sz="2000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1809856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9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WGCNA 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(1)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ru-RU" sz="2400" b="1" i="1" dirty="0" err="1">
                <a:effectLst/>
                <a:latin typeface="fkGroteskNeue"/>
              </a:rPr>
              <a:t>Weighted</a:t>
            </a:r>
            <a:r>
              <a:rPr lang="ru-RU" sz="2400" b="1" i="1" dirty="0">
                <a:effectLst/>
                <a:latin typeface="fkGroteskNeue"/>
              </a:rPr>
              <a:t> </a:t>
            </a:r>
            <a:r>
              <a:rPr lang="ru-RU" sz="2400" b="1" i="1" dirty="0" err="1">
                <a:effectLst/>
                <a:latin typeface="fkGroteskNeue"/>
              </a:rPr>
              <a:t>Gene</a:t>
            </a:r>
            <a:r>
              <a:rPr lang="ru-RU" sz="2400" b="1" i="1" dirty="0">
                <a:effectLst/>
                <a:latin typeface="fkGroteskNeue"/>
              </a:rPr>
              <a:t> Co-</a:t>
            </a:r>
            <a:r>
              <a:rPr lang="ru-RU" sz="2400" b="1" i="1" dirty="0" err="1">
                <a:effectLst/>
                <a:latin typeface="fkGroteskNeue"/>
              </a:rPr>
              <a:t>expression</a:t>
            </a:r>
            <a:r>
              <a:rPr lang="ru-RU" sz="2400" b="1" i="1" dirty="0">
                <a:effectLst/>
                <a:latin typeface="fkGroteskNeue"/>
              </a:rPr>
              <a:t> Network Analysis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WGCNA</a:t>
            </a:r>
            <a:r>
              <a:rPr lang="ru-RU" sz="2400" b="0" i="0" dirty="0">
                <a:effectLst/>
                <a:latin typeface="fkGroteskNeue"/>
              </a:rPr>
              <a:t> = главный инструмент для анализа генных сетей в биомедицине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Входные данные: Матрица экспрессии генов (20,000 генов × 500 пациентов)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Шаг 1: Корреляция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Считаем корреляцию Пирсона между ВСЕМИ парами генов.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Результат: матрица </a:t>
            </a:r>
            <a:r>
              <a:rPr lang="ru-RU" sz="2400" dirty="0">
                <a:latin typeface="fkGroteskNeue"/>
              </a:rPr>
              <a:t>20</a:t>
            </a:r>
            <a:r>
              <a:rPr lang="ru-RU" sz="2400" b="0" i="0" dirty="0">
                <a:effectLst/>
                <a:latin typeface="fkGroteskNeue"/>
              </a:rPr>
              <a:t>,000 × </a:t>
            </a:r>
            <a:r>
              <a:rPr lang="ru-RU" sz="2400" dirty="0">
                <a:latin typeface="fkGroteskNeue"/>
              </a:rPr>
              <a:t>20</a:t>
            </a:r>
            <a:r>
              <a:rPr lang="ru-RU" sz="2400" b="0" i="0" dirty="0">
                <a:effectLst/>
                <a:latin typeface="fkGroteskNeue"/>
              </a:rPr>
              <a:t>,000 корреляций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Шаг 2: Возведение в степень (</a:t>
            </a:r>
            <a:r>
              <a:rPr lang="ru-RU" sz="2400" b="0" i="1" dirty="0" err="1">
                <a:effectLst/>
                <a:latin typeface="fkGroteskNeue"/>
              </a:rPr>
              <a:t>soft-thresholding</a:t>
            </a:r>
            <a:r>
              <a:rPr lang="ru-RU" sz="2400" b="0" i="1" dirty="0">
                <a:effectLst/>
                <a:latin typeface="fkGroteskNeue"/>
              </a:rPr>
              <a:t>)</a:t>
            </a:r>
          </a:p>
          <a:p>
            <a:pPr marL="0" indent="0" algn="l">
              <a:buNone/>
            </a:pPr>
            <a:r>
              <a:rPr lang="ru-RU" sz="2400" b="0" i="0" dirty="0">
                <a:effectLst/>
                <a:latin typeface="fkGroteskNeue"/>
              </a:rPr>
              <a:t>Вместо использования корреляции напрямую, используем:</a:t>
            </a:r>
          </a:p>
          <a:p>
            <a:pPr marL="0" indent="0" algn="l">
              <a:buNone/>
            </a:pPr>
            <a:r>
              <a:rPr lang="ru-RU" sz="24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	</a:t>
            </a:r>
            <a:r>
              <a:rPr lang="pl-PL" sz="24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w_ij = |cor_ij|^β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где β = "мягкий порог" (обычно β = 12)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Эффект: слабые корреляции → ещё слабее, сильные → сильнее</a:t>
            </a:r>
          </a:p>
          <a:p>
            <a:pPr marL="0" indent="0" algn="l">
              <a:buNone/>
            </a:pPr>
            <a:r>
              <a:rPr lang="ru-RU" sz="2400" b="0" i="0" dirty="0">
                <a:effectLst/>
                <a:latin typeface="fkGroteskNeue"/>
              </a:rPr>
              <a:t>Результат: "мягкое" разделение (не жёсткое как </a:t>
            </a:r>
            <a:r>
              <a:rPr lang="ru-RU" sz="2400" b="0" i="0" dirty="0" err="1">
                <a:effectLst/>
                <a:latin typeface="fkGroteskNeue"/>
              </a:rPr>
              <a:t>binary</a:t>
            </a:r>
            <a:r>
              <a:rPr lang="ru-RU" sz="2400" b="0" i="0" dirty="0">
                <a:effectLst/>
                <a:latin typeface="fkGroteskNeue"/>
              </a:rPr>
              <a:t> </a:t>
            </a:r>
            <a:r>
              <a:rPr lang="ru-RU" sz="2400" b="0" i="0" dirty="0" err="1">
                <a:effectLst/>
                <a:latin typeface="fkGroteskNeue"/>
              </a:rPr>
              <a:t>threshold</a:t>
            </a:r>
            <a:r>
              <a:rPr lang="ru-RU" sz="2400" b="0" i="0" dirty="0">
                <a:effectLst/>
                <a:latin typeface="fkGroteskNeue"/>
              </a:rPr>
              <a:t>)</a:t>
            </a:r>
          </a:p>
          <a:p>
            <a:pPr marL="0" indent="0" algn="l">
              <a:buNone/>
            </a:pPr>
            <a:endParaRPr lang="ru-RU" sz="2400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17211424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Picture background">
            <a:extLst>
              <a:ext uri="{FF2B5EF4-FFF2-40B4-BE49-F238E27FC236}">
                <a16:creationId xmlns:a16="http://schemas.microsoft.com/office/drawing/2014/main" id="{E7A854DF-B476-4ED9-9047-901B715A8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7021" y="1374825"/>
            <a:ext cx="4536609" cy="4643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10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WGCNA 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(2)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7640177" cy="5677647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Шаг 3: Иерархическая кластеризация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Расстояние между генами = 1 - </a:t>
            </a:r>
            <a:r>
              <a:rPr lang="ru-RU" sz="2400" b="0" i="0" dirty="0" err="1">
                <a:effectLst/>
                <a:latin typeface="fkGroteskNeue"/>
              </a:rPr>
              <a:t>correlation</a:t>
            </a:r>
            <a:endParaRPr lang="ru-RU" sz="2400" b="0" i="0" dirty="0">
              <a:effectLst/>
              <a:latin typeface="fkGroteskNeue"/>
            </a:endParaRPr>
          </a:p>
          <a:p>
            <a:pPr algn="l"/>
            <a:r>
              <a:rPr lang="ru-RU" sz="2400" b="0" i="0" dirty="0">
                <a:effectLst/>
                <a:latin typeface="fkGroteskNeue"/>
              </a:rPr>
              <a:t>Используем иерархическую кластеризацию (</a:t>
            </a:r>
            <a:r>
              <a:rPr lang="ru-RU" sz="2400" b="0" i="0" dirty="0" err="1">
                <a:effectLst/>
                <a:latin typeface="fkGroteskNeue"/>
              </a:rPr>
              <a:t>linkage</a:t>
            </a:r>
            <a:r>
              <a:rPr lang="ru-RU" sz="2400" b="0" i="0" dirty="0">
                <a:effectLst/>
                <a:latin typeface="fkGroteskNeue"/>
              </a:rPr>
              <a:t> = </a:t>
            </a:r>
            <a:r>
              <a:rPr lang="ru-RU" sz="2400" b="0" i="0" dirty="0" err="1">
                <a:effectLst/>
                <a:latin typeface="fkGroteskNeue"/>
              </a:rPr>
              <a:t>average</a:t>
            </a:r>
            <a:r>
              <a:rPr lang="ru-RU" sz="2400" b="0" i="0" dirty="0">
                <a:effectLst/>
                <a:latin typeface="fkGroteskNeue"/>
              </a:rPr>
              <a:t>)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Результат: </a:t>
            </a:r>
            <a:r>
              <a:rPr lang="ru-RU" sz="2400" b="0" i="0" dirty="0" err="1">
                <a:effectLst/>
                <a:latin typeface="fkGroteskNeue"/>
              </a:rPr>
              <a:t>дендрограмма</a:t>
            </a:r>
            <a:r>
              <a:rPr lang="ru-RU" sz="2400" b="0" i="0" dirty="0">
                <a:effectLst/>
                <a:latin typeface="fkGroteskNeue"/>
              </a:rPr>
              <a:t> (дерево) генов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Шаг 4: Обнаружение модулей (</a:t>
            </a:r>
            <a:r>
              <a:rPr lang="ru-RU" sz="2400" b="0" i="1" dirty="0" err="1">
                <a:effectLst/>
                <a:latin typeface="fkGroteskNeue"/>
              </a:rPr>
              <a:t>Dynamical</a:t>
            </a:r>
            <a:r>
              <a:rPr lang="ru-RU" sz="2400" b="0" i="1" dirty="0">
                <a:effectLst/>
                <a:latin typeface="fkGroteskNeue"/>
              </a:rPr>
              <a:t> </a:t>
            </a:r>
            <a:r>
              <a:rPr lang="ru-RU" sz="2400" b="0" i="1" dirty="0" err="1">
                <a:effectLst/>
                <a:latin typeface="fkGroteskNeue"/>
              </a:rPr>
              <a:t>Tree</a:t>
            </a:r>
            <a:r>
              <a:rPr lang="ru-RU" sz="2400" b="0" i="1" dirty="0">
                <a:effectLst/>
                <a:latin typeface="fkGroteskNeue"/>
              </a:rPr>
              <a:t> </a:t>
            </a:r>
            <a:r>
              <a:rPr lang="ru-RU" sz="2400" b="0" i="1" dirty="0" err="1">
                <a:effectLst/>
                <a:latin typeface="fkGroteskNeue"/>
              </a:rPr>
              <a:t>Cutting</a:t>
            </a:r>
            <a:r>
              <a:rPr lang="ru-RU" sz="2400" b="0" i="1" dirty="0">
                <a:effectLst/>
                <a:latin typeface="fkGroteskNeue"/>
              </a:rPr>
              <a:t>)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Режем </a:t>
            </a:r>
            <a:r>
              <a:rPr lang="ru-RU" sz="2400" b="0" i="0" dirty="0" err="1">
                <a:effectLst/>
                <a:latin typeface="fkGroteskNeue"/>
              </a:rPr>
              <a:t>дендрограмму</a:t>
            </a:r>
            <a:r>
              <a:rPr lang="ru-RU" sz="2400" b="0" i="0" dirty="0">
                <a:effectLst/>
                <a:latin typeface="fkGroteskNeue"/>
              </a:rPr>
              <a:t> на высоте, соответствующей модулям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Параметр: минимальный размер модуля (обычно 30-50 генов)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Результат: 5-30 модулей (в зависимости от данных)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Каждому модулю присваивается цвет:</a:t>
            </a:r>
            <a:br>
              <a:rPr lang="ru-RU" sz="2400" b="0" i="0" dirty="0">
                <a:effectLst/>
                <a:latin typeface="fkGroteskNeue"/>
              </a:rPr>
            </a:br>
            <a:r>
              <a:rPr lang="ru-RU" sz="2400" b="0" i="0" dirty="0">
                <a:effectLst/>
                <a:latin typeface="fkGroteskNeue"/>
              </a:rPr>
              <a:t>Red </a:t>
            </a:r>
            <a:r>
              <a:rPr lang="ru-RU" sz="2400" b="0" i="0" dirty="0" err="1">
                <a:effectLst/>
                <a:latin typeface="fkGroteskNeue"/>
              </a:rPr>
              <a:t>module</a:t>
            </a:r>
            <a:r>
              <a:rPr lang="ru-RU" sz="2400" b="0" i="0" dirty="0">
                <a:effectLst/>
                <a:latin typeface="fkGroteskNeue"/>
              </a:rPr>
              <a:t>, Blue </a:t>
            </a:r>
            <a:r>
              <a:rPr lang="ru-RU" sz="2400" b="0" i="0" dirty="0" err="1">
                <a:effectLst/>
                <a:latin typeface="fkGroteskNeue"/>
              </a:rPr>
              <a:t>module</a:t>
            </a:r>
            <a:r>
              <a:rPr lang="ru-RU" sz="2400" b="0" i="0" dirty="0">
                <a:effectLst/>
                <a:latin typeface="fkGroteskNeue"/>
              </a:rPr>
              <a:t>, Green </a:t>
            </a:r>
            <a:r>
              <a:rPr lang="ru-RU" sz="2400" b="0" i="0" dirty="0" err="1">
                <a:effectLst/>
                <a:latin typeface="fkGroteskNeue"/>
              </a:rPr>
              <a:t>module</a:t>
            </a:r>
            <a:r>
              <a:rPr lang="ru-RU" sz="2400" b="0" i="0" dirty="0">
                <a:effectLst/>
                <a:latin typeface="fkGroteskNeue"/>
              </a:rPr>
              <a:t>...</a:t>
            </a:r>
          </a:p>
          <a:p>
            <a:pPr marL="0" indent="0" algn="l">
              <a:buNone/>
            </a:pPr>
            <a:endParaRPr lang="ru-RU" sz="2400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2772534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11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WGCNA 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(3)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Связь с фенотипом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Шаг 5: Модульные собственные векторы (ME)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Для каждого модуля считаем: ME = первый главный компонент экспрессии генов в модуле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Геометрическая интерпретация: "среднее направление" модуля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Шаг 6: Связь модулей с фенотипом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Считаем корреляцию ME каждого модуля с интересующим фенотипом: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Выживание пациента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Наличие метастазов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Стадия опухоли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Ответ на лекарство</a:t>
            </a:r>
          </a:p>
        </p:txBody>
      </p:sp>
    </p:spTree>
    <p:extLst>
      <p:ext uri="{BB962C8B-B14F-4D97-AF65-F5344CB8AC3E}">
        <p14:creationId xmlns:p14="http://schemas.microsoft.com/office/powerpoint/2010/main" val="3800774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Hub 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гены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ru-RU" sz="2200" b="1" i="1" dirty="0">
                <a:effectLst/>
                <a:latin typeface="fkGroteskNeue"/>
              </a:rPr>
              <a:t>Звёзды сети</a:t>
            </a:r>
          </a:p>
          <a:p>
            <a:pPr marL="0" indent="0" algn="l">
              <a:buNone/>
            </a:pPr>
            <a:r>
              <a:rPr lang="ru-RU" sz="2200" b="0" i="1" dirty="0" err="1">
                <a:effectLst/>
                <a:latin typeface="fkGroteskNeue"/>
              </a:rPr>
              <a:t>Hub</a:t>
            </a:r>
            <a:r>
              <a:rPr lang="ru-RU" sz="2200" b="0" i="1" dirty="0">
                <a:effectLst/>
                <a:latin typeface="fkGroteskNeue"/>
              </a:rPr>
              <a:t> ген </a:t>
            </a:r>
            <a:r>
              <a:rPr lang="ru-RU" sz="2200" b="0" i="0" dirty="0">
                <a:effectLst/>
                <a:latin typeface="fkGroteskNeue"/>
              </a:rPr>
              <a:t>= ген с наибольшей степенью внутри модуля</a:t>
            </a:r>
          </a:p>
          <a:p>
            <a:pPr algn="l"/>
            <a:r>
              <a:rPr lang="ru-RU" sz="2200" b="0" i="0" dirty="0">
                <a:effectLst/>
                <a:latin typeface="fkGroteskNeue"/>
              </a:rPr>
              <a:t>Он соединён со многими другими генами в модуле</a:t>
            </a:r>
          </a:p>
          <a:p>
            <a:pPr marL="0" indent="0" algn="l">
              <a:buNone/>
            </a:pPr>
            <a:r>
              <a:rPr lang="ru-RU" sz="2200" b="0" i="0" dirty="0">
                <a:effectLst/>
                <a:latin typeface="fkGroteskNeue"/>
              </a:rPr>
              <a:t>Метрика:</a:t>
            </a:r>
          </a:p>
          <a:p>
            <a:pPr algn="l"/>
            <a:r>
              <a:rPr lang="ru-RU" sz="2200" b="0" i="0" dirty="0" err="1">
                <a:effectLst/>
                <a:latin typeface="fkGroteskNeue"/>
              </a:rPr>
              <a:t>Intramodular</a:t>
            </a:r>
            <a:r>
              <a:rPr lang="ru-RU" sz="2200" b="0" i="0" dirty="0">
                <a:effectLst/>
                <a:latin typeface="fkGroteskNeue"/>
              </a:rPr>
              <a:t> </a:t>
            </a:r>
            <a:r>
              <a:rPr lang="ru-RU" sz="2200" b="0" i="0" dirty="0" err="1">
                <a:effectLst/>
                <a:latin typeface="fkGroteskNeue"/>
              </a:rPr>
              <a:t>connectivity</a:t>
            </a:r>
            <a:r>
              <a:rPr lang="ru-RU" sz="2200" b="0" i="0" dirty="0">
                <a:effectLst/>
                <a:latin typeface="fkGroteskNeue"/>
              </a:rPr>
              <a:t> (</a:t>
            </a:r>
            <a:r>
              <a:rPr lang="ru-RU" sz="2200" b="0" i="0" dirty="0" err="1">
                <a:effectLst/>
                <a:latin typeface="fkGroteskNeue"/>
              </a:rPr>
              <a:t>kME</a:t>
            </a:r>
            <a:r>
              <a:rPr lang="ru-RU" sz="2200" b="0" i="0" dirty="0">
                <a:effectLst/>
                <a:latin typeface="fkGroteskNeue"/>
              </a:rPr>
              <a:t>): Корреляция гена с модульным собственным вектором ME</a:t>
            </a:r>
          </a:p>
          <a:p>
            <a:pPr marL="0" indent="0" algn="l">
              <a:buNone/>
            </a:pPr>
            <a:r>
              <a:rPr lang="en-US" sz="2200" b="0" i="0" dirty="0">
                <a:effectLst/>
                <a:latin typeface="fkGroteskNeue"/>
              </a:rPr>
              <a:t>Hub </a:t>
            </a:r>
            <a:r>
              <a:rPr lang="ru-RU" sz="2200" b="0" i="0" dirty="0">
                <a:effectLst/>
                <a:latin typeface="fkGroteskNeue"/>
              </a:rPr>
              <a:t>гены часто: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fkGroteskNeue"/>
              </a:rPr>
              <a:t>✓ Имеют высокую связность</a:t>
            </a:r>
            <a:r>
              <a:rPr lang="en-US" sz="2200" b="0" i="0" dirty="0">
                <a:effectLst/>
                <a:latin typeface="fkGroteskNeue"/>
              </a:rPr>
              <a:t> </a:t>
            </a:r>
            <a:r>
              <a:rPr lang="ru-RU" sz="2200" b="0" i="0" dirty="0">
                <a:effectLst/>
                <a:latin typeface="fkGroteskNeue"/>
              </a:rPr>
              <a:t>в своём модуле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fkGroteskNeue"/>
              </a:rPr>
              <a:t>✓ Имеют низкую связность</a:t>
            </a:r>
            <a:r>
              <a:rPr lang="en-US" sz="2200" b="0" i="0" dirty="0">
                <a:effectLst/>
                <a:latin typeface="fkGroteskNeue"/>
              </a:rPr>
              <a:t> </a:t>
            </a:r>
            <a:r>
              <a:rPr lang="ru-RU" sz="2200" b="0" i="0" dirty="0">
                <a:effectLst/>
                <a:latin typeface="fkGroteskNeue"/>
              </a:rPr>
              <a:t>в других модулях (специфичны)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fkGroteskNeue"/>
              </a:rPr>
              <a:t>✓ Имеют высокую степень (много рёбер) </a:t>
            </a:r>
          </a:p>
          <a:p>
            <a:pPr marL="0" indent="0" algn="l">
              <a:buNone/>
            </a:pPr>
            <a:r>
              <a:rPr lang="en-US" sz="2200" b="0" i="1" dirty="0">
                <a:effectLst/>
                <a:latin typeface="fkGroteskNeue"/>
              </a:rPr>
              <a:t>Case Study:</a:t>
            </a:r>
          </a:p>
          <a:p>
            <a:pPr algn="l"/>
            <a:r>
              <a:rPr lang="ru-RU" sz="2200" b="0" i="0" dirty="0">
                <a:effectLst/>
                <a:latin typeface="fkGroteskNeue"/>
              </a:rPr>
              <a:t>В </a:t>
            </a:r>
            <a:r>
              <a:rPr lang="en-US" sz="2200" b="0" i="0" dirty="0">
                <a:effectLst/>
                <a:latin typeface="fkGroteskNeue"/>
              </a:rPr>
              <a:t>Blue module (</a:t>
            </a:r>
            <a:r>
              <a:rPr lang="ru-RU" sz="2200" b="0" i="0" dirty="0">
                <a:effectLst/>
                <a:latin typeface="fkGroteskNeue"/>
              </a:rPr>
              <a:t>ассоциирован с метастазами) </a:t>
            </a:r>
            <a:r>
              <a:rPr lang="en-US" sz="2200" b="0" i="0" dirty="0">
                <a:effectLst/>
                <a:latin typeface="fkGroteskNeue"/>
              </a:rPr>
              <a:t>hub </a:t>
            </a:r>
            <a:r>
              <a:rPr lang="ru-RU" sz="2200" b="0" i="0" dirty="0">
                <a:effectLst/>
                <a:latin typeface="fkGroteskNeue"/>
              </a:rPr>
              <a:t>ген = </a:t>
            </a:r>
            <a:r>
              <a:rPr lang="en-US" sz="2200" b="0" i="0" dirty="0">
                <a:effectLst/>
                <a:latin typeface="fkGroteskNeue"/>
              </a:rPr>
              <a:t>TP53 (</a:t>
            </a:r>
            <a:r>
              <a:rPr lang="ru-RU" sz="2200" b="0" i="0" dirty="0">
                <a:effectLst/>
                <a:latin typeface="fkGroteskNeue"/>
              </a:rPr>
              <a:t>опухолевый супрессор)</a:t>
            </a:r>
          </a:p>
          <a:p>
            <a:pPr algn="l"/>
            <a:r>
              <a:rPr lang="ru-RU" sz="2200" b="0" i="0" dirty="0">
                <a:effectLst/>
                <a:latin typeface="fkGroteskNeue"/>
              </a:rPr>
              <a:t>Вывод: </a:t>
            </a:r>
            <a:r>
              <a:rPr lang="en-US" sz="2200" b="0" i="0" dirty="0">
                <a:effectLst/>
                <a:latin typeface="fkGroteskNeue"/>
              </a:rPr>
              <a:t>TP53 — </a:t>
            </a:r>
            <a:r>
              <a:rPr lang="ru-RU" sz="2200" b="0" i="0" dirty="0">
                <a:effectLst/>
                <a:latin typeface="fkGroteskNeue"/>
              </a:rPr>
              <a:t>ключевой регулятор метастазирования в этой сети</a:t>
            </a:r>
          </a:p>
          <a:p>
            <a:pPr algn="l"/>
            <a:endParaRPr lang="ru-RU" sz="2200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3649795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Визуализация сетей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ru-RU" sz="2400" b="1" i="1" dirty="0">
                <a:effectLst/>
                <a:latin typeface="fkGroteskNeue"/>
              </a:rPr>
              <a:t>Как показать 10,000 генов?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Проблема: невозможно нарисовать 10,000 узлов так, чтобы было видно</a:t>
            </a:r>
          </a:p>
          <a:p>
            <a:pPr marL="0" indent="0" algn="l">
              <a:buNone/>
            </a:pPr>
            <a:r>
              <a:rPr lang="ru-RU" sz="2400" b="0" i="0" dirty="0">
                <a:effectLst/>
                <a:latin typeface="fkGroteskNeue"/>
              </a:rPr>
              <a:t>Решение 1: TOM </a:t>
            </a:r>
            <a:r>
              <a:rPr lang="ru-RU" sz="2400" b="0" i="0" dirty="0" err="1">
                <a:effectLst/>
                <a:latin typeface="fkGroteskNeue"/>
              </a:rPr>
              <a:t>Plot</a:t>
            </a:r>
            <a:r>
              <a:rPr lang="ru-RU" sz="2400" b="0" i="0" dirty="0">
                <a:effectLst/>
                <a:latin typeface="fkGroteskNeue"/>
              </a:rPr>
              <a:t> (</a:t>
            </a:r>
            <a:r>
              <a:rPr lang="ru-RU" sz="2400" b="0" i="0" dirty="0" err="1">
                <a:effectLst/>
                <a:latin typeface="fkGroteskNeue"/>
              </a:rPr>
              <a:t>Topological</a:t>
            </a:r>
            <a:r>
              <a:rPr lang="ru-RU" sz="2400" b="0" i="0" dirty="0">
                <a:effectLst/>
                <a:latin typeface="fkGroteskNeue"/>
              </a:rPr>
              <a:t> </a:t>
            </a:r>
            <a:r>
              <a:rPr lang="ru-RU" sz="2400" b="0" i="0" dirty="0" err="1">
                <a:effectLst/>
                <a:latin typeface="fkGroteskNeue"/>
              </a:rPr>
              <a:t>Overlap</a:t>
            </a:r>
            <a:r>
              <a:rPr lang="ru-RU" sz="2400" b="0" i="0" dirty="0">
                <a:effectLst/>
                <a:latin typeface="fkGroteskNeue"/>
              </a:rPr>
              <a:t> Matrix)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Тепловая карта, показывающая связность всех пар генов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Горячие цвета (жёлтый) = сильно соединены</a:t>
            </a:r>
            <a:br>
              <a:rPr lang="ru-RU" sz="2400" b="0" i="0" dirty="0">
                <a:effectLst/>
                <a:latin typeface="fkGroteskNeue"/>
              </a:rPr>
            </a:br>
            <a:r>
              <a:rPr lang="ru-RU" sz="2400" b="0" i="0" dirty="0">
                <a:effectLst/>
                <a:latin typeface="fkGroteskNeue"/>
              </a:rPr>
              <a:t>Холодные цвета (синий) = слабо соединены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Видно модульную структуру!</a:t>
            </a:r>
          </a:p>
          <a:p>
            <a:pPr marL="0" indent="0">
              <a:buNone/>
            </a:pPr>
            <a:r>
              <a:rPr lang="ru-RU" sz="2400" dirty="0">
                <a:latin typeface="fkGroteskNeue"/>
              </a:rPr>
              <a:t>Решение 2: </a:t>
            </a:r>
            <a:r>
              <a:rPr lang="en-US" sz="2400" dirty="0" err="1">
                <a:latin typeface="fkGroteskNeue"/>
              </a:rPr>
              <a:t>Cytoscape</a:t>
            </a:r>
            <a:r>
              <a:rPr lang="en-US" sz="2400" dirty="0">
                <a:latin typeface="fkGroteskNeue"/>
              </a:rPr>
              <a:t> (</a:t>
            </a:r>
            <a:r>
              <a:rPr lang="ru-RU" sz="2400" dirty="0">
                <a:latin typeface="fkGroteskNeue"/>
              </a:rPr>
              <a:t>отдельная программа)</a:t>
            </a:r>
          </a:p>
          <a:p>
            <a:r>
              <a:rPr lang="ru-RU" sz="2400" dirty="0">
                <a:latin typeface="fkGroteskNeue"/>
              </a:rPr>
              <a:t>Визуализация графа в 2</a:t>
            </a:r>
            <a:r>
              <a:rPr lang="en-US" sz="2400" dirty="0">
                <a:latin typeface="fkGroteskNeue"/>
              </a:rPr>
              <a:t>D</a:t>
            </a:r>
          </a:p>
          <a:p>
            <a:r>
              <a:rPr lang="ru-RU" sz="2400" dirty="0">
                <a:latin typeface="fkGroteskNeue"/>
              </a:rPr>
              <a:t>Узлы = гены (размер = степень, цвет = модуль)</a:t>
            </a:r>
          </a:p>
          <a:p>
            <a:r>
              <a:rPr lang="ru-RU" sz="2400" dirty="0">
                <a:latin typeface="fkGroteskNeue"/>
              </a:rPr>
              <a:t>Рёбра = корреляция (толщина = сила) </a:t>
            </a:r>
          </a:p>
          <a:p>
            <a:pPr marL="0" indent="0">
              <a:buNone/>
            </a:pPr>
            <a:r>
              <a:rPr lang="ru-RU" sz="2400" dirty="0">
                <a:latin typeface="fkGroteskNeue"/>
              </a:rPr>
              <a:t>Решение 3: </a:t>
            </a:r>
            <a:r>
              <a:rPr lang="en-US" sz="2400" dirty="0" err="1">
                <a:latin typeface="fkGroteskNeue"/>
              </a:rPr>
              <a:t>igraph</a:t>
            </a:r>
            <a:r>
              <a:rPr lang="en-US" sz="2400" dirty="0">
                <a:latin typeface="fkGroteskNeue"/>
              </a:rPr>
              <a:t> / </a:t>
            </a:r>
            <a:r>
              <a:rPr lang="en-US" sz="2400" dirty="0" err="1">
                <a:latin typeface="fkGroteskNeue"/>
              </a:rPr>
              <a:t>tidygraph</a:t>
            </a:r>
            <a:r>
              <a:rPr lang="en-US" sz="2400" dirty="0">
                <a:latin typeface="fkGroteskNeue"/>
              </a:rPr>
              <a:t> </a:t>
            </a:r>
            <a:r>
              <a:rPr lang="ru-RU" sz="2400" dirty="0">
                <a:latin typeface="fkGroteskNeue"/>
              </a:rPr>
              <a:t>в </a:t>
            </a:r>
            <a:r>
              <a:rPr lang="en-US" sz="2400" dirty="0">
                <a:latin typeface="fkGroteskNeue"/>
              </a:rPr>
              <a:t>R</a:t>
            </a:r>
          </a:p>
          <a:p>
            <a:pPr algn="l"/>
            <a:endParaRPr lang="ru-RU" sz="2400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3402035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Обогащение (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Enrichment Analysis)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ru-RU" sz="2000" b="1" i="1" dirty="0">
                <a:effectLst/>
                <a:latin typeface="fkGroteskNeue"/>
              </a:rPr>
              <a:t>Что делают гены модуля?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Вопрос: В модуле </a:t>
            </a:r>
            <a:r>
              <a:rPr lang="en-US" sz="2000" b="0" i="0" dirty="0">
                <a:effectLst/>
                <a:latin typeface="fkGroteskNeue"/>
              </a:rPr>
              <a:t>(</a:t>
            </a:r>
            <a:r>
              <a:rPr lang="ru-RU" sz="2000" b="0" i="0" dirty="0">
                <a:effectLst/>
                <a:latin typeface="fkGroteskNeue"/>
              </a:rPr>
              <a:t>ассоциирован с опухолью) найдены 150 генов. Что они имеют общего?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Ответ:</a:t>
            </a:r>
            <a:r>
              <a:rPr lang="ru-RU" sz="2000" b="0" i="1" dirty="0">
                <a:effectLst/>
                <a:latin typeface="fkGroteskNeue"/>
              </a:rPr>
              <a:t> Функциональное обогащение</a:t>
            </a:r>
          </a:p>
          <a:p>
            <a:pPr marL="0" indent="0" algn="l">
              <a:buNone/>
            </a:pPr>
            <a:r>
              <a:rPr lang="ru-RU" sz="2000" b="0" i="1" dirty="0">
                <a:effectLst/>
                <a:latin typeface="fkGroteskNeue"/>
              </a:rPr>
              <a:t>Инструмент: </a:t>
            </a:r>
            <a:r>
              <a:rPr lang="en-US" sz="2000" b="0" i="1" dirty="0">
                <a:effectLst/>
                <a:latin typeface="fkGroteskNeue"/>
              </a:rPr>
              <a:t>GO (Gene Ontology)</a:t>
            </a:r>
          </a:p>
          <a:p>
            <a:pPr algn="l"/>
            <a:r>
              <a:rPr lang="ru-RU" sz="2000" b="0" i="0" dirty="0">
                <a:effectLst/>
                <a:latin typeface="fkGroteskNeue"/>
              </a:rPr>
              <a:t>Каждому гену присвоены биологические функции: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latin typeface="fkGroteskNeue"/>
              </a:rPr>
              <a:t>Biological Process (GO:BP): "apoptosis", "cell proliferation", "DNA repair"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latin typeface="fkGroteskNeue"/>
              </a:rPr>
              <a:t>Molecular Function (GO:MF): "kinase activity", "transcription factor binding"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latin typeface="fkGroteskNeue"/>
              </a:rPr>
              <a:t>Cellular Component (GO:CC): "mitochondria", "cell membrane"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Статистический тест:</a:t>
            </a:r>
          </a:p>
          <a:p>
            <a:pPr algn="l"/>
            <a:r>
              <a:rPr lang="ru-RU" sz="2000" b="0" i="0" dirty="0" err="1">
                <a:effectLst/>
                <a:latin typeface="fkGroteskNeue"/>
              </a:rPr>
              <a:t>Гиперегеометрический</a:t>
            </a:r>
            <a:r>
              <a:rPr lang="ru-RU" sz="2000" b="0" i="0" dirty="0">
                <a:effectLst/>
                <a:latin typeface="fkGroteskNeue"/>
              </a:rPr>
              <a:t> тест: "Если я выбрал 150 генов из 20,000, сколько я ожидаю со свойством </a:t>
            </a:r>
            <a:r>
              <a:rPr lang="en-US" sz="2000" b="0" i="0" dirty="0">
                <a:effectLst/>
                <a:latin typeface="fkGroteskNeue"/>
              </a:rPr>
              <a:t>X?«</a:t>
            </a:r>
            <a:endParaRPr lang="ru-RU" sz="2000" b="0" i="0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sz="2000" b="0" i="1" dirty="0">
                <a:effectLst/>
                <a:latin typeface="fkGroteskNeue"/>
              </a:rPr>
              <a:t>Инструмент: </a:t>
            </a:r>
            <a:r>
              <a:rPr lang="en-US" sz="2000" b="0" i="1" dirty="0">
                <a:effectLst/>
                <a:latin typeface="fkGroteskNeue"/>
              </a:rPr>
              <a:t>KEGG (Kyoto Encyclopedia of Genes and Genomes)</a:t>
            </a:r>
          </a:p>
          <a:p>
            <a:r>
              <a:rPr lang="ru-RU" sz="2000" b="0" i="0" dirty="0">
                <a:effectLst/>
                <a:latin typeface="fkGroteskNeue"/>
              </a:rPr>
              <a:t>Пути (</a:t>
            </a:r>
            <a:r>
              <a:rPr lang="en-US" sz="2000" b="0" i="0" dirty="0">
                <a:effectLst/>
                <a:latin typeface="fkGroteskNeue"/>
              </a:rPr>
              <a:t>pathways): "</a:t>
            </a:r>
            <a:r>
              <a:rPr lang="en-US" sz="2000" b="0" i="0" dirty="0" err="1">
                <a:effectLst/>
                <a:latin typeface="fkGroteskNeue"/>
              </a:rPr>
              <a:t>Wnt</a:t>
            </a:r>
            <a:r>
              <a:rPr lang="en-US" sz="2000" b="0" i="0" dirty="0">
                <a:effectLst/>
                <a:latin typeface="fkGroteskNeue"/>
              </a:rPr>
              <a:t> signaling pathway", "p53 pathway", "MAPK pathway"</a:t>
            </a:r>
          </a:p>
          <a:p>
            <a:r>
              <a:rPr lang="ru-RU" sz="2000" b="0" i="0" dirty="0">
                <a:effectLst/>
                <a:latin typeface="fkGroteskNeue"/>
              </a:rPr>
              <a:t>Аналогично </a:t>
            </a:r>
            <a:r>
              <a:rPr lang="en-US" sz="2000" b="0" i="0" dirty="0">
                <a:effectLst/>
                <a:latin typeface="fkGroteskNeue"/>
              </a:rPr>
              <a:t>GO, </a:t>
            </a:r>
            <a:r>
              <a:rPr lang="ru-RU" sz="2000" b="0" i="0" dirty="0">
                <a:effectLst/>
                <a:latin typeface="fkGroteskNeue"/>
              </a:rPr>
              <a:t>ищем обогащённые пути.</a:t>
            </a:r>
            <a:endParaRPr lang="en-US" sz="2000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3991506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WGCNA - 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пример на практике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 numCol="2">
            <a:noAutofit/>
          </a:bodyPr>
          <a:lstStyle/>
          <a:p>
            <a:pPr marL="0" indent="0" algn="l">
              <a:buNone/>
            </a:pPr>
            <a:r>
              <a:rPr lang="en-US" sz="2000" b="1" i="1" dirty="0">
                <a:effectLst/>
                <a:latin typeface="fkGroteskNeue"/>
              </a:rPr>
              <a:t>Case Study: </a:t>
            </a:r>
            <a:r>
              <a:rPr lang="ru-RU" sz="2000" b="1" i="1" dirty="0">
                <a:effectLst/>
                <a:latin typeface="fkGroteskNeue"/>
              </a:rPr>
              <a:t>Рак молочной железы</a:t>
            </a:r>
          </a:p>
          <a:p>
            <a:pPr marL="0" indent="0" algn="l">
              <a:buNone/>
            </a:pPr>
            <a:r>
              <a:rPr lang="ru-RU" sz="2000" b="0" i="1" dirty="0" err="1">
                <a:effectLst/>
                <a:latin typeface="fkGroteskNeue"/>
              </a:rPr>
              <a:t>Датасет</a:t>
            </a:r>
            <a:r>
              <a:rPr lang="ru-RU" sz="2000" b="0" i="1" dirty="0">
                <a:effectLst/>
                <a:latin typeface="fkGroteskNeue"/>
              </a:rPr>
              <a:t>: </a:t>
            </a:r>
            <a:r>
              <a:rPr lang="en-US" sz="2000" b="0" i="1" dirty="0">
                <a:effectLst/>
                <a:latin typeface="fkGroteskNeue"/>
              </a:rPr>
              <a:t>TCGA Breast Cancer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latin typeface="fkGroteskNeue"/>
              </a:rPr>
              <a:t>1,200 </a:t>
            </a:r>
            <a:r>
              <a:rPr lang="ru-RU" sz="2000" b="0" i="0" dirty="0">
                <a:effectLst/>
                <a:latin typeface="fkGroteskNeue"/>
              </a:rPr>
              <a:t>пациентов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20,000 генов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Фенотипы: выживание, стадия, </a:t>
            </a:r>
            <a:r>
              <a:rPr lang="ru-RU" sz="2000" b="0" i="0" dirty="0" err="1">
                <a:effectLst/>
                <a:latin typeface="fkGroteskNeue"/>
              </a:rPr>
              <a:t>гистотип</a:t>
            </a:r>
            <a:r>
              <a:rPr lang="ru-RU" sz="2000" b="0" i="0" dirty="0">
                <a:effectLst/>
                <a:latin typeface="fkGroteskNeue"/>
              </a:rPr>
              <a:t>, </a:t>
            </a:r>
            <a:r>
              <a:rPr lang="en-US" sz="2000" b="0" i="0" dirty="0">
                <a:effectLst/>
                <a:latin typeface="fkGroteskNeue"/>
              </a:rPr>
              <a:t>HER2 </a:t>
            </a:r>
            <a:r>
              <a:rPr lang="ru-RU" sz="2000" b="0" i="0" dirty="0">
                <a:effectLst/>
                <a:latin typeface="fkGroteskNeue"/>
              </a:rPr>
              <a:t>статус</a:t>
            </a:r>
          </a:p>
          <a:p>
            <a:pPr marL="0" indent="0" algn="l">
              <a:buNone/>
            </a:pPr>
            <a:r>
              <a:rPr lang="ru-RU" sz="2000" b="0" i="1" dirty="0">
                <a:effectLst/>
                <a:latin typeface="fkGroteskNeue"/>
              </a:rPr>
              <a:t>Результат </a:t>
            </a:r>
            <a:r>
              <a:rPr lang="en-US" sz="2000" b="0" i="1" dirty="0">
                <a:effectLst/>
                <a:latin typeface="fkGroteskNeue"/>
              </a:rPr>
              <a:t>WGCNA:</a:t>
            </a:r>
          </a:p>
          <a:p>
            <a:pPr algn="l"/>
            <a:r>
              <a:rPr lang="ru-RU" sz="2000" b="0" i="0" dirty="0">
                <a:effectLst/>
                <a:latin typeface="fkGroteskNeue"/>
              </a:rPr>
              <a:t>Найдено 15 модулей: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latin typeface="fkGroteskNeue"/>
              </a:rPr>
              <a:t>Red module: r=0.68 </a:t>
            </a:r>
            <a:r>
              <a:rPr lang="ru-RU" sz="2000" b="0" i="0" dirty="0">
                <a:effectLst/>
                <a:latin typeface="fkGroteskNeue"/>
              </a:rPr>
              <a:t>с выживанием (</a:t>
            </a:r>
            <a:r>
              <a:rPr lang="en-US" sz="2000" b="0" i="0" dirty="0">
                <a:effectLst/>
                <a:latin typeface="fkGroteskNeue"/>
              </a:rPr>
              <a:t>p&lt;0.001) ***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latin typeface="fkGroteskNeue"/>
              </a:rPr>
              <a:t>Blue module: r=-0.45 </a:t>
            </a:r>
            <a:r>
              <a:rPr lang="ru-RU" sz="2000" b="0" i="0" dirty="0">
                <a:effectLst/>
                <a:latin typeface="fkGroteskNeue"/>
              </a:rPr>
              <a:t>с выживанием (</a:t>
            </a:r>
            <a:r>
              <a:rPr lang="en-US" sz="2000" b="0" i="0" dirty="0">
                <a:effectLst/>
                <a:latin typeface="fkGroteskNeue"/>
              </a:rPr>
              <a:t>p=0.01) *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latin typeface="fkGroteskNeue"/>
              </a:rPr>
              <a:t>Green module: r=0.35 </a:t>
            </a:r>
            <a:r>
              <a:rPr lang="ru-RU" sz="2000" b="0" i="0" dirty="0">
                <a:effectLst/>
                <a:latin typeface="fkGroteskNeue"/>
              </a:rPr>
              <a:t>с </a:t>
            </a:r>
            <a:r>
              <a:rPr lang="en-US" sz="2000" b="0" i="0" dirty="0">
                <a:effectLst/>
                <a:latin typeface="fkGroteskNeue"/>
              </a:rPr>
              <a:t>HER2+ (p=0.05) *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latin typeface="fkGroteskNeue"/>
              </a:rPr>
              <a:t>... </a:t>
            </a:r>
            <a:r>
              <a:rPr lang="ru-RU" sz="2000" b="0" i="0" dirty="0">
                <a:effectLst/>
                <a:latin typeface="fkGroteskNeue"/>
              </a:rPr>
              <a:t>остальные не значимы</a:t>
            </a:r>
          </a:p>
          <a:p>
            <a:pPr marL="0" indent="0" algn="l">
              <a:buNone/>
            </a:pPr>
            <a:endParaRPr lang="ru-RU" sz="2000" b="0" i="0" dirty="0">
              <a:effectLst/>
              <a:latin typeface="fkGroteskNeue"/>
            </a:endParaRPr>
          </a:p>
          <a:p>
            <a:pPr marL="0" indent="0" algn="l">
              <a:buNone/>
            </a:pPr>
            <a:endParaRPr lang="ru-RU" sz="2000" dirty="0">
              <a:latin typeface="fkGroteskNeue"/>
            </a:endParaRPr>
          </a:p>
          <a:p>
            <a:pPr marL="0" indent="0" algn="l">
              <a:buNone/>
            </a:pPr>
            <a:r>
              <a:rPr lang="ru-RU" sz="2000" b="0" i="1" dirty="0">
                <a:effectLst/>
                <a:latin typeface="fkGroteskNeue"/>
              </a:rPr>
              <a:t>Функциональное обогащение </a:t>
            </a:r>
            <a:r>
              <a:rPr lang="en-US" sz="2000" b="0" i="1" dirty="0">
                <a:effectLst/>
                <a:latin typeface="fkGroteskNeue"/>
              </a:rPr>
              <a:t>Red module:</a:t>
            </a:r>
          </a:p>
          <a:p>
            <a:pPr marL="0" indent="0" algn="l">
              <a:buNone/>
            </a:pPr>
            <a:r>
              <a:rPr lang="en-US" sz="2000" b="0" i="0" dirty="0">
                <a:effectLst/>
                <a:latin typeface="fkGroteskNeue"/>
              </a:rPr>
              <a:t>Top GO terms:</a:t>
            </a:r>
          </a:p>
          <a:p>
            <a:pPr algn="l">
              <a:buFont typeface="+mj-lt"/>
              <a:buAutoNum type="arabicPeriod"/>
            </a:pPr>
            <a:r>
              <a:rPr lang="en-US" sz="2000" b="0" i="0" dirty="0">
                <a:effectLst/>
                <a:latin typeface="fkGroteskNeue"/>
              </a:rPr>
              <a:t>Immune response (p=1e-50) — </a:t>
            </a:r>
            <a:r>
              <a:rPr lang="ru-RU" sz="2000" b="0" i="0" dirty="0">
                <a:effectLst/>
                <a:latin typeface="fkGroteskNeue"/>
              </a:rPr>
              <a:t>ВСЕ о иммунитете!</a:t>
            </a:r>
          </a:p>
          <a:p>
            <a:pPr algn="l">
              <a:buFont typeface="+mj-lt"/>
              <a:buAutoNum type="arabicPeriod"/>
            </a:pPr>
            <a:r>
              <a:rPr lang="en-US" sz="2000" b="0" i="0" dirty="0">
                <a:effectLst/>
                <a:latin typeface="fkGroteskNeue"/>
              </a:rPr>
              <a:t>T cell activation (p=1e-45)</a:t>
            </a:r>
          </a:p>
          <a:p>
            <a:pPr algn="l">
              <a:buFont typeface="+mj-lt"/>
              <a:buAutoNum type="arabicPeriod"/>
            </a:pPr>
            <a:r>
              <a:rPr lang="en-US" sz="2000" b="0" i="0" dirty="0">
                <a:effectLst/>
                <a:latin typeface="fkGroteskNeue"/>
              </a:rPr>
              <a:t>Leukocyte activation (p=1e-42)</a:t>
            </a:r>
          </a:p>
          <a:p>
            <a:pPr marL="0" indent="0" algn="l">
              <a:buNone/>
            </a:pPr>
            <a:r>
              <a:rPr lang="ru-RU" sz="2000" b="0" i="1" dirty="0">
                <a:effectLst/>
                <a:latin typeface="fkGroteskNeue"/>
              </a:rPr>
              <a:t>Вывод: </a:t>
            </a:r>
            <a:r>
              <a:rPr lang="en-US" sz="2000" b="0" i="1" dirty="0">
                <a:effectLst/>
                <a:latin typeface="fkGroteskNeue"/>
              </a:rPr>
              <a:t>Red module = </a:t>
            </a:r>
            <a:r>
              <a:rPr lang="ru-RU" sz="2000" b="0" i="1" dirty="0">
                <a:effectLst/>
                <a:latin typeface="fkGroteskNeue"/>
              </a:rPr>
              <a:t>иммунный модуль!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Пациенты с высокой экспрессией этого модуля → хороший прогноз (иммунитет побеждает рак)</a:t>
            </a:r>
          </a:p>
          <a:p>
            <a:pPr marL="0" indent="0" algn="l">
              <a:buNone/>
            </a:pPr>
            <a:r>
              <a:rPr lang="en-US" sz="2000" b="0" i="1" dirty="0">
                <a:effectLst/>
                <a:latin typeface="fkGroteskNeue"/>
              </a:rPr>
              <a:t>Hub </a:t>
            </a:r>
            <a:r>
              <a:rPr lang="ru-RU" sz="2000" b="0" i="1" dirty="0">
                <a:effectLst/>
                <a:latin typeface="fkGroteskNeue"/>
              </a:rPr>
              <a:t>гены в </a:t>
            </a:r>
            <a:r>
              <a:rPr lang="en-US" sz="2000" b="0" i="1" dirty="0">
                <a:effectLst/>
                <a:latin typeface="fkGroteskNeue"/>
              </a:rPr>
              <a:t>Red module:</a:t>
            </a:r>
          </a:p>
          <a:p>
            <a:pPr algn="l"/>
            <a:r>
              <a:rPr lang="en-US" sz="2000" b="0" i="0" dirty="0">
                <a:effectLst/>
                <a:latin typeface="fkGroteskNeue"/>
              </a:rPr>
              <a:t>Top 5: IL6, TNF, IL1B, IL2, CD8A</a:t>
            </a:r>
            <a:endParaRPr lang="ru-RU" sz="2000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469934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16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Сравнение сетей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 numCol="2">
            <a:no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Здоровые </a:t>
            </a:r>
            <a:r>
              <a:rPr lang="ru-RU" b="1" i="1" dirty="0" err="1">
                <a:effectLst/>
                <a:latin typeface="fkGroteskNeue"/>
              </a:rPr>
              <a:t>vs</a:t>
            </a:r>
            <a:r>
              <a:rPr lang="ru-RU" b="1" i="1" dirty="0">
                <a:effectLst/>
                <a:latin typeface="fkGroteskNeue"/>
              </a:rPr>
              <a:t> Больные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Вопрос: Отличается ли сетевая структура в здоровых и больных?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Метод 1: Отдельная WGCNA для каждой группы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Здоровые (n=500) → WGCNA → </a:t>
            </a:r>
            <a:r>
              <a:rPr lang="ru-RU" b="0" i="0" dirty="0" err="1">
                <a:effectLst/>
                <a:latin typeface="fkGroteskNeue"/>
              </a:rPr>
              <a:t>модули_здоровые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dirty="0">
                <a:latin typeface="fkGroteskNeue"/>
              </a:rPr>
              <a:t>Пациенты</a:t>
            </a:r>
            <a:r>
              <a:rPr lang="ru-RU" b="0" i="0" dirty="0">
                <a:effectLst/>
                <a:latin typeface="fkGroteskNeue"/>
              </a:rPr>
              <a:t> (n=500) → WGCNA → </a:t>
            </a:r>
            <a:r>
              <a:rPr lang="ru-RU" b="0" i="0" dirty="0" err="1">
                <a:effectLst/>
                <a:latin typeface="fkGroteskNeue"/>
              </a:rPr>
              <a:t>модули_пациенты</a:t>
            </a:r>
            <a:endParaRPr lang="ru-RU" b="0" i="0" dirty="0">
              <a:effectLst/>
              <a:latin typeface="fkGroteskNeue"/>
            </a:endParaRP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 разные модули! Сеть переорганизовалась.</a:t>
            </a:r>
          </a:p>
          <a:p>
            <a:pPr marL="0" indent="0" algn="l">
              <a:buNone/>
            </a:pPr>
            <a:endParaRPr lang="ru-RU" b="0" i="0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Метод 2: </a:t>
            </a:r>
            <a:r>
              <a:rPr lang="ru-RU" b="0" i="1" dirty="0" err="1">
                <a:effectLst/>
                <a:latin typeface="fkGroteskNeue"/>
              </a:rPr>
              <a:t>Differential</a:t>
            </a:r>
            <a:r>
              <a:rPr lang="ru-RU" b="0" i="1" dirty="0">
                <a:effectLst/>
                <a:latin typeface="fkGroteskNeue"/>
              </a:rPr>
              <a:t> </a:t>
            </a:r>
            <a:r>
              <a:rPr lang="ru-RU" b="0" i="1" dirty="0" err="1">
                <a:effectLst/>
                <a:latin typeface="fkGroteskNeue"/>
              </a:rPr>
              <a:t>network</a:t>
            </a:r>
            <a:r>
              <a:rPr lang="ru-RU" b="0" i="1" dirty="0">
                <a:effectLst/>
                <a:latin typeface="fkGroteskNeue"/>
              </a:rPr>
              <a:t> </a:t>
            </a:r>
            <a:r>
              <a:rPr lang="ru-RU" b="0" i="1" dirty="0" err="1">
                <a:effectLst/>
                <a:latin typeface="fkGroteskNeue"/>
              </a:rPr>
              <a:t>analysis</a:t>
            </a:r>
            <a:endParaRPr lang="ru-RU" b="0" i="1" dirty="0">
              <a:effectLst/>
              <a:latin typeface="fkGroteskNeue"/>
            </a:endParaRPr>
          </a:p>
          <a:p>
            <a:pPr algn="l"/>
            <a:r>
              <a:rPr lang="ru-RU" b="0" i="0" dirty="0">
                <a:effectLst/>
                <a:latin typeface="fkGroteskNeue"/>
              </a:rPr>
              <a:t>Берём модули из объединённого </a:t>
            </a:r>
            <a:r>
              <a:rPr lang="ru-RU" b="0" i="0" dirty="0" err="1">
                <a:effectLst/>
                <a:latin typeface="fkGroteskNeue"/>
              </a:rPr>
              <a:t>датасета</a:t>
            </a:r>
            <a:r>
              <a:rPr lang="ru-RU" b="0" i="0" dirty="0">
                <a:effectLst/>
                <a:latin typeface="fkGroteskNeue"/>
              </a:rPr>
              <a:t>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Для каждого модуля считаем:</a:t>
            </a:r>
          </a:p>
          <a:p>
            <a:pPr lvl="1"/>
            <a:r>
              <a:rPr lang="ru-RU" sz="2000" b="0" i="0" dirty="0">
                <a:effectLst/>
                <a:latin typeface="fkGroteskNeue"/>
              </a:rPr>
              <a:t>Среднюю корреляцию в здоровых</a:t>
            </a:r>
          </a:p>
          <a:p>
            <a:pPr lvl="1"/>
            <a:r>
              <a:rPr lang="ru-RU" sz="2000" b="0" i="0" dirty="0">
                <a:effectLst/>
                <a:latin typeface="fkGroteskNeue"/>
              </a:rPr>
              <a:t>Среднюю корреляцию в больных</a:t>
            </a:r>
          </a:p>
          <a:p>
            <a:pPr lvl="1"/>
            <a:r>
              <a:rPr lang="ru-RU" sz="2000" b="0" i="0" dirty="0">
                <a:effectLst/>
                <a:latin typeface="fkGroteskNeue"/>
              </a:rPr>
              <a:t>t-тест на разницу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 какие связи усилились, какие ослабли?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Интерпретация:</a:t>
            </a:r>
          </a:p>
          <a:p>
            <a:pPr lvl="1"/>
            <a:r>
              <a:rPr lang="ru-RU" sz="2000" b="0" i="0" dirty="0">
                <a:effectLst/>
                <a:latin typeface="fkGroteskNeue"/>
              </a:rPr>
              <a:t>Если связь "ген A ← → ген B" исчезла при раке → они уже не работают вместе</a:t>
            </a:r>
          </a:p>
          <a:p>
            <a:pPr lvl="1"/>
            <a:r>
              <a:rPr lang="ru-RU" sz="2000" b="0" i="0" dirty="0">
                <a:effectLst/>
                <a:latin typeface="fkGroteskNeue"/>
              </a:rPr>
              <a:t>Может быть, мутация нарушила связь?</a:t>
            </a:r>
          </a:p>
        </p:txBody>
      </p:sp>
    </p:spTree>
    <p:extLst>
      <p:ext uri="{BB962C8B-B14F-4D97-AF65-F5344CB8AC3E}">
        <p14:creationId xmlns:p14="http://schemas.microsoft.com/office/powerpoint/2010/main" val="3018903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17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Интеграция данных (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Multi-omics)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145594"/>
            <a:ext cx="11735529" cy="5677647"/>
          </a:xfrm>
        </p:spPr>
        <p:txBody>
          <a:bodyPr numCol="2">
            <a:noAutofit/>
          </a:bodyPr>
          <a:lstStyle/>
          <a:p>
            <a:pPr marL="0" indent="0" algn="l">
              <a:buNone/>
            </a:pPr>
            <a:r>
              <a:rPr lang="ru-RU" sz="2400" b="1" i="1" dirty="0">
                <a:effectLst/>
                <a:latin typeface="fkGroteskNeue"/>
              </a:rPr>
              <a:t>Не только гены</a:t>
            </a:r>
          </a:p>
          <a:p>
            <a:pPr marL="0" indent="0" algn="l">
              <a:buNone/>
            </a:pPr>
            <a:r>
              <a:rPr lang="ru-RU" sz="2400" b="0" i="0" dirty="0">
                <a:effectLst/>
                <a:latin typeface="fkGroteskNeue"/>
              </a:rPr>
              <a:t>Часто есть несколько типов данных: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Gene expression (RNA-seq)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DNA methylation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Protein expression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CNV (Copy Number Variation)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Mutations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miRNA expression</a:t>
            </a:r>
          </a:p>
          <a:p>
            <a:pPr marL="0" indent="0" algn="l">
              <a:buNone/>
            </a:pPr>
            <a:r>
              <a:rPr lang="ru-RU" sz="2400" b="0" i="0" dirty="0">
                <a:effectLst/>
                <a:latin typeface="fkGroteskNeue"/>
              </a:rPr>
              <a:t>Идея: построить сети для каждого типа → интегрировать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Подход 1: </a:t>
            </a:r>
            <a:r>
              <a:rPr lang="en-US" sz="2400" b="0" i="1" dirty="0">
                <a:effectLst/>
                <a:latin typeface="fkGroteskNeue"/>
              </a:rPr>
              <a:t>MOFA (Multi-Omics Factor Analysis)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Находит общие факторы, объясняющие вариабельность во всех </a:t>
            </a:r>
            <a:r>
              <a:rPr lang="en-US" sz="2400" b="0" i="0" dirty="0">
                <a:effectLst/>
                <a:latin typeface="fkGroteskNeue"/>
              </a:rPr>
              <a:t>omics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Подход 2: </a:t>
            </a:r>
            <a:r>
              <a:rPr lang="en-US" sz="2400" b="0" i="1" dirty="0">
                <a:effectLst/>
                <a:latin typeface="fkGroteskNeue"/>
              </a:rPr>
              <a:t>Multiple WGCNA + correlation</a:t>
            </a:r>
          </a:p>
          <a:p>
            <a:pPr algn="l">
              <a:buFont typeface="+mj-lt"/>
              <a:buAutoNum type="arabicPeriod"/>
            </a:pPr>
            <a:r>
              <a:rPr lang="en-US" sz="2400" b="0" i="0" dirty="0">
                <a:effectLst/>
                <a:latin typeface="fkGroteskNeue"/>
              </a:rPr>
              <a:t>WGCNA </a:t>
            </a:r>
            <a:r>
              <a:rPr lang="ru-RU" sz="2400" b="0" i="0" dirty="0">
                <a:effectLst/>
                <a:latin typeface="fkGroteskNeue"/>
              </a:rPr>
              <a:t>для </a:t>
            </a:r>
            <a:r>
              <a:rPr lang="en-US" sz="2400" b="0" i="0" dirty="0">
                <a:effectLst/>
                <a:latin typeface="fkGroteskNeue"/>
              </a:rPr>
              <a:t>RNA-seq → </a:t>
            </a:r>
            <a:r>
              <a:rPr lang="ru-RU" sz="2400" b="0" i="0" dirty="0">
                <a:effectLst/>
                <a:latin typeface="fkGroteskNeue"/>
              </a:rPr>
              <a:t>модули_</a:t>
            </a:r>
            <a:r>
              <a:rPr lang="en-US" sz="2400" b="0" i="0" dirty="0">
                <a:effectLst/>
                <a:latin typeface="fkGroteskNeue"/>
              </a:rPr>
              <a:t>RNA</a:t>
            </a:r>
          </a:p>
          <a:p>
            <a:pPr algn="l">
              <a:buFont typeface="+mj-lt"/>
              <a:buAutoNum type="arabicPeriod"/>
            </a:pPr>
            <a:r>
              <a:rPr lang="en-US" sz="2400" b="0" i="0" dirty="0">
                <a:effectLst/>
                <a:latin typeface="fkGroteskNeue"/>
              </a:rPr>
              <a:t>WGCNA </a:t>
            </a:r>
            <a:r>
              <a:rPr lang="ru-RU" sz="2400" b="0" i="0" dirty="0">
                <a:effectLst/>
                <a:latin typeface="fkGroteskNeue"/>
              </a:rPr>
              <a:t>для </a:t>
            </a:r>
            <a:r>
              <a:rPr lang="en-US" sz="2400" b="0" i="0" dirty="0">
                <a:effectLst/>
                <a:latin typeface="fkGroteskNeue"/>
              </a:rPr>
              <a:t>methylation → </a:t>
            </a:r>
            <a:r>
              <a:rPr lang="ru-RU" sz="2400" b="0" i="0" dirty="0">
                <a:effectLst/>
                <a:latin typeface="fkGroteskNeue"/>
              </a:rPr>
              <a:t>модули_</a:t>
            </a:r>
            <a:r>
              <a:rPr lang="en-US" sz="2400" b="0" i="0" dirty="0">
                <a:effectLst/>
                <a:latin typeface="fkGroteskNeue"/>
              </a:rPr>
              <a:t>methyl</a:t>
            </a:r>
          </a:p>
          <a:p>
            <a:pPr algn="l">
              <a:buFont typeface="+mj-lt"/>
              <a:buAutoNum type="arabicPeriod"/>
            </a:pPr>
            <a:r>
              <a:rPr lang="ru-RU" sz="2400" b="0" i="0" dirty="0">
                <a:effectLst/>
                <a:latin typeface="fkGroteskNeue"/>
              </a:rPr>
              <a:t>Считаем корреляцию между модулями_</a:t>
            </a:r>
            <a:r>
              <a:rPr lang="en-US" sz="2400" b="0" i="0" dirty="0">
                <a:effectLst/>
                <a:latin typeface="fkGroteskNeue"/>
              </a:rPr>
              <a:t>RNA </a:t>
            </a:r>
            <a:r>
              <a:rPr lang="ru-RU" sz="2400" b="0" i="0" dirty="0">
                <a:effectLst/>
                <a:latin typeface="fkGroteskNeue"/>
              </a:rPr>
              <a:t>и модули_</a:t>
            </a:r>
            <a:r>
              <a:rPr lang="en-US" sz="2400" b="0" i="0" dirty="0">
                <a:effectLst/>
                <a:latin typeface="fkGroteskNeue"/>
              </a:rPr>
              <a:t>methyl</a:t>
            </a:r>
          </a:p>
          <a:p>
            <a:pPr algn="l">
              <a:buFont typeface="+mj-lt"/>
              <a:buAutoNum type="arabicPeriod"/>
            </a:pPr>
            <a:r>
              <a:rPr lang="ru-RU" sz="2400" b="0" i="0" dirty="0">
                <a:effectLst/>
                <a:latin typeface="fkGroteskNeue"/>
              </a:rPr>
              <a:t>Если коррелированы → взаимодействие!</a:t>
            </a:r>
          </a:p>
          <a:p>
            <a:pPr marL="0" indent="0" algn="l">
              <a:buNone/>
            </a:pPr>
            <a:r>
              <a:rPr lang="ru-RU" sz="2400" b="0" i="0" dirty="0">
                <a:effectLst/>
                <a:latin typeface="fkGroteskNeue"/>
              </a:rPr>
              <a:t>Результат: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Например: найдена связь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High expression </a:t>
            </a:r>
            <a:r>
              <a:rPr lang="ru-RU" sz="2400" b="0" i="0" dirty="0">
                <a:effectLst/>
                <a:latin typeface="fkGroteskNeue"/>
              </a:rPr>
              <a:t>модуля (</a:t>
            </a:r>
            <a:r>
              <a:rPr lang="en-US" sz="2400" b="0" i="0" dirty="0">
                <a:effectLst/>
                <a:latin typeface="fkGroteskNeue"/>
              </a:rPr>
              <a:t>RNA)</a:t>
            </a:r>
            <a:br>
              <a:rPr lang="en-US" sz="2400" b="0" i="0" dirty="0">
                <a:effectLst/>
                <a:latin typeface="fkGroteskNeue"/>
              </a:rPr>
            </a:br>
            <a:r>
              <a:rPr lang="en-US" sz="2400" b="0" i="0" dirty="0">
                <a:effectLst/>
                <a:latin typeface="fkGroteskNeue"/>
              </a:rPr>
              <a:t>↔ Low methylation </a:t>
            </a:r>
            <a:r>
              <a:rPr lang="ru-RU" sz="2400" b="0" i="0" dirty="0">
                <a:effectLst/>
                <a:latin typeface="fkGroteskNeue"/>
              </a:rPr>
              <a:t>модуля (</a:t>
            </a:r>
            <a:r>
              <a:rPr lang="en-US" sz="2400" b="0" i="0" dirty="0">
                <a:effectLst/>
                <a:latin typeface="fkGroteskNeue"/>
              </a:rPr>
              <a:t>DNA methylation)</a:t>
            </a:r>
          </a:p>
          <a:p>
            <a:pPr algn="l"/>
            <a:r>
              <a:rPr lang="ru-RU" sz="2400" b="0" i="0" dirty="0">
                <a:effectLst/>
                <a:latin typeface="fkGroteskNeue"/>
              </a:rPr>
              <a:t>Вывод: эти два процесса работают согласованно!</a:t>
            </a:r>
          </a:p>
        </p:txBody>
      </p:sp>
    </p:spTree>
    <p:extLst>
      <p:ext uri="{BB962C8B-B14F-4D97-AF65-F5344CB8AC3E}">
        <p14:creationId xmlns:p14="http://schemas.microsoft.com/office/powerpoint/2010/main" val="37893289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18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Сетевые маркеры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145594"/>
            <a:ext cx="11735529" cy="5677647"/>
          </a:xfrm>
        </p:spPr>
        <p:txBody>
          <a:bodyPr numCol="2">
            <a:noAutofit/>
          </a:bodyPr>
          <a:lstStyle/>
          <a:p>
            <a:pPr marL="0" indent="0" algn="l">
              <a:buNone/>
            </a:pPr>
            <a:r>
              <a:rPr lang="ru-RU" sz="2000" b="1" i="1" dirty="0">
                <a:effectLst/>
                <a:latin typeface="fkGroteskNeue"/>
              </a:rPr>
              <a:t>От сети к клинике</a:t>
            </a:r>
          </a:p>
          <a:p>
            <a:pPr marL="0" indent="0" algn="l">
              <a:buNone/>
            </a:pPr>
            <a:r>
              <a:rPr lang="ru-RU" sz="2000" b="0" i="1" dirty="0">
                <a:effectLst/>
                <a:latin typeface="fkGroteskNeue"/>
              </a:rPr>
              <a:t>Персонализированные сетевые индексы: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Для каждого пациента считаем "сетевой риск":</a:t>
            </a:r>
          </a:p>
          <a:p>
            <a:pPr marL="0" indent="0" algn="l">
              <a:buNone/>
            </a:pPr>
            <a:r>
              <a:rPr lang="ru-RU" sz="20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Risk_i</a:t>
            </a:r>
            <a:r>
              <a:rPr lang="ru-RU" sz="20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= Σ(экспрессия гена j в пациенте i × вес гена j)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где вес гена j = его важность в модуле (</a:t>
            </a:r>
            <a:r>
              <a:rPr lang="ru-RU" sz="2000" b="0" i="0" dirty="0" err="1">
                <a:effectLst/>
                <a:latin typeface="fkGroteskNeue"/>
              </a:rPr>
              <a:t>kME</a:t>
            </a:r>
            <a:r>
              <a:rPr lang="ru-RU" sz="2000" b="0" i="0" dirty="0">
                <a:effectLst/>
                <a:latin typeface="fkGroteskNeue"/>
              </a:rPr>
              <a:t> или </a:t>
            </a:r>
            <a:r>
              <a:rPr lang="ru-RU" sz="2000" b="0" i="0" dirty="0" err="1">
                <a:effectLst/>
                <a:latin typeface="fkGroteskNeue"/>
              </a:rPr>
              <a:t>degree</a:t>
            </a:r>
            <a:r>
              <a:rPr lang="ru-RU" sz="2000" b="0" i="0" dirty="0">
                <a:effectLst/>
                <a:latin typeface="fkGroteskNeue"/>
              </a:rPr>
              <a:t>)</a:t>
            </a:r>
          </a:p>
          <a:p>
            <a:pPr marL="0" indent="0" algn="l">
              <a:buNone/>
            </a:pPr>
            <a:r>
              <a:rPr lang="ru-RU" sz="2000" b="0" i="1" dirty="0">
                <a:effectLst/>
                <a:latin typeface="fkGroteskNeue"/>
              </a:rPr>
              <a:t>Вывод:</a:t>
            </a:r>
          </a:p>
          <a:p>
            <a:pPr algn="l"/>
            <a:r>
              <a:rPr lang="ru-RU" sz="2000" b="0" i="0" dirty="0">
                <a:effectLst/>
                <a:latin typeface="fkGroteskNeue"/>
              </a:rPr>
              <a:t>Высокий сетевой риск → плохой прогноз</a:t>
            </a:r>
          </a:p>
          <a:p>
            <a:pPr algn="l"/>
            <a:r>
              <a:rPr lang="ru-RU" sz="2000" b="0" i="0" dirty="0">
                <a:effectLst/>
                <a:latin typeface="fkGroteskNeue"/>
              </a:rPr>
              <a:t>Низкий сетевой риск → хороший прогноз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Преимущество над одиночным геном: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Одиночный ген: шум, может быть спонтанная мутация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Сетевой индекс: несколько генов вместе → стабильнее, </a:t>
            </a:r>
            <a:r>
              <a:rPr lang="ru-RU" sz="2000" b="0" i="0" dirty="0" err="1">
                <a:effectLst/>
                <a:latin typeface="fkGroteskNeue"/>
              </a:rPr>
              <a:t>robust</a:t>
            </a:r>
            <a:endParaRPr lang="ru-RU" sz="2000" b="0" i="0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sz="2000" b="0" i="1" dirty="0">
                <a:effectLst/>
                <a:latin typeface="fkGroteskNeue"/>
              </a:rPr>
              <a:t>Case Study: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Пациент 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Высокая экспрессия IL6 (один ген)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Но модульный индекс низкий (остальные гены модуля низкие)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Вывод: скорее всего спонтанная флуктуация IL6, не риск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Пациент Б: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Умеренная экспрессия IL6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Но все гены иммунного модуля высоко выражены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Вывод: активирован иммунный ответ, риск высокий!</a:t>
            </a:r>
          </a:p>
          <a:p>
            <a:pPr marL="0" indent="0" algn="l">
              <a:buNone/>
            </a:pPr>
            <a:endParaRPr lang="ru-RU" sz="2000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36717886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19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Когда использовать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WGCNA?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145594"/>
            <a:ext cx="11735529" cy="5677647"/>
          </a:xfrm>
        </p:spPr>
        <p:txBody>
          <a:bodyPr numCol="2">
            <a:noAutofit/>
          </a:bodyPr>
          <a:lstStyle/>
          <a:p>
            <a:pPr marL="0" indent="0" algn="l">
              <a:buNone/>
            </a:pPr>
            <a:r>
              <a:rPr lang="ru-RU" sz="2400" b="1" i="1" dirty="0">
                <a:effectLst/>
                <a:latin typeface="fkGroteskNeue"/>
              </a:rPr>
              <a:t>Практические рекомендации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Используй WGCNA когда:</a:t>
            </a:r>
          </a:p>
          <a:p>
            <a:pPr marL="0" indent="0" algn="l">
              <a:buNone/>
            </a:pPr>
            <a:r>
              <a:rPr lang="ru-RU" sz="2400" b="0" i="0" dirty="0">
                <a:effectLst/>
                <a:latin typeface="fkGroteskNeue"/>
              </a:rPr>
              <a:t>✓ Много генов (&gt;5,000) и много образцов (&gt;100)</a:t>
            </a:r>
            <a:br>
              <a:rPr lang="ru-RU" sz="2400" b="0" i="0" dirty="0">
                <a:effectLst/>
                <a:latin typeface="fkGroteskNeue"/>
              </a:rPr>
            </a:br>
            <a:r>
              <a:rPr lang="ru-RU" sz="2400" b="0" i="0" dirty="0">
                <a:effectLst/>
                <a:latin typeface="fkGroteskNeue"/>
              </a:rPr>
              <a:t>✓ Есть матрица экспрессии (RNA-</a:t>
            </a:r>
            <a:r>
              <a:rPr lang="ru-RU" sz="2400" b="0" i="0" dirty="0" err="1">
                <a:effectLst/>
                <a:latin typeface="fkGroteskNeue"/>
              </a:rPr>
              <a:t>seq</a:t>
            </a:r>
            <a:r>
              <a:rPr lang="ru-RU" sz="2400" b="0" i="0" dirty="0">
                <a:effectLst/>
                <a:latin typeface="fkGroteskNeue"/>
              </a:rPr>
              <a:t>, </a:t>
            </a:r>
            <a:r>
              <a:rPr lang="ru-RU" sz="2400" b="0" i="0" dirty="0" err="1">
                <a:effectLst/>
                <a:latin typeface="fkGroteskNeue"/>
              </a:rPr>
              <a:t>microarray</a:t>
            </a:r>
            <a:r>
              <a:rPr lang="ru-RU" sz="2400" b="0" i="0" dirty="0">
                <a:effectLst/>
                <a:latin typeface="fkGroteskNeue"/>
              </a:rPr>
              <a:t>)</a:t>
            </a:r>
            <a:br>
              <a:rPr lang="ru-RU" sz="2400" b="0" i="0" dirty="0">
                <a:effectLst/>
                <a:latin typeface="fkGroteskNeue"/>
              </a:rPr>
            </a:br>
            <a:r>
              <a:rPr lang="ru-RU" sz="2400" b="0" i="0" dirty="0">
                <a:effectLst/>
                <a:latin typeface="fkGroteskNeue"/>
              </a:rPr>
              <a:t>✓ Интересует модульная структура</a:t>
            </a:r>
            <a:br>
              <a:rPr lang="ru-RU" sz="2400" b="0" i="0" dirty="0">
                <a:effectLst/>
                <a:latin typeface="fkGroteskNeue"/>
              </a:rPr>
            </a:br>
            <a:r>
              <a:rPr lang="ru-RU" sz="2400" b="0" i="0" dirty="0">
                <a:effectLst/>
                <a:latin typeface="fkGroteskNeue"/>
              </a:rPr>
              <a:t>✓ Есть фенотип для корреляции</a:t>
            </a:r>
            <a:br>
              <a:rPr lang="ru-RU" sz="2400" b="0" i="0" dirty="0">
                <a:effectLst/>
                <a:latin typeface="fkGroteskNeue"/>
              </a:rPr>
            </a:br>
            <a:r>
              <a:rPr lang="ru-RU" sz="2400" b="0" i="0" dirty="0">
                <a:effectLst/>
                <a:latin typeface="fkGroteskNeue"/>
              </a:rPr>
              <a:t>✓ Мощностей GPU нет (WGCNA работает на CPU)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Не используй WGCNA когда:</a:t>
            </a:r>
          </a:p>
          <a:p>
            <a:pPr marL="0" indent="0" algn="l">
              <a:buNone/>
            </a:pPr>
            <a:r>
              <a:rPr lang="ru-RU" sz="2400" b="0" i="0" dirty="0">
                <a:effectLst/>
                <a:latin typeface="fkGroteskNeue"/>
              </a:rPr>
              <a:t>✗ Мало генов (&lt;1,000)</a:t>
            </a:r>
            <a:br>
              <a:rPr lang="ru-RU" sz="2400" b="0" i="0" dirty="0">
                <a:effectLst/>
                <a:latin typeface="fkGroteskNeue"/>
              </a:rPr>
            </a:br>
            <a:r>
              <a:rPr lang="ru-RU" sz="2400" b="0" i="0" dirty="0">
                <a:effectLst/>
                <a:latin typeface="fkGroteskNeue"/>
              </a:rPr>
              <a:t>✗ Мало образцов (&lt;50)</a:t>
            </a:r>
            <a:br>
              <a:rPr lang="ru-RU" sz="2400" b="0" i="0" dirty="0">
                <a:effectLst/>
                <a:latin typeface="fkGroteskNeue"/>
              </a:rPr>
            </a:br>
            <a:r>
              <a:rPr lang="ru-RU" sz="2400" b="0" i="0" dirty="0">
                <a:effectLst/>
                <a:latin typeface="fkGroteskNeue"/>
              </a:rPr>
              <a:t>✗ Чистая классификация (нужна CNN)</a:t>
            </a:r>
            <a:br>
              <a:rPr lang="ru-RU" sz="2400" b="0" i="0" dirty="0">
                <a:effectLst/>
                <a:latin typeface="fkGroteskNeue"/>
              </a:rPr>
            </a:br>
            <a:r>
              <a:rPr lang="ru-RU" sz="2400" b="0" i="0" dirty="0">
                <a:effectLst/>
                <a:latin typeface="fkGroteskNeue"/>
              </a:rPr>
              <a:t>✗ Только два образца (нет вариабельности)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Альтернативы: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Если быстро: взять </a:t>
            </a:r>
            <a:r>
              <a:rPr lang="ru-RU" sz="2400" b="0" i="0" dirty="0" err="1">
                <a:effectLst/>
                <a:latin typeface="fkGroteskNeue"/>
              </a:rPr>
              <a:t>top</a:t>
            </a:r>
            <a:r>
              <a:rPr lang="ru-RU" sz="2400" b="0" i="0" dirty="0">
                <a:effectLst/>
                <a:latin typeface="fkGroteskNeue"/>
              </a:rPr>
              <a:t> 500 генов по p-</a:t>
            </a:r>
            <a:r>
              <a:rPr lang="ru-RU" sz="2400" b="0" i="0" dirty="0" err="1">
                <a:effectLst/>
                <a:latin typeface="fkGroteskNeue"/>
              </a:rPr>
              <a:t>value</a:t>
            </a:r>
            <a:r>
              <a:rPr lang="ru-RU" sz="2400" b="0" i="0" dirty="0">
                <a:effectLst/>
                <a:latin typeface="fkGroteskNeue"/>
              </a:rPr>
              <a:t>, построить сеть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Если сложнее: взять MOFA (для </a:t>
            </a:r>
            <a:r>
              <a:rPr lang="ru-RU" sz="2400" b="0" i="0" dirty="0" err="1">
                <a:effectLst/>
                <a:latin typeface="fkGroteskNeue"/>
              </a:rPr>
              <a:t>multi-omics</a:t>
            </a:r>
            <a:r>
              <a:rPr lang="ru-RU" sz="2400" b="0" i="0" dirty="0">
                <a:effectLst/>
                <a:latin typeface="fkGroteskNeue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Если совсем другое: </a:t>
            </a:r>
            <a:r>
              <a:rPr lang="ru-RU" sz="2400" b="0" i="0" dirty="0" err="1">
                <a:effectLst/>
                <a:latin typeface="fkGroteskNeue"/>
              </a:rPr>
              <a:t>графовые</a:t>
            </a:r>
            <a:r>
              <a:rPr lang="ru-RU" sz="2400" b="0" i="0" dirty="0">
                <a:effectLst/>
                <a:latin typeface="fkGroteskNeue"/>
              </a:rPr>
              <a:t> нейронные сети (</a:t>
            </a:r>
            <a:r>
              <a:rPr lang="ru-RU" sz="2400" b="0" i="0" dirty="0" err="1">
                <a:effectLst/>
                <a:latin typeface="fkGroteskNeue"/>
              </a:rPr>
              <a:t>Graph</a:t>
            </a:r>
            <a:r>
              <a:rPr lang="ru-RU" sz="2400" b="0" i="0" dirty="0">
                <a:effectLst/>
                <a:latin typeface="fkGroteskNeue"/>
              </a:rPr>
              <a:t> </a:t>
            </a:r>
            <a:r>
              <a:rPr lang="ru-RU" sz="2400" b="0" i="0" dirty="0" err="1">
                <a:effectLst/>
                <a:latin typeface="fkGroteskNeue"/>
              </a:rPr>
              <a:t>Neural</a:t>
            </a:r>
            <a:r>
              <a:rPr lang="ru-RU" sz="2400" b="0" i="0" dirty="0">
                <a:effectLst/>
                <a:latin typeface="fkGroteskNeue"/>
              </a:rPr>
              <a:t> Networks)</a:t>
            </a:r>
          </a:p>
        </p:txBody>
      </p:sp>
    </p:spTree>
    <p:extLst>
      <p:ext uri="{BB962C8B-B14F-4D97-AF65-F5344CB8AC3E}">
        <p14:creationId xmlns:p14="http://schemas.microsoft.com/office/powerpoint/2010/main" val="30195868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20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Типичные ошибки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145594"/>
            <a:ext cx="11735529" cy="5677647"/>
          </a:xfrm>
        </p:spPr>
        <p:txBody>
          <a:bodyPr numCol="2">
            <a:noAutofit/>
          </a:bodyPr>
          <a:lstStyle/>
          <a:p>
            <a:pPr marL="0" indent="0" algn="l">
              <a:buNone/>
            </a:pPr>
            <a:r>
              <a:rPr lang="ru-RU" sz="2000" b="1" i="1" dirty="0">
                <a:effectLst/>
                <a:latin typeface="fkGroteskNeue"/>
              </a:rPr>
              <a:t>Чего не делать в WGCNA</a:t>
            </a:r>
          </a:p>
          <a:p>
            <a:pPr marL="0" indent="0" algn="l">
              <a:buNone/>
            </a:pPr>
            <a:r>
              <a:rPr lang="ru-RU" sz="2000" i="1" dirty="0">
                <a:effectLst/>
                <a:latin typeface="fkGroteskNeue"/>
              </a:rPr>
              <a:t>❌ Не настраивать β (</a:t>
            </a:r>
            <a:r>
              <a:rPr lang="ru-RU" sz="2000" i="1" dirty="0" err="1">
                <a:effectLst/>
                <a:latin typeface="fkGroteskNeue"/>
              </a:rPr>
              <a:t>soft-thresholding</a:t>
            </a:r>
            <a:r>
              <a:rPr lang="ru-RU" sz="2000" i="1" dirty="0">
                <a:effectLst/>
                <a:latin typeface="fkGroteskNeue"/>
              </a:rPr>
              <a:t> </a:t>
            </a:r>
            <a:r>
              <a:rPr lang="ru-RU" sz="2000" i="1" dirty="0" err="1">
                <a:effectLst/>
                <a:latin typeface="fkGroteskNeue"/>
              </a:rPr>
              <a:t>power</a:t>
            </a:r>
            <a:r>
              <a:rPr lang="ru-RU" sz="2000" i="1" dirty="0">
                <a:effectLst/>
                <a:latin typeface="fkGroteskNeue"/>
              </a:rPr>
              <a:t>)</a:t>
            </a:r>
          </a:p>
          <a:p>
            <a:pPr marL="0" indent="0" algn="l">
              <a:buNone/>
            </a:pPr>
            <a:r>
              <a:rPr lang="ru-RU" sz="2000" dirty="0">
                <a:effectLst/>
                <a:latin typeface="fkGroteskNeue"/>
              </a:rPr>
              <a:t>Правильно: используйте </a:t>
            </a:r>
            <a:r>
              <a:rPr lang="ru-RU" sz="2000" dirty="0" err="1">
                <a:effectLst/>
                <a:latin typeface="fkGroteskNeue"/>
              </a:rPr>
              <a:t>pickSoftThreshold</a:t>
            </a:r>
            <a:r>
              <a:rPr lang="ru-RU" sz="2000" dirty="0">
                <a:effectLst/>
                <a:latin typeface="fkGroteskNeue"/>
              </a:rPr>
              <a:t>() для нахождения оптимального β</a:t>
            </a:r>
          </a:p>
          <a:p>
            <a:pPr marL="0" indent="0" algn="l">
              <a:buNone/>
            </a:pPr>
            <a:r>
              <a:rPr lang="ru-RU" sz="2000" i="1" dirty="0">
                <a:effectLst/>
                <a:latin typeface="fkGroteskNeue"/>
              </a:rPr>
              <a:t>❌ Фильтровать гены неправильно</a:t>
            </a:r>
          </a:p>
          <a:p>
            <a:pPr marL="0" indent="0" algn="l">
              <a:buNone/>
            </a:pPr>
            <a:r>
              <a:rPr lang="ru-RU" sz="2000" dirty="0">
                <a:effectLst/>
                <a:latin typeface="fkGroteskNeue"/>
              </a:rPr>
              <a:t>Неправильно: просто выбрать </a:t>
            </a:r>
            <a:r>
              <a:rPr lang="ru-RU" sz="2000" dirty="0" err="1">
                <a:effectLst/>
                <a:latin typeface="fkGroteskNeue"/>
              </a:rPr>
              <a:t>top</a:t>
            </a:r>
            <a:r>
              <a:rPr lang="ru-RU" sz="2000" dirty="0">
                <a:effectLst/>
                <a:latin typeface="fkGroteskNeue"/>
              </a:rPr>
              <a:t> 5,000 генов по </a:t>
            </a:r>
            <a:r>
              <a:rPr lang="ru-RU" sz="2000" dirty="0" err="1">
                <a:effectLst/>
                <a:latin typeface="fkGroteskNeue"/>
              </a:rPr>
              <a:t>variance</a:t>
            </a:r>
            <a:endParaRPr lang="ru-RU" sz="2000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sz="2000" dirty="0">
                <a:effectLst/>
                <a:latin typeface="fkGroteskNeue"/>
              </a:rPr>
              <a:t>Правильно: использовать биологическую фильтрацию (</a:t>
            </a:r>
            <a:r>
              <a:rPr lang="ru-RU" sz="2000" dirty="0" err="1">
                <a:effectLst/>
                <a:latin typeface="fkGroteskNeue"/>
              </a:rPr>
              <a:t>remove</a:t>
            </a:r>
            <a:r>
              <a:rPr lang="ru-RU" sz="2000" dirty="0">
                <a:effectLst/>
                <a:latin typeface="fkGroteskNeue"/>
              </a:rPr>
              <a:t> </a:t>
            </a:r>
            <a:r>
              <a:rPr lang="ru-RU" sz="2000" dirty="0" err="1">
                <a:effectLst/>
                <a:latin typeface="fkGroteskNeue"/>
              </a:rPr>
              <a:t>mitochondrial</a:t>
            </a:r>
            <a:r>
              <a:rPr lang="ru-RU" sz="2000" dirty="0">
                <a:effectLst/>
                <a:latin typeface="fkGroteskNeue"/>
              </a:rPr>
              <a:t> </a:t>
            </a:r>
            <a:r>
              <a:rPr lang="ru-RU" sz="2000" dirty="0" err="1">
                <a:effectLst/>
                <a:latin typeface="fkGroteskNeue"/>
              </a:rPr>
              <a:t>genes</a:t>
            </a:r>
            <a:r>
              <a:rPr lang="ru-RU" sz="2000" dirty="0">
                <a:effectLst/>
                <a:latin typeface="fkGroteskNeue"/>
              </a:rPr>
              <a:t>, </a:t>
            </a:r>
            <a:r>
              <a:rPr lang="ru-RU" sz="2000" dirty="0" err="1">
                <a:effectLst/>
                <a:latin typeface="fkGroteskNeue"/>
              </a:rPr>
              <a:t>low</a:t>
            </a:r>
            <a:r>
              <a:rPr lang="ru-RU" sz="2000" dirty="0">
                <a:effectLst/>
                <a:latin typeface="fkGroteskNeue"/>
              </a:rPr>
              <a:t> </a:t>
            </a:r>
            <a:r>
              <a:rPr lang="ru-RU" sz="2000" dirty="0" err="1">
                <a:effectLst/>
                <a:latin typeface="fkGroteskNeue"/>
              </a:rPr>
              <a:t>expressed</a:t>
            </a:r>
            <a:r>
              <a:rPr lang="ru-RU" sz="2000" dirty="0">
                <a:effectLst/>
                <a:latin typeface="fkGroteskNeue"/>
              </a:rPr>
              <a:t> </a:t>
            </a:r>
            <a:r>
              <a:rPr lang="ru-RU" sz="2000" dirty="0" err="1">
                <a:effectLst/>
                <a:latin typeface="fkGroteskNeue"/>
              </a:rPr>
              <a:t>genes</a:t>
            </a:r>
            <a:r>
              <a:rPr lang="ru-RU" sz="2000" dirty="0">
                <a:effectLst/>
                <a:latin typeface="fkGroteskNeue"/>
              </a:rPr>
              <a:t>)</a:t>
            </a:r>
          </a:p>
          <a:p>
            <a:pPr marL="0" indent="0" algn="l">
              <a:buNone/>
            </a:pPr>
            <a:r>
              <a:rPr lang="ru-RU" sz="2000" i="1" dirty="0">
                <a:effectLst/>
                <a:latin typeface="fkGroteskNeue"/>
              </a:rPr>
              <a:t>❌ Забыть про размер модуля</a:t>
            </a:r>
          </a:p>
          <a:p>
            <a:pPr marL="0" indent="0" algn="l">
              <a:buNone/>
            </a:pPr>
            <a:r>
              <a:rPr lang="ru-RU" sz="2000" dirty="0">
                <a:effectLst/>
                <a:latin typeface="fkGroteskNeue"/>
              </a:rPr>
              <a:t>Маленькие модули (&lt;30 генов) → нестабильные</a:t>
            </a:r>
          </a:p>
          <a:p>
            <a:pPr marL="0" indent="0" algn="l">
              <a:buNone/>
            </a:pPr>
            <a:r>
              <a:rPr lang="ru-RU" sz="2000" dirty="0">
                <a:effectLst/>
                <a:latin typeface="fkGroteskNeue"/>
              </a:rPr>
              <a:t>Большие модули (&gt;1,000 генов) → </a:t>
            </a:r>
            <a:r>
              <a:rPr lang="ru-RU" sz="2000" dirty="0" err="1">
                <a:effectLst/>
                <a:latin typeface="fkGroteskNeue"/>
              </a:rPr>
              <a:t>неинтерпретируемые</a:t>
            </a:r>
            <a:endParaRPr lang="ru-RU" sz="2000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sz="2000" dirty="0">
                <a:effectLst/>
                <a:latin typeface="fkGroteskNeue"/>
              </a:rPr>
              <a:t>Оптимум: 50-300 генов на модуль</a:t>
            </a:r>
          </a:p>
          <a:p>
            <a:pPr marL="0" indent="0" algn="l">
              <a:buNone/>
            </a:pPr>
            <a:r>
              <a:rPr lang="ru-RU" sz="2000" i="1" dirty="0">
                <a:effectLst/>
                <a:latin typeface="fkGroteskNeue"/>
              </a:rPr>
              <a:t>❌ Неправильно интерпретировать корреляцию</a:t>
            </a:r>
          </a:p>
          <a:p>
            <a:pPr marL="0" indent="0" algn="l">
              <a:buNone/>
            </a:pPr>
            <a:r>
              <a:rPr lang="ru-RU" sz="2000" dirty="0">
                <a:effectLst/>
                <a:latin typeface="fkGroteskNeue"/>
              </a:rPr>
              <a:t>r = 0.7 между модулем и выживанием → красиво, но </a:t>
            </a:r>
            <a:r>
              <a:rPr lang="ru-RU" sz="2000" dirty="0" err="1">
                <a:effectLst/>
                <a:latin typeface="fkGroteskNeue"/>
              </a:rPr>
              <a:t>валидируйте</a:t>
            </a:r>
            <a:r>
              <a:rPr lang="ru-RU" sz="2000" dirty="0">
                <a:effectLst/>
                <a:latin typeface="fkGroteskNeue"/>
              </a:rPr>
              <a:t>!</a:t>
            </a:r>
          </a:p>
          <a:p>
            <a:pPr marL="0" indent="0" algn="l">
              <a:buNone/>
            </a:pPr>
            <a:r>
              <a:rPr lang="ru-RU" sz="2000" dirty="0">
                <a:effectLst/>
                <a:latin typeface="fkGroteskNeue"/>
              </a:rPr>
              <a:t>В другом </a:t>
            </a:r>
            <a:r>
              <a:rPr lang="ru-RU" sz="2000" dirty="0" err="1">
                <a:effectLst/>
                <a:latin typeface="fkGroteskNeue"/>
              </a:rPr>
              <a:t>датасете</a:t>
            </a:r>
            <a:r>
              <a:rPr lang="ru-RU" sz="2000" dirty="0">
                <a:effectLst/>
                <a:latin typeface="fkGroteskNeue"/>
              </a:rPr>
              <a:t> может быть r = 0.3</a:t>
            </a:r>
          </a:p>
          <a:p>
            <a:pPr marL="0" indent="0" algn="l">
              <a:buNone/>
            </a:pPr>
            <a:r>
              <a:rPr lang="ru-RU" sz="2000" i="1" dirty="0">
                <a:effectLst/>
                <a:latin typeface="fkGroteskNeue"/>
              </a:rPr>
              <a:t>❌ Забыть про </a:t>
            </a:r>
            <a:r>
              <a:rPr lang="ru-RU" sz="2000" i="1" dirty="0" err="1">
                <a:effectLst/>
                <a:latin typeface="fkGroteskNeue"/>
              </a:rPr>
              <a:t>batch</a:t>
            </a:r>
            <a:r>
              <a:rPr lang="ru-RU" sz="2000" i="1" dirty="0">
                <a:effectLst/>
                <a:latin typeface="fkGroteskNeue"/>
              </a:rPr>
              <a:t> </a:t>
            </a:r>
            <a:r>
              <a:rPr lang="ru-RU" sz="2000" i="1" dirty="0" err="1">
                <a:effectLst/>
                <a:latin typeface="fkGroteskNeue"/>
              </a:rPr>
              <a:t>effects</a:t>
            </a:r>
            <a:endParaRPr lang="ru-RU" sz="2000" i="1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sz="2000" dirty="0">
                <a:effectLst/>
                <a:latin typeface="fkGroteskNeue"/>
              </a:rPr>
              <a:t>Если данные из разных лабораторий → надо нормализовать!</a:t>
            </a:r>
          </a:p>
        </p:txBody>
      </p:sp>
    </p:spTree>
    <p:extLst>
      <p:ext uri="{BB962C8B-B14F-4D97-AF65-F5344CB8AC3E}">
        <p14:creationId xmlns:p14="http://schemas.microsoft.com/office/powerpoint/2010/main" val="5145635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21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Интеграция с алгоритмами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ML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145594"/>
            <a:ext cx="11735529" cy="5677647"/>
          </a:xfrm>
        </p:spPr>
        <p:txBody>
          <a:bodyPr numCol="2">
            <a:noAutofit/>
          </a:bodyPr>
          <a:lstStyle/>
          <a:p>
            <a:pPr marL="0" indent="0" algn="l">
              <a:buNone/>
            </a:pPr>
            <a:r>
              <a:rPr lang="ru-RU" sz="2400" b="1" i="1" dirty="0">
                <a:effectLst/>
                <a:latin typeface="fkGroteskNeue"/>
              </a:rPr>
              <a:t>Сети + Классификаторы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Идея: использовать модули как признаки для классификатора!</a:t>
            </a:r>
          </a:p>
          <a:p>
            <a:pPr marL="0" indent="0" algn="l">
              <a:buNone/>
            </a:pPr>
            <a:r>
              <a:rPr lang="ru-RU" sz="2400" b="0" i="1" dirty="0" err="1">
                <a:effectLst/>
                <a:latin typeface="fkGroteskNeue"/>
              </a:rPr>
              <a:t>Workflow</a:t>
            </a:r>
            <a:r>
              <a:rPr lang="ru-RU" sz="2400" b="0" i="1" dirty="0">
                <a:effectLst/>
                <a:latin typeface="fkGroteskNeue"/>
              </a:rPr>
              <a:t>:</a:t>
            </a:r>
          </a:p>
          <a:p>
            <a:pPr algn="l">
              <a:buFont typeface="+mj-lt"/>
              <a:buAutoNum type="arabicPeriod"/>
            </a:pPr>
            <a:r>
              <a:rPr lang="ru-RU" sz="2400" b="0" i="0" dirty="0">
                <a:effectLst/>
                <a:latin typeface="fkGroteskNeue"/>
              </a:rPr>
              <a:t>WGCNA: находим модули + ME (связь с фенотипом)</a:t>
            </a:r>
          </a:p>
          <a:p>
            <a:pPr algn="l">
              <a:buFont typeface="+mj-lt"/>
              <a:buAutoNum type="arabicPeriod"/>
            </a:pPr>
            <a:r>
              <a:rPr lang="ru-RU" sz="2400" b="0" i="0" dirty="0">
                <a:effectLst/>
                <a:latin typeface="fkGroteskNeue"/>
              </a:rPr>
              <a:t>Берём ME / хаб-гены</a:t>
            </a:r>
          </a:p>
          <a:p>
            <a:pPr algn="l">
              <a:buFont typeface="+mj-lt"/>
              <a:buAutoNum type="arabicPeriod"/>
            </a:pPr>
            <a:r>
              <a:rPr lang="ru-RU" sz="2400" b="0" i="0" dirty="0">
                <a:effectLst/>
                <a:latin typeface="fkGroteskNeue"/>
              </a:rPr>
              <a:t>Обучаем </a:t>
            </a:r>
            <a:r>
              <a:rPr lang="ru-RU" sz="2400" b="0" i="0" dirty="0" err="1">
                <a:effectLst/>
                <a:latin typeface="fkGroteskNeue"/>
              </a:rPr>
              <a:t>Random</a:t>
            </a:r>
            <a:r>
              <a:rPr lang="ru-RU" sz="2400" b="0" i="0" dirty="0">
                <a:effectLst/>
                <a:latin typeface="fkGroteskNeue"/>
              </a:rPr>
              <a:t> </a:t>
            </a:r>
            <a:r>
              <a:rPr lang="ru-RU" sz="2400" b="0" i="0" dirty="0" err="1">
                <a:effectLst/>
                <a:latin typeface="fkGroteskNeue"/>
              </a:rPr>
              <a:t>Forest</a:t>
            </a:r>
            <a:r>
              <a:rPr lang="ru-RU" sz="2400" b="0" i="0" dirty="0">
                <a:effectLst/>
                <a:latin typeface="fkGroteskNeue"/>
              </a:rPr>
              <a:t> / </a:t>
            </a:r>
            <a:r>
              <a:rPr lang="ru-RU" sz="2400" b="0" i="0" dirty="0" err="1">
                <a:effectLst/>
                <a:latin typeface="fkGroteskNeue"/>
              </a:rPr>
              <a:t>logistic</a:t>
            </a:r>
            <a:r>
              <a:rPr lang="ru-RU" sz="2400" b="0" i="0" dirty="0">
                <a:effectLst/>
                <a:latin typeface="fkGroteskNeue"/>
              </a:rPr>
              <a:t> </a:t>
            </a:r>
            <a:r>
              <a:rPr lang="ru-RU" sz="2400" b="0" i="0" dirty="0" err="1">
                <a:effectLst/>
                <a:latin typeface="fkGroteskNeue"/>
              </a:rPr>
              <a:t>regression</a:t>
            </a:r>
            <a:r>
              <a:rPr lang="ru-RU" sz="2400" b="0" i="0" dirty="0">
                <a:effectLst/>
                <a:latin typeface="fkGroteskNeue"/>
              </a:rPr>
              <a:t> на этих новых признаках</a:t>
            </a:r>
          </a:p>
          <a:p>
            <a:pPr algn="l">
              <a:buFont typeface="+mj-lt"/>
              <a:buAutoNum type="arabicPeriod"/>
            </a:pPr>
            <a:r>
              <a:rPr lang="ru-RU" sz="2400" b="0" i="0" dirty="0">
                <a:effectLst/>
                <a:latin typeface="fkGroteskNeue"/>
              </a:rPr>
              <a:t>Вместо 20,000 генов → несколько признаков</a:t>
            </a:r>
            <a:endParaRPr lang="ru-RU" sz="2400" dirty="0">
              <a:latin typeface="fkGroteskNeue"/>
            </a:endParaRPr>
          </a:p>
          <a:p>
            <a:pPr algn="l">
              <a:buFont typeface="+mj-lt"/>
              <a:buAutoNum type="arabicPeriod"/>
            </a:pPr>
            <a:endParaRPr lang="ru-RU" sz="2400" dirty="0">
              <a:latin typeface="fkGroteskNeue"/>
            </a:endParaRPr>
          </a:p>
          <a:p>
            <a:pPr algn="l">
              <a:buFont typeface="+mj-lt"/>
              <a:buAutoNum type="arabicPeriod"/>
            </a:pPr>
            <a:endParaRPr lang="ru-RU" sz="2400" b="0" i="0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Преимущества: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 err="1">
                <a:effectLst/>
                <a:latin typeface="fkGroteskNeue"/>
              </a:rPr>
              <a:t>Dimensionality</a:t>
            </a:r>
            <a:r>
              <a:rPr lang="ru-RU" sz="2400" b="0" i="0" dirty="0">
                <a:effectLst/>
                <a:latin typeface="fkGroteskNeue"/>
              </a:rPr>
              <a:t> </a:t>
            </a:r>
            <a:r>
              <a:rPr lang="ru-RU" sz="2400" b="0" i="0" dirty="0" err="1">
                <a:effectLst/>
                <a:latin typeface="fkGroteskNeue"/>
              </a:rPr>
              <a:t>reduction</a:t>
            </a:r>
            <a:r>
              <a:rPr lang="ru-RU" sz="2400" b="0" i="0" dirty="0">
                <a:effectLst/>
                <a:latin typeface="fkGroteskNeue"/>
              </a:rPr>
              <a:t> (20,000 → 15 признаков)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 err="1">
                <a:effectLst/>
                <a:latin typeface="fkGroteskNeue"/>
              </a:rPr>
              <a:t>Interpretable</a:t>
            </a:r>
            <a:r>
              <a:rPr lang="ru-RU" sz="2400" b="0" i="0" dirty="0">
                <a:effectLst/>
                <a:latin typeface="fkGroteskNeue"/>
              </a:rPr>
              <a:t> (каждый признак = модуль, имеет GO </a:t>
            </a:r>
            <a:r>
              <a:rPr lang="ru-RU" sz="2400" b="0" i="0" dirty="0" err="1">
                <a:effectLst/>
                <a:latin typeface="fkGroteskNeue"/>
              </a:rPr>
              <a:t>annotation</a:t>
            </a:r>
            <a:r>
              <a:rPr lang="ru-RU" sz="2400" b="0" i="0" dirty="0">
                <a:effectLst/>
                <a:latin typeface="fkGroteskNeue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 err="1">
                <a:effectLst/>
                <a:latin typeface="fkGroteskNeue"/>
              </a:rPr>
              <a:t>Robust</a:t>
            </a:r>
            <a:r>
              <a:rPr lang="ru-RU" sz="2400" b="0" i="0" dirty="0">
                <a:effectLst/>
                <a:latin typeface="fkGroteskNeue"/>
              </a:rPr>
              <a:t> (шум в одном гене не разрушает модуль)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Результат часто: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 err="1">
                <a:effectLst/>
                <a:latin typeface="fkGroteskNeue"/>
              </a:rPr>
              <a:t>Accuracy</a:t>
            </a:r>
            <a:r>
              <a:rPr lang="ru-RU" sz="2400" b="0" i="0" dirty="0">
                <a:effectLst/>
                <a:latin typeface="fkGroteskNeue"/>
              </a:rPr>
              <a:t> выше, чем на исходных генах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Модель компактнее и быстрее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Можно объяснить каждое предсказание</a:t>
            </a:r>
          </a:p>
        </p:txBody>
      </p:sp>
    </p:spTree>
    <p:extLst>
      <p:ext uri="{BB962C8B-B14F-4D97-AF65-F5344CB8AC3E}">
        <p14:creationId xmlns:p14="http://schemas.microsoft.com/office/powerpoint/2010/main" val="28383772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Figure 2">
            <a:extLst>
              <a:ext uri="{FF2B5EF4-FFF2-40B4-BE49-F238E27FC236}">
                <a16:creationId xmlns:a16="http://schemas.microsoft.com/office/drawing/2014/main" id="{D95211E0-81B1-4F46-98C1-EBBE3F137A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766" t="70000"/>
          <a:stretch/>
        </p:blipFill>
        <p:spPr bwMode="auto">
          <a:xfrm>
            <a:off x="6229350" y="1069587"/>
            <a:ext cx="5494426" cy="41821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Пример 1: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WGCNA + Cox risk score (breast cancer, PMC9990777)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145594"/>
            <a:ext cx="6636877" cy="5677647"/>
          </a:xfrm>
        </p:spPr>
        <p:txBody>
          <a:bodyPr numCol="1">
            <a:noAutofit/>
          </a:bodyPr>
          <a:lstStyle/>
          <a:p>
            <a:r>
              <a:rPr lang="en-US" sz="2400" dirty="0">
                <a:effectLst/>
                <a:latin typeface="fkGroteskNeue"/>
              </a:rPr>
              <a:t>TCGA breast IIB–IIIC (stages).</a:t>
            </a:r>
          </a:p>
          <a:p>
            <a:r>
              <a:rPr lang="en-US" sz="2400" dirty="0">
                <a:effectLst/>
                <a:latin typeface="fkGroteskNeue"/>
              </a:rPr>
              <a:t>WGCNA → DEGs intersect → 4 hub: SVOPL, EDAR, GSTA1, ABCA13.</a:t>
            </a:r>
          </a:p>
          <a:p>
            <a:r>
              <a:rPr lang="en-US" sz="2400" dirty="0">
                <a:effectLst/>
                <a:latin typeface="fkGroteskNeue"/>
              </a:rPr>
              <a:t>Cox: risk score </a:t>
            </a:r>
            <a:r>
              <a:rPr lang="ru-RU" sz="2400" dirty="0">
                <a:effectLst/>
                <a:latin typeface="fkGroteskNeue"/>
              </a:rPr>
              <a:t>из 4 генов. </a:t>
            </a:r>
          </a:p>
          <a:p>
            <a:r>
              <a:rPr lang="en-US" sz="2400" dirty="0">
                <a:effectLst/>
                <a:latin typeface="fkGroteskNeue"/>
              </a:rPr>
              <a:t>Immune </a:t>
            </a:r>
            <a:r>
              <a:rPr lang="ru-RU" sz="2400" dirty="0">
                <a:effectLst/>
                <a:latin typeface="fkGroteskNeue"/>
              </a:rPr>
              <a:t>корреляция: </a:t>
            </a:r>
            <a:r>
              <a:rPr lang="en-US" sz="2400" dirty="0">
                <a:effectLst/>
                <a:latin typeface="fkGroteskNeue"/>
              </a:rPr>
              <a:t>low risk ↑ T cells/monocytes.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8B5A53E-8CA3-41A6-AD88-4B9F007DE6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3448" y="4146632"/>
            <a:ext cx="6400800" cy="241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8228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Пример 2: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WGCNA + RF classifier (LUAD CSC, Frontiers 2020)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145594"/>
            <a:ext cx="6636877" cy="5677647"/>
          </a:xfrm>
        </p:spPr>
        <p:txBody>
          <a:bodyPr numCol="1">
            <a:noAutofit/>
          </a:bodyPr>
          <a:lstStyle/>
          <a:p>
            <a:r>
              <a:rPr lang="en-US" sz="2400" dirty="0">
                <a:effectLst/>
                <a:latin typeface="fkGroteskNeue"/>
              </a:rPr>
              <a:t>TCGA/GEO LUAD</a:t>
            </a:r>
            <a:endParaRPr lang="ru-RU" sz="2400" dirty="0">
              <a:effectLst/>
              <a:latin typeface="fkGroteskNeue"/>
            </a:endParaRPr>
          </a:p>
          <a:p>
            <a:r>
              <a:rPr lang="en-US" sz="2400" dirty="0">
                <a:effectLst/>
                <a:latin typeface="fkGroteskNeue"/>
              </a:rPr>
              <a:t>WGCNA → green/blue modules (cell cycle).</a:t>
            </a:r>
          </a:p>
          <a:p>
            <a:r>
              <a:rPr lang="en-US" sz="2400" dirty="0">
                <a:effectLst/>
                <a:latin typeface="fkGroteskNeue"/>
              </a:rPr>
              <a:t>Hub 6 </a:t>
            </a:r>
            <a:r>
              <a:rPr lang="ru-RU" sz="2400" dirty="0">
                <a:effectLst/>
                <a:latin typeface="fkGroteskNeue"/>
              </a:rPr>
              <a:t>генов (из </a:t>
            </a:r>
            <a:r>
              <a:rPr lang="en-US" sz="2400" dirty="0">
                <a:effectLst/>
                <a:latin typeface="fkGroteskNeue"/>
              </a:rPr>
              <a:t>PPI/MCODE).</a:t>
            </a:r>
          </a:p>
          <a:p>
            <a:r>
              <a:rPr lang="en-US" sz="2400" dirty="0">
                <a:effectLst/>
                <a:latin typeface="fkGroteskNeue"/>
              </a:rPr>
              <a:t>RF classifier </a:t>
            </a:r>
            <a:r>
              <a:rPr lang="ru-RU" sz="2400" dirty="0">
                <a:effectLst/>
                <a:latin typeface="fkGroteskNeue"/>
              </a:rPr>
              <a:t>на 6 </a:t>
            </a:r>
            <a:r>
              <a:rPr lang="en-US" sz="2400" dirty="0">
                <a:effectLst/>
                <a:latin typeface="fkGroteskNeue"/>
              </a:rPr>
              <a:t>genes → LUAD subtypes.</a:t>
            </a:r>
          </a:p>
          <a:p>
            <a:r>
              <a:rPr lang="en-US" sz="2400" dirty="0">
                <a:effectLst/>
                <a:latin typeface="fkGroteskNeue"/>
              </a:rPr>
              <a:t>Accuracy 85%, prognostic: high CSC poor OS.</a:t>
            </a:r>
          </a:p>
          <a:p>
            <a:r>
              <a:rPr lang="ru-RU" sz="2400" dirty="0">
                <a:effectLst/>
                <a:latin typeface="fkGroteskNeue"/>
              </a:rPr>
              <a:t>Практика: </a:t>
            </a:r>
            <a:r>
              <a:rPr lang="en-US" sz="2400" dirty="0">
                <a:effectLst/>
                <a:latin typeface="fkGroteskNeue"/>
              </a:rPr>
              <a:t>ME → RF </a:t>
            </a:r>
            <a:r>
              <a:rPr lang="ru-RU" sz="2400" dirty="0">
                <a:effectLst/>
                <a:latin typeface="fkGroteskNeue"/>
              </a:rPr>
              <a:t>на подтипы/рецидив.</a:t>
            </a:r>
            <a:endParaRPr lang="en-US" sz="2400" dirty="0">
              <a:effectLst/>
              <a:latin typeface="fkGroteskNeue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206B2F5-E0E2-4B67-8279-13E993CCE9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922" b="50000"/>
          <a:stretch/>
        </p:blipFill>
        <p:spPr bwMode="auto">
          <a:xfrm>
            <a:off x="6279937" y="1117057"/>
            <a:ext cx="5340563" cy="5108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CF2F22B-AC3F-4ECA-A50B-29D832EFE6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9318" y="3899500"/>
            <a:ext cx="4124325" cy="2666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822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Figure 5">
            <a:extLst>
              <a:ext uri="{FF2B5EF4-FFF2-40B4-BE49-F238E27FC236}">
                <a16:creationId xmlns:a16="http://schemas.microsoft.com/office/drawing/2014/main" id="{3361A94C-E166-4273-9588-D6A578E1F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5508" y="1138565"/>
            <a:ext cx="5862170" cy="481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Пример 3: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WGCNA + LASSO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Cox (Gastric diffuse, Frontiers 2020)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145594"/>
            <a:ext cx="5665327" cy="5677647"/>
          </a:xfrm>
        </p:spPr>
        <p:txBody>
          <a:bodyPr numCol="1">
            <a:noAutofit/>
          </a:bodyPr>
          <a:lstStyle/>
          <a:p>
            <a:r>
              <a:rPr lang="en-US" sz="2000" dirty="0">
                <a:effectLst/>
                <a:latin typeface="fkGroteskNeue"/>
              </a:rPr>
              <a:t>TCGA gastric diffuse vs intestinal.</a:t>
            </a:r>
          </a:p>
          <a:p>
            <a:r>
              <a:rPr lang="en-US" sz="2000" dirty="0">
                <a:effectLst/>
                <a:latin typeface="fkGroteskNeue"/>
              </a:rPr>
              <a:t>WGCNA → </a:t>
            </a:r>
            <a:r>
              <a:rPr lang="ru-RU" sz="2000" dirty="0">
                <a:effectLst/>
                <a:latin typeface="fkGroteskNeue"/>
              </a:rPr>
              <a:t>модуль по </a:t>
            </a:r>
            <a:r>
              <a:rPr lang="en-US" sz="2000" dirty="0">
                <a:effectLst/>
                <a:latin typeface="fkGroteskNeue"/>
              </a:rPr>
              <a:t>subtype → LASSO Cox → 10 lncRNA signature.</a:t>
            </a:r>
          </a:p>
          <a:p>
            <a:r>
              <a:rPr lang="en-US" sz="2000" dirty="0">
                <a:effectLst/>
                <a:latin typeface="fkGroteskNeue"/>
              </a:rPr>
              <a:t>Risk high/low: OS p=2.8e-10, C-index=0.97, AUC=1.0 (1/3/5y).</a:t>
            </a:r>
          </a:p>
          <a:p>
            <a:r>
              <a:rPr lang="en-US" sz="2000" dirty="0">
                <a:effectLst/>
                <a:latin typeface="fkGroteskNeue"/>
              </a:rPr>
              <a:t>GSEA: tumor pathways ↑ high risk.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88B00A-FDE8-49CC-9622-7A256B984B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174" y="3804716"/>
            <a:ext cx="5699542" cy="215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22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Итоги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145594"/>
            <a:ext cx="11735529" cy="5677647"/>
          </a:xfrm>
        </p:spPr>
        <p:txBody>
          <a:bodyPr numCol="1">
            <a:noAutofit/>
          </a:bodyPr>
          <a:lstStyle/>
          <a:p>
            <a:pPr marL="0" indent="0" algn="l">
              <a:buNone/>
            </a:pPr>
            <a:r>
              <a:rPr lang="ru-RU" sz="2000" b="1" i="1" dirty="0">
                <a:effectLst/>
                <a:latin typeface="fkGroteskNeue"/>
              </a:rPr>
              <a:t>Сетевой анализ: полный цикл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Что мы сегодня изучили: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✓ Основы теории графов (</a:t>
            </a:r>
            <a:r>
              <a:rPr lang="en-US" sz="2000" b="0" i="0" dirty="0">
                <a:effectLst/>
                <a:latin typeface="fkGroteskNeue"/>
              </a:rPr>
              <a:t>nodes, edges, weights)</a:t>
            </a:r>
            <a:br>
              <a:rPr lang="en-US" sz="2000" b="0" i="0" dirty="0">
                <a:effectLst/>
                <a:latin typeface="fkGroteskNeue"/>
              </a:rPr>
            </a:br>
            <a:r>
              <a:rPr lang="en-US" sz="2000" b="0" i="0" dirty="0">
                <a:effectLst/>
                <a:latin typeface="fkGroteskNeue"/>
              </a:rPr>
              <a:t>✓ </a:t>
            </a:r>
            <a:r>
              <a:rPr lang="ru-RU" sz="2000" b="0" i="0" dirty="0">
                <a:effectLst/>
                <a:latin typeface="fkGroteskNeue"/>
              </a:rPr>
              <a:t>Метрики графов (</a:t>
            </a:r>
            <a:r>
              <a:rPr lang="en-US" sz="2000" b="0" i="0" dirty="0">
                <a:effectLst/>
                <a:latin typeface="fkGroteskNeue"/>
              </a:rPr>
              <a:t>degree, centrality, clustering </a:t>
            </a:r>
            <a:r>
              <a:rPr lang="en-US" sz="2000" b="0" i="0" dirty="0" err="1">
                <a:effectLst/>
                <a:latin typeface="fkGroteskNeue"/>
              </a:rPr>
              <a:t>coeff</a:t>
            </a:r>
            <a:r>
              <a:rPr lang="en-US" sz="2000" b="0" i="0" dirty="0">
                <a:effectLst/>
                <a:latin typeface="fkGroteskNeue"/>
              </a:rPr>
              <a:t>)</a:t>
            </a:r>
            <a:br>
              <a:rPr lang="en-US" sz="2000" b="0" i="0" dirty="0">
                <a:effectLst/>
                <a:latin typeface="fkGroteskNeue"/>
              </a:rPr>
            </a:br>
            <a:r>
              <a:rPr lang="en-US" sz="2000" b="0" i="0" dirty="0">
                <a:effectLst/>
                <a:latin typeface="fkGroteskNeue"/>
              </a:rPr>
              <a:t>✓ </a:t>
            </a:r>
            <a:r>
              <a:rPr lang="ru-RU" sz="2000" b="0" i="0" dirty="0">
                <a:effectLst/>
                <a:latin typeface="fkGroteskNeue"/>
              </a:rPr>
              <a:t>Обнаружение модулей (</a:t>
            </a:r>
            <a:r>
              <a:rPr lang="en-US" sz="2000" b="0" i="0" dirty="0">
                <a:effectLst/>
                <a:latin typeface="fkGroteskNeue"/>
              </a:rPr>
              <a:t>Louvain, modularity)</a:t>
            </a:r>
            <a:br>
              <a:rPr lang="en-US" sz="2000" b="0" i="0" dirty="0">
                <a:effectLst/>
                <a:latin typeface="fkGroteskNeue"/>
              </a:rPr>
            </a:br>
            <a:r>
              <a:rPr lang="en-US" sz="2000" b="0" i="0" dirty="0">
                <a:effectLst/>
                <a:latin typeface="fkGroteskNeue"/>
              </a:rPr>
              <a:t>✓ WGCNA: step-by-step </a:t>
            </a:r>
            <a:r>
              <a:rPr lang="ru-RU" sz="2000" b="0" i="0" dirty="0">
                <a:effectLst/>
                <a:latin typeface="fkGroteskNeue"/>
              </a:rPr>
              <a:t>с примерами</a:t>
            </a:r>
            <a:br>
              <a:rPr lang="ru-RU" sz="2000" b="0" i="0" dirty="0">
                <a:effectLst/>
                <a:latin typeface="fkGroteskNeue"/>
              </a:rPr>
            </a:br>
            <a:r>
              <a:rPr lang="ru-RU" sz="2000" b="0" i="0" dirty="0">
                <a:effectLst/>
                <a:latin typeface="fkGroteskNeue"/>
              </a:rPr>
              <a:t>✓ </a:t>
            </a:r>
            <a:r>
              <a:rPr lang="en-US" sz="2000" b="0" i="0" dirty="0">
                <a:effectLst/>
                <a:latin typeface="fkGroteskNeue"/>
              </a:rPr>
              <a:t>Hub </a:t>
            </a:r>
            <a:r>
              <a:rPr lang="ru-RU" sz="2000" b="0" i="0" dirty="0">
                <a:effectLst/>
                <a:latin typeface="fkGroteskNeue"/>
              </a:rPr>
              <a:t>гены и их роль</a:t>
            </a:r>
            <a:br>
              <a:rPr lang="ru-RU" sz="2000" b="0" i="0" dirty="0">
                <a:effectLst/>
                <a:latin typeface="fkGroteskNeue"/>
              </a:rPr>
            </a:br>
            <a:r>
              <a:rPr lang="ru-RU" sz="2000" b="0" i="0" dirty="0">
                <a:effectLst/>
                <a:latin typeface="fkGroteskNeue"/>
              </a:rPr>
              <a:t>✓ Визуализация (</a:t>
            </a:r>
            <a:r>
              <a:rPr lang="en-US" sz="2000" b="0" i="0" dirty="0">
                <a:effectLst/>
                <a:latin typeface="fkGroteskNeue"/>
              </a:rPr>
              <a:t>TOM plots, </a:t>
            </a:r>
            <a:r>
              <a:rPr lang="en-US" sz="2000" b="0" i="0" dirty="0" err="1">
                <a:effectLst/>
                <a:latin typeface="fkGroteskNeue"/>
              </a:rPr>
              <a:t>Cytoscape</a:t>
            </a:r>
            <a:r>
              <a:rPr lang="en-US" sz="2000" b="0" i="0" dirty="0">
                <a:effectLst/>
                <a:latin typeface="fkGroteskNeue"/>
              </a:rPr>
              <a:t>)</a:t>
            </a:r>
            <a:br>
              <a:rPr lang="en-US" sz="2000" b="0" i="0" dirty="0">
                <a:effectLst/>
                <a:latin typeface="fkGroteskNeue"/>
              </a:rPr>
            </a:br>
            <a:r>
              <a:rPr lang="en-US" sz="2000" b="0" i="0" dirty="0">
                <a:effectLst/>
                <a:latin typeface="fkGroteskNeue"/>
              </a:rPr>
              <a:t>✓ </a:t>
            </a:r>
            <a:r>
              <a:rPr lang="ru-RU" sz="2000" b="0" i="0" dirty="0">
                <a:effectLst/>
                <a:latin typeface="fkGroteskNeue"/>
              </a:rPr>
              <a:t>Функциональное обогащение (</a:t>
            </a:r>
            <a:r>
              <a:rPr lang="en-US" sz="2000" b="0" i="0" dirty="0">
                <a:effectLst/>
                <a:latin typeface="fkGroteskNeue"/>
              </a:rPr>
              <a:t>GO, KEGG)</a:t>
            </a:r>
            <a:br>
              <a:rPr lang="en-US" sz="2000" b="0" i="0" dirty="0">
                <a:effectLst/>
                <a:latin typeface="fkGroteskNeue"/>
              </a:rPr>
            </a:br>
            <a:r>
              <a:rPr lang="en-US" sz="2000" b="0" i="0" dirty="0">
                <a:effectLst/>
                <a:latin typeface="fkGroteskNeue"/>
              </a:rPr>
              <a:t>✓ </a:t>
            </a:r>
            <a:r>
              <a:rPr lang="ru-RU" sz="2000" b="0" i="0" dirty="0">
                <a:effectLst/>
                <a:latin typeface="fkGroteskNeue"/>
              </a:rPr>
              <a:t>Практические примеры (рак молочной железы)</a:t>
            </a:r>
            <a:br>
              <a:rPr lang="ru-RU" sz="2000" b="0" i="0" dirty="0">
                <a:effectLst/>
                <a:latin typeface="fkGroteskNeue"/>
              </a:rPr>
            </a:br>
            <a:r>
              <a:rPr lang="ru-RU" sz="2000" b="0" i="0" dirty="0">
                <a:effectLst/>
                <a:latin typeface="fkGroteskNeue"/>
              </a:rPr>
              <a:t>✓ Интеграция с </a:t>
            </a:r>
            <a:r>
              <a:rPr lang="en-US" sz="2000" b="0" i="0" dirty="0">
                <a:effectLst/>
                <a:latin typeface="fkGroteskNeue"/>
              </a:rPr>
              <a:t>ML</a:t>
            </a:r>
          </a:p>
          <a:p>
            <a:pPr marL="0" indent="0" algn="l">
              <a:buNone/>
            </a:pPr>
            <a:r>
              <a:rPr lang="ru-RU" sz="2000" b="0" i="1" dirty="0">
                <a:effectLst/>
                <a:latin typeface="fkGroteskNeue"/>
              </a:rPr>
              <a:t>Ключевая идея: Гены не работают одиночно — они работают во взаимодействии. Сетевой анализ раскрывает это.</a:t>
            </a:r>
          </a:p>
        </p:txBody>
      </p:sp>
    </p:spTree>
    <p:extLst>
      <p:ext uri="{BB962C8B-B14F-4D97-AF65-F5344CB8AC3E}">
        <p14:creationId xmlns:p14="http://schemas.microsoft.com/office/powerpoint/2010/main" val="7253273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26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Ресурсы и литература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145594"/>
            <a:ext cx="11735529" cy="5677647"/>
          </a:xfrm>
        </p:spPr>
        <p:txBody>
          <a:bodyPr numCol="2">
            <a:noAutofit/>
          </a:bodyPr>
          <a:lstStyle/>
          <a:p>
            <a:pPr marL="0" indent="0" algn="l">
              <a:buNone/>
            </a:pPr>
            <a:r>
              <a:rPr lang="ru-RU" sz="2000" b="1" i="1" dirty="0">
                <a:effectLst/>
                <a:latin typeface="fkGroteskNeue"/>
              </a:rPr>
              <a:t>Как начать?</a:t>
            </a:r>
            <a:endParaRPr lang="ru-RU" sz="2000" b="1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sz="2000" dirty="0">
                <a:effectLst/>
                <a:latin typeface="fkGroteskNeue"/>
              </a:rPr>
              <a:t>Главный источник:</a:t>
            </a:r>
          </a:p>
          <a:p>
            <a:pPr marL="0" indent="0" algn="l">
              <a:buNone/>
            </a:pPr>
            <a:r>
              <a:rPr lang="en-US" sz="2000" dirty="0">
                <a:effectLst/>
                <a:latin typeface="fkGroteskNeue"/>
              </a:rPr>
              <a:t>Langfelder P, Horvath S. WGCNA: an R package for weighted correlation network analysis. BMC Bioinformatics. 2008.</a:t>
            </a:r>
          </a:p>
          <a:p>
            <a:pPr marL="0" indent="0" algn="l">
              <a:buNone/>
            </a:pPr>
            <a:r>
              <a:rPr lang="en-US" sz="2000" dirty="0">
                <a:effectLst/>
                <a:latin typeface="fkGroteskNeue"/>
                <a:hlinkClick r:id="rId6"/>
              </a:rPr>
              <a:t>https://horvath.genetics.ucla.edu/html/CoexpressionNetwork/Rpackages/WGCNA/</a:t>
            </a:r>
            <a:endParaRPr lang="ru-RU" sz="2000" dirty="0">
              <a:effectLst/>
              <a:latin typeface="fkGroteskNeue"/>
            </a:endParaRPr>
          </a:p>
          <a:p>
            <a:pPr marL="0" indent="0" algn="l">
              <a:buNone/>
            </a:pPr>
            <a:endParaRPr lang="en-US" sz="2000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sz="2000" dirty="0">
                <a:effectLst/>
                <a:latin typeface="fkGroteskNeue"/>
              </a:rPr>
              <a:t>Пакеты </a:t>
            </a:r>
            <a:r>
              <a:rPr lang="en-US" sz="2000" dirty="0">
                <a:effectLst/>
                <a:latin typeface="fkGroteskNeue"/>
              </a:rPr>
              <a:t>R:</a:t>
            </a:r>
          </a:p>
          <a:p>
            <a:pPr marL="0" indent="0" algn="l">
              <a:buNone/>
            </a:pPr>
            <a:r>
              <a:rPr lang="en-US" sz="2000" dirty="0" err="1">
                <a:effectLst/>
                <a:latin typeface="fkGroteskNeue"/>
              </a:rPr>
              <a:t>install.packages</a:t>
            </a:r>
            <a:r>
              <a:rPr lang="en-US" sz="2000" dirty="0">
                <a:effectLst/>
                <a:latin typeface="fkGroteskNeue"/>
              </a:rPr>
              <a:t>("WGCNA")</a:t>
            </a:r>
          </a:p>
          <a:p>
            <a:pPr marL="0" indent="0" algn="l">
              <a:buNone/>
            </a:pPr>
            <a:r>
              <a:rPr lang="en-US" sz="2000" dirty="0" err="1">
                <a:effectLst/>
                <a:latin typeface="fkGroteskNeue"/>
              </a:rPr>
              <a:t>install.packages</a:t>
            </a:r>
            <a:r>
              <a:rPr lang="en-US" sz="2000" dirty="0">
                <a:effectLst/>
                <a:latin typeface="fkGroteskNeue"/>
              </a:rPr>
              <a:t>("</a:t>
            </a:r>
            <a:r>
              <a:rPr lang="en-US" sz="2000" dirty="0" err="1">
                <a:effectLst/>
                <a:latin typeface="fkGroteskNeue"/>
              </a:rPr>
              <a:t>igraph</a:t>
            </a:r>
            <a:r>
              <a:rPr lang="en-US" sz="2000" dirty="0">
                <a:effectLst/>
                <a:latin typeface="fkGroteskNeue"/>
              </a:rPr>
              <a:t>")</a:t>
            </a:r>
          </a:p>
          <a:p>
            <a:pPr marL="0" indent="0" algn="l">
              <a:buNone/>
            </a:pPr>
            <a:r>
              <a:rPr lang="en-US" sz="2000" dirty="0" err="1">
                <a:effectLst/>
                <a:latin typeface="fkGroteskNeue"/>
              </a:rPr>
              <a:t>install.packages</a:t>
            </a:r>
            <a:r>
              <a:rPr lang="en-US" sz="2000" dirty="0">
                <a:effectLst/>
                <a:latin typeface="fkGroteskNeue"/>
              </a:rPr>
              <a:t>("</a:t>
            </a:r>
            <a:r>
              <a:rPr lang="en-US" sz="2000" dirty="0" err="1">
                <a:effectLst/>
                <a:latin typeface="fkGroteskNeue"/>
              </a:rPr>
              <a:t>STRINGdb</a:t>
            </a:r>
            <a:r>
              <a:rPr lang="en-US" sz="2000" dirty="0">
                <a:effectLst/>
                <a:latin typeface="fkGroteskNeue"/>
              </a:rPr>
              <a:t>")  # </a:t>
            </a:r>
            <a:r>
              <a:rPr lang="ru-RU" sz="2000" dirty="0">
                <a:effectLst/>
                <a:latin typeface="fkGroteskNeue"/>
              </a:rPr>
              <a:t>для </a:t>
            </a:r>
            <a:r>
              <a:rPr lang="en-US" sz="2000" dirty="0">
                <a:effectLst/>
                <a:latin typeface="fkGroteskNeue"/>
              </a:rPr>
              <a:t>protein interactions</a:t>
            </a:r>
            <a:endParaRPr lang="ru-RU" sz="2000" dirty="0">
              <a:effectLst/>
              <a:latin typeface="fkGroteskNeue"/>
            </a:endParaRPr>
          </a:p>
          <a:p>
            <a:pPr marL="0" indent="0" algn="l">
              <a:buNone/>
            </a:pPr>
            <a:endParaRPr lang="ru-RU" sz="2000" dirty="0">
              <a:effectLst/>
              <a:latin typeface="fkGroteskNeue"/>
            </a:endParaRPr>
          </a:p>
          <a:p>
            <a:pPr marL="0" indent="0" algn="l">
              <a:buNone/>
            </a:pPr>
            <a:endParaRPr lang="en-US" sz="2000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sz="2000" dirty="0">
                <a:effectLst/>
                <a:latin typeface="fkGroteskNeue"/>
              </a:rPr>
              <a:t>Визуализация:</a:t>
            </a:r>
          </a:p>
          <a:p>
            <a:pPr marL="0" indent="0" algn="l">
              <a:buNone/>
            </a:pPr>
            <a:r>
              <a:rPr lang="en-US" sz="2000" dirty="0" err="1">
                <a:effectLst/>
                <a:latin typeface="fkGroteskNeue"/>
              </a:rPr>
              <a:t>Cytoscape</a:t>
            </a:r>
            <a:r>
              <a:rPr lang="en-US" sz="2000" dirty="0">
                <a:effectLst/>
                <a:latin typeface="fkGroteskNeue"/>
              </a:rPr>
              <a:t>: cytoscape.org (</a:t>
            </a:r>
            <a:r>
              <a:rPr lang="ru-RU" sz="2000" dirty="0">
                <a:effectLst/>
                <a:latin typeface="fkGroteskNeue"/>
              </a:rPr>
              <a:t>бесплатно, мощно)</a:t>
            </a:r>
          </a:p>
          <a:p>
            <a:pPr marL="0" indent="0" algn="l">
              <a:buNone/>
            </a:pPr>
            <a:r>
              <a:rPr lang="en-US" sz="2000" dirty="0" err="1">
                <a:effectLst/>
                <a:latin typeface="fkGroteskNeue"/>
              </a:rPr>
              <a:t>ggraph</a:t>
            </a:r>
            <a:r>
              <a:rPr lang="en-US" sz="2000" dirty="0">
                <a:effectLst/>
                <a:latin typeface="fkGroteskNeue"/>
              </a:rPr>
              <a:t>: R </a:t>
            </a:r>
            <a:r>
              <a:rPr lang="ru-RU" sz="2000" dirty="0">
                <a:effectLst/>
                <a:latin typeface="fkGroteskNeue"/>
              </a:rPr>
              <a:t>пакет для красивых графов</a:t>
            </a:r>
          </a:p>
          <a:p>
            <a:pPr marL="0" indent="0" algn="l">
              <a:buNone/>
            </a:pPr>
            <a:r>
              <a:rPr lang="en-US" sz="2000" dirty="0">
                <a:effectLst/>
                <a:latin typeface="fkGroteskNeue"/>
              </a:rPr>
              <a:t>networkD3: </a:t>
            </a:r>
            <a:r>
              <a:rPr lang="ru-RU" sz="2000" dirty="0">
                <a:effectLst/>
                <a:latin typeface="fkGroteskNeue"/>
              </a:rPr>
              <a:t>интерактивные графы в браузере</a:t>
            </a:r>
          </a:p>
          <a:p>
            <a:pPr marL="0" indent="0" algn="l">
              <a:buNone/>
            </a:pPr>
            <a:endParaRPr lang="ru-RU" sz="2000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sz="2000" i="1" dirty="0" err="1">
                <a:effectLst/>
                <a:latin typeface="fkGroteskNeue"/>
              </a:rPr>
              <a:t>Датасеты</a:t>
            </a:r>
            <a:r>
              <a:rPr lang="ru-RU" sz="2000" i="1" dirty="0">
                <a:effectLst/>
                <a:latin typeface="fkGroteskNeue"/>
              </a:rPr>
              <a:t> для практики:</a:t>
            </a:r>
          </a:p>
          <a:p>
            <a:pPr marL="0" indent="0" algn="l">
              <a:buNone/>
            </a:pPr>
            <a:r>
              <a:rPr lang="en-US" sz="2000" dirty="0">
                <a:effectLst/>
                <a:latin typeface="fkGroteskNeue"/>
              </a:rPr>
              <a:t>GEO (Gene Expression Omnibus): https://www.ncbi.nlm.nih.gov/geo/</a:t>
            </a:r>
          </a:p>
          <a:p>
            <a:pPr marL="0" indent="0" algn="l">
              <a:buNone/>
            </a:pPr>
            <a:r>
              <a:rPr lang="en-US" sz="2000" dirty="0">
                <a:effectLst/>
                <a:latin typeface="fkGroteskNeue"/>
              </a:rPr>
              <a:t>TCGA: https://portal.gdc.cancer.gov/</a:t>
            </a:r>
          </a:p>
          <a:p>
            <a:pPr marL="0" indent="0" algn="l">
              <a:buNone/>
            </a:pPr>
            <a:r>
              <a:rPr lang="ru-RU" sz="2000" dirty="0">
                <a:effectLst/>
                <a:latin typeface="fkGroteskNeue"/>
              </a:rPr>
              <a:t>Реальные </a:t>
            </a:r>
            <a:r>
              <a:rPr lang="ru-RU" sz="2000" dirty="0" err="1">
                <a:effectLst/>
                <a:latin typeface="fkGroteskNeue"/>
              </a:rPr>
              <a:t>датасеты</a:t>
            </a:r>
            <a:r>
              <a:rPr lang="ru-RU" sz="2000" dirty="0">
                <a:effectLst/>
                <a:latin typeface="fkGroteskNeue"/>
              </a:rPr>
              <a:t> с публикациями (</a:t>
            </a:r>
            <a:r>
              <a:rPr lang="en-US" sz="2000" dirty="0">
                <a:effectLst/>
                <a:latin typeface="fkGroteskNeue"/>
              </a:rPr>
              <a:t>Google Scholar)</a:t>
            </a:r>
            <a:endParaRPr lang="ru-RU" sz="200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887045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MSShafigullin\Desktop\Проекты\Брендбук\Гайдлайн\Презентация\презентация шаблон КФУ-01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472"/>
          <a:stretch/>
        </p:blipFill>
        <p:spPr bwMode="auto">
          <a:xfrm>
            <a:off x="0" y="2381"/>
            <a:ext cx="12192000" cy="6855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C:\Users\MSShafigullin\Desktop\2020\Презентация КФУ\kfu_logo_circle_rus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03" y="548680"/>
            <a:ext cx="1536171" cy="149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898;g89d9307d70_13_164"/>
          <p:cNvSpPr txBox="1"/>
          <p:nvPr/>
        </p:nvSpPr>
        <p:spPr>
          <a:xfrm>
            <a:off x="3215680" y="2852936"/>
            <a:ext cx="6624736" cy="13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>
              <a:buClr>
                <a:srgbClr val="000000"/>
              </a:buClr>
              <a:buSzPts val="5867"/>
            </a:pP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Спасибо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</a:t>
            </a: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за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</a:t>
            </a: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внимание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!</a:t>
            </a:r>
            <a:endParaRPr sz="4800" b="1" dirty="0">
              <a:solidFill>
                <a:schemeClr val="bg1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09783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</TotalTime>
  <Words>6686</Words>
  <Application>Microsoft Office PowerPoint</Application>
  <PresentationFormat>Широкоэкранный</PresentationFormat>
  <Paragraphs>836</Paragraphs>
  <Slides>27</Slides>
  <Notes>27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8" baseType="lpstr">
      <vt:lpstr>Arial</vt:lpstr>
      <vt:lpstr>berkeleyMono</vt:lpstr>
      <vt:lpstr>Calibri</vt:lpstr>
      <vt:lpstr>Calibri Light</vt:lpstr>
      <vt:lpstr>Cambria Math</vt:lpstr>
      <vt:lpstr>fkGroteskNeue</vt:lpstr>
      <vt:lpstr>inherit</vt:lpstr>
      <vt:lpstr>pplxSerif</vt:lpstr>
      <vt:lpstr>PT Sans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Альт</dc:creator>
  <cp:lastModifiedBy>Рамиля Власенкова</cp:lastModifiedBy>
  <cp:revision>57</cp:revision>
  <dcterms:created xsi:type="dcterms:W3CDTF">2025-09-03T07:14:40Z</dcterms:created>
  <dcterms:modified xsi:type="dcterms:W3CDTF">2026-02-19T09:22:47Z</dcterms:modified>
</cp:coreProperties>
</file>