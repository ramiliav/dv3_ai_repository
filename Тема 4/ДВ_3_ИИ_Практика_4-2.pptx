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88" r:id="rId5"/>
    <p:sldId id="268" r:id="rId6"/>
    <p:sldId id="270" r:id="rId7"/>
    <p:sldId id="27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87" r:id="rId19"/>
    <p:sldId id="299" r:id="rId20"/>
    <p:sldId id="300" r:id="rId21"/>
    <p:sldId id="26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989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47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31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1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037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564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16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440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328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290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236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584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468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56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6611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mjMuEsUR_BetrA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2. Сетевой анализ и комплексная интерпретация биологических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Цель</a:t>
            </a:r>
            <a:r>
              <a:rPr lang="ru-RU" sz="2400" dirty="0"/>
              <a:t>: освоить полный </a:t>
            </a:r>
            <a:r>
              <a:rPr lang="ru-RU" sz="2400" dirty="0" err="1"/>
              <a:t>пайплайн</a:t>
            </a:r>
            <a:r>
              <a:rPr lang="ru-RU" sz="2400" dirty="0"/>
              <a:t> построения сети WGCNA.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b="1" dirty="0"/>
              <a:t>Задачи</a:t>
            </a:r>
            <a:r>
              <a:rPr lang="ru-RU" sz="2400" dirty="0"/>
              <a:t>:</a:t>
            </a:r>
          </a:p>
          <a:p>
            <a:pPr algn="just"/>
            <a:r>
              <a:rPr lang="ru-RU" sz="2400" dirty="0"/>
              <a:t>Построить взвешенную сеть совместной экспрессии</a:t>
            </a:r>
          </a:p>
          <a:p>
            <a:pPr algn="just"/>
            <a:r>
              <a:rPr lang="ru-RU" sz="2400" dirty="0"/>
              <a:t>Выделить модули генов методом WGCNA</a:t>
            </a:r>
          </a:p>
          <a:p>
            <a:pPr algn="just"/>
            <a:r>
              <a:rPr lang="ru-RU" sz="2400" dirty="0"/>
              <a:t>Оценить связь модулей с подтипами рака молочной железы</a:t>
            </a:r>
          </a:p>
          <a:p>
            <a:pPr algn="just"/>
            <a:r>
              <a:rPr lang="ru-RU" sz="2400" dirty="0"/>
              <a:t>Идентифицировать </a:t>
            </a:r>
            <a:r>
              <a:rPr lang="ru-RU" sz="2400" dirty="0" err="1"/>
              <a:t>hub</a:t>
            </a:r>
            <a:r>
              <a:rPr lang="ru-RU" sz="2400" dirty="0"/>
              <a:t>-гены через </a:t>
            </a:r>
            <a:r>
              <a:rPr lang="ru-RU" sz="2400" dirty="0" err="1"/>
              <a:t>kME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GSE45827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Источник: GEO (NCBI), платформа </a:t>
            </a:r>
            <a:r>
              <a:rPr lang="ru-RU" sz="2400" dirty="0" err="1"/>
              <a:t>Affymetrix</a:t>
            </a:r>
            <a:r>
              <a:rPr lang="ru-RU" sz="2400" dirty="0"/>
              <a:t> HG-U133 Plus 2.0</a:t>
            </a:r>
          </a:p>
          <a:p>
            <a:pPr marL="0" indent="0" algn="just">
              <a:buNone/>
            </a:pPr>
            <a:r>
              <a:rPr lang="ru-RU" sz="2400" dirty="0"/>
              <a:t>Состав:</a:t>
            </a:r>
          </a:p>
          <a:p>
            <a:pPr algn="just"/>
            <a:r>
              <a:rPr lang="ru-RU" sz="2400" dirty="0"/>
              <a:t>Более 150 образец тканей молочной железы</a:t>
            </a:r>
          </a:p>
          <a:p>
            <a:pPr algn="just"/>
            <a:r>
              <a:rPr lang="ru-RU" sz="2400" dirty="0"/>
              <a:t>Около 30000 зондов (</a:t>
            </a:r>
            <a:r>
              <a:rPr lang="ru-RU" sz="2400" dirty="0" err="1"/>
              <a:t>пробсетов</a:t>
            </a:r>
            <a:r>
              <a:rPr lang="ru-RU" sz="2400" dirty="0"/>
              <a:t>)</a:t>
            </a:r>
          </a:p>
          <a:p>
            <a:pPr algn="just"/>
            <a:r>
              <a:rPr lang="ru-RU" sz="2400" dirty="0"/>
              <a:t>6 групп: </a:t>
            </a:r>
            <a:r>
              <a:rPr lang="ru-RU" sz="2400" dirty="0" err="1"/>
              <a:t>Luminal</a:t>
            </a:r>
            <a:r>
              <a:rPr lang="ru-RU" sz="2400" dirty="0"/>
              <a:t> A (29), </a:t>
            </a:r>
            <a:r>
              <a:rPr lang="ru-RU" sz="2400" dirty="0" err="1"/>
              <a:t>Luminal</a:t>
            </a:r>
            <a:r>
              <a:rPr lang="ru-RU" sz="2400" dirty="0"/>
              <a:t> B (30), HER2+ (30), TNBC (41), норма (11), клеточные линии (14)</a:t>
            </a:r>
          </a:p>
          <a:p>
            <a:pPr marL="0" indent="0" algn="just">
              <a:buNone/>
            </a:pPr>
            <a:r>
              <a:rPr lang="ru-RU" sz="2400" dirty="0"/>
              <a:t>Задача классификации: предсказание молекулярного подтипа (</a:t>
            </a:r>
            <a:r>
              <a:rPr lang="ru-RU" sz="2400" dirty="0" err="1"/>
              <a:t>Luminal</a:t>
            </a:r>
            <a:r>
              <a:rPr lang="ru-RU" sz="2400" dirty="0"/>
              <a:t> A / B, HER2+, TNBC, норма) по профилю экспрессии генов.</a:t>
            </a:r>
          </a:p>
          <a:p>
            <a:pPr marL="0" indent="0" algn="just">
              <a:buNone/>
            </a:pPr>
            <a:r>
              <a:rPr lang="ru-RU" sz="2400" dirty="0"/>
              <a:t>Клиническая значимость: молекулярные подтипы определяют тактику лечения и прогноз; TNBC — наиболее агрессивный подтип без </a:t>
            </a:r>
            <a:r>
              <a:rPr lang="ru-RU" sz="2400" dirty="0" err="1"/>
              <a:t>таргетной</a:t>
            </a:r>
            <a:r>
              <a:rPr lang="ru-RU" sz="2400" dirty="0"/>
              <a:t> терапии.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Исходные данные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Исходные данные из Практики 1</a:t>
            </a:r>
          </a:p>
          <a:p>
            <a:pPr algn="just"/>
            <a:r>
              <a:rPr lang="en-US" sz="2400" dirty="0" err="1"/>
              <a:t>datExpr</a:t>
            </a:r>
            <a:r>
              <a:rPr lang="en-US" sz="2400" dirty="0"/>
              <a:t> — </a:t>
            </a:r>
            <a:r>
              <a:rPr lang="ru-RU" sz="2400" dirty="0"/>
              <a:t>матрица 137 × 5000 (образцы × гены)</a:t>
            </a:r>
          </a:p>
          <a:p>
            <a:pPr algn="just"/>
            <a:r>
              <a:rPr lang="en-US" sz="2400" dirty="0"/>
              <a:t>subtype — </a:t>
            </a:r>
            <a:r>
              <a:rPr lang="ru-RU" sz="2400" dirty="0"/>
              <a:t>вектор подтипов </a:t>
            </a:r>
            <a:r>
              <a:rPr lang="en-US" sz="2400" dirty="0"/>
              <a:t>BC (TNBC, HER2+, </a:t>
            </a:r>
            <a:r>
              <a:rPr lang="en-US" sz="2400" dirty="0" err="1"/>
              <a:t>LumA</a:t>
            </a:r>
            <a:r>
              <a:rPr lang="en-US" sz="2400" dirty="0"/>
              <a:t>, </a:t>
            </a:r>
            <a:r>
              <a:rPr lang="en-US" sz="2400" dirty="0" err="1"/>
              <a:t>LumB</a:t>
            </a:r>
            <a:r>
              <a:rPr lang="en-US" sz="2400" dirty="0"/>
              <a:t>, </a:t>
            </a:r>
            <a:r>
              <a:rPr lang="ru-RU" sz="2400" dirty="0"/>
              <a:t>норма)</a:t>
            </a:r>
          </a:p>
          <a:p>
            <a:pPr algn="just"/>
            <a:r>
              <a:rPr lang="en-US" sz="2400" dirty="0" err="1"/>
              <a:t>softPower</a:t>
            </a:r>
            <a:r>
              <a:rPr lang="en-US" sz="2400" dirty="0"/>
              <a:t> — </a:t>
            </a:r>
            <a:r>
              <a:rPr lang="ru-RU" sz="2400" dirty="0"/>
              <a:t>выбранный параметр масштабирования</a:t>
            </a:r>
          </a:p>
          <a:p>
            <a:pPr marL="0" indent="0" algn="just">
              <a:buNone/>
            </a:pP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Файл: </a:t>
            </a:r>
            <a:r>
              <a:rPr lang="en-US" sz="2400" dirty="0"/>
              <a:t>GSE45827_prepared.RData</a:t>
            </a:r>
          </a:p>
        </p:txBody>
      </p:sp>
    </p:spTree>
    <p:extLst>
      <p:ext uri="{BB962C8B-B14F-4D97-AF65-F5344CB8AC3E}">
        <p14:creationId xmlns:p14="http://schemas.microsoft.com/office/powerpoint/2010/main" val="157986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https://disk.yandex.ru/d/mjMuEsUR_BetrA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Структура </a:t>
              </a:r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пайплайна</a:t>
              </a:r>
              <a:endParaRPr lang="ru-RU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Загрузка данных из Практики 1 (</a:t>
            </a:r>
            <a:r>
              <a:rPr lang="en-US" sz="2400" dirty="0" err="1">
                <a:effectLst/>
                <a:ea typeface="Cambria Math" panose="02040503050406030204" pitchFamily="18" charset="0"/>
              </a:rPr>
              <a:t>datExpr</a:t>
            </a:r>
            <a:r>
              <a:rPr lang="en-US" sz="2400" dirty="0">
                <a:effectLst/>
                <a:ea typeface="Cambria Math" panose="02040503050406030204" pitchFamily="18" charset="0"/>
              </a:rPr>
              <a:t>, subtype, </a:t>
            </a:r>
            <a:r>
              <a:rPr lang="en-US" sz="2400" dirty="0" err="1">
                <a:effectLst/>
                <a:ea typeface="Cambria Math" panose="02040503050406030204" pitchFamily="18" charset="0"/>
              </a:rPr>
              <a:t>softPower</a:t>
            </a:r>
            <a:r>
              <a:rPr lang="en-US" sz="2400" dirty="0">
                <a:effectLst/>
                <a:ea typeface="Cambria Math" panose="02040503050406030204" pitchFamily="18" charset="0"/>
              </a:rPr>
              <a:t>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Запуск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blockwiseModules —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построение модулей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Дендрограмма и таблица модулей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Расчёт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Module Eigengenes (ME)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Связь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ME </a:t>
            </a:r>
            <a:r>
              <a:rPr lang="ru-RU" sz="2400" dirty="0">
                <a:effectLst/>
                <a:ea typeface="Cambria Math" panose="02040503050406030204" pitchFamily="18" charset="0"/>
              </a:rPr>
              <a:t>с подтипами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BC (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корреляция,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heatmap)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Расчёт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kME (module membership)</a:t>
            </a:r>
          </a:p>
          <a:p>
            <a:pPr marL="571500" indent="-342900"/>
            <a:r>
              <a:rPr lang="ru-RU" sz="2400" dirty="0">
                <a:effectLst/>
                <a:ea typeface="Cambria Math" panose="02040503050406030204" pitchFamily="18" charset="0"/>
              </a:rPr>
              <a:t>Отбор топ-20 </a:t>
            </a:r>
            <a:r>
              <a:rPr lang="en-US" sz="24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400" dirty="0">
                <a:effectLst/>
                <a:ea typeface="Cambria Math" panose="02040503050406030204" pitchFamily="18" charset="0"/>
              </a:rPr>
              <a:t>генов и сохранение</a:t>
            </a:r>
            <a:endParaRPr lang="en-US" sz="24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blockwiseModules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bwnet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blockwiseModules(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power =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softPower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networkType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"signed",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minModuleSize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30,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mergeCutHeight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0.25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ru-RU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Время выполнения: 5–15 минут!</a:t>
            </a:r>
          </a:p>
        </p:txBody>
      </p:sp>
    </p:spTree>
    <p:extLst>
      <p:ext uri="{BB962C8B-B14F-4D97-AF65-F5344CB8AC3E}">
        <p14:creationId xmlns:p14="http://schemas.microsoft.com/office/powerpoint/2010/main" val="1856121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Что делает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blockwiseModules?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b="1" dirty="0">
                <a:effectLst/>
                <a:ea typeface="Cambria Math" panose="02040503050406030204" pitchFamily="18" charset="0"/>
              </a:rPr>
              <a:t>Алгоритм </a:t>
            </a:r>
            <a:r>
              <a:rPr lang="en-US" sz="2000" b="1" dirty="0">
                <a:effectLst/>
                <a:ea typeface="Cambria Math" panose="02040503050406030204" pitchFamily="18" charset="0"/>
              </a:rPr>
              <a:t>WGCNA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Вычисляет матрицу корреляций между генами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Возводит корреляции в степень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power (soft-thresholding)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>
                <a:effectLst/>
                <a:ea typeface="Cambria Math" panose="02040503050406030204" pitchFamily="18" charset="0"/>
              </a:rPr>
              <a:t>Строит матрицу топологического перекрытия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TOM)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Кластеризует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гены методом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average linkage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Разрезает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дендрограмму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на модули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dynamical tree cutting)</a:t>
            </a:r>
          </a:p>
          <a:p>
            <a:pPr marL="685800" indent="-457200">
              <a:buFont typeface="+mj-lt"/>
              <a:buAutoNum type="arabicPeriod"/>
            </a:pPr>
            <a:r>
              <a:rPr lang="ru-RU" sz="2000" dirty="0">
                <a:effectLst/>
                <a:ea typeface="Cambria Math" panose="02040503050406030204" pitchFamily="18" charset="0"/>
              </a:rPr>
              <a:t>Объединяет близкие модули по схожести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eigengenes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86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Таблица модулей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table(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bwnet$colors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смотрим: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Число модулей (каждому модулю присвоен цвет)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Размер каждого модуля (число генов)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Модуль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grey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— гены, не вошедшие ни в один модуль (исключаем)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Выбираем крупнейший модуль для дальнейшей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219609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Дендрограмма модулей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Визуализация модулей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plotDendroAndColors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bwnet$dendrograms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[[1]],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module_colors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"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Модули"</a:t>
            </a:r>
          </a:p>
          <a:p>
            <a:pPr indent="0" algn="l">
              <a:buNone/>
            </a:pP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US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Что видим: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Иерархическую кластеризацию генов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Раскраску ветвей по модулям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Визуальную проверку качества разделения</a:t>
            </a:r>
          </a:p>
        </p:txBody>
      </p:sp>
    </p:spTree>
    <p:extLst>
      <p:ext uri="{BB962C8B-B14F-4D97-AF65-F5344CB8AC3E}">
        <p14:creationId xmlns:p14="http://schemas.microsoft.com/office/powerpoint/2010/main" val="230794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Module Eigengenes (ME)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Расчёт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Module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Eigengenes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Module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Eigengene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— первая главная компонента экспрессии генов модуля, сводная характеристика активности модуля в каждом образце</a:t>
            </a:r>
            <a:r>
              <a:rPr lang="en-US" sz="2000" dirty="0">
                <a:ea typeface="Cambria Math" panose="02040503050406030204" pitchFamily="18" charset="0"/>
              </a:rPr>
              <a:t>.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MEs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moduleEigengenes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module_colors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Зачем нужны ME: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Сжатие информации: 500 генов → 1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eigengene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Корреляция с клиническими признаками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Основа для расчёта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kME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33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ME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 подтипами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Корреляция модулей с подтипами BC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Вычисляем корреляцию каждого ME с переменной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subtype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cor_ME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cor(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MEs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subtype_num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pval_ME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corPvalueStudent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cor_ME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nrow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fr-FR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MEs</a:t>
            </a:r>
            <a:r>
              <a:rPr lang="fr-FR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Результат: таблица модулей с r и p-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value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Модули с p &lt; 0.05 — значимо связаны с молекулярным подтипом</a:t>
            </a:r>
          </a:p>
        </p:txBody>
      </p:sp>
    </p:spTree>
    <p:extLst>
      <p:ext uri="{BB962C8B-B14F-4D97-AF65-F5344CB8AC3E}">
        <p14:creationId xmlns:p14="http://schemas.microsoft.com/office/powerpoint/2010/main" val="1027411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Heatmap ME ×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подтип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Визуализация связи модулей и подтипов</a:t>
            </a: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Heatmap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средних значений ME по каждому подтипу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Красный — модуль активен в данном подтипе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Синий — модуль подавлен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Белый — нейтральная активность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306827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Выбор целевого модуля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Определение целевого модуля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Выбираем модуль с наименьшим p-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value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по связи с подтипом (исключая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grey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Критерии выбора: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Статистическая значимость (p &lt; 0.05)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Биологическая осмысленность (корреляция с фенотипом)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Достаточный размер модуля (≥30 генов)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Этот модуль используем для выделения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-генов</a:t>
            </a:r>
          </a:p>
        </p:txBody>
      </p:sp>
    </p:spTree>
    <p:extLst>
      <p:ext uri="{BB962C8B-B14F-4D97-AF65-F5344CB8AC3E}">
        <p14:creationId xmlns:p14="http://schemas.microsoft.com/office/powerpoint/2010/main" val="30132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Расчёт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kME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Module membership (kME)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kME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корреляция экспрессии гена с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module eigengene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своего модуля</a:t>
            </a:r>
          </a:p>
          <a:p>
            <a:pPr indent="0" algn="l">
              <a:buNone/>
            </a:pP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kME &lt;-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signedKME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datExpr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MEs)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kME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близко к 1 → ген — типичный представитель модуля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kME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близко к 0 → ген слабо связан с модулем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Hub-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гены — гены с наибольшими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kME</a:t>
            </a:r>
            <a:endParaRPr lang="ru-RU" sz="2000" dirty="0">
              <a:effectLst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30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Топ-20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hub-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генов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Отбор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-генов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Сортируем гены целевого модуля по убыванию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kME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, берём топ-20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hub_genes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head(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kME_target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20)</a:t>
            </a:r>
          </a:p>
          <a:p>
            <a:pPr indent="0" algn="l">
              <a:buNone/>
            </a:pP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write.csv(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hub_genes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"hub_genes_GSE45827.csv")</a:t>
            </a:r>
            <a:endParaRPr lang="ru-RU" sz="2000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-гены: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Центральные узлы модуля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Потенциальные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биомаркеры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Кандидаты для функционального обогащения</a:t>
            </a:r>
          </a:p>
        </p:txBody>
      </p:sp>
    </p:spTree>
    <p:extLst>
      <p:ext uri="{BB962C8B-B14F-4D97-AF65-F5344CB8AC3E}">
        <p14:creationId xmlns:p14="http://schemas.microsoft.com/office/powerpoint/2010/main" val="5718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hub-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генов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 err="1">
                <a:effectLst/>
                <a:ea typeface="Cambria Math" panose="02040503050406030204" pitchFamily="18" charset="0"/>
              </a:rPr>
              <a:t>Barplot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топ-20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-генов</a:t>
            </a:r>
          </a:p>
          <a:p>
            <a:pPr indent="0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График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kME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для визуальной оценки: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Насколько сильна связь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-генов с модулем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Есть ли резкий обрыв после топ-10/топ-15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Все ли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hub</a:t>
            </a:r>
            <a:r>
              <a:rPr lang="ru-RU" sz="2000" dirty="0">
                <a:effectLst/>
                <a:ea typeface="Cambria Math" panose="02040503050406030204" pitchFamily="18" charset="0"/>
              </a:rPr>
              <a:t>-гены имеют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kME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&gt; 0.7</a:t>
            </a:r>
          </a:p>
        </p:txBody>
      </p:sp>
    </p:spTree>
    <p:extLst>
      <p:ext uri="{BB962C8B-B14F-4D97-AF65-F5344CB8AC3E}">
        <p14:creationId xmlns:p14="http://schemas.microsoft.com/office/powerpoint/2010/main" val="2755635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7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Практика 2 напрямую реализует требования Задания 7: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Построение модулей WGCNA — этап 2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Расчёт </a:t>
            </a:r>
            <a:r>
              <a:rPr lang="ru-RU" sz="2400" dirty="0" err="1">
                <a:ea typeface="Cambria Math" panose="02040503050406030204" pitchFamily="18" charset="0"/>
              </a:rPr>
              <a:t>kME</a:t>
            </a:r>
            <a:r>
              <a:rPr lang="ru-RU" sz="2400" dirty="0">
                <a:ea typeface="Cambria Math" panose="02040503050406030204" pitchFamily="18" charset="0"/>
              </a:rPr>
              <a:t> — этап 6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Выделение топ </a:t>
            </a: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-генов — этап 7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Сохранение списка </a:t>
            </a: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-генов в CSV</a:t>
            </a:r>
          </a:p>
        </p:txBody>
      </p:sp>
    </p:spTree>
    <p:extLst>
      <p:ext uri="{BB962C8B-B14F-4D97-AF65-F5344CB8AC3E}">
        <p14:creationId xmlns:p14="http://schemas.microsoft.com/office/powerpoint/2010/main" val="4089907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Потенциальные сложности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Потенциальные сложности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 err="1">
                <a:ea typeface="Cambria Math" panose="02040503050406030204" pitchFamily="18" charset="0"/>
              </a:rPr>
              <a:t>blockwiseModules</a:t>
            </a:r>
            <a:r>
              <a:rPr lang="ru-RU" sz="2400" dirty="0">
                <a:ea typeface="Cambria Math" panose="02040503050406030204" pitchFamily="18" charset="0"/>
              </a:rPr>
              <a:t> требует 5–15 минут — запаситесь терпением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Если модулей получилось мало (2–3) — снизить </a:t>
            </a:r>
            <a:r>
              <a:rPr lang="ru-RU" sz="2400" dirty="0" err="1">
                <a:ea typeface="Cambria Math" panose="02040503050406030204" pitchFamily="18" charset="0"/>
              </a:rPr>
              <a:t>mergeCutHeight</a:t>
            </a:r>
            <a:r>
              <a:rPr lang="ru-RU" sz="2400" dirty="0">
                <a:ea typeface="Cambria Math" panose="02040503050406030204" pitchFamily="18" charset="0"/>
              </a:rPr>
              <a:t> до 0.15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Если все </a:t>
            </a:r>
            <a:r>
              <a:rPr lang="ru-RU" sz="2400" dirty="0" err="1">
                <a:ea typeface="Cambria Math" panose="02040503050406030204" pitchFamily="18" charset="0"/>
              </a:rPr>
              <a:t>kME</a:t>
            </a:r>
            <a:r>
              <a:rPr lang="ru-RU" sz="2400" dirty="0">
                <a:ea typeface="Cambria Math" panose="02040503050406030204" pitchFamily="18" charset="0"/>
              </a:rPr>
              <a:t> &lt; 0.7 — пересмотреть выбор </a:t>
            </a:r>
            <a:r>
              <a:rPr lang="ru-RU" sz="2400" dirty="0" err="1">
                <a:ea typeface="Cambria Math" panose="02040503050406030204" pitchFamily="18" charset="0"/>
              </a:rPr>
              <a:t>softPower</a:t>
            </a:r>
            <a:r>
              <a:rPr lang="ru-RU" sz="2400" dirty="0">
                <a:ea typeface="Cambria Math" panose="02040503050406030204" pitchFamily="18" charset="0"/>
              </a:rPr>
              <a:t> из Практики 1</a:t>
            </a:r>
          </a:p>
        </p:txBody>
      </p:sp>
    </p:spTree>
    <p:extLst>
      <p:ext uri="{BB962C8B-B14F-4D97-AF65-F5344CB8AC3E}">
        <p14:creationId xmlns:p14="http://schemas.microsoft.com/office/powerpoint/2010/main" val="3697937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Итоги практики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Построено N модулей генов (без </a:t>
            </a:r>
            <a:r>
              <a:rPr lang="ru-RU" sz="2400" dirty="0" err="1">
                <a:ea typeface="Cambria Math" panose="02040503050406030204" pitchFamily="18" charset="0"/>
              </a:rPr>
              <a:t>grey</a:t>
            </a:r>
            <a:r>
              <a:rPr lang="ru-RU" sz="2400" dirty="0">
                <a:ea typeface="Cambria Math" panose="02040503050406030204" pitchFamily="18" charset="0"/>
              </a:rPr>
              <a:t>)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Выделен целевой модуль с наибольшей связью с подтипами BC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Идентифицировано 20 </a:t>
            </a:r>
            <a:r>
              <a:rPr lang="ru-RU" sz="2400" dirty="0" err="1">
                <a:ea typeface="Cambria Math" panose="02040503050406030204" pitchFamily="18" charset="0"/>
              </a:rPr>
              <a:t>hub</a:t>
            </a:r>
            <a:r>
              <a:rPr lang="ru-RU" sz="2400" dirty="0">
                <a:ea typeface="Cambria Math" panose="02040503050406030204" pitchFamily="18" charset="0"/>
              </a:rPr>
              <a:t>-генов</a:t>
            </a:r>
          </a:p>
          <a:p>
            <a:pPr algn="just"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Готовы данные для функционального обогащения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Следующий шаг: </a:t>
            </a:r>
            <a:r>
              <a:rPr lang="ru-RU" sz="2400" i="1" dirty="0">
                <a:ea typeface="Cambria Math" panose="02040503050406030204" pitchFamily="18" charset="0"/>
              </a:rPr>
              <a:t>Практика 3 — GO/KEGG обогащение + классификатор</a:t>
            </a:r>
          </a:p>
        </p:txBody>
      </p:sp>
    </p:spTree>
    <p:extLst>
      <p:ext uri="{BB962C8B-B14F-4D97-AF65-F5344CB8AC3E}">
        <p14:creationId xmlns:p14="http://schemas.microsoft.com/office/powerpoint/2010/main" val="1888659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1040</Words>
  <Application>Microsoft Office PowerPoint</Application>
  <PresentationFormat>Широкоэкранный</PresentationFormat>
  <Paragraphs>273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99</cp:revision>
  <dcterms:created xsi:type="dcterms:W3CDTF">2025-09-03T07:14:40Z</dcterms:created>
  <dcterms:modified xsi:type="dcterms:W3CDTF">2026-03-25T11:53:34Z</dcterms:modified>
</cp:coreProperties>
</file>