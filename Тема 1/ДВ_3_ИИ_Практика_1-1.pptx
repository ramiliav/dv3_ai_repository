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9" r:id="rId11"/>
    <p:sldId id="274" r:id="rId12"/>
    <p:sldId id="275" r:id="rId13"/>
    <p:sldId id="277" r:id="rId14"/>
    <p:sldId id="276" r:id="rId15"/>
    <p:sldId id="278" r:id="rId16"/>
    <p:sldId id="266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18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280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743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655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701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647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746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65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24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419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IRoN9lrVxrVJlQ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1. Основы построения моделей машинного обучения для биомедицинских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Логистическая регрессия: пример на диабете</a:t>
            </a:r>
          </a:p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Освоить метод логистической регрессии</a:t>
            </a:r>
          </a:p>
          <a:p>
            <a:pPr algn="just"/>
            <a:r>
              <a:rPr lang="ru-RU" sz="2400" dirty="0"/>
              <a:t>Научиться загружать и чистить </a:t>
            </a:r>
            <a:r>
              <a:rPr lang="ru-RU" sz="2400" dirty="0" err="1"/>
              <a:t>датасет</a:t>
            </a:r>
            <a:endParaRPr lang="ru-RU" sz="2400" dirty="0"/>
          </a:p>
          <a:p>
            <a:pPr algn="just"/>
            <a:r>
              <a:rPr lang="ru-RU" sz="2400" dirty="0"/>
              <a:t>Построить модель, посчитать базовые метрики и ROC‑кривую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Pima Indians Diabetes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</a:t>
            </a:r>
            <a:r>
              <a:rPr lang="en-US" sz="2400" dirty="0"/>
              <a:t>Pima Indians Diabetes (UCI / </a:t>
            </a:r>
            <a:r>
              <a:rPr lang="en-US" sz="2400" dirty="0" err="1"/>
              <a:t>mlbench</a:t>
            </a:r>
            <a:r>
              <a:rPr lang="en-US" sz="2400" dirty="0"/>
              <a:t>).</a:t>
            </a:r>
          </a:p>
          <a:p>
            <a:pPr algn="just"/>
            <a:r>
              <a:rPr lang="ru-RU" sz="2400" dirty="0"/>
              <a:t>Описание:</a:t>
            </a:r>
          </a:p>
          <a:p>
            <a:pPr lvl="1" algn="just"/>
            <a:r>
              <a:rPr lang="ru-RU" sz="2000" dirty="0"/>
              <a:t>пациентки пима-индейцы ≥21 года;</a:t>
            </a:r>
          </a:p>
          <a:p>
            <a:pPr lvl="1" algn="just"/>
            <a:r>
              <a:rPr lang="ru-RU" sz="2000" dirty="0"/>
              <a:t>признаки: число беременностей, глюкоза, артериальное давление, </a:t>
            </a:r>
            <a:r>
              <a:rPr lang="en-US" sz="2000" dirty="0"/>
              <a:t>BMI </a:t>
            </a:r>
            <a:r>
              <a:rPr lang="ru-RU" sz="2000" dirty="0"/>
              <a:t>и др.;</a:t>
            </a:r>
          </a:p>
          <a:p>
            <a:pPr lvl="1" algn="just"/>
            <a:r>
              <a:rPr lang="ru-RU" sz="2000" dirty="0"/>
              <a:t>целевая переменная: наличие диабета (</a:t>
            </a:r>
            <a:r>
              <a:rPr lang="en-US" sz="2000" dirty="0"/>
              <a:t>diabetes: neg/pos).</a:t>
            </a:r>
          </a:p>
          <a:p>
            <a:pPr algn="just"/>
            <a:r>
              <a:rPr lang="ru-RU" sz="2400" dirty="0"/>
              <a:t>В </a:t>
            </a:r>
            <a:r>
              <a:rPr lang="en-US" sz="2400" dirty="0"/>
              <a:t>R: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::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https://disk.yandex.ru/d/IRoN9lrVxrVJlQ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Что будем делать пошагово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Загрузить </a:t>
            </a:r>
            <a:r>
              <a:rPr lang="en-US" sz="2400" dirty="0" err="1"/>
              <a:t>PimaIndiansDiabetes</a:t>
            </a:r>
            <a:r>
              <a:rPr lang="en-US" sz="2400" dirty="0"/>
              <a:t> </a:t>
            </a:r>
            <a:r>
              <a:rPr lang="ru-RU" sz="2400" dirty="0"/>
              <a:t>и посмотреть структуру.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Мини‑</a:t>
            </a:r>
            <a:r>
              <a:rPr lang="ru-RU" sz="2400" dirty="0" err="1"/>
              <a:t>препроцессинг</a:t>
            </a:r>
            <a:r>
              <a:rPr lang="ru-RU" sz="2400" dirty="0"/>
              <a:t>: очистка, перевод класса в 0/1.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Разделить на </a:t>
            </a:r>
            <a:r>
              <a:rPr lang="en-US" sz="2400" dirty="0"/>
              <a:t>train/test (70/30, </a:t>
            </a:r>
            <a:r>
              <a:rPr lang="en-US" sz="2400" dirty="0" err="1"/>
              <a:t>set.seed</a:t>
            </a:r>
            <a:r>
              <a:rPr lang="en-US" sz="2400" dirty="0"/>
              <a:t>(123)).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Обучить логистическую регрессию.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Рассчитать </a:t>
            </a:r>
            <a:r>
              <a:rPr lang="en-US" sz="2400" dirty="0"/>
              <a:t>Accuracy, Sensitivity, Specificity.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Построить </a:t>
            </a:r>
            <a:r>
              <a:rPr lang="en-US" sz="2400" dirty="0"/>
              <a:t>ROC‑</a:t>
            </a:r>
            <a:r>
              <a:rPr lang="ru-RU" sz="2400" dirty="0"/>
              <a:t>кривую и вычислить </a:t>
            </a:r>
            <a:r>
              <a:rPr lang="en-US" sz="2400" dirty="0"/>
              <a:t>AUC.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Поиграть порогом классификации (0.3, 0.5, 0.7).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47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Загрузка и первичный осмотр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data(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dim(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str(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Препроцессинг данных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filter(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complete.cases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(.))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mutate(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diabetes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(diabetes == "pos", 1, 0)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875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Train / Test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разделение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n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sample(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seq_len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(n), size = floor(0.7 * n))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train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test 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[-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589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Логистическая регрессия: обучение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glm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diabetes ~ .,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  = train,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family = binomial(link = "logit")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summary(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0E5B9C-CBE1-4F50-B0DC-3E9644801F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741" y="1223234"/>
            <a:ext cx="6269300" cy="500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0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Логистическая регрессия: обучение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glm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diabetes ~ .,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  = train,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family = binomial(link = "logit")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summary(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6DCBDD-7CB6-4474-A4C5-E079A3360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610" y="1223233"/>
            <a:ext cx="6741698" cy="49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3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" descr="Picture background">
            <a:extLst>
              <a:ext uri="{FF2B5EF4-FFF2-40B4-BE49-F238E27FC236}">
                <a16:creationId xmlns:a16="http://schemas.microsoft.com/office/drawing/2014/main" id="{46514109-9508-49DD-BFCB-4CAE61C4D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820" y="2799025"/>
            <a:ext cx="7692486" cy="346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Прогноз и базовые метрики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test, type = "response")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&gt;= 0.5, 1, 0)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cm &lt;- table(pred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true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cm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AEC68D-884F-4AD6-9EC7-E451663C36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516" y="3597283"/>
            <a:ext cx="3944867" cy="223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19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A5BAA6-040F-4872-A2AF-0F6F98955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309" y="1327582"/>
            <a:ext cx="6400243" cy="4690255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ROC‑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кривая и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AUC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roc_obj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roc_obj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roc_obj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col = "blue",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abline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(a = 0, b = 1,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lty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col = "gray")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69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Влияние порога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0.3, 0.5, 0.7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BFD13A1-FBFB-4836-9CD2-18B2D9B9B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384640"/>
              </p:ext>
            </p:extLst>
          </p:nvPr>
        </p:nvGraphicFramePr>
        <p:xfrm>
          <a:off x="753316" y="2011714"/>
          <a:ext cx="10515600" cy="1745001"/>
        </p:xfrm>
        <a:graphic>
          <a:graphicData uri="http://schemas.openxmlformats.org/drawingml/2006/table">
            <a:tbl>
              <a:tblPr firstRow="1" firstCol="1">
                <a:tableStyleId>{74C1A8A3-306A-4EB7-A6B1-4F7E0EB9C5D6}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642752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26206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21274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4996590"/>
                    </a:ext>
                  </a:extLst>
                </a:gridCol>
              </a:tblGrid>
              <a:tr h="250179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Calibri (Основной текст)"/>
                        </a:rPr>
                        <a:t>threshold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Calibri (Основной текст)"/>
                        </a:rPr>
                        <a:t>Accuracy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Calibri (Основной текст)"/>
                        </a:rPr>
                        <a:t>Sensitivity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Calibri (Основной текст)"/>
                        </a:rPr>
                        <a:t>Specificity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41857282"/>
                  </a:ext>
                </a:extLst>
              </a:tr>
              <a:tr h="439427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</a:t>
                      </a:r>
                      <a:r>
                        <a:rPr lang="en-US" dirty="0">
                          <a:effectLst/>
                          <a:latin typeface="Calibri (Основной текст)"/>
                        </a:rPr>
                        <a:t>,3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0.714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0.753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0.693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25684848"/>
                  </a:ext>
                </a:extLst>
              </a:tr>
              <a:tr h="43942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Calibri (Основной текст)"/>
                        </a:rPr>
                        <a:t>0,5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0.792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0.556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0.92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16930649"/>
                  </a:ext>
                </a:extLst>
              </a:tr>
              <a:tr h="43942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Calibri (Основной текст)"/>
                        </a:rPr>
                        <a:t>0,7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0.753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0.358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  <a:latin typeface="Calibri (Основной текст)"/>
                        </a:rPr>
                        <a:t>0.967</a:t>
                      </a:r>
                      <a:endParaRPr lang="en-US" dirty="0">
                        <a:effectLst/>
                        <a:latin typeface="Calibri (Основной текст)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66462293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9927EE4-0C67-4F84-9EA7-54BA71D96ABF}"/>
              </a:ext>
            </a:extLst>
          </p:cNvPr>
          <p:cNvSpPr txBox="1"/>
          <p:nvPr/>
        </p:nvSpPr>
        <p:spPr>
          <a:xfrm>
            <a:off x="1114516" y="4182441"/>
            <a:ext cx="10154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+mj-lt"/>
              </a:rPr>
              <a:t>При увеличении порога с 0.3 до 0.7 модель становится всё более «бережной» к здоровым (</a:t>
            </a:r>
            <a:r>
              <a:rPr lang="ru-RU" sz="2000" b="0" i="0" dirty="0" err="1">
                <a:effectLst/>
                <a:latin typeface="+mj-lt"/>
              </a:rPr>
              <a:t>Specificity</a:t>
            </a:r>
            <a:r>
              <a:rPr lang="ru-RU" sz="2000" b="0" i="0" dirty="0">
                <a:effectLst/>
                <a:latin typeface="+mj-lt"/>
              </a:rPr>
              <a:t> растёт от ~0.69 до ~0.97), но резко падает чувствительность (с ~0.75 до ~0.36). Максимальная </a:t>
            </a:r>
            <a:r>
              <a:rPr lang="ru-RU" sz="2000" b="0" i="0" dirty="0" err="1">
                <a:effectLst/>
                <a:latin typeface="+mj-lt"/>
              </a:rPr>
              <a:t>Accuracy</a:t>
            </a:r>
            <a:r>
              <a:rPr lang="ru-RU" sz="2000" b="0" i="0" dirty="0">
                <a:effectLst/>
                <a:latin typeface="+mj-lt"/>
              </a:rPr>
              <a:t> достигается при 0.5 за счёт высокого числа правильно распознанных здоровых, однако при скрининге диабета более оправдан порог 0.3: он даёт больше ложных тревог, но существенно снижает риск пропустить больного.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5253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1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3600" dirty="0">
                <a:latin typeface="+mj-lt"/>
                <a:ea typeface="Cambria Math" panose="02040503050406030204" pitchFamily="18" charset="0"/>
              </a:rPr>
              <a:t>На практике: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пайплайн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на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Pima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(диабет).</a:t>
            </a:r>
          </a:p>
          <a:p>
            <a:pPr algn="just"/>
            <a:endParaRPr lang="ru-RU" sz="3600" dirty="0">
              <a:latin typeface="+mj-lt"/>
              <a:ea typeface="Cambria Math" panose="02040503050406030204" pitchFamily="18" charset="0"/>
            </a:endParaRPr>
          </a:p>
          <a:p>
            <a:pPr algn="just"/>
            <a:r>
              <a:rPr lang="ru-RU" sz="3600" dirty="0">
                <a:latin typeface="+mj-lt"/>
                <a:ea typeface="Cambria Math" panose="02040503050406030204" pitchFamily="18" charset="0"/>
              </a:rPr>
              <a:t>Дома: повторить тот же подход на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Breast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Cancer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Wisconsin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:</a:t>
            </a:r>
          </a:p>
          <a:p>
            <a:pPr lvl="1" algn="just"/>
            <a:r>
              <a:rPr lang="ru-RU" sz="3200" dirty="0">
                <a:latin typeface="+mj-lt"/>
                <a:ea typeface="Cambria Math" panose="02040503050406030204" pitchFamily="18" charset="0"/>
              </a:rPr>
              <a:t>другие признаки, другая медицинская задача (диагностика рака);</a:t>
            </a:r>
          </a:p>
          <a:p>
            <a:pPr lvl="1" algn="just"/>
            <a:r>
              <a:rPr lang="ru-RU" sz="3200" dirty="0">
                <a:latin typeface="+mj-lt"/>
                <a:ea typeface="Cambria Math" panose="02040503050406030204" pitchFamily="18" charset="0"/>
              </a:rPr>
              <a:t>те же шаги: </a:t>
            </a:r>
            <a:r>
              <a:rPr lang="ru-RU" sz="3200" dirty="0" err="1">
                <a:latin typeface="+mj-lt"/>
                <a:ea typeface="Cambria Math" panose="02040503050406030204" pitchFamily="18" charset="0"/>
              </a:rPr>
              <a:t>препроцессинг</a:t>
            </a:r>
            <a:r>
              <a:rPr lang="ru-RU" sz="3200" dirty="0">
                <a:latin typeface="+mj-lt"/>
                <a:ea typeface="Cambria Math" panose="02040503050406030204" pitchFamily="18" charset="0"/>
              </a:rPr>
              <a:t>, </a:t>
            </a:r>
            <a:r>
              <a:rPr lang="ru-RU" sz="3200" dirty="0" err="1">
                <a:latin typeface="+mj-lt"/>
                <a:ea typeface="Cambria Math" panose="02040503050406030204" pitchFamily="18" charset="0"/>
              </a:rPr>
              <a:t>train</a:t>
            </a:r>
            <a:r>
              <a:rPr lang="ru-RU" sz="3200" dirty="0">
                <a:latin typeface="+mj-lt"/>
                <a:ea typeface="Cambria Math" panose="02040503050406030204" pitchFamily="18" charset="0"/>
              </a:rPr>
              <a:t>/</a:t>
            </a:r>
            <a:r>
              <a:rPr lang="ru-RU" sz="3200" dirty="0" err="1">
                <a:latin typeface="+mj-lt"/>
                <a:ea typeface="Cambria Math" panose="02040503050406030204" pitchFamily="18" charset="0"/>
              </a:rPr>
              <a:t>test</a:t>
            </a:r>
            <a:r>
              <a:rPr lang="ru-RU" sz="3200" dirty="0">
                <a:latin typeface="+mj-lt"/>
                <a:ea typeface="Cambria Math" panose="02040503050406030204" pitchFamily="18" charset="0"/>
              </a:rPr>
              <a:t>, логистическая регрессия, метрики, ROC.</a:t>
            </a:r>
            <a:endParaRPr lang="en-US" sz="32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98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Вопросы и типичные ошибки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3600" dirty="0">
                <a:latin typeface="+mj-lt"/>
                <a:ea typeface="Cambria Math" panose="02040503050406030204" pitchFamily="18" charset="0"/>
              </a:rPr>
              <a:t>Не перевели класс в 0/1 → ошибка в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glm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.</a:t>
            </a:r>
          </a:p>
          <a:p>
            <a:pPr algn="just"/>
            <a:r>
              <a:rPr lang="ru-RU" sz="3600" dirty="0">
                <a:latin typeface="+mj-lt"/>
                <a:ea typeface="Cambria Math" panose="02040503050406030204" pitchFamily="18" charset="0"/>
              </a:rPr>
              <a:t>Не зафиксировали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seed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→ разные результаты при проверке.</a:t>
            </a:r>
          </a:p>
          <a:p>
            <a:pPr algn="just"/>
            <a:r>
              <a:rPr lang="ru-RU" sz="3600" dirty="0">
                <a:latin typeface="+mj-lt"/>
                <a:ea typeface="Cambria Math" panose="02040503050406030204" pitchFamily="18" charset="0"/>
              </a:rPr>
              <a:t>Перепутали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response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и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predictor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в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roc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().</a:t>
            </a:r>
            <a:endParaRPr lang="en-US" sz="32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2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822</Words>
  <Application>Microsoft Office PowerPoint</Application>
  <PresentationFormat>Широкоэкранный</PresentationFormat>
  <Paragraphs>202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(Основной текст)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46</cp:revision>
  <dcterms:created xsi:type="dcterms:W3CDTF">2025-09-03T07:14:40Z</dcterms:created>
  <dcterms:modified xsi:type="dcterms:W3CDTF">2026-03-03T11:30:31Z</dcterms:modified>
</cp:coreProperties>
</file>