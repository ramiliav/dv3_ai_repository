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8" r:id="rId5"/>
    <p:sldId id="269" r:id="rId6"/>
    <p:sldId id="279" r:id="rId7"/>
    <p:sldId id="270" r:id="rId8"/>
    <p:sldId id="273" r:id="rId9"/>
    <p:sldId id="280" r:id="rId10"/>
    <p:sldId id="287" r:id="rId11"/>
    <p:sldId id="281" r:id="rId12"/>
    <p:sldId id="282" r:id="rId13"/>
    <p:sldId id="283" r:id="rId14"/>
    <p:sldId id="284" r:id="rId15"/>
    <p:sldId id="285" r:id="rId16"/>
    <p:sldId id="286" r:id="rId17"/>
    <p:sldId id="288" r:id="rId18"/>
    <p:sldId id="289" r:id="rId19"/>
    <p:sldId id="290" r:id="rId20"/>
    <p:sldId id="276" r:id="rId21"/>
    <p:sldId id="26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918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794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655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870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492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216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33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960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1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7147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162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111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9611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0425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8247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--sH2yGMpK8A-w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занятие 2. Основы построения моделей машинного обучения для биомедицинских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Сравнение моделей классификации: логистическая регрессия, дерево решений, </a:t>
            </a:r>
            <a:r>
              <a:rPr lang="ru-RU" sz="2400" dirty="0" err="1"/>
              <a:t>Random</a:t>
            </a:r>
            <a:r>
              <a:rPr lang="ru-RU" sz="2400" dirty="0"/>
              <a:t> </a:t>
            </a:r>
            <a:r>
              <a:rPr lang="ru-RU" sz="2400" dirty="0" err="1"/>
              <a:t>Forest</a:t>
            </a: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Цели:</a:t>
            </a:r>
          </a:p>
          <a:p>
            <a:pPr algn="just"/>
            <a:r>
              <a:rPr lang="ru-RU" sz="2400" dirty="0"/>
              <a:t>познакомиться с деревьями решений и </a:t>
            </a:r>
            <a:r>
              <a:rPr lang="ru-RU" sz="2400" dirty="0" err="1"/>
              <a:t>Random</a:t>
            </a:r>
            <a:r>
              <a:rPr lang="ru-RU" sz="2400" dirty="0"/>
              <a:t> </a:t>
            </a:r>
            <a:r>
              <a:rPr lang="ru-RU" sz="2400" dirty="0" err="1"/>
              <a:t>Forest</a:t>
            </a:r>
            <a:r>
              <a:rPr lang="ru-RU" sz="2400" dirty="0"/>
              <a:t>;</a:t>
            </a:r>
          </a:p>
          <a:p>
            <a:pPr algn="just"/>
            <a:r>
              <a:rPr lang="ru-RU" sz="2400" dirty="0"/>
              <a:t>научиться сравнивать несколько моделей на одном </a:t>
            </a:r>
            <a:r>
              <a:rPr lang="ru-RU" sz="2400" dirty="0" err="1"/>
              <a:t>датасете</a:t>
            </a:r>
            <a:r>
              <a:rPr lang="ru-RU" sz="2400" dirty="0"/>
              <a:t>;</a:t>
            </a:r>
          </a:p>
          <a:p>
            <a:pPr algn="just"/>
            <a:r>
              <a:rPr lang="ru-RU" sz="2400" dirty="0"/>
              <a:t>интерпретировать метрики и ROC‑кривые.</a:t>
            </a:r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Датасет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Pima Indians Diabetes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Источник: </a:t>
            </a:r>
            <a:r>
              <a:rPr lang="en-US" sz="2400" dirty="0"/>
              <a:t>Pima Indians Diabetes (UCI / </a:t>
            </a:r>
            <a:r>
              <a:rPr lang="en-US" sz="2400" dirty="0" err="1"/>
              <a:t>mlbench</a:t>
            </a:r>
            <a:r>
              <a:rPr lang="en-US" sz="2400" dirty="0"/>
              <a:t>).</a:t>
            </a:r>
          </a:p>
          <a:p>
            <a:pPr algn="just"/>
            <a:r>
              <a:rPr lang="ru-RU" sz="2400" dirty="0"/>
              <a:t>Описание:</a:t>
            </a:r>
          </a:p>
          <a:p>
            <a:pPr lvl="1" algn="just"/>
            <a:r>
              <a:rPr lang="ru-RU" sz="2000" dirty="0"/>
              <a:t>пациентки пима-индейцы ≥21 года;</a:t>
            </a:r>
          </a:p>
          <a:p>
            <a:pPr lvl="1" algn="just"/>
            <a:r>
              <a:rPr lang="ru-RU" sz="2000" dirty="0"/>
              <a:t>признаки: число беременностей, глюкоза, артериальное давление, </a:t>
            </a:r>
            <a:r>
              <a:rPr lang="en-US" sz="2000" dirty="0"/>
              <a:t>BMI </a:t>
            </a:r>
            <a:r>
              <a:rPr lang="ru-RU" sz="2000" dirty="0"/>
              <a:t>и др.;</a:t>
            </a:r>
          </a:p>
          <a:p>
            <a:pPr lvl="1" algn="just"/>
            <a:r>
              <a:rPr lang="ru-RU" sz="2000" dirty="0"/>
              <a:t>целевая переменная: наличие диабета (</a:t>
            </a:r>
            <a:r>
              <a:rPr lang="en-US" sz="2000" dirty="0"/>
              <a:t>diabetes: neg/pos).</a:t>
            </a:r>
          </a:p>
          <a:p>
            <a:pPr algn="just"/>
            <a:r>
              <a:rPr lang="ru-RU" sz="2400" dirty="0"/>
              <a:t>В </a:t>
            </a:r>
            <a:r>
              <a:rPr lang="en-US" sz="2400" dirty="0"/>
              <a:t>R: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mlbench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::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https://disk.yandex.ru/d/--sH2yGMpK8A-w</a:t>
            </a: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Три модели для сравнения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Логистическая регрессия (</a:t>
            </a:r>
            <a:r>
              <a:rPr lang="en-US" b="0" i="0" dirty="0" err="1">
                <a:effectLst/>
                <a:latin typeface="+mj-lt"/>
              </a:rPr>
              <a:t>LogReg</a:t>
            </a:r>
            <a:r>
              <a:rPr lang="en-US" b="0" i="0" dirty="0">
                <a:effectLst/>
                <a:latin typeface="+mj-lt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Дерево решений (</a:t>
            </a:r>
            <a:r>
              <a:rPr lang="en-US" b="0" i="0" dirty="0">
                <a:effectLst/>
                <a:latin typeface="+mj-lt"/>
              </a:rPr>
              <a:t>Decision Tree).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+mj-lt"/>
              </a:rPr>
              <a:t>Random Forest (RF, </a:t>
            </a:r>
            <a:r>
              <a:rPr lang="ru-RU" b="0" i="0" dirty="0">
                <a:effectLst/>
                <a:latin typeface="+mj-lt"/>
              </a:rPr>
              <a:t>ансамбль из 100 деревьев).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+mj-lt"/>
              </a:rPr>
              <a:t>Сравнивать будем: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Accuracy, Sensitivity, Specificity;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AUC ROC;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устойчивость результатов (перекрёстно).</a:t>
            </a:r>
          </a:p>
        </p:txBody>
      </p:sp>
    </p:spTree>
    <p:extLst>
      <p:ext uri="{BB962C8B-B14F-4D97-AF65-F5344CB8AC3E}">
        <p14:creationId xmlns:p14="http://schemas.microsoft.com/office/powerpoint/2010/main" val="1241477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Что будем делать пошагово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pplxSerif"/>
              </a:rPr>
              <a:t>Загрузить </a:t>
            </a:r>
            <a:r>
              <a:rPr lang="ru-RU" b="0" i="0" dirty="0" err="1">
                <a:effectLst/>
                <a:latin typeface="pplxSerif"/>
              </a:rPr>
              <a:t>PimaIndiansDiabetes</a:t>
            </a:r>
            <a:r>
              <a:rPr lang="ru-RU" b="0" i="0" dirty="0">
                <a:effectLst/>
                <a:latin typeface="pplxSerif"/>
              </a:rPr>
              <a:t> и разделить на </a:t>
            </a:r>
            <a:r>
              <a:rPr lang="ru-RU" b="0" i="0" dirty="0" err="1">
                <a:effectLst/>
                <a:latin typeface="pplxSerif"/>
              </a:rPr>
              <a:t>train</a:t>
            </a:r>
            <a:r>
              <a:rPr lang="ru-RU" b="0" i="0" dirty="0">
                <a:effectLst/>
                <a:latin typeface="pplxSerif"/>
              </a:rPr>
              <a:t>/</a:t>
            </a:r>
            <a:r>
              <a:rPr lang="ru-RU" b="0" i="0" dirty="0" err="1">
                <a:effectLst/>
                <a:latin typeface="pplxSerif"/>
              </a:rPr>
              <a:t>test</a:t>
            </a:r>
            <a:r>
              <a:rPr lang="ru-RU" b="0" i="0" dirty="0">
                <a:effectLst/>
                <a:latin typeface="pplxSerif"/>
              </a:rPr>
              <a:t> (если не сделано).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pplxSerif"/>
              </a:rPr>
              <a:t>Обучить три модели на одной и той же </a:t>
            </a:r>
            <a:r>
              <a:rPr lang="ru-RU" b="0" i="0" dirty="0" err="1">
                <a:effectLst/>
                <a:latin typeface="pplxSerif"/>
              </a:rPr>
              <a:t>train</a:t>
            </a:r>
            <a:r>
              <a:rPr lang="ru-RU" b="0" i="0" dirty="0">
                <a:effectLst/>
                <a:latin typeface="pplxSerif"/>
              </a:rPr>
              <a:t>‑выборке.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pplxSerif"/>
              </a:rPr>
              <a:t>Для каждой модели: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pplxSerif"/>
              </a:rPr>
              <a:t>предсказать вероятности на </a:t>
            </a:r>
            <a:r>
              <a:rPr lang="ru-RU" b="0" i="0" dirty="0" err="1">
                <a:effectLst/>
                <a:latin typeface="pplxSerif"/>
              </a:rPr>
              <a:t>test</a:t>
            </a:r>
            <a:r>
              <a:rPr lang="ru-RU" b="0" i="0" dirty="0">
                <a:effectLst/>
                <a:latin typeface="pplxSerif"/>
              </a:rPr>
              <a:t>;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pplxSerif"/>
              </a:rPr>
              <a:t>построить </a:t>
            </a:r>
            <a:r>
              <a:rPr lang="ru-RU" b="0" i="0" dirty="0" err="1">
                <a:effectLst/>
                <a:latin typeface="pplxSerif"/>
              </a:rPr>
              <a:t>confusion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matrix</a:t>
            </a:r>
            <a:r>
              <a:rPr lang="ru-RU" b="0" i="0" dirty="0">
                <a:effectLst/>
                <a:latin typeface="pplxSerif"/>
              </a:rPr>
              <a:t>, посчитать метрики;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pplxSerif"/>
              </a:rPr>
              <a:t>вычислить AUC.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pplxSerif"/>
              </a:rPr>
              <a:t>Построить общую таблицу метрик и сравнить модели.</a:t>
            </a:r>
          </a:p>
        </p:txBody>
      </p:sp>
    </p:spTree>
    <p:extLst>
      <p:ext uri="{BB962C8B-B14F-4D97-AF65-F5344CB8AC3E}">
        <p14:creationId xmlns:p14="http://schemas.microsoft.com/office/powerpoint/2010/main" val="290126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Загрузка и первичный осмотр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mlbench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dplyr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data(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%&gt;%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filter(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complete.cases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(.)) %&gt;%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mutate(diabetes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(diabetes == "pos", 1, 0))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set.seed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(123)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n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nrow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sample(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seq_len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(n), size = floor(0.7 * n))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train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]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test 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[-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]</a:t>
            </a: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Модель 1: логистическая регрессия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glm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diabetes ~ .,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data   = train,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family = binomial(link = "logit")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test, type = "response")</a:t>
            </a:r>
          </a:p>
        </p:txBody>
      </p:sp>
    </p:spTree>
    <p:extLst>
      <p:ext uri="{BB962C8B-B14F-4D97-AF65-F5344CB8AC3E}">
        <p14:creationId xmlns:p14="http://schemas.microsoft.com/office/powerpoint/2010/main" val="50930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Модель 2: дерево решений (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rpart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install.packages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rpart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")      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при необходимости</a:t>
            </a: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install.packages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rpart.plot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") 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для визуализации</a:t>
            </a:r>
          </a:p>
          <a:p>
            <a:pPr marL="0" indent="0" algn="just">
              <a:buNone/>
            </a:pP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rpart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rpart.plot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rpart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factor(diabetes) ~ .,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data = train,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method = "class",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control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rpart.control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(cp = 0.01,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minsplit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20)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rpart.plot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вероятности класса 1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prob_tree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test, type = "prob")[, "1"]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prob_tree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831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Модель 2: дерево решений (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rpart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2" name="Объект 1">
            <a:extLst>
              <a:ext uri="{FF2B5EF4-FFF2-40B4-BE49-F238E27FC236}">
                <a16:creationId xmlns:a16="http://schemas.microsoft.com/office/drawing/2014/main" id="{019BF072-BB1D-4B5C-AA54-7602407B4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30323" y="1099608"/>
            <a:ext cx="1040892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88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Модель 3: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 Forest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install.packages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randomForest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randomForest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set.seed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(123)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randomForest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factor(diabetes) ~ .,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data  = train,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100,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mtry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= 3    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пример, можно обсудить выбор</a:t>
            </a: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prob_rf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test, type = "prob")[, "1"]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prob_rf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818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Функция для подсчёта метрик по модели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metrics_for_model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function(probs, true, threshold = 0.5) {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pred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(probs &gt;= threshold, 1, 0)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cm &lt;- table(pred = pred, true = true)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accuracy    &lt;- sum(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diag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(cm)) / sum(cm)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sensitivity &lt;- cm["1", "1"] / sum(cm[, "1"])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specificity &lt;- cm["0", "0"] / sum(cm[, "0"])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roc_obj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roc(true, probs)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auc_val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roc_obj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c(Accuracy = accuracy,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Sensitivity = sensitivity,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Specificity = specificity,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AUC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auc_val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3010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Таблица метрик для трёх моделей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true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test$diabetes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res_logit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metrics_for_model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true)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res_tree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metrics_for_model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 true)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res_rf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metrics_for_model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   true)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metrics_table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rbind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LogReg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res_logit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Tree  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res_tree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RF    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res_rf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round(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metrics_table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3)</a:t>
            </a:r>
          </a:p>
        </p:txBody>
      </p:sp>
    </p:spTree>
    <p:extLst>
      <p:ext uri="{BB962C8B-B14F-4D97-AF65-F5344CB8AC3E}">
        <p14:creationId xmlns:p14="http://schemas.microsoft.com/office/powerpoint/2010/main" val="970708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Таблица метрик для трёх моделей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6A0CFE6D-9AA9-405B-98A6-C872D74FB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7764170"/>
              </p:ext>
            </p:extLst>
          </p:nvPr>
        </p:nvGraphicFramePr>
        <p:xfrm>
          <a:off x="551723" y="1722120"/>
          <a:ext cx="10515600" cy="170688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204314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547134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76140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574740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41829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Model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Accuracy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Sensitivity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Specificity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AUC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800963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LogReg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0.792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0.644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0.861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0.815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71224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DesTree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0.71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0.63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0.747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0.789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548892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RF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0.74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0.658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0.778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0.801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2036808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39AAAD9-0095-445D-A430-09395E4D2C9D}"/>
              </a:ext>
            </a:extLst>
          </p:cNvPr>
          <p:cNvSpPr txBox="1"/>
          <p:nvPr/>
        </p:nvSpPr>
        <p:spPr>
          <a:xfrm>
            <a:off x="1688644" y="3619436"/>
            <a:ext cx="864494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+mj-lt"/>
              </a:rPr>
              <a:t>Логистическая регрессия показывает наилучший общий баланс: у неё максимальные </a:t>
            </a:r>
            <a:r>
              <a:rPr lang="ru-RU" sz="2000" b="0" i="0" dirty="0" err="1">
                <a:effectLst/>
                <a:latin typeface="+mj-lt"/>
              </a:rPr>
              <a:t>Accuracy</a:t>
            </a:r>
            <a:r>
              <a:rPr lang="ru-RU" sz="2000" b="0" i="0" dirty="0">
                <a:effectLst/>
                <a:latin typeface="+mj-lt"/>
              </a:rPr>
              <a:t> (0.792) и AUC (0.815), при достаточно высокой </a:t>
            </a:r>
            <a:r>
              <a:rPr lang="ru-RU" sz="2000" b="0" i="0" dirty="0" err="1">
                <a:effectLst/>
                <a:latin typeface="+mj-lt"/>
              </a:rPr>
              <a:t>Specificity</a:t>
            </a:r>
            <a:r>
              <a:rPr lang="ru-RU" sz="2000" b="0" i="0" dirty="0">
                <a:effectLst/>
                <a:latin typeface="+mj-lt"/>
              </a:rPr>
              <a:t> (0.861) и умеренной </a:t>
            </a:r>
            <a:r>
              <a:rPr lang="ru-RU" sz="2000" b="0" i="0" dirty="0" err="1">
                <a:effectLst/>
                <a:latin typeface="+mj-lt"/>
              </a:rPr>
              <a:t>Sensitivity</a:t>
            </a:r>
            <a:r>
              <a:rPr lang="ru-RU" sz="2000" b="0" i="0" dirty="0">
                <a:effectLst/>
                <a:latin typeface="+mj-lt"/>
              </a:rPr>
              <a:t> (0.644). Модели дерева и </a:t>
            </a:r>
            <a:r>
              <a:rPr lang="ru-RU" sz="2000" b="0" i="0" dirty="0" err="1">
                <a:effectLst/>
                <a:latin typeface="+mj-lt"/>
              </a:rPr>
              <a:t>Random</a:t>
            </a:r>
            <a:r>
              <a:rPr lang="ru-RU" sz="2000" b="0" i="0" dirty="0">
                <a:effectLst/>
                <a:latin typeface="+mj-lt"/>
              </a:rPr>
              <a:t> </a:t>
            </a:r>
            <a:r>
              <a:rPr lang="ru-RU" sz="2000" b="0" i="0" dirty="0" err="1">
                <a:effectLst/>
                <a:latin typeface="+mj-lt"/>
              </a:rPr>
              <a:t>Forest</a:t>
            </a:r>
            <a:r>
              <a:rPr lang="ru-RU" sz="2000" b="0" i="0" dirty="0">
                <a:effectLst/>
                <a:latin typeface="+mj-lt"/>
              </a:rPr>
              <a:t> немного уступают по AUC и </a:t>
            </a:r>
            <a:r>
              <a:rPr lang="ru-RU" sz="2000" b="0" i="0" dirty="0" err="1">
                <a:effectLst/>
                <a:latin typeface="+mj-lt"/>
              </a:rPr>
              <a:t>Accuracy</a:t>
            </a:r>
            <a:r>
              <a:rPr lang="ru-RU" sz="2000" b="0" i="0" dirty="0">
                <a:effectLst/>
                <a:latin typeface="+mj-lt"/>
              </a:rPr>
              <a:t>, при близкой чувствительности, поэтому в качестве базовой модели для этой задачи разумно выбирать логистическую регрессию, а более сложные методы существенного выигрыша не дают.</a:t>
            </a: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0579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ROC‑кривые на одном графике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8" name="Объект 2">
            <a:extLst>
              <a:ext uri="{FF2B5EF4-FFF2-40B4-BE49-F238E27FC236}">
                <a16:creationId xmlns:a16="http://schemas.microsoft.com/office/drawing/2014/main" id="{FAFA290D-BFA2-4D37-A3F4-180BBF64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roc(true,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&lt;- roc(true,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&lt;- roc(true,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col = "blue",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 col = "red",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2, add = TRUE)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   col = 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darkgreen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2, add = TRUE)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abline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(a = 0, b = 1,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lty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2, col = "gray")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legend("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bottomright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legend = c("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LogReg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 "Tree", "RF"),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col = c("blue", "red", 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darkgreen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"),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2)</a:t>
            </a:r>
          </a:p>
        </p:txBody>
      </p:sp>
    </p:spTree>
    <p:extLst>
      <p:ext uri="{BB962C8B-B14F-4D97-AF65-F5344CB8AC3E}">
        <p14:creationId xmlns:p14="http://schemas.microsoft.com/office/powerpoint/2010/main" val="3827508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ROC‑кривые на одном графике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11E4C82E-DA4D-4BB0-9064-FFD86CCB3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551723" y="1327583"/>
            <a:ext cx="8232999" cy="51742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DE2119-E9A6-49B4-ACB0-7321949B10A7}"/>
              </a:ext>
            </a:extLst>
          </p:cNvPr>
          <p:cNvSpPr txBox="1"/>
          <p:nvPr/>
        </p:nvSpPr>
        <p:spPr>
          <a:xfrm>
            <a:off x="8512933" y="1146823"/>
            <a:ext cx="324547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+mj-lt"/>
              </a:rPr>
              <a:t>ROC‑кривые трёх моделей практически накладываются друг на друга, что означает очень близкое качество ранжирования пациентов по риску. Легкое преимущество логистической регрессии и </a:t>
            </a:r>
            <a:r>
              <a:rPr lang="ru-RU" b="0" i="0" dirty="0" err="1">
                <a:effectLst/>
                <a:latin typeface="+mj-lt"/>
              </a:rPr>
              <a:t>Random</a:t>
            </a:r>
            <a:r>
              <a:rPr lang="ru-RU" b="0" i="0" dirty="0">
                <a:effectLst/>
                <a:latin typeface="+mj-lt"/>
              </a:rPr>
              <a:t> </a:t>
            </a:r>
            <a:r>
              <a:rPr lang="ru-RU" b="0" i="0" dirty="0" err="1">
                <a:effectLst/>
                <a:latin typeface="+mj-lt"/>
              </a:rPr>
              <a:t>Forest</a:t>
            </a:r>
            <a:r>
              <a:rPr lang="ru-RU" b="0" i="0" dirty="0">
                <a:effectLst/>
                <a:latin typeface="+mj-lt"/>
              </a:rPr>
              <a:t> видно лишь в области умеренных значений FPR; в целом ни одна модель не даёт принципиально лучшего компромисса между чувствительностью и специфичностью, поэтому выбор можно делать по простоте и интерпретируемости, а не по ROC.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46123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ROC‑кривые на одном графике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8" name="Объект 2">
            <a:extLst>
              <a:ext uri="{FF2B5EF4-FFF2-40B4-BE49-F238E27FC236}">
                <a16:creationId xmlns:a16="http://schemas.microsoft.com/office/drawing/2014/main" id="{9CCB92D4-4CA7-45B7-8F30-EC2DDF0C7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roc(true,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&lt;- roc(true,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&lt;- roc(true,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test$prob_rf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roc_logit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col = "blue",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 col = "red",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2, add = TRUE)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roc_rf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   col = 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darkgreen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2, add = TRUE)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abline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(a = 0, b = 1,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lty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2, col = "gray")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legend("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bottomright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legend = c("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LogReg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 "Tree", "RF"),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col = c("blue", "red", 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darkgreen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"),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2)</a:t>
            </a:r>
          </a:p>
        </p:txBody>
      </p:sp>
    </p:spTree>
    <p:extLst>
      <p:ext uri="{BB962C8B-B14F-4D97-AF65-F5344CB8AC3E}">
        <p14:creationId xmlns:p14="http://schemas.microsoft.com/office/powerpoint/2010/main" val="2060866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Влияние порога: сводная таблица по моделям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8" name="Объект 2">
            <a:extLst>
              <a:ext uri="{FF2B5EF4-FFF2-40B4-BE49-F238E27FC236}">
                <a16:creationId xmlns:a16="http://schemas.microsoft.com/office/drawing/2014/main" id="{9CCB92D4-4CA7-45B7-8F30-EC2DDF0C7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compute_metrics_threshold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function(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model_name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probs,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true_class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pred_thr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(probs &gt;=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1, 0)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cm_thr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&lt;- table(pred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pred_thr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true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true_class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accuracy_thr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&lt;- sum(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diag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cm_thr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)) / sum(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cm_thr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sensitivity_thr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cm_thr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["1", "1"] / sum(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cm_thr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[, "1"])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specificity_thr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cm_thr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["0", "0"] / sum(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cm_thr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[, "0"])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Model      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model_name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Threshold  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Accuracy   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accuracy_thr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Sensitivity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sensitivity_thr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Specificity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specificity_thr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9433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Влияние порога: сводная таблица по моделям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DA054F0-5BCB-4F89-B0E2-0C58B4EBEF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4355356"/>
              </p:ext>
            </p:extLst>
          </p:nvPr>
        </p:nvGraphicFramePr>
        <p:xfrm>
          <a:off x="551723" y="1075361"/>
          <a:ext cx="10678655" cy="3306850"/>
        </p:xfrm>
        <a:graphic>
          <a:graphicData uri="http://schemas.openxmlformats.org/drawingml/2006/table">
            <a:tbl>
              <a:tblPr firstRow="1" firstCol="1">
                <a:tableStyleId>{6E25E649-3F16-4E02-A733-19D2CDBF48F0}</a:tableStyleId>
              </a:tblPr>
              <a:tblGrid>
                <a:gridCol w="2135731">
                  <a:extLst>
                    <a:ext uri="{9D8B030D-6E8A-4147-A177-3AD203B41FA5}">
                      <a16:colId xmlns:a16="http://schemas.microsoft.com/office/drawing/2014/main" val="4037608745"/>
                    </a:ext>
                  </a:extLst>
                </a:gridCol>
                <a:gridCol w="2135731">
                  <a:extLst>
                    <a:ext uri="{9D8B030D-6E8A-4147-A177-3AD203B41FA5}">
                      <a16:colId xmlns:a16="http://schemas.microsoft.com/office/drawing/2014/main" val="3736074831"/>
                    </a:ext>
                  </a:extLst>
                </a:gridCol>
                <a:gridCol w="2135731">
                  <a:extLst>
                    <a:ext uri="{9D8B030D-6E8A-4147-A177-3AD203B41FA5}">
                      <a16:colId xmlns:a16="http://schemas.microsoft.com/office/drawing/2014/main" val="3155137883"/>
                    </a:ext>
                  </a:extLst>
                </a:gridCol>
                <a:gridCol w="2135731">
                  <a:extLst>
                    <a:ext uri="{9D8B030D-6E8A-4147-A177-3AD203B41FA5}">
                      <a16:colId xmlns:a16="http://schemas.microsoft.com/office/drawing/2014/main" val="2752934855"/>
                    </a:ext>
                  </a:extLst>
                </a:gridCol>
                <a:gridCol w="2135731">
                  <a:extLst>
                    <a:ext uri="{9D8B030D-6E8A-4147-A177-3AD203B41FA5}">
                      <a16:colId xmlns:a16="http://schemas.microsoft.com/office/drawing/2014/main" val="1113879419"/>
                    </a:ext>
                  </a:extLst>
                </a:gridCol>
              </a:tblGrid>
              <a:tr h="30249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Threshold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extLst>
                  <a:ext uri="{0D108BD9-81ED-4DB2-BD59-A6C34878D82A}">
                    <a16:rowId xmlns:a16="http://schemas.microsoft.com/office/drawing/2014/main" val="3338146622"/>
                  </a:ext>
                </a:extLst>
              </a:tr>
              <a:tr h="30249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LogReg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0,3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0,675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0,808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0,614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extLst>
                  <a:ext uri="{0D108BD9-81ED-4DB2-BD59-A6C34878D82A}">
                    <a16:rowId xmlns:a16="http://schemas.microsoft.com/office/drawing/2014/main" val="1088469716"/>
                  </a:ext>
                </a:extLst>
              </a:tr>
              <a:tr h="30249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Tree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0,3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0,719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0,781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0,690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extLst>
                  <a:ext uri="{0D108BD9-81ED-4DB2-BD59-A6C34878D82A}">
                    <a16:rowId xmlns:a16="http://schemas.microsoft.com/office/drawing/2014/main" val="964908544"/>
                  </a:ext>
                </a:extLst>
              </a:tr>
              <a:tr h="30249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RF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0,3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0,671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0,849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0,589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256179"/>
                  </a:ext>
                </a:extLst>
              </a:tr>
              <a:tr h="30249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LogReg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0,5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0,792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0,644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0,861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79778550"/>
                  </a:ext>
                </a:extLst>
              </a:tr>
              <a:tr h="30249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Tree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0,5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0,710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0,630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0,747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extLst>
                  <a:ext uri="{0D108BD9-81ED-4DB2-BD59-A6C34878D82A}">
                    <a16:rowId xmlns:a16="http://schemas.microsoft.com/office/drawing/2014/main" val="2260665987"/>
                  </a:ext>
                </a:extLst>
              </a:tr>
              <a:tr h="30249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RF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0,5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0,740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0,658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0,778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870683"/>
                  </a:ext>
                </a:extLst>
              </a:tr>
              <a:tr h="30249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LogReg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0,7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0,788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0,466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0,937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048298"/>
                  </a:ext>
                </a:extLst>
              </a:tr>
              <a:tr h="30249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Tree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0,7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0,740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0,603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0,804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extLst>
                  <a:ext uri="{0D108BD9-81ED-4DB2-BD59-A6C34878D82A}">
                    <a16:rowId xmlns:a16="http://schemas.microsoft.com/office/drawing/2014/main" val="3519348208"/>
                  </a:ext>
                </a:extLst>
              </a:tr>
              <a:tr h="30249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RF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0,7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0,762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0,411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0,924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885" marR="25885" marT="25885" marB="0" anchor="b"/>
                </a:tc>
                <a:extLst>
                  <a:ext uri="{0D108BD9-81ED-4DB2-BD59-A6C34878D82A}">
                    <a16:rowId xmlns:a16="http://schemas.microsoft.com/office/drawing/2014/main" val="392027304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0A585E9-6298-4D38-84CA-62136976A076}"/>
              </a:ext>
            </a:extLst>
          </p:cNvPr>
          <p:cNvSpPr txBox="1"/>
          <p:nvPr/>
        </p:nvSpPr>
        <p:spPr>
          <a:xfrm>
            <a:off x="428797" y="4507587"/>
            <a:ext cx="109245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+mj-lt"/>
              </a:rPr>
              <a:t>При переходе от порога 0.3 к 0.7 у всех трёх моделей наблюдается одинаковый тренд: чувствительность падает, специфичность растёт, </a:t>
            </a:r>
            <a:r>
              <a:rPr lang="ru-RU" b="0" i="0" dirty="0" err="1">
                <a:effectLst/>
                <a:latin typeface="+mj-lt"/>
              </a:rPr>
              <a:t>Accuracy</a:t>
            </a:r>
            <a:r>
              <a:rPr lang="ru-RU" b="0" i="0" dirty="0">
                <a:effectLst/>
                <a:latin typeface="+mj-lt"/>
              </a:rPr>
              <a:t> меняется слабо. На пороге 0.3 модели лучше выявляют больных (</a:t>
            </a:r>
            <a:r>
              <a:rPr lang="ru-RU" b="0" i="0" dirty="0" err="1">
                <a:effectLst/>
                <a:latin typeface="+mj-lt"/>
              </a:rPr>
              <a:t>Sensitivity</a:t>
            </a:r>
            <a:r>
              <a:rPr lang="ru-RU" b="0" i="0" dirty="0">
                <a:effectLst/>
                <a:latin typeface="+mj-lt"/>
              </a:rPr>
              <a:t> ~0.78–0.85), но часто относят здоровых к группе риска (</a:t>
            </a:r>
            <a:r>
              <a:rPr lang="ru-RU" b="0" i="0" dirty="0" err="1">
                <a:effectLst/>
                <a:latin typeface="+mj-lt"/>
              </a:rPr>
              <a:t>Specificity</a:t>
            </a:r>
            <a:r>
              <a:rPr lang="ru-RU" b="0" i="0" dirty="0">
                <a:effectLst/>
                <a:latin typeface="+mj-lt"/>
              </a:rPr>
              <a:t> ~0.59–0.69); на пороге 0.7, наоборот, почти не ошибаются на здоровых (</a:t>
            </a:r>
            <a:r>
              <a:rPr lang="ru-RU" b="0" i="0" dirty="0" err="1">
                <a:effectLst/>
                <a:latin typeface="+mj-lt"/>
              </a:rPr>
              <a:t>Specificity</a:t>
            </a:r>
            <a:r>
              <a:rPr lang="ru-RU" b="0" i="0" dirty="0">
                <a:effectLst/>
                <a:latin typeface="+mj-lt"/>
              </a:rPr>
              <a:t> ~0.80–0.94), но пропускают значительную долю случаев (</a:t>
            </a:r>
            <a:r>
              <a:rPr lang="ru-RU" b="0" i="0" dirty="0" err="1">
                <a:effectLst/>
                <a:latin typeface="+mj-lt"/>
              </a:rPr>
              <a:t>Sensitivity</a:t>
            </a:r>
            <a:r>
              <a:rPr lang="ru-RU" b="0" i="0" dirty="0">
                <a:effectLst/>
                <a:latin typeface="+mj-lt"/>
              </a:rPr>
              <a:t> ~0.41–0.60). Оптимум по </a:t>
            </a:r>
            <a:r>
              <a:rPr lang="ru-RU" b="0" i="0" dirty="0" err="1">
                <a:effectLst/>
                <a:latin typeface="+mj-lt"/>
              </a:rPr>
              <a:t>Accuracy</a:t>
            </a:r>
            <a:r>
              <a:rPr lang="ru-RU" b="0" i="0" dirty="0">
                <a:effectLst/>
                <a:latin typeface="+mj-lt"/>
              </a:rPr>
              <a:t> достигается для логистической регрессии при пороге 0.5, однако для скрининговой задачи более оправдана область меньших порогов (0.3–0.5), где компромисс между чувствительностью и специфичностью более клинически приемлем.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97123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Связь с Заданием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2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/>
            <a:r>
              <a:rPr lang="ru-RU" sz="3600" dirty="0">
                <a:latin typeface="+mj-lt"/>
                <a:ea typeface="Cambria Math" panose="02040503050406030204" pitchFamily="18" charset="0"/>
              </a:rPr>
              <a:t>На практике: три модели на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PimaIndiansDiabetes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.</a:t>
            </a:r>
          </a:p>
          <a:p>
            <a:pPr algn="just"/>
            <a:endParaRPr lang="ru-RU" sz="3600" dirty="0">
              <a:latin typeface="+mj-lt"/>
              <a:ea typeface="Cambria Math" panose="02040503050406030204" pitchFamily="18" charset="0"/>
            </a:endParaRPr>
          </a:p>
          <a:p>
            <a:pPr algn="just"/>
            <a:r>
              <a:rPr lang="ru-RU" sz="3600" dirty="0">
                <a:latin typeface="+mj-lt"/>
                <a:ea typeface="Cambria Math" panose="02040503050406030204" pitchFamily="18" charset="0"/>
              </a:rPr>
              <a:t>Дома: реализовать аналогичный сравнительный анализ на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Breast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Cancer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 </a:t>
            </a:r>
            <a:r>
              <a:rPr lang="ru-RU" sz="3600" dirty="0" err="1">
                <a:latin typeface="+mj-lt"/>
                <a:ea typeface="Cambria Math" panose="02040503050406030204" pitchFamily="18" charset="0"/>
              </a:rPr>
              <a:t>Wisconsin</a:t>
            </a:r>
            <a:r>
              <a:rPr lang="ru-RU" sz="3600" dirty="0">
                <a:latin typeface="+mj-lt"/>
                <a:ea typeface="Cambria Math" panose="02040503050406030204" pitchFamily="18" charset="0"/>
              </a:rPr>
              <a:t>:</a:t>
            </a:r>
          </a:p>
          <a:p>
            <a:pPr lvl="1" algn="just"/>
            <a:r>
              <a:rPr lang="ru-RU" sz="3200" dirty="0">
                <a:latin typeface="+mj-lt"/>
                <a:ea typeface="Cambria Math" panose="02040503050406030204" pitchFamily="18" charset="0"/>
              </a:rPr>
              <a:t>логистическая регрессия, дерево, RF;</a:t>
            </a:r>
          </a:p>
          <a:p>
            <a:pPr lvl="1" algn="just"/>
            <a:r>
              <a:rPr lang="ru-RU" sz="3200" dirty="0">
                <a:latin typeface="+mj-lt"/>
                <a:ea typeface="Cambria Math" panose="02040503050406030204" pitchFamily="18" charset="0"/>
              </a:rPr>
              <a:t>те же метрики и ROC.</a:t>
            </a:r>
            <a:endParaRPr lang="en-US" sz="28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098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1856</Words>
  <Application>Microsoft Office PowerPoint</Application>
  <PresentationFormat>Широкоэкранный</PresentationFormat>
  <Paragraphs>373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pplxSerif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48</cp:revision>
  <dcterms:created xsi:type="dcterms:W3CDTF">2025-09-03T07:14:40Z</dcterms:created>
  <dcterms:modified xsi:type="dcterms:W3CDTF">2026-03-03T12:04:20Z</dcterms:modified>
</cp:coreProperties>
</file>