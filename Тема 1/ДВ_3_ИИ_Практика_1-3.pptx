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84" r:id="rId5"/>
    <p:sldId id="268" r:id="rId6"/>
    <p:sldId id="279" r:id="rId7"/>
    <p:sldId id="270" r:id="rId8"/>
    <p:sldId id="273" r:id="rId9"/>
    <p:sldId id="285" r:id="rId10"/>
    <p:sldId id="280" r:id="rId11"/>
    <p:sldId id="286" r:id="rId12"/>
    <p:sldId id="295" r:id="rId13"/>
    <p:sldId id="281" r:id="rId14"/>
    <p:sldId id="287" r:id="rId15"/>
    <p:sldId id="296" r:id="rId16"/>
    <p:sldId id="274" r:id="rId17"/>
    <p:sldId id="288" r:id="rId18"/>
    <p:sldId id="297" r:id="rId19"/>
    <p:sldId id="289" r:id="rId20"/>
    <p:sldId id="290" r:id="rId21"/>
    <p:sldId id="298" r:id="rId22"/>
    <p:sldId id="291" r:id="rId23"/>
    <p:sldId id="299" r:id="rId24"/>
    <p:sldId id="292" r:id="rId25"/>
    <p:sldId id="300" r:id="rId26"/>
    <p:sldId id="293" r:id="rId27"/>
    <p:sldId id="301" r:id="rId28"/>
    <p:sldId id="302" r:id="rId29"/>
    <p:sldId id="294" r:id="rId30"/>
    <p:sldId id="276" r:id="rId31"/>
    <p:sldId id="266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9370D-F2D9-4CCE-A730-8C5295B5F53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35BED-E67C-4CE8-A9D1-79A059B95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9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30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774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750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034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424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655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1391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7850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870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1547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44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943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2570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6475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6938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1519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0448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6472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4567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3719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7297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3426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0805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6359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7076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079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8338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8247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3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02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8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4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8A2A-B373-4BED-99C6-55213C852137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github.com/RamiliaV/DV3_AI_repositor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k.yandex.ru/d/g-EVorXV2GQ1YA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0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0F188103-7B17-734F-BE68-5A893025A082}"/>
              </a:ext>
            </a:extLst>
          </p:cNvPr>
          <p:cNvSpPr txBox="1"/>
          <p:nvPr/>
        </p:nvSpPr>
        <p:spPr>
          <a:xfrm>
            <a:off x="2482607" y="1725043"/>
            <a:ext cx="799782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Курс ДПП ПП</a:t>
            </a: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Основы биоинформатики и компьютерной биологии</a:t>
            </a:r>
          </a:p>
          <a:p>
            <a:pPr lvl="0" algn="ctr"/>
            <a:endParaRPr lang="ru-RU" sz="2800" b="1" dirty="0">
              <a:solidFill>
                <a:schemeClr val="bg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Алгоритмы искусственного интеллекта в биологии и медицине</a:t>
            </a:r>
          </a:p>
          <a:p>
            <a:pPr lvl="0" algn="ctr"/>
            <a:b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Практическое занятие 3. Основы построения моделей машинного обучения для биомедицинских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23186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8A76A24-00EA-EE42-8A4F-846D0D0A92B0}"/>
              </a:ext>
            </a:extLst>
          </p:cNvPr>
          <p:cNvGrpSpPr/>
          <p:nvPr/>
        </p:nvGrpSpPr>
        <p:grpSpPr>
          <a:xfrm>
            <a:off x="-50" y="0"/>
            <a:ext cx="827700" cy="6858000"/>
            <a:chOff x="-50" y="0"/>
            <a:chExt cx="827700" cy="5143500"/>
          </a:xfrm>
        </p:grpSpPr>
        <p:sp>
          <p:nvSpPr>
            <p:cNvPr id="25" name="Google Shape;106;p3">
              <a:extLst>
                <a:ext uri="{FF2B5EF4-FFF2-40B4-BE49-F238E27FC236}">
                  <a16:creationId xmlns:a16="http://schemas.microsoft.com/office/drawing/2014/main" id="{1212ABD6-BB78-564D-90F4-45A9BF52F65A}"/>
                </a:ext>
              </a:extLst>
            </p:cNvPr>
            <p:cNvSpPr/>
            <p:nvPr/>
          </p:nvSpPr>
          <p:spPr>
            <a:xfrm>
              <a:off x="-50" y="0"/>
              <a:ext cx="827700" cy="5143500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107;p3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C968D678-6F52-2F45-8BE7-5E2313AF23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87534"/>
              <a:ext cx="553050" cy="432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9;p3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1F22E8DB-9008-9D4B-9E64-C397CC33A9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087" y="4422472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10;p3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5E9D660B-F40F-CB41-B4B6-62BD62C97A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7779" y="3741120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11;p3">
              <a:extLst>
                <a:ext uri="{FF2B5EF4-FFF2-40B4-BE49-F238E27FC236}">
                  <a16:creationId xmlns:a16="http://schemas.microsoft.com/office/drawing/2014/main" id="{23A12878-4A5D-E648-A640-94DEA9532F72}"/>
                </a:ext>
              </a:extLst>
            </p:cNvPr>
            <p:cNvSpPr txBox="1"/>
            <p:nvPr/>
          </p:nvSpPr>
          <p:spPr>
            <a:xfrm>
              <a:off x="84051" y="4728776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34" name="Google Shape;112;p3">
              <a:extLst>
                <a:ext uri="{FF2B5EF4-FFF2-40B4-BE49-F238E27FC236}">
                  <a16:creationId xmlns:a16="http://schemas.microsoft.com/office/drawing/2014/main" id="{0525B736-A5F9-A04E-92B8-E50E60AAE2C0}"/>
                </a:ext>
              </a:extLst>
            </p:cNvPr>
            <p:cNvSpPr txBox="1"/>
            <p:nvPr/>
          </p:nvSpPr>
          <p:spPr>
            <a:xfrm>
              <a:off x="84051" y="4083918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37" name="Google Shape;108;p3">
            <a:extLst>
              <a:ext uri="{FF2B5EF4-FFF2-40B4-BE49-F238E27FC236}">
                <a16:creationId xmlns:a16="http://schemas.microsoft.com/office/drawing/2014/main" id="{5493CD04-205D-294C-BD53-0914C34565C1}"/>
              </a:ext>
            </a:extLst>
          </p:cNvPr>
          <p:cNvSpPr txBox="1"/>
          <p:nvPr/>
        </p:nvSpPr>
        <p:spPr>
          <a:xfrm>
            <a:off x="964967" y="220551"/>
            <a:ext cx="73448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Введение</a:t>
            </a:r>
            <a:endParaRPr lang="en-US" dirty="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43608" y="926349"/>
            <a:ext cx="10562698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Кластеризация: обучение без учителя</a:t>
            </a:r>
          </a:p>
          <a:p>
            <a:pPr marL="0" indent="0" algn="just">
              <a:buNone/>
            </a:pPr>
            <a:r>
              <a:rPr lang="ru-RU" sz="2400" dirty="0"/>
              <a:t>Цели:</a:t>
            </a:r>
          </a:p>
          <a:p>
            <a:pPr algn="just"/>
            <a:r>
              <a:rPr lang="ru-RU" sz="2400" dirty="0"/>
              <a:t>Освоить методы кластеризации без учителя (</a:t>
            </a:r>
            <a:r>
              <a:rPr lang="ru-RU" sz="2400" dirty="0" err="1"/>
              <a:t>unsupervised</a:t>
            </a:r>
            <a:r>
              <a:rPr lang="ru-RU" sz="2400" dirty="0"/>
              <a:t> </a:t>
            </a:r>
            <a:r>
              <a:rPr lang="ru-RU" sz="2400" dirty="0" err="1"/>
              <a:t>learning</a:t>
            </a:r>
            <a:r>
              <a:rPr lang="ru-RU" sz="2400" dirty="0"/>
              <a:t>)</a:t>
            </a:r>
          </a:p>
          <a:p>
            <a:pPr algn="just"/>
            <a:r>
              <a:rPr lang="ru-RU" sz="2400" dirty="0"/>
              <a:t>Научиться применять алгоритмы K-</a:t>
            </a:r>
            <a:r>
              <a:rPr lang="ru-RU" sz="2400" dirty="0" err="1"/>
              <a:t>means</a:t>
            </a:r>
            <a:r>
              <a:rPr lang="ru-RU" sz="2400" dirty="0"/>
              <a:t> и иерархической кластеризации</a:t>
            </a:r>
          </a:p>
          <a:p>
            <a:pPr algn="just"/>
            <a:r>
              <a:rPr lang="ru-RU" sz="2400" dirty="0"/>
              <a:t>Освоить выбор оптимального числа кластеров (</a:t>
            </a:r>
            <a:r>
              <a:rPr lang="ru-RU" sz="2400" dirty="0" err="1"/>
              <a:t>elbow</a:t>
            </a:r>
            <a:r>
              <a:rPr lang="ru-RU" sz="2400" dirty="0"/>
              <a:t> </a:t>
            </a:r>
            <a:r>
              <a:rPr lang="ru-RU" sz="2400" dirty="0" err="1"/>
              <a:t>method</a:t>
            </a:r>
            <a:r>
              <a:rPr lang="ru-RU" sz="2400" dirty="0"/>
              <a:t>, </a:t>
            </a:r>
            <a:r>
              <a:rPr lang="ru-RU" sz="2400" dirty="0" err="1"/>
              <a:t>silhouette</a:t>
            </a:r>
            <a:r>
              <a:rPr lang="ru-RU" sz="2400" dirty="0"/>
              <a:t>)</a:t>
            </a:r>
          </a:p>
          <a:p>
            <a:pPr algn="just"/>
            <a:r>
              <a:rPr lang="ru-RU" sz="2400" dirty="0"/>
              <a:t>Визуализировать кластеры с помощью PCA</a:t>
            </a:r>
          </a:p>
          <a:p>
            <a:pPr algn="just"/>
            <a:r>
              <a:rPr lang="ru-RU" sz="2400" dirty="0"/>
              <a:t>Сравнить результаты кластеризации с истинными классами</a:t>
            </a:r>
          </a:p>
          <a:p>
            <a:pPr algn="just"/>
            <a:r>
              <a:rPr lang="ru-RU" sz="2400" dirty="0"/>
              <a:t>Понять различие между обучением «с учителем» и «без учителя»</a:t>
            </a:r>
          </a:p>
        </p:txBody>
      </p:sp>
    </p:spTree>
    <p:extLst>
      <p:ext uri="{BB962C8B-B14F-4D97-AF65-F5344CB8AC3E}">
        <p14:creationId xmlns:p14="http://schemas.microsoft.com/office/powerpoint/2010/main" val="282407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Обучение без учителя — что это?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dirty="0"/>
              <a:t>Supervised </a:t>
            </a:r>
            <a:r>
              <a:rPr lang="ru-RU" sz="2400" b="1" dirty="0" err="1"/>
              <a:t>vs</a:t>
            </a:r>
            <a:r>
              <a:rPr lang="ru-RU" sz="2400" b="1" dirty="0"/>
              <a:t> </a:t>
            </a:r>
            <a:r>
              <a:rPr lang="ru-RU" sz="2400" b="1" dirty="0" err="1"/>
              <a:t>Unsupervised</a:t>
            </a:r>
            <a:r>
              <a:rPr lang="ru-RU" sz="2400" b="1" dirty="0"/>
              <a:t> Learning</a:t>
            </a:r>
          </a:p>
          <a:p>
            <a:pPr marL="0" indent="0" algn="just">
              <a:buNone/>
            </a:pPr>
            <a:r>
              <a:rPr lang="ru-RU" sz="2400" dirty="0"/>
              <a:t>С учителем (Supervised):</a:t>
            </a:r>
          </a:p>
          <a:p>
            <a:pPr algn="just"/>
            <a:r>
              <a:rPr lang="ru-RU" sz="2400" dirty="0"/>
              <a:t>Есть целевая переменная (метки классов: «рак»/«здоров»)</a:t>
            </a:r>
          </a:p>
          <a:p>
            <a:pPr algn="just"/>
            <a:r>
              <a:rPr lang="ru-RU" sz="2400" dirty="0"/>
              <a:t>Модель учится предсказывать известные метки</a:t>
            </a:r>
          </a:p>
          <a:p>
            <a:pPr algn="just"/>
            <a:r>
              <a:rPr lang="ru-RU" sz="2400" dirty="0"/>
              <a:t>Примеры: логистическая регрессия, </a:t>
            </a:r>
            <a:r>
              <a:rPr lang="ru-RU" sz="2400" dirty="0" err="1"/>
              <a:t>Random</a:t>
            </a:r>
            <a:r>
              <a:rPr lang="ru-RU" sz="2400" dirty="0"/>
              <a:t> </a:t>
            </a:r>
            <a:r>
              <a:rPr lang="ru-RU" sz="2400" dirty="0" err="1"/>
              <a:t>Forest</a:t>
            </a:r>
            <a:r>
              <a:rPr lang="ru-RU" sz="2400" dirty="0"/>
              <a:t>, SVM</a:t>
            </a:r>
          </a:p>
          <a:p>
            <a:pPr marL="0" indent="0" algn="just">
              <a:buNone/>
            </a:pPr>
            <a:r>
              <a:rPr lang="ru-RU" sz="2400" dirty="0"/>
              <a:t>Без учителя (</a:t>
            </a:r>
            <a:r>
              <a:rPr lang="ru-RU" sz="2400" dirty="0" err="1"/>
              <a:t>Unsupervised</a:t>
            </a:r>
            <a:r>
              <a:rPr lang="ru-RU" sz="2400" dirty="0"/>
              <a:t>):</a:t>
            </a:r>
          </a:p>
          <a:p>
            <a:pPr algn="just"/>
            <a:r>
              <a:rPr lang="ru-RU" sz="2400" dirty="0"/>
              <a:t>Нет целевой переменной — только признаки</a:t>
            </a:r>
          </a:p>
          <a:p>
            <a:pPr algn="just"/>
            <a:r>
              <a:rPr lang="ru-RU" sz="2400" dirty="0"/>
              <a:t>Модель ищет структуру в данных автоматически</a:t>
            </a:r>
          </a:p>
          <a:p>
            <a:pPr algn="just"/>
            <a:r>
              <a:rPr lang="ru-RU" sz="2400" dirty="0"/>
              <a:t>Примеры: K-</a:t>
            </a:r>
            <a:r>
              <a:rPr lang="ru-RU" sz="2400" dirty="0" err="1"/>
              <a:t>means</a:t>
            </a:r>
            <a:r>
              <a:rPr lang="ru-RU" sz="2400" dirty="0"/>
              <a:t>, иерархическая кластеризация, PCA</a:t>
            </a:r>
          </a:p>
          <a:p>
            <a:pPr marL="0" indent="0" algn="just">
              <a:buNone/>
            </a:pPr>
            <a:r>
              <a:rPr lang="ru-RU" sz="2400" dirty="0"/>
              <a:t>Зачем? Выявление подтипов заболеваний, стратификация пациентов, разведочный анализ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14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Датасет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Breast Cancer Wisconsin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2400" b="1" dirty="0" err="1"/>
              <a:t>Breast</a:t>
            </a:r>
            <a:r>
              <a:rPr lang="ru-RU" sz="2400" b="1" dirty="0"/>
              <a:t> </a:t>
            </a:r>
            <a:r>
              <a:rPr lang="ru-RU" sz="2400" b="1" dirty="0" err="1"/>
              <a:t>Cancer</a:t>
            </a:r>
            <a:r>
              <a:rPr lang="ru-RU" sz="2400" b="1" dirty="0"/>
              <a:t> </a:t>
            </a:r>
            <a:r>
              <a:rPr lang="ru-RU" sz="2400" b="1" dirty="0" err="1"/>
              <a:t>Wisconsin</a:t>
            </a:r>
            <a:r>
              <a:rPr lang="ru-RU" sz="2400" b="1" dirty="0"/>
              <a:t> (</a:t>
            </a:r>
            <a:r>
              <a:rPr lang="ru-RU" sz="2400" b="1" dirty="0" err="1"/>
              <a:t>Diagnostic</a:t>
            </a:r>
            <a:r>
              <a:rPr lang="ru-RU" sz="2400" b="1" dirty="0"/>
              <a:t>)</a:t>
            </a:r>
          </a:p>
          <a:p>
            <a:pPr marL="0" indent="0" algn="just">
              <a:buNone/>
            </a:pPr>
            <a:r>
              <a:rPr lang="ru-RU" sz="2400" dirty="0"/>
              <a:t>Источник: UCI Machine Learning </a:t>
            </a:r>
            <a:r>
              <a:rPr lang="ru-RU" sz="2400" dirty="0" err="1"/>
              <a:t>Repository</a:t>
            </a:r>
            <a:r>
              <a:rPr lang="ru-RU" sz="2400" dirty="0"/>
              <a:t> / </a:t>
            </a:r>
            <a:r>
              <a:rPr lang="ru-RU" sz="2400" dirty="0" err="1"/>
              <a:t>mlbench</a:t>
            </a:r>
            <a:endParaRPr lang="ru-RU" sz="2400" dirty="0"/>
          </a:p>
          <a:p>
            <a:pPr marL="0" indent="0" algn="just">
              <a:buNone/>
            </a:pPr>
            <a:r>
              <a:rPr lang="ru-RU" sz="2400" dirty="0"/>
              <a:t>Описание:</a:t>
            </a:r>
          </a:p>
          <a:p>
            <a:pPr algn="just"/>
            <a:r>
              <a:rPr lang="ru-RU" sz="2400" dirty="0"/>
              <a:t>569 пациентов с опухолью молочной железы</a:t>
            </a:r>
          </a:p>
          <a:p>
            <a:pPr algn="just"/>
            <a:r>
              <a:rPr lang="ru-RU" sz="2400" dirty="0"/>
              <a:t>30 числовых признаков (характеристики ядер клеток)</a:t>
            </a:r>
          </a:p>
          <a:p>
            <a:pPr algn="just"/>
            <a:r>
              <a:rPr lang="ru-RU" sz="2400" dirty="0"/>
              <a:t>Целевая переменная: Class (</a:t>
            </a:r>
            <a:r>
              <a:rPr lang="ru-RU" sz="2400" dirty="0" err="1"/>
              <a:t>benign</a:t>
            </a:r>
            <a:r>
              <a:rPr lang="ru-RU" sz="2400" dirty="0"/>
              <a:t> — доброкачественная, </a:t>
            </a:r>
            <a:r>
              <a:rPr lang="ru-RU" sz="2400" dirty="0" err="1"/>
              <a:t>malignant</a:t>
            </a:r>
            <a:r>
              <a:rPr lang="ru-RU" sz="2400" dirty="0"/>
              <a:t> — злокачественная)</a:t>
            </a:r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r>
              <a:rPr lang="ru-RU" sz="2400" dirty="0"/>
              <a:t>Задача кластеризации:</a:t>
            </a:r>
          </a:p>
          <a:p>
            <a:pPr algn="just"/>
            <a:r>
              <a:rPr lang="ru-RU" sz="2400" dirty="0"/>
              <a:t>Игнорируем истинные метки при обучении</a:t>
            </a:r>
          </a:p>
          <a:p>
            <a:pPr algn="just"/>
            <a:r>
              <a:rPr lang="ru-RU" sz="2400" dirty="0"/>
              <a:t>Ищем естественные группы в данных по признакам</a:t>
            </a:r>
          </a:p>
          <a:p>
            <a:pPr algn="just"/>
            <a:r>
              <a:rPr lang="ru-RU" sz="2400" dirty="0"/>
              <a:t>Затем сравниваем найденные кластеры с истинными диагнозами</a:t>
            </a:r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r>
              <a:rPr lang="ru-RU" sz="2400" dirty="0"/>
              <a:t>В R: </a:t>
            </a:r>
            <a:r>
              <a:rPr lang="ru-RU" sz="2400" dirty="0" err="1"/>
              <a:t>mlbench</a:t>
            </a:r>
            <a:r>
              <a:rPr lang="ru-RU" sz="2400" dirty="0"/>
              <a:t>::</a:t>
            </a:r>
            <a:r>
              <a:rPr lang="ru-RU" sz="2400" dirty="0" err="1"/>
              <a:t>BreastCancer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36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Ссылка на скрипт / ноутбук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скрипт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R: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6"/>
              </a:rPr>
              <a:t>https://disk.yandex.ru/d/g-EVorXV2GQ1YA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</a:t>
            </a:r>
            <a:r>
              <a:rPr lang="en-US" sz="2400" dirty="0" err="1">
                <a:latin typeface="+mj-lt"/>
                <a:ea typeface="Cambria Math" panose="02040503050406030204" pitchFamily="18" charset="0"/>
              </a:rPr>
              <a:t>github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 (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все материалы по ДВ3):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7"/>
              </a:rPr>
              <a:t>https://github.com/RamiliaV/DV3_AI_repository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592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План практики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85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Загрузка и предобработка данных</a:t>
            </a:r>
          </a:p>
          <a:p>
            <a:pPr lvl="1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Загрузка </a:t>
            </a:r>
            <a:r>
              <a:rPr lang="ru-RU" b="0" i="0" dirty="0" err="1">
                <a:effectLst/>
                <a:latin typeface="+mj-lt"/>
              </a:rPr>
              <a:t>датасета</a:t>
            </a:r>
            <a:r>
              <a:rPr lang="ru-RU" b="0" i="0" dirty="0">
                <a:effectLst/>
                <a:latin typeface="+mj-lt"/>
              </a:rPr>
              <a:t> BCW</a:t>
            </a:r>
          </a:p>
          <a:p>
            <a:pPr lvl="1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Удаление пропусков и идентификаторов</a:t>
            </a:r>
          </a:p>
          <a:p>
            <a:pPr lvl="1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Преобразование признаков в числовой формат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Стандартизация признаков</a:t>
            </a:r>
          </a:p>
          <a:p>
            <a:pPr lvl="1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Z-</a:t>
            </a:r>
            <a:r>
              <a:rPr lang="ru-RU" b="0" i="0" dirty="0" err="1">
                <a:effectLst/>
                <a:latin typeface="+mj-lt"/>
              </a:rPr>
              <a:t>score</a:t>
            </a:r>
            <a:r>
              <a:rPr lang="ru-RU" b="0" i="0" dirty="0">
                <a:effectLst/>
                <a:latin typeface="+mj-lt"/>
              </a:rPr>
              <a:t> нормализация (обязательно для кластеризации!)	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Выбор числа кластеров</a:t>
            </a:r>
          </a:p>
          <a:p>
            <a:pPr lvl="1">
              <a:buFont typeface="+mj-lt"/>
              <a:buAutoNum type="arabicPeriod"/>
            </a:pPr>
            <a:r>
              <a:rPr lang="ru-RU" b="0" i="0" dirty="0" err="1">
                <a:effectLst/>
                <a:latin typeface="+mj-lt"/>
              </a:rPr>
              <a:t>Elbow</a:t>
            </a:r>
            <a:r>
              <a:rPr lang="ru-RU" b="0" i="0" dirty="0">
                <a:effectLst/>
                <a:latin typeface="+mj-lt"/>
              </a:rPr>
              <a:t> </a:t>
            </a:r>
            <a:r>
              <a:rPr lang="ru-RU" b="0" i="0" dirty="0" err="1">
                <a:effectLst/>
                <a:latin typeface="+mj-lt"/>
              </a:rPr>
              <a:t>method</a:t>
            </a:r>
            <a:r>
              <a:rPr lang="ru-RU" b="0" i="0" dirty="0">
                <a:effectLst/>
                <a:latin typeface="+mj-lt"/>
              </a:rPr>
              <a:t> (метод локтя)</a:t>
            </a:r>
          </a:p>
          <a:p>
            <a:pPr lvl="1">
              <a:buFont typeface="+mj-lt"/>
              <a:buAutoNum type="arabicPeriod"/>
            </a:pPr>
            <a:r>
              <a:rPr lang="ru-RU" b="0" i="0" dirty="0" err="1">
                <a:effectLst/>
                <a:latin typeface="+mj-lt"/>
              </a:rPr>
              <a:t>Silhouette</a:t>
            </a:r>
            <a:r>
              <a:rPr lang="ru-RU" b="0" i="0" dirty="0">
                <a:effectLst/>
                <a:latin typeface="+mj-lt"/>
              </a:rPr>
              <a:t> </a:t>
            </a:r>
            <a:r>
              <a:rPr lang="ru-RU" b="0" i="0" dirty="0" err="1">
                <a:effectLst/>
                <a:latin typeface="+mj-lt"/>
              </a:rPr>
              <a:t>score</a:t>
            </a:r>
            <a:r>
              <a:rPr lang="ru-RU" b="0" i="0" dirty="0">
                <a:effectLst/>
                <a:latin typeface="+mj-lt"/>
              </a:rPr>
              <a:t> (индекс силуэта)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K-</a:t>
            </a:r>
            <a:r>
              <a:rPr lang="ru-RU" b="0" i="0" dirty="0" err="1">
                <a:effectLst/>
                <a:latin typeface="+mj-lt"/>
              </a:rPr>
              <a:t>means</a:t>
            </a:r>
            <a:r>
              <a:rPr lang="ru-RU" b="0" i="0" dirty="0">
                <a:effectLst/>
                <a:latin typeface="+mj-lt"/>
              </a:rPr>
              <a:t> кластеризация</a:t>
            </a:r>
          </a:p>
          <a:p>
            <a:pPr lvl="1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Запуск алгоритма K-</a:t>
            </a:r>
            <a:r>
              <a:rPr lang="ru-RU" b="0" i="0" dirty="0" err="1">
                <a:effectLst/>
                <a:latin typeface="+mj-lt"/>
              </a:rPr>
              <a:t>means</a:t>
            </a:r>
            <a:endParaRPr lang="ru-RU" b="0" i="0" dirty="0">
              <a:effectLst/>
              <a:latin typeface="+mj-lt"/>
            </a:endParaRPr>
          </a:p>
          <a:p>
            <a:pPr lvl="1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Визуализация через PCA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Иерархическая кластеризация</a:t>
            </a:r>
          </a:p>
          <a:p>
            <a:pPr lvl="1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Построение </a:t>
            </a:r>
            <a:r>
              <a:rPr lang="ru-RU" b="0" i="0" dirty="0" err="1">
                <a:effectLst/>
                <a:latin typeface="+mj-lt"/>
              </a:rPr>
              <a:t>дендрограммы</a:t>
            </a:r>
            <a:endParaRPr lang="ru-RU" b="0" i="0" dirty="0">
              <a:effectLst/>
              <a:latin typeface="+mj-lt"/>
            </a:endParaRPr>
          </a:p>
          <a:p>
            <a:pPr lvl="1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Сравнение с K-</a:t>
            </a:r>
            <a:r>
              <a:rPr lang="ru-RU" b="0" i="0" dirty="0" err="1">
                <a:effectLst/>
                <a:latin typeface="+mj-lt"/>
              </a:rPr>
              <a:t>means</a:t>
            </a:r>
            <a:endParaRPr lang="ru-RU" b="0" i="0" dirty="0"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Сравнение с истинными классами</a:t>
            </a:r>
          </a:p>
          <a:p>
            <a:pPr lvl="1">
              <a:buFont typeface="+mj-lt"/>
              <a:buAutoNum type="arabicPeriod"/>
            </a:pPr>
            <a:r>
              <a:rPr lang="ru-RU" b="0" i="0" dirty="0">
                <a:effectLst/>
                <a:latin typeface="+mj-lt"/>
              </a:rPr>
              <a:t>Оценка соответствия кластеров и диагнозов</a:t>
            </a:r>
          </a:p>
        </p:txBody>
      </p:sp>
    </p:spTree>
    <p:extLst>
      <p:ext uri="{BB962C8B-B14F-4D97-AF65-F5344CB8AC3E}">
        <p14:creationId xmlns:p14="http://schemas.microsoft.com/office/powerpoint/2010/main" val="2649390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Загрузка и предобработка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2"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Загрузка библиотек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mlbench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dplyr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library(ggplot2)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Загрузка </a:t>
            </a:r>
            <a:r>
              <a:rPr lang="ru-RU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датасета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data(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BreastCancer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df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BreastCancer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Просмотр структуры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str(df)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head(df)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Удаление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ID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и пропусков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df &lt;- df %&gt;%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select(-Id) %&gt;%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na.omit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Преобразование признаков в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numeric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df_numeric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df %&gt;%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mutate(across(-Class,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as.numeric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Сохраняем истинные метки отдельно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true_labels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df_numeric$Class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Удаляем целевую переменную для кластеризации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df_features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df_numeric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%&gt;% select(-Class)</a:t>
            </a:r>
          </a:p>
        </p:txBody>
      </p:sp>
    </p:spTree>
    <p:extLst>
      <p:ext uri="{BB962C8B-B14F-4D97-AF65-F5344CB8AC3E}">
        <p14:creationId xmlns:p14="http://schemas.microsoft.com/office/powerpoint/2010/main" val="87833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B7ECF3-2622-4F98-8EB6-7F5162A4E2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109" b="25412"/>
          <a:stretch/>
        </p:blipFill>
        <p:spPr>
          <a:xfrm>
            <a:off x="174322" y="3531032"/>
            <a:ext cx="11430000" cy="3245476"/>
          </a:xfrm>
          <a:prstGeom prst="rect">
            <a:avLst/>
          </a:prstGeom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Стандартизация признаков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Почему стандартизация критична?</a:t>
            </a: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K-</a:t>
            </a:r>
            <a:r>
              <a:rPr lang="ru-RU" sz="2400" dirty="0" err="1">
                <a:latin typeface="+mj-lt"/>
                <a:ea typeface="Cambria Math" panose="02040503050406030204" pitchFamily="18" charset="0"/>
              </a:rPr>
              <a:t>means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 использует евклидово расстояние. Если признаки в разных масштабах:</a:t>
            </a:r>
          </a:p>
          <a:p>
            <a:pPr marL="0" indent="0" algn="just">
              <a:buNone/>
            </a:pPr>
            <a:r>
              <a:rPr lang="ru-RU" sz="2400" dirty="0" err="1">
                <a:latin typeface="+mj-lt"/>
                <a:ea typeface="Cambria Math" panose="02040503050406030204" pitchFamily="18" charset="0"/>
              </a:rPr>
              <a:t>Cell.size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 = 1–10</a:t>
            </a:r>
          </a:p>
          <a:p>
            <a:pPr marL="0" indent="0" algn="just">
              <a:buNone/>
            </a:pPr>
            <a:r>
              <a:rPr lang="ru-RU" sz="2400" dirty="0" err="1">
                <a:latin typeface="+mj-lt"/>
                <a:ea typeface="Cambria Math" panose="02040503050406030204" pitchFamily="18" charset="0"/>
              </a:rPr>
              <a:t>Bare.nuclei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 = 1–100</a:t>
            </a: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Алгоритм будет «видеть» только </a:t>
            </a:r>
            <a:r>
              <a:rPr lang="ru-RU" sz="2400" dirty="0" err="1">
                <a:latin typeface="+mj-lt"/>
                <a:ea typeface="Cambria Math" panose="02040503050406030204" pitchFamily="18" charset="0"/>
              </a:rPr>
              <a:t>Bare.nuclei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 и игнорировать </a:t>
            </a:r>
            <a:r>
              <a:rPr lang="ru-RU" sz="2400" dirty="0" err="1">
                <a:latin typeface="+mj-lt"/>
                <a:ea typeface="Cambria Math" panose="02040503050406030204" pitchFamily="18" charset="0"/>
              </a:rPr>
              <a:t>Cell.size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.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0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FF1F922-62AF-4F77-BF7E-E324956D71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109" b="25412"/>
          <a:stretch/>
        </p:blipFill>
        <p:spPr>
          <a:xfrm>
            <a:off x="174322" y="3531032"/>
            <a:ext cx="11430000" cy="3245476"/>
          </a:xfrm>
          <a:prstGeom prst="rect">
            <a:avLst/>
          </a:prstGeom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Стандартизация признаков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Z-score </a:t>
            </a: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нормализация: (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x - mean) /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sd</a:t>
            </a: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df_scaled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scale(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df_features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Проверка: среднее = 0,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1</a:t>
            </a:r>
          </a:p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colMeans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df_scaled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  # </a:t>
            </a: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должны быть ~0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apply(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df_scaled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2,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  # </a:t>
            </a: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должны быть ~1</a:t>
            </a:r>
          </a:p>
        </p:txBody>
      </p:sp>
    </p:spTree>
    <p:extLst>
      <p:ext uri="{BB962C8B-B14F-4D97-AF65-F5344CB8AC3E}">
        <p14:creationId xmlns:p14="http://schemas.microsoft.com/office/powerpoint/2010/main" val="1136017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Выбор числа кластеров —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Elbow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Method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l"/>
            <a:r>
              <a:rPr lang="ru-RU" b="1" i="0" dirty="0">
                <a:effectLst/>
                <a:latin typeface="+mj-lt"/>
              </a:rPr>
              <a:t>Метод локтя (</a:t>
            </a:r>
            <a:r>
              <a:rPr lang="en-US" b="1" i="0" dirty="0">
                <a:effectLst/>
                <a:latin typeface="+mj-lt"/>
              </a:rPr>
              <a:t>Elbow Method)</a:t>
            </a:r>
            <a:endParaRPr lang="en-US" b="0" i="0" dirty="0">
              <a:effectLst/>
              <a:latin typeface="+mj-lt"/>
            </a:endParaRPr>
          </a:p>
          <a:p>
            <a:pPr algn="l"/>
            <a:r>
              <a:rPr lang="ru-RU" b="1" i="0" dirty="0">
                <a:effectLst/>
                <a:latin typeface="+mj-lt"/>
              </a:rPr>
              <a:t>Идея:</a:t>
            </a:r>
            <a:r>
              <a:rPr lang="ru-RU" b="0" i="0" dirty="0">
                <a:effectLst/>
                <a:latin typeface="+mj-lt"/>
              </a:rPr>
              <a:t> Вычислить </a:t>
            </a:r>
            <a:r>
              <a:rPr lang="en-US" b="0" i="0" dirty="0">
                <a:effectLst/>
                <a:latin typeface="+mj-lt"/>
              </a:rPr>
              <a:t>WCSS (Within-Cluster Sum of Squares) </a:t>
            </a:r>
            <a:r>
              <a:rPr lang="ru-RU" b="0" i="0" dirty="0">
                <a:effectLst/>
                <a:latin typeface="+mj-lt"/>
              </a:rPr>
              <a:t>для </a:t>
            </a:r>
            <a:r>
              <a:rPr lang="en-US" b="0" i="0" dirty="0">
                <a:effectLst/>
                <a:latin typeface="+mj-lt"/>
              </a:rPr>
              <a:t>k = 1, 2, 3, ..., 10</a:t>
            </a:r>
          </a:p>
          <a:p>
            <a:pPr algn="l"/>
            <a:r>
              <a:rPr lang="en-US" b="1" i="0" dirty="0">
                <a:effectLst/>
                <a:latin typeface="+mj-lt"/>
              </a:rPr>
              <a:t>WCSS</a:t>
            </a:r>
            <a:r>
              <a:rPr lang="en-US" b="0" i="0" dirty="0">
                <a:effectLst/>
                <a:latin typeface="+mj-lt"/>
              </a:rPr>
              <a:t> = </a:t>
            </a:r>
            <a:r>
              <a:rPr lang="ru-RU" b="0" i="0" dirty="0">
                <a:effectLst/>
                <a:latin typeface="+mj-lt"/>
              </a:rPr>
              <a:t>сумма квадратов расстояний точек до центра своего кластера</a:t>
            </a:r>
          </a:p>
        </p:txBody>
      </p:sp>
    </p:spTree>
    <p:extLst>
      <p:ext uri="{BB962C8B-B14F-4D97-AF65-F5344CB8AC3E}">
        <p14:creationId xmlns:p14="http://schemas.microsoft.com/office/powerpoint/2010/main" val="2170537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Выбор числа кластеров —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Elbow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Method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Функция для расчёта 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WCSS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wcss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sapply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(1:10, function(k) {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kmeans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df_scaled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centers = k,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nstart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25)$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tot.withinss</a:t>
            </a: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})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График 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elbow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elbow_df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data.frame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(k = 1:10, WCSS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wcss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ggplot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elbow_df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aes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(x = k, y = WCSS)) +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geom_line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(size = 1) +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geom_point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(size = 3) +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labs(title = "Elbow Method </a:t>
            </a: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для выбора 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x = "</a:t>
            </a: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Число кластеров (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k)",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y = "WCSS") +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theme_minimal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47039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Выбор числа кластеров —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Elbow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Method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54CD5872-996F-4C62-9E44-112A619558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256184" y="1327583"/>
            <a:ext cx="7785338" cy="489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35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Выбор числа кластеров —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Silhouette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	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 err="1">
                <a:latin typeface="+mj-lt"/>
                <a:ea typeface="Cambria Math" panose="02040503050406030204" pitchFamily="18" charset="0"/>
              </a:rPr>
              <a:t>Silhouette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 </a:t>
            </a:r>
            <a:r>
              <a:rPr lang="ru-RU" sz="2400" dirty="0" err="1">
                <a:latin typeface="+mj-lt"/>
                <a:ea typeface="Cambria Math" panose="02040503050406030204" pitchFamily="18" charset="0"/>
              </a:rPr>
              <a:t>Score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 (индекс силуэта)</a:t>
            </a: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Формула: </a:t>
            </a:r>
            <a:r>
              <a:rPr lang="ru-RU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s(i) = (b(i) - a(i)) / </a:t>
            </a:r>
            <a:r>
              <a:rPr lang="ru-RU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max</a:t>
            </a:r>
            <a:r>
              <a:rPr lang="ru-RU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(a(i), b(i))</a:t>
            </a: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a(i) — среднее расстояние точки до других точек в своём кластере</a:t>
            </a: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b(i) — среднее расстояние до точек ближайшего соседнего кластера</a:t>
            </a: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Диапазон: от -1 до +1</a:t>
            </a:r>
          </a:p>
          <a:p>
            <a:pPr algn="just"/>
            <a:r>
              <a:rPr lang="ru-RU" sz="2400" dirty="0">
                <a:latin typeface="+mj-lt"/>
                <a:ea typeface="Cambria Math" panose="02040503050406030204" pitchFamily="18" charset="0"/>
              </a:rPr>
              <a:t>&gt; 0.5 — хорошее разделение</a:t>
            </a:r>
          </a:p>
          <a:p>
            <a:pPr algn="just"/>
            <a:r>
              <a:rPr lang="ru-RU" sz="2400" dirty="0">
                <a:latin typeface="+mj-lt"/>
                <a:ea typeface="Cambria Math" panose="02040503050406030204" pitchFamily="18" charset="0"/>
              </a:rPr>
              <a:t>&gt; 0.7 — отличное разделение</a:t>
            </a:r>
          </a:p>
          <a:p>
            <a:pPr algn="just"/>
            <a:r>
              <a:rPr lang="ru-RU" sz="2400" dirty="0">
                <a:latin typeface="+mj-lt"/>
                <a:ea typeface="Cambria Math" panose="02040503050406030204" pitchFamily="18" charset="0"/>
              </a:rPr>
              <a:t>&lt; 0 — точка, возможно, в неправильном кластере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48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Выбор числа кластеров —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Silhouette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	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2">
            <a:normAutofit/>
          </a:bodyPr>
          <a:lstStyle/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library(cluster)</a:t>
            </a:r>
          </a:p>
          <a:p>
            <a:pPr marL="0" indent="0" algn="just">
              <a:buNone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Расчёт 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silhouette </a:t>
            </a: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для 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k = 2..6</a:t>
            </a:r>
          </a:p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sil_scores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sapply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(2:6, function(k) {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km &lt;-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kmeans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df_scaled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centers = k,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nstart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25)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sil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silhouette(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km$cluster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dist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df_scaled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mean(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sil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[, 3])  # </a:t>
            </a: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средний 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silhouette score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})</a:t>
            </a:r>
          </a:p>
          <a:p>
            <a:pPr marL="0" indent="0" algn="just">
              <a:buNone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График</a:t>
            </a:r>
          </a:p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sil_df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data.frame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(k = 2:6, Silhouette =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sil_scores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ggplot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sil_df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aes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(x = k, y = Silhouette)) +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geom_line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(size = 1) +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geom_point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(size = 3) +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labs(title = "Silhouette Score </a:t>
            </a: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для выбора 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k",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x = "</a:t>
            </a: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Число кластеров (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k)",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y = "</a:t>
            </a:r>
            <a:r>
              <a:rPr 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Средний 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Silhouette Score") +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theme_minimal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17142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Выбор числа кластеров —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Silhouette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	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pic>
        <p:nvPicPr>
          <p:cNvPr id="2" name="Объект 1">
            <a:extLst>
              <a:ext uri="{FF2B5EF4-FFF2-40B4-BE49-F238E27FC236}">
                <a16:creationId xmlns:a16="http://schemas.microsoft.com/office/drawing/2014/main" id="{06F748F7-76B7-45C7-A974-022EC7470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114516" y="1187302"/>
            <a:ext cx="8224709" cy="516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89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K-means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кластеризация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Установка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seed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для воспроизводимости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set.seed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(123)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K-means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с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k = 2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km_result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kmeans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df_scaled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centers = 2,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nstart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25)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Номера кластеров для каждого наблюдения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clusters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km_result$cluster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Центры кластеров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km_result$centers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Размеры кластеров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table(clusters)</a:t>
            </a:r>
          </a:p>
        </p:txBody>
      </p:sp>
    </p:spTree>
    <p:extLst>
      <p:ext uri="{BB962C8B-B14F-4D97-AF65-F5344CB8AC3E}">
        <p14:creationId xmlns:p14="http://schemas.microsoft.com/office/powerpoint/2010/main" val="2083719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Визуализация кластеров через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PCA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PCA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pca_result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prcomp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df_scaled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scale. = FALSE)  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уже стандартизовано</a:t>
            </a:r>
          </a:p>
          <a:p>
            <a:pPr marL="0" indent="0" algn="just">
              <a:buNone/>
            </a:pP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Извлечение первых двух компонент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pca_data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data.frame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PC1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pca_result$x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[, 1],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PC2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pca_result$x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[, 2],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Cluster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as.factor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(clusters),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TrueClass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true_labels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График кластеров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K-means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ggplot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pca_data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(x = PC1, y = PC2, color = Cluster)) +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geom_point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(size = 2, alpha = 0.7) +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labs(title = "K-means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кластеризация (визуализация через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PCA)",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x = "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Главная компонента 1",</a:t>
            </a: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y = "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Главная компонента 2") +</a:t>
            </a: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theme_minimal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58770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Визуализация кластеров через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PCA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C042C49E-BC9C-40CA-B45F-1DB8BE245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542066" y="1187301"/>
            <a:ext cx="8336030" cy="523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22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Иерархическая кластеризация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000" b="1" i="0" dirty="0" err="1">
                <a:effectLst/>
                <a:latin typeface="+mj-lt"/>
              </a:rPr>
              <a:t>Hierarchical</a:t>
            </a:r>
            <a:r>
              <a:rPr lang="ru-RU" sz="2000" b="1" i="0" dirty="0">
                <a:effectLst/>
                <a:latin typeface="+mj-lt"/>
              </a:rPr>
              <a:t> </a:t>
            </a:r>
            <a:r>
              <a:rPr lang="ru-RU" sz="2000" b="1" i="0" dirty="0" err="1">
                <a:effectLst/>
                <a:latin typeface="+mj-lt"/>
              </a:rPr>
              <a:t>Clustering</a:t>
            </a:r>
            <a:endParaRPr lang="ru-RU" sz="2000" b="1" i="0" dirty="0">
              <a:effectLst/>
              <a:latin typeface="+mj-lt"/>
            </a:endParaRPr>
          </a:p>
          <a:p>
            <a:pPr marL="0" indent="0" algn="l">
              <a:buNone/>
            </a:pPr>
            <a:r>
              <a:rPr lang="ru-RU" sz="2000" i="0" dirty="0">
                <a:effectLst/>
                <a:latin typeface="+mj-lt"/>
              </a:rPr>
              <a:t>Алгоритм:</a:t>
            </a:r>
          </a:p>
          <a:p>
            <a:pPr algn="l">
              <a:buFont typeface="+mj-lt"/>
              <a:buAutoNum type="arabicPeriod"/>
            </a:pPr>
            <a:r>
              <a:rPr lang="ru-RU" sz="2000" i="0" dirty="0">
                <a:effectLst/>
                <a:latin typeface="+mj-lt"/>
              </a:rPr>
              <a:t>Каждая точка — отдельный кластер</a:t>
            </a:r>
          </a:p>
          <a:p>
            <a:pPr algn="l">
              <a:buFont typeface="+mj-lt"/>
              <a:buAutoNum type="arabicPeriod"/>
            </a:pPr>
            <a:r>
              <a:rPr lang="ru-RU" sz="2000" i="0" dirty="0">
                <a:effectLst/>
                <a:latin typeface="+mj-lt"/>
              </a:rPr>
              <a:t>Объединяем два ближайших кластера</a:t>
            </a:r>
          </a:p>
          <a:p>
            <a:pPr algn="l">
              <a:buFont typeface="+mj-lt"/>
              <a:buAutoNum type="arabicPeriod"/>
            </a:pPr>
            <a:r>
              <a:rPr lang="ru-RU" sz="2000" i="0" dirty="0">
                <a:effectLst/>
                <a:latin typeface="+mj-lt"/>
              </a:rPr>
              <a:t>Повторяем до одного кластера</a:t>
            </a:r>
          </a:p>
          <a:p>
            <a:pPr algn="l">
              <a:buFont typeface="+mj-lt"/>
              <a:buAutoNum type="arabicPeriod"/>
            </a:pPr>
            <a:r>
              <a:rPr lang="ru-RU" sz="2000" i="0" dirty="0">
                <a:effectLst/>
                <a:latin typeface="+mj-lt"/>
              </a:rPr>
              <a:t>Результат — </a:t>
            </a:r>
            <a:r>
              <a:rPr lang="ru-RU" sz="2000" i="0" dirty="0" err="1">
                <a:effectLst/>
                <a:latin typeface="+mj-lt"/>
              </a:rPr>
              <a:t>дендрограмма</a:t>
            </a:r>
            <a:r>
              <a:rPr lang="ru-RU" sz="2000" i="0" dirty="0">
                <a:effectLst/>
                <a:latin typeface="+mj-lt"/>
              </a:rPr>
              <a:t> (дерево)</a:t>
            </a:r>
          </a:p>
          <a:p>
            <a:pPr marL="0" indent="0" algn="l">
              <a:buNone/>
            </a:pPr>
            <a:r>
              <a:rPr lang="ru-RU" sz="2000" i="0" dirty="0">
                <a:effectLst/>
                <a:latin typeface="+mj-lt"/>
              </a:rPr>
              <a:t>Методы связи (</a:t>
            </a:r>
            <a:r>
              <a:rPr lang="ru-RU" sz="2000" i="0" dirty="0" err="1">
                <a:effectLst/>
                <a:latin typeface="+mj-lt"/>
              </a:rPr>
              <a:t>linkage</a:t>
            </a:r>
            <a:r>
              <a:rPr lang="ru-RU" sz="2000" i="0" dirty="0">
                <a:effectLst/>
                <a:latin typeface="+mj-lt"/>
              </a:rPr>
              <a:t>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i="0" dirty="0" err="1">
                <a:effectLst/>
                <a:latin typeface="+mj-lt"/>
              </a:rPr>
              <a:t>Complete</a:t>
            </a:r>
            <a:r>
              <a:rPr lang="ru-RU" sz="2000" i="0" dirty="0">
                <a:effectLst/>
                <a:latin typeface="+mj-lt"/>
              </a:rPr>
              <a:t> — расстояние между самыми дальними точками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i="0" dirty="0" err="1">
                <a:effectLst/>
                <a:latin typeface="+mj-lt"/>
              </a:rPr>
              <a:t>Average</a:t>
            </a:r>
            <a:r>
              <a:rPr lang="ru-RU" sz="2000" i="0" dirty="0">
                <a:effectLst/>
                <a:latin typeface="+mj-lt"/>
              </a:rPr>
              <a:t> — среднее расстояние (рекомендуется)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i="0" dirty="0">
                <a:effectLst/>
                <a:latin typeface="+mj-lt"/>
              </a:rPr>
              <a:t>Single — расстояние между ближайшими точками</a:t>
            </a:r>
          </a:p>
        </p:txBody>
      </p:sp>
    </p:spTree>
    <p:extLst>
      <p:ext uri="{BB962C8B-B14F-4D97-AF65-F5344CB8AC3E}">
        <p14:creationId xmlns:p14="http://schemas.microsoft.com/office/powerpoint/2010/main" val="3419214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Иерархическая кластеризация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Матрица расстояний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dist_matrix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dist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df_scaled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method = "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euclidean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Иерархическая кластеризация (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average linkage)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hc_result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hclust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dist_matrix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method = "average")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Дендрограмма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plot(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hc_result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labels = FALSE, 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main = "</a:t>
            </a:r>
            <a:r>
              <a:rPr lang="ru-RU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Дендрограмма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иерархической кластеризации",</a:t>
            </a: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xlab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"",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ylab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"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Высота",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sub = "")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Разрезаем дерево на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k = 2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кластера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hc_clusters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cutree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hc_result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k = 2)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Добавляем прямоугольники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rect.hclust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hc_result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k = 2, border = "red")</a:t>
            </a:r>
          </a:p>
        </p:txBody>
      </p:sp>
    </p:spTree>
    <p:extLst>
      <p:ext uri="{BB962C8B-B14F-4D97-AF65-F5344CB8AC3E}">
        <p14:creationId xmlns:p14="http://schemas.microsoft.com/office/powerpoint/2010/main" val="2901456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Иерархическая кластеризация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C2ED94E-E754-4AF4-8D2E-DA0D2BC989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551723" y="1212588"/>
            <a:ext cx="10706786" cy="535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32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 K-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means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и иерархической кластеризации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Добавляем иерархические кластеры в данные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pca_data$HierCluster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as.factor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hc_clusters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График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K-means vs Hierarchical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gridExtra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p1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ggplot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pca_data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(x = PC1, y = PC2, color = Cluster)) +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geom_point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(size = 2, alpha = 0.7) +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labs(title = "K-means") +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theme_minimal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p2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ggplot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pca_data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(x = PC1, y = PC2, color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HierCluster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)) +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geom_point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(size = 2, alpha = 0.7) +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labs(title = "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Иерархическая") +</a:t>
            </a: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theme_minimal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grid.arrange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(p1, p2,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ncol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2)</a:t>
            </a:r>
          </a:p>
        </p:txBody>
      </p:sp>
    </p:spTree>
    <p:extLst>
      <p:ext uri="{BB962C8B-B14F-4D97-AF65-F5344CB8AC3E}">
        <p14:creationId xmlns:p14="http://schemas.microsoft.com/office/powerpoint/2010/main" val="990916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 K-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means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и иерархической кластеризации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pic>
        <p:nvPicPr>
          <p:cNvPr id="2" name="Объект 1">
            <a:extLst>
              <a:ext uri="{FF2B5EF4-FFF2-40B4-BE49-F238E27FC236}">
                <a16:creationId xmlns:a16="http://schemas.microsoft.com/office/drawing/2014/main" id="{38FEC97F-4275-4611-8020-8109DC8CB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334216" y="1117057"/>
            <a:ext cx="1135380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841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 с истинными классами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График: истинные классы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ggplot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pca_data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(x = PC1, y = PC2, color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TrueClass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)) +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geom_point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(size = 2, alpha = 0.7) +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labs(title = "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Истинные диагнозы (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benign/malignant)",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color = "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Диагноз") +</a:t>
            </a: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theme_minimal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Таблица сопряжённости: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K-means vs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Истина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table(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KMeans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clusters, Truth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true_labels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Таблица сопряжённости: Иерархическая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vs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Истина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table(Hierarchical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hc_clusters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Truth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true_labels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27519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 с истинными классами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2BBF7F5A-2D68-46E8-9A82-B632D2823A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675676" y="1116526"/>
            <a:ext cx="8670880" cy="544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67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Оценка качества кластеризации: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Adjusted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Rand Index (ARI)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mclust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ARI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для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K-means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ari_kmeans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adjustedRandIndex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(clusters,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true_labels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cat("ARI (K-means):", round(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ari_kmeans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3), "\n")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ARI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для иерархической кластеризации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ari_hc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adjustedRandIndex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hc_clusters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true_labels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cat("ARI (Hierarchical):", round(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ari_hc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3), "\n")</a:t>
            </a:r>
          </a:p>
        </p:txBody>
      </p:sp>
    </p:spTree>
    <p:extLst>
      <p:ext uri="{BB962C8B-B14F-4D97-AF65-F5344CB8AC3E}">
        <p14:creationId xmlns:p14="http://schemas.microsoft.com/office/powerpoint/2010/main" val="1053772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Визуализация в виде тепловой карты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145594"/>
            <a:ext cx="11423283" cy="5677647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Для наглядности возьмём первые 100 образцов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n_show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min(100,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nrow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bcw_scaled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heat_data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bcw_scaled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[1:n_show, ]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Аннотация строк: кластеры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K-means,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иерархические и истинный класс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annotation_row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data.frame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  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KMeans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factor(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clusters_kmeans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[1:n_show]),  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Hier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= factor(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hc_clusters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[1:n_show]),  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Class 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true_labels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[1:n_show])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rownames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annotation_row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rownames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heat_data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pheatmap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heat_data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        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clustering_distance_rows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"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euclidean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",         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clustering_method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= "average",         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annotation_row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annotation_row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        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show_rownames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= FALSE,         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main = "Heatmap: </a:t>
            </a: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первые 100 образцов,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BCW")</a:t>
            </a:r>
          </a:p>
        </p:txBody>
      </p:sp>
    </p:spTree>
    <p:extLst>
      <p:ext uri="{BB962C8B-B14F-4D97-AF65-F5344CB8AC3E}">
        <p14:creationId xmlns:p14="http://schemas.microsoft.com/office/powerpoint/2010/main" val="23936995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Визуализация в виде тепловой карты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pic>
        <p:nvPicPr>
          <p:cNvPr id="2" name="Объект 1">
            <a:extLst>
              <a:ext uri="{FF2B5EF4-FFF2-40B4-BE49-F238E27FC236}">
                <a16:creationId xmlns:a16="http://schemas.microsoft.com/office/drawing/2014/main" id="{85DF767A-46F1-4C49-84C5-AF77BFC4F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689928" y="1146175"/>
            <a:ext cx="1040892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00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Типичные ошибки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4" name="Объект 3">
            <a:extLst>
              <a:ext uri="{FF2B5EF4-FFF2-40B4-BE49-F238E27FC236}">
                <a16:creationId xmlns:a16="http://schemas.microsoft.com/office/drawing/2014/main" id="{CFC6248E-C812-4662-A865-998838E5B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39" y="1212589"/>
            <a:ext cx="10890161" cy="51956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Частые ошибки при кластеризации:</a:t>
            </a:r>
          </a:p>
          <a:p>
            <a:r>
              <a:rPr lang="ru-RU" dirty="0"/>
              <a:t>Не стандартизировали признаки</a:t>
            </a:r>
          </a:p>
          <a:p>
            <a:pPr lvl="1"/>
            <a:r>
              <a:rPr lang="ru-RU" dirty="0"/>
              <a:t>K-</a:t>
            </a:r>
            <a:r>
              <a:rPr lang="ru-RU" dirty="0" err="1"/>
              <a:t>means</a:t>
            </a:r>
            <a:r>
              <a:rPr lang="ru-RU" dirty="0"/>
              <a:t> чувствителен к масштабу → обязательно </a:t>
            </a:r>
            <a:r>
              <a:rPr lang="ru-RU" dirty="0" err="1"/>
              <a:t>scale</a:t>
            </a:r>
            <a:r>
              <a:rPr lang="ru-RU" dirty="0"/>
              <a:t>()</a:t>
            </a:r>
          </a:p>
          <a:p>
            <a:r>
              <a:rPr lang="ru-RU" dirty="0"/>
              <a:t>Не зафиксировали </a:t>
            </a:r>
            <a:r>
              <a:rPr lang="ru-RU" dirty="0" err="1"/>
              <a:t>seed</a:t>
            </a:r>
            <a:endParaRPr lang="ru-RU" dirty="0"/>
          </a:p>
          <a:p>
            <a:pPr lvl="1"/>
            <a:r>
              <a:rPr lang="ru-RU" dirty="0"/>
              <a:t>K-</a:t>
            </a:r>
            <a:r>
              <a:rPr lang="ru-RU" dirty="0" err="1"/>
              <a:t>means</a:t>
            </a:r>
            <a:r>
              <a:rPr lang="ru-RU" dirty="0"/>
              <a:t> случайный → </a:t>
            </a:r>
            <a:r>
              <a:rPr lang="ru-RU" dirty="0" err="1"/>
              <a:t>set.seed</a:t>
            </a:r>
            <a:r>
              <a:rPr lang="ru-RU" dirty="0"/>
              <a:t>() для воспроизводимости</a:t>
            </a:r>
          </a:p>
          <a:p>
            <a:r>
              <a:rPr lang="ru-RU" dirty="0"/>
              <a:t>Выбрали k = 1 (один кластер)</a:t>
            </a:r>
          </a:p>
          <a:p>
            <a:pPr lvl="1"/>
            <a:r>
              <a:rPr lang="ru-RU" dirty="0"/>
              <a:t>Бессмысленно → минимум k = 2</a:t>
            </a:r>
          </a:p>
          <a:p>
            <a:r>
              <a:rPr lang="ru-RU" dirty="0"/>
              <a:t>Используют Class в кластеризации</a:t>
            </a:r>
          </a:p>
          <a:p>
            <a:pPr lvl="1"/>
            <a:r>
              <a:rPr lang="ru-RU" dirty="0"/>
              <a:t>Это </a:t>
            </a:r>
            <a:r>
              <a:rPr lang="ru-RU" dirty="0" err="1"/>
              <a:t>unsupervised</a:t>
            </a:r>
            <a:r>
              <a:rPr lang="ru-RU" dirty="0"/>
              <a:t>! → удалите целевую переменную перед кластеризацией</a:t>
            </a:r>
          </a:p>
          <a:p>
            <a:r>
              <a:rPr lang="ru-RU" dirty="0"/>
              <a:t>Забыли параметр </a:t>
            </a:r>
            <a:r>
              <a:rPr lang="ru-RU" dirty="0" err="1"/>
              <a:t>nstart</a:t>
            </a:r>
            <a:endParaRPr lang="ru-RU" dirty="0"/>
          </a:p>
          <a:p>
            <a:pPr lvl="1"/>
            <a:r>
              <a:rPr lang="ru-RU" dirty="0"/>
              <a:t>K-</a:t>
            </a:r>
            <a:r>
              <a:rPr lang="ru-RU" dirty="0" err="1"/>
              <a:t>means</a:t>
            </a:r>
            <a:r>
              <a:rPr lang="ru-RU" dirty="0"/>
              <a:t> зависит от начальной инициализации → </a:t>
            </a:r>
            <a:r>
              <a:rPr lang="ru-RU" dirty="0" err="1"/>
              <a:t>nstart</a:t>
            </a:r>
            <a:r>
              <a:rPr lang="ru-RU" dirty="0"/>
              <a:t> = 25 гарантирует лучший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4051686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Обсуждение: С учителем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vs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Без учителя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A958CD99-D7A6-4702-993E-F858045A5E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279458"/>
              </p:ext>
            </p:extLst>
          </p:nvPr>
        </p:nvGraphicFramePr>
        <p:xfrm>
          <a:off x="636588" y="2370773"/>
          <a:ext cx="10515600" cy="338328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0363267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836743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13316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Аспект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С учителем</a:t>
                      </a:r>
                      <a:endParaRPr lang="ru-RU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Без учителя</a:t>
                      </a:r>
                      <a:endParaRPr lang="ru-RU">
                        <a:effectLst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968962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Данные</a:t>
                      </a:r>
                      <a:endParaRPr lang="ru-RU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Есть метки классов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Нет меток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96185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Цель</a:t>
                      </a:r>
                      <a:endParaRPr lang="ru-RU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Предсказать класс нового образца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Найти структуру в данных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259259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Примеры</a:t>
                      </a:r>
                      <a:endParaRPr lang="ru-RU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Диагностика (рак/не рак), прогноз рецидива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Выявление подтипов, стратификация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339982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Оценка</a:t>
                      </a:r>
                      <a:endParaRPr lang="ru-RU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Accuracy, AUC, F1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err="1">
                          <a:effectLst/>
                        </a:rPr>
                        <a:t>Silhouette</a:t>
                      </a:r>
                      <a:r>
                        <a:rPr lang="ru-RU" dirty="0">
                          <a:effectLst/>
                        </a:rPr>
                        <a:t>, ARI (если есть истина)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693986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Когда использовать</a:t>
                      </a:r>
                      <a:endParaRPr lang="ru-RU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Когда диагноз известен и нужна предсказательная модель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Когда ищем неизвестные подгруппы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534325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0988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3215680" y="2852936"/>
            <a:ext cx="6624736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2239</Words>
  <Application>Microsoft Office PowerPoint</Application>
  <PresentationFormat>Широкоэкранный</PresentationFormat>
  <Paragraphs>488</Paragraphs>
  <Slides>31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PT 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Альт</dc:creator>
  <cp:lastModifiedBy>Рамиля Власенкова</cp:lastModifiedBy>
  <cp:revision>52</cp:revision>
  <dcterms:created xsi:type="dcterms:W3CDTF">2025-09-03T07:14:40Z</dcterms:created>
  <dcterms:modified xsi:type="dcterms:W3CDTF">2026-03-03T12:19:08Z</dcterms:modified>
</cp:coreProperties>
</file>