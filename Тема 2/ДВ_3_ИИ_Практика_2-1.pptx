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8" r:id="rId5"/>
    <p:sldId id="279" r:id="rId6"/>
    <p:sldId id="270" r:id="rId7"/>
    <p:sldId id="285" r:id="rId8"/>
    <p:sldId id="286" r:id="rId9"/>
    <p:sldId id="287" r:id="rId10"/>
    <p:sldId id="274" r:id="rId11"/>
    <p:sldId id="303" r:id="rId12"/>
    <p:sldId id="288" r:id="rId13"/>
    <p:sldId id="304" r:id="rId14"/>
    <p:sldId id="289" r:id="rId15"/>
    <p:sldId id="290" r:id="rId16"/>
    <p:sldId id="291" r:id="rId17"/>
    <p:sldId id="305" r:id="rId18"/>
    <p:sldId id="307" r:id="rId19"/>
    <p:sldId id="308" r:id="rId20"/>
    <p:sldId id="309" r:id="rId21"/>
    <p:sldId id="306" r:id="rId22"/>
    <p:sldId id="266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 varScale="1">
        <p:scale>
          <a:sx n="74" d="100"/>
          <a:sy n="74" d="100"/>
        </p:scale>
        <p:origin x="4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9370D-F2D9-4CCE-A730-8C5295B5F53C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35BED-E67C-4CE8-A9D1-79A059B95A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9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5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307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1750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034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424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139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870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9438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9647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86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16938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753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3044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06472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719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661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56927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4689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1789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6578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73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76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02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784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3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3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4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3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184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84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8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10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48A2A-B373-4BED-99C6-55213C852137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github.com/RamiliaV/DV3_AI_repositor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isk.yandex.ru/d/A4CiHUPl3plSzA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0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8;p2">
            <a:extLst>
              <a:ext uri="{FF2B5EF4-FFF2-40B4-BE49-F238E27FC236}">
                <a16:creationId xmlns:a16="http://schemas.microsoft.com/office/drawing/2014/main" id="{0F188103-7B17-734F-BE68-5A893025A082}"/>
              </a:ext>
            </a:extLst>
          </p:cNvPr>
          <p:cNvSpPr txBox="1"/>
          <p:nvPr/>
        </p:nvSpPr>
        <p:spPr>
          <a:xfrm>
            <a:off x="2482607" y="1725043"/>
            <a:ext cx="7997823" cy="4401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Курс ДПП ПП</a:t>
            </a: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Основы биоинформатики и компьютерной биологии</a:t>
            </a:r>
          </a:p>
          <a:p>
            <a:pPr lvl="0" algn="ctr"/>
            <a:endParaRPr lang="ru-RU" sz="2800" b="1" dirty="0">
              <a:solidFill>
                <a:schemeClr val="bg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Алгоритмы искусственного интеллекта в биологии и медицине</a:t>
            </a:r>
          </a:p>
          <a:p>
            <a:pPr lvl="0" algn="ctr"/>
            <a:b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</a:br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Практическое занятие 1. Продвинутое моделирование и оптимизация в биомедицинских задачах</a:t>
            </a:r>
          </a:p>
        </p:txBody>
      </p:sp>
    </p:spTree>
    <p:extLst>
      <p:ext uri="{BB962C8B-B14F-4D97-AF65-F5344CB8AC3E}">
        <p14:creationId xmlns:p14="http://schemas.microsoft.com/office/powerpoint/2010/main" val="2231862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8A76A24-00EA-EE42-8A4F-846D0D0A92B0}"/>
              </a:ext>
            </a:extLst>
          </p:cNvPr>
          <p:cNvGrpSpPr/>
          <p:nvPr/>
        </p:nvGrpSpPr>
        <p:grpSpPr>
          <a:xfrm>
            <a:off x="-50" y="0"/>
            <a:ext cx="827700" cy="6858000"/>
            <a:chOff x="-50" y="0"/>
            <a:chExt cx="827700" cy="5143500"/>
          </a:xfrm>
        </p:grpSpPr>
        <p:sp>
          <p:nvSpPr>
            <p:cNvPr id="25" name="Google Shape;106;p3">
              <a:extLst>
                <a:ext uri="{FF2B5EF4-FFF2-40B4-BE49-F238E27FC236}">
                  <a16:creationId xmlns:a16="http://schemas.microsoft.com/office/drawing/2014/main" id="{1212ABD6-BB78-564D-90F4-45A9BF52F65A}"/>
                </a:ext>
              </a:extLst>
            </p:cNvPr>
            <p:cNvSpPr/>
            <p:nvPr/>
          </p:nvSpPr>
          <p:spPr>
            <a:xfrm>
              <a:off x="-50" y="0"/>
              <a:ext cx="827700" cy="5143500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8" name="Google Shape;107;p3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C968D678-6F52-2F45-8BE7-5E2313AF23D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87534"/>
              <a:ext cx="553050" cy="432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109;p3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1F22E8DB-9008-9D4B-9E64-C397CC33A9D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7087" y="4422472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110;p3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5E9D660B-F40F-CB41-B4B6-62BD62C97A4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87779" y="3741120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Google Shape;111;p3">
              <a:extLst>
                <a:ext uri="{FF2B5EF4-FFF2-40B4-BE49-F238E27FC236}">
                  <a16:creationId xmlns:a16="http://schemas.microsoft.com/office/drawing/2014/main" id="{23A12878-4A5D-E648-A640-94DEA9532F72}"/>
                </a:ext>
              </a:extLst>
            </p:cNvPr>
            <p:cNvSpPr txBox="1"/>
            <p:nvPr/>
          </p:nvSpPr>
          <p:spPr>
            <a:xfrm>
              <a:off x="84051" y="4728776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34" name="Google Shape;112;p3">
              <a:extLst>
                <a:ext uri="{FF2B5EF4-FFF2-40B4-BE49-F238E27FC236}">
                  <a16:creationId xmlns:a16="http://schemas.microsoft.com/office/drawing/2014/main" id="{0525B736-A5F9-A04E-92B8-E50E60AAE2C0}"/>
                </a:ext>
              </a:extLst>
            </p:cNvPr>
            <p:cNvSpPr txBox="1"/>
            <p:nvPr/>
          </p:nvSpPr>
          <p:spPr>
            <a:xfrm>
              <a:off x="84051" y="4083918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37" name="Google Shape;108;p3">
            <a:extLst>
              <a:ext uri="{FF2B5EF4-FFF2-40B4-BE49-F238E27FC236}">
                <a16:creationId xmlns:a16="http://schemas.microsoft.com/office/drawing/2014/main" id="{5493CD04-205D-294C-BD53-0914C34565C1}"/>
              </a:ext>
            </a:extLst>
          </p:cNvPr>
          <p:cNvSpPr txBox="1"/>
          <p:nvPr/>
        </p:nvSpPr>
        <p:spPr>
          <a:xfrm>
            <a:off x="964967" y="220551"/>
            <a:ext cx="734481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549F"/>
                </a:solidFill>
                <a:latin typeface="PT Sans"/>
                <a:ea typeface="PT Sans"/>
                <a:cs typeface="PT Sans"/>
                <a:sym typeface="PT Sans"/>
              </a:rPr>
              <a:t>Введение</a:t>
            </a:r>
            <a:endParaRPr lang="en-US" dirty="0">
              <a:solidFill>
                <a:srgbClr val="00549F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" name="Объект 2"/>
          <p:cNvSpPr>
            <a:spLocks noGrp="1"/>
          </p:cNvSpPr>
          <p:nvPr>
            <p:ph idx="1"/>
          </p:nvPr>
        </p:nvSpPr>
        <p:spPr>
          <a:xfrm>
            <a:off x="1043608" y="926349"/>
            <a:ext cx="10562698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/>
              <a:t>Цели:</a:t>
            </a:r>
          </a:p>
          <a:p>
            <a:pPr algn="just"/>
            <a:r>
              <a:rPr lang="ru-RU" sz="2400" dirty="0"/>
              <a:t>Обучить модель </a:t>
            </a:r>
            <a:r>
              <a:rPr lang="ru-RU" sz="2400" dirty="0" err="1"/>
              <a:t>Random</a:t>
            </a:r>
            <a:r>
              <a:rPr lang="ru-RU" sz="2400" dirty="0"/>
              <a:t> </a:t>
            </a:r>
            <a:r>
              <a:rPr lang="ru-RU" sz="2400" dirty="0" err="1"/>
              <a:t>Forest</a:t>
            </a:r>
            <a:r>
              <a:rPr lang="ru-RU" sz="2400" dirty="0"/>
              <a:t> на биомедицинских данных </a:t>
            </a:r>
            <a:r>
              <a:rPr lang="ru-RU" sz="2400" dirty="0" err="1"/>
              <a:t>Pima</a:t>
            </a:r>
            <a:r>
              <a:rPr lang="ru-RU" sz="2400" dirty="0"/>
              <a:t> </a:t>
            </a:r>
            <a:r>
              <a:rPr lang="ru-RU" sz="2400" dirty="0" err="1"/>
              <a:t>Indians</a:t>
            </a:r>
            <a:r>
              <a:rPr lang="ru-RU" sz="2400" dirty="0"/>
              <a:t> </a:t>
            </a:r>
            <a:r>
              <a:rPr lang="ru-RU" sz="2400" dirty="0" err="1"/>
              <a:t>Diabetes</a:t>
            </a:r>
            <a:r>
              <a:rPr lang="ru-RU" sz="2400" dirty="0"/>
              <a:t>.</a:t>
            </a:r>
          </a:p>
          <a:p>
            <a:pPr algn="just"/>
            <a:r>
              <a:rPr lang="ru-RU" sz="2400" dirty="0"/>
              <a:t>Освоить два подхода к оценке важности признаков: </a:t>
            </a:r>
            <a:r>
              <a:rPr lang="ru-RU" sz="2400" dirty="0" err="1"/>
              <a:t>Gini</a:t>
            </a:r>
            <a:r>
              <a:rPr lang="ru-RU" sz="2400" dirty="0"/>
              <a:t> и </a:t>
            </a:r>
            <a:r>
              <a:rPr lang="ru-RU" sz="2400" dirty="0" err="1"/>
              <a:t>permutation</a:t>
            </a:r>
            <a:r>
              <a:rPr lang="ru-RU" sz="2400" dirty="0"/>
              <a:t> </a:t>
            </a:r>
            <a:r>
              <a:rPr lang="ru-RU" sz="2400" dirty="0" err="1"/>
              <a:t>importance</a:t>
            </a:r>
            <a:r>
              <a:rPr lang="ru-RU" sz="2400" dirty="0"/>
              <a:t>.</a:t>
            </a:r>
          </a:p>
          <a:p>
            <a:pPr algn="just"/>
            <a:r>
              <a:rPr lang="ru-RU" sz="2400" dirty="0"/>
              <a:t>Выбрать топ‑5 признаков и сравнить качество модели на полном наборе и на сокращённом.</a:t>
            </a:r>
          </a:p>
        </p:txBody>
      </p:sp>
    </p:spTree>
    <p:extLst>
      <p:ext uri="{BB962C8B-B14F-4D97-AF65-F5344CB8AC3E}">
        <p14:creationId xmlns:p14="http://schemas.microsoft.com/office/powerpoint/2010/main" val="2824079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Датасет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Pima Indians Diabetes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just"/>
            <a:r>
              <a:rPr lang="ru-RU" sz="2400" dirty="0"/>
              <a:t>Источник: </a:t>
            </a:r>
            <a:r>
              <a:rPr lang="en-US" sz="2400" dirty="0"/>
              <a:t>Pima Indians Diabetes (UCI / </a:t>
            </a:r>
            <a:r>
              <a:rPr lang="en-US" sz="2400" dirty="0" err="1"/>
              <a:t>mlbench</a:t>
            </a:r>
            <a:r>
              <a:rPr lang="en-US" sz="2400" dirty="0"/>
              <a:t>).</a:t>
            </a:r>
          </a:p>
          <a:p>
            <a:pPr algn="just"/>
            <a:r>
              <a:rPr lang="ru-RU" sz="2400" dirty="0"/>
              <a:t>Описание:</a:t>
            </a:r>
          </a:p>
          <a:p>
            <a:pPr lvl="1" algn="just"/>
            <a:r>
              <a:rPr lang="ru-RU" sz="2000" dirty="0"/>
              <a:t>пациентки пима-индейцы ≥21 года;</a:t>
            </a:r>
          </a:p>
          <a:p>
            <a:pPr lvl="1" algn="just"/>
            <a:r>
              <a:rPr lang="ru-RU" sz="2000" dirty="0"/>
              <a:t>признаки: число беременностей, глюкоза, артериальное давление, </a:t>
            </a:r>
            <a:r>
              <a:rPr lang="en-US" sz="2000" dirty="0"/>
              <a:t>BMI </a:t>
            </a:r>
            <a:r>
              <a:rPr lang="ru-RU" sz="2000" dirty="0"/>
              <a:t>и др.;</a:t>
            </a:r>
          </a:p>
          <a:p>
            <a:pPr lvl="1" algn="just"/>
            <a:r>
              <a:rPr lang="ru-RU" sz="2000" dirty="0"/>
              <a:t>целевая переменная: наличие диабета (</a:t>
            </a:r>
            <a:r>
              <a:rPr lang="en-US" sz="2000" dirty="0"/>
              <a:t>diabetes: neg/pos).</a:t>
            </a:r>
          </a:p>
          <a:p>
            <a:pPr algn="just"/>
            <a:r>
              <a:rPr lang="ru-RU" sz="2400" dirty="0"/>
              <a:t>В </a:t>
            </a:r>
            <a:r>
              <a:rPr lang="en-US" sz="2400" dirty="0"/>
              <a:t>R: </a:t>
            </a:r>
            <a:r>
              <a:rPr lang="en-US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mlbench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::</a:t>
            </a:r>
            <a:r>
              <a:rPr lang="en-US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PimaIndiansDiabetes</a:t>
            </a:r>
            <a:endParaRPr lang="ru-RU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142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Ссылка на скрипт / ноутбук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>
                <a:latin typeface="+mj-lt"/>
                <a:ea typeface="Cambria Math" panose="02040503050406030204" pitchFamily="18" charset="0"/>
              </a:rPr>
              <a:t>Ссылка на скрипт </a:t>
            </a:r>
            <a:r>
              <a:rPr lang="en-US" sz="2400" dirty="0">
                <a:latin typeface="+mj-lt"/>
                <a:ea typeface="Cambria Math" panose="02040503050406030204" pitchFamily="18" charset="0"/>
              </a:rPr>
              <a:t>R:</a:t>
            </a:r>
          </a:p>
          <a:p>
            <a:pPr marL="0" indent="0" algn="just">
              <a:buNone/>
            </a:pPr>
            <a:r>
              <a:rPr lang="en-US" sz="2400" dirty="0">
                <a:latin typeface="+mj-lt"/>
                <a:ea typeface="Cambria Math" panose="02040503050406030204" pitchFamily="18" charset="0"/>
                <a:hlinkClick r:id="rId6"/>
              </a:rPr>
              <a:t>https://disk.yandex.ru/d/A4CiHUPl3plSzA</a:t>
            </a:r>
            <a:endParaRPr lang="ru-RU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+mj-lt"/>
                <a:ea typeface="Cambria Math" panose="02040503050406030204" pitchFamily="18" charset="0"/>
              </a:rPr>
              <a:t>Ссылка на </a:t>
            </a:r>
            <a:r>
              <a:rPr lang="en-US" sz="2400" dirty="0" err="1">
                <a:latin typeface="+mj-lt"/>
                <a:ea typeface="Cambria Math" panose="02040503050406030204" pitchFamily="18" charset="0"/>
              </a:rPr>
              <a:t>github</a:t>
            </a:r>
            <a:r>
              <a:rPr lang="en-US" sz="2400" dirty="0">
                <a:latin typeface="+mj-lt"/>
                <a:ea typeface="Cambria Math" panose="02040503050406030204" pitchFamily="18" charset="0"/>
              </a:rPr>
              <a:t> (</a:t>
            </a:r>
            <a:r>
              <a:rPr lang="ru-RU" sz="2400" dirty="0">
                <a:latin typeface="+mj-lt"/>
                <a:ea typeface="Cambria Math" panose="02040503050406030204" pitchFamily="18" charset="0"/>
              </a:rPr>
              <a:t>все материалы по ДВ3):</a:t>
            </a:r>
          </a:p>
          <a:p>
            <a:pPr marL="0" indent="0" algn="just">
              <a:buNone/>
            </a:pPr>
            <a:r>
              <a:rPr lang="en-US" sz="2400" dirty="0">
                <a:latin typeface="+mj-lt"/>
                <a:ea typeface="Cambria Math" panose="02040503050406030204" pitchFamily="18" charset="0"/>
                <a:hlinkClick r:id="rId7"/>
              </a:rPr>
              <a:t>https://github.com/RamiliaV/DV3_AI_repository</a:t>
            </a:r>
            <a:endParaRPr lang="en-US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+mj-lt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592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Forest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Случайный лес = множество деревьев решений, обученных на </a:t>
            </a:r>
            <a:r>
              <a:rPr lang="ru-RU" b="0" i="0" dirty="0" err="1">
                <a:effectLst/>
              </a:rPr>
              <a:t>бутстрап</a:t>
            </a:r>
            <a:r>
              <a:rPr lang="ru-RU" b="0" i="0" dirty="0">
                <a:effectLst/>
              </a:rPr>
              <a:t>‑выборках.​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В каждом узле дерево выбирает лучший признак из случайного поднабора (</a:t>
            </a:r>
            <a:r>
              <a:rPr lang="ru-RU" b="0" i="0" dirty="0" err="1">
                <a:effectLst/>
              </a:rPr>
              <a:t>mtry</a:t>
            </a:r>
            <a:r>
              <a:rPr lang="ru-RU" b="0" i="0" dirty="0">
                <a:effectLst/>
              </a:rPr>
              <a:t>).​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Преимущества: неплохое качество «из коробки», устойчивость, возможность оценить важность признаков.</a:t>
            </a:r>
          </a:p>
        </p:txBody>
      </p:sp>
    </p:spTree>
    <p:extLst>
      <p:ext uri="{BB962C8B-B14F-4D97-AF65-F5344CB8AC3E}">
        <p14:creationId xmlns:p14="http://schemas.microsoft.com/office/powerpoint/2010/main" val="2649390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Подготовка данных в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mlbench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dplyr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data(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PimaIndiansDiabetes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PimaIndiansDiabetes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|&gt;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filter(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complete.cases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(.)) |&gt;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mutate(diabetes =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ifelse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(diabetes == "pos", 1, 0))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table(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pid_clean$diabetes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783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Разбиение на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train / test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set.seed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(123)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n &lt;-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nrow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train_idx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sample(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seq_len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(n), size = floor(0.7 * n))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train &lt;-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train_idx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]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test  &lt;-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pid_clean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[-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train_idx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]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table(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train$diabetes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table(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36017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Базовый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Forest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randomForest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rf_full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randomForest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factor(diabetes) ~ .,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data  = train,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ntree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= 500,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mtry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= floor(sqrt(</a:t>
            </a: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ncol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(train) - 1)),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importance = TRUE</a:t>
            </a:r>
          </a:p>
          <a:p>
            <a:pPr marL="0" indent="0" algn="l">
              <a:buNone/>
            </a:pP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rf_full</a:t>
            </a:r>
            <a:endParaRPr lang="en-US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039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Качество модели на тесте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pROC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test_prob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predict(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rf_full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test, type = "prob")[, "1"]</a:t>
            </a: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test_pred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ifelse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test_prob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&gt; 0.5, 1, 0)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cm &lt;- table(pred =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test_pred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true =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accuracy &lt;- sum(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diag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(cm)) / sum(cm)</a:t>
            </a:r>
          </a:p>
          <a:p>
            <a:pPr marL="0" indent="0" algn="just">
              <a:buNone/>
            </a:pPr>
            <a:endParaRPr lang="en-US" sz="20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roc_obj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roc(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test_prob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auc_val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0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roc_obj</a:t>
            </a:r>
            <a:r>
              <a:rPr lang="en-US" sz="2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7142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Важность признаков: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Gini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 err="1">
                <a:effectLst/>
              </a:rPr>
              <a:t>Mean</a:t>
            </a:r>
            <a:r>
              <a:rPr lang="ru-RU" sz="3200" b="0" i="0" dirty="0">
                <a:effectLst/>
              </a:rPr>
              <a:t> </a:t>
            </a:r>
            <a:r>
              <a:rPr lang="ru-RU" sz="3200" b="0" i="0" dirty="0" err="1">
                <a:effectLst/>
              </a:rPr>
              <a:t>Decrease</a:t>
            </a:r>
            <a:r>
              <a:rPr lang="ru-RU" sz="3200" b="0" i="0" dirty="0">
                <a:effectLst/>
              </a:rPr>
              <a:t> </a:t>
            </a:r>
            <a:r>
              <a:rPr lang="ru-RU" sz="3200" b="0" i="0" dirty="0" err="1">
                <a:effectLst/>
              </a:rPr>
              <a:t>Gini</a:t>
            </a:r>
            <a:r>
              <a:rPr lang="ru-RU" sz="3200" b="0" i="0" dirty="0">
                <a:effectLst/>
              </a:rPr>
              <a:t> измеряет, насколько признак уменьшает </a:t>
            </a:r>
            <a:r>
              <a:rPr lang="ru-RU" sz="3200" b="0" i="0" dirty="0" err="1">
                <a:effectLst/>
              </a:rPr>
              <a:t>impurity</a:t>
            </a:r>
            <a:r>
              <a:rPr lang="ru-RU" sz="3200" b="0" i="0" dirty="0">
                <a:effectLst/>
              </a:rPr>
              <a:t> в деревьях леса.​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</a:rPr>
              <a:t>Получаем ранжирование признаков по важности (</a:t>
            </a:r>
            <a:r>
              <a:rPr lang="ru-RU" sz="3200" b="0" i="0" dirty="0" err="1">
                <a:effectLst/>
              </a:rPr>
              <a:t>Gini‑based</a:t>
            </a:r>
            <a:r>
              <a:rPr lang="ru-RU" sz="3200" b="0" i="0" dirty="0">
                <a:effectLst/>
              </a:rPr>
              <a:t> </a:t>
            </a:r>
            <a:r>
              <a:rPr lang="ru-RU" sz="3200" b="0" i="0" dirty="0" err="1">
                <a:effectLst/>
              </a:rPr>
              <a:t>feature</a:t>
            </a:r>
            <a:r>
              <a:rPr lang="ru-RU" sz="3200" b="0" i="0" dirty="0">
                <a:effectLst/>
              </a:rPr>
              <a:t> </a:t>
            </a:r>
            <a:r>
              <a:rPr lang="ru-RU" sz="3200" b="0" i="0" dirty="0" err="1">
                <a:effectLst/>
              </a:rPr>
              <a:t>importance</a:t>
            </a:r>
            <a:r>
              <a:rPr lang="ru-RU" sz="3200" b="0" i="0" dirty="0">
                <a:effectLst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8371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Важность признаков: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Gini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imp_gini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importance(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rf_full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type = 2)  #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MeanDecreaseGini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imp_gini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sort(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imp_gini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[, 1], decreasing = TRUE)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imp_gini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857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Важность признаков: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permutation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3600" b="0" i="0" dirty="0">
                <a:effectLst/>
              </a:rPr>
              <a:t>Идея: перетасовать значения одного признака на тестовой выборке, пересчитать качество и измерить падение метрики.</a:t>
            </a:r>
            <a:endParaRPr lang="en-US" sz="4800" i="1" dirty="0"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8770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Важность признаков: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permutation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 fontScale="70000" lnSpcReduction="20000"/>
          </a:bodyPr>
          <a:lstStyle/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perm_importance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function(model, data, target,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metric_fun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base_prob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predict(model,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data, type = "prob")[, "1"]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base_metric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metric_fun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(data[[target]],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base_prob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res &lt;- c()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for (feat in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setdiff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(names(data), target)) {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data_perm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data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data_perm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[[feat]] &lt;- sample(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data_perm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[[feat]])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prob_perm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predict(model,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data_perm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type = "prob")[, "1"]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  res[feat]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base_metric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metric_fun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data_perm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[[target]],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prob_perm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sort(res, decreasing = TRUE)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metric_auc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function(y, p) {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as.numeric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(y, p)) }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perm_importance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rf_full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test, "diabetes",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metric_auc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imp_perm</a:t>
            </a: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180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Сравнение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Gini vs permutation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Построим таблицу: признак, </a:t>
            </a:r>
            <a:r>
              <a:rPr lang="ru-RU" b="0" i="0" dirty="0" err="1">
                <a:effectLst/>
                <a:latin typeface="pplxSerif"/>
              </a:rPr>
              <a:t>Gini‑importance</a:t>
            </a:r>
            <a:r>
              <a:rPr lang="ru-RU" b="0" i="0" dirty="0">
                <a:effectLst/>
                <a:latin typeface="pplxSerif"/>
              </a:rPr>
              <a:t>, </a:t>
            </a:r>
            <a:r>
              <a:rPr lang="ru-RU" b="0" i="0" dirty="0" err="1">
                <a:effectLst/>
                <a:latin typeface="pplxSerif"/>
              </a:rPr>
              <a:t>permutation‑importance</a:t>
            </a:r>
            <a:r>
              <a:rPr lang="ru-RU" b="0" i="0" dirty="0">
                <a:effectLst/>
                <a:latin typeface="pplxSerif"/>
              </a:rPr>
              <a:t>, ранг по каждой метрике.​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Вопросы для обсуждения: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Совпадают ли топ‑признаки в обоих подходах?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Какие признаки «теряют» важность при </a:t>
            </a:r>
            <a:r>
              <a:rPr lang="ru-RU" b="0" i="0" dirty="0" err="1">
                <a:effectLst/>
                <a:latin typeface="pplxSerif"/>
              </a:rPr>
              <a:t>permutation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importance</a:t>
            </a:r>
            <a:r>
              <a:rPr lang="ru-RU" b="0" i="0" dirty="0">
                <a:effectLst/>
                <a:latin typeface="pplxSerif"/>
              </a:rPr>
              <a:t> и почему (корреляции, избыточность)?</a:t>
            </a:r>
            <a:br>
              <a:rPr lang="ru-RU" dirty="0"/>
            </a:br>
            <a:endParaRPr lang="ru-RU" sz="2000" i="0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19214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Отбор топ‑5 признаков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top5 &lt;- names(head(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imp_perm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5))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rf_top5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randomForest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factor(diabetes) ~ .,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data  = train[, c(top5, "diabetes")],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ntree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500,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mtry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 = floor(sqrt(length(top5)))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4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prob_top5 &lt;- predict(rf_top5,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 = test[, c(top5, "diabetes")], type = "prob")[, "1"]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roc_top5 &lt;- roc(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test$diabetes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, prob_top5)</a:t>
            </a:r>
          </a:p>
          <a:p>
            <a:pPr marL="0" indent="0" algn="just">
              <a:buNone/>
            </a:pP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auc_top5 &lt;- </a:t>
            </a:r>
            <a:r>
              <a:rPr lang="en-US" sz="2400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auc</a:t>
            </a:r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(roc_top5)</a:t>
            </a:r>
          </a:p>
        </p:txBody>
      </p:sp>
    </p:spTree>
    <p:extLst>
      <p:ext uri="{BB962C8B-B14F-4D97-AF65-F5344CB8AC3E}">
        <p14:creationId xmlns:p14="http://schemas.microsoft.com/office/powerpoint/2010/main" val="2901456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7F485B4-11F7-4225-B5F4-38F489E84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518" y="1424739"/>
            <a:ext cx="7044160" cy="4321018"/>
          </a:xfrm>
          <a:prstGeom prst="rect">
            <a:avLst/>
          </a:prstGeom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Сравнение моделей: все признаки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vs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топ‑5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Базовая модель (все признаки):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pplxSerif"/>
              </a:rPr>
              <a:t>Accuracy = 0.75</a:t>
            </a:r>
            <a:endParaRPr lang="ru-RU" b="0" i="0" dirty="0">
              <a:effectLst/>
              <a:latin typeface="pplxSerif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pplxSerif"/>
              </a:rPr>
              <a:t>AUC‑ROC = 0.</a:t>
            </a:r>
            <a:r>
              <a:rPr lang="ru-RU" b="0" i="0" dirty="0">
                <a:effectLst/>
                <a:latin typeface="pplxSerif"/>
              </a:rPr>
              <a:t>83</a:t>
            </a:r>
            <a:endParaRPr lang="en-US" b="0" i="0" dirty="0">
              <a:effectLst/>
              <a:latin typeface="pplxSeri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Модель с топ‑10 признаками: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pplxSerif"/>
              </a:rPr>
              <a:t>Accuracy = </a:t>
            </a:r>
            <a:r>
              <a:rPr lang="ru-RU" b="0" i="0" dirty="0">
                <a:effectLst/>
                <a:latin typeface="pplxSerif"/>
              </a:rPr>
              <a:t>0.74</a:t>
            </a:r>
            <a:endParaRPr lang="en-US" b="0" i="0" dirty="0">
              <a:effectLst/>
              <a:latin typeface="pplxSerif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pplxSerif"/>
              </a:rPr>
              <a:t>AUC‑ROC = </a:t>
            </a:r>
            <a:r>
              <a:rPr lang="ru-RU" b="0" i="0" dirty="0">
                <a:effectLst/>
                <a:latin typeface="pplxSerif"/>
              </a:rPr>
              <a:t>0.84</a:t>
            </a:r>
            <a:endParaRPr lang="en-US" b="0" i="0" dirty="0">
              <a:effectLst/>
              <a:latin typeface="pplxSerif"/>
            </a:endParaRPr>
          </a:p>
        </p:txBody>
      </p:sp>
    </p:spTree>
    <p:extLst>
      <p:ext uri="{BB962C8B-B14F-4D97-AF65-F5344CB8AC3E}">
        <p14:creationId xmlns:p14="http://schemas.microsoft.com/office/powerpoint/2010/main" val="990916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Связь с Заданием 3 (BCW)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 самостоятельном Задании 3 вы повторите аналогичный </a:t>
            </a:r>
            <a:r>
              <a:rPr lang="ru-RU" b="0" i="0" dirty="0" err="1">
                <a:effectLst/>
                <a:latin typeface="pplxSerif"/>
              </a:rPr>
              <a:t>pipeline</a:t>
            </a:r>
            <a:r>
              <a:rPr lang="ru-RU" b="0" i="0" dirty="0">
                <a:effectLst/>
                <a:latin typeface="pplxSerif"/>
              </a:rPr>
              <a:t> для </a:t>
            </a:r>
            <a:r>
              <a:rPr lang="ru-RU" b="0" i="0" dirty="0" err="1">
                <a:effectLst/>
                <a:latin typeface="pplxSerif"/>
              </a:rPr>
              <a:t>датасета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Breast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Cancer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Wisconsin</a:t>
            </a:r>
            <a:r>
              <a:rPr lang="ru-RU" b="0" i="0" dirty="0">
                <a:effectLst/>
                <a:latin typeface="pplxSerif"/>
              </a:rPr>
              <a:t>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План: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обучить RF на BCW;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оценить важность признаков (</a:t>
            </a:r>
            <a:r>
              <a:rPr lang="ru-RU" b="0" i="0" dirty="0" err="1">
                <a:effectLst/>
                <a:latin typeface="pplxSerif"/>
              </a:rPr>
              <a:t>Gini</a:t>
            </a:r>
            <a:r>
              <a:rPr lang="ru-RU" b="0" i="0" dirty="0">
                <a:effectLst/>
                <a:latin typeface="pplxSerif"/>
              </a:rPr>
              <a:t> и/или </a:t>
            </a:r>
            <a:r>
              <a:rPr lang="ru-RU" b="0" i="0" dirty="0" err="1">
                <a:effectLst/>
                <a:latin typeface="pplxSerif"/>
              </a:rPr>
              <a:t>permutation</a:t>
            </a:r>
            <a:r>
              <a:rPr lang="ru-RU" b="0" i="0" dirty="0">
                <a:effectLst/>
                <a:latin typeface="pplxSerif"/>
              </a:rPr>
              <a:t>);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выбрать топ‑5 признаков и сравнить качество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160143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SHAP (</a:t>
              </a:r>
              <a:r>
                <a:rPr lang="en-US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SHapley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Additive </a:t>
              </a:r>
              <a:r>
                <a:rPr lang="en-US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exPlanations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0" i="0" dirty="0">
                <a:effectLst/>
                <a:latin typeface="+mj-lt"/>
              </a:rPr>
              <a:t>SHAP (</a:t>
            </a:r>
            <a:r>
              <a:rPr lang="ru-RU" b="0" i="0" dirty="0" err="1">
                <a:effectLst/>
                <a:latin typeface="+mj-lt"/>
              </a:rPr>
              <a:t>SHapley</a:t>
            </a:r>
            <a:r>
              <a:rPr lang="ru-RU" b="0" i="0" dirty="0">
                <a:effectLst/>
                <a:latin typeface="+mj-lt"/>
              </a:rPr>
              <a:t> </a:t>
            </a:r>
            <a:r>
              <a:rPr lang="ru-RU" b="0" i="0" dirty="0" err="1">
                <a:effectLst/>
                <a:latin typeface="+mj-lt"/>
              </a:rPr>
              <a:t>Additive</a:t>
            </a:r>
            <a:r>
              <a:rPr lang="ru-RU" b="0" i="0" dirty="0">
                <a:effectLst/>
                <a:latin typeface="+mj-lt"/>
              </a:rPr>
              <a:t> </a:t>
            </a:r>
            <a:r>
              <a:rPr lang="ru-RU" b="0" i="0" dirty="0" err="1">
                <a:effectLst/>
                <a:latin typeface="+mj-lt"/>
              </a:rPr>
              <a:t>exPlanations</a:t>
            </a:r>
            <a:r>
              <a:rPr lang="ru-RU" b="0" i="0" dirty="0">
                <a:effectLst/>
                <a:latin typeface="+mj-lt"/>
              </a:rPr>
              <a:t>) основан на значениях Шепли из теории игр.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+mj-lt"/>
              </a:rPr>
              <a:t>Для каждого наблюдения и признака даёт вклад признака в отклонение предсказания от базового уровня.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+mj-lt"/>
              </a:rPr>
              <a:t>Позволяет строить: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+mj-lt"/>
              </a:rPr>
              <a:t>локальные объяснения (для одного пациента);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+mj-lt"/>
              </a:rPr>
              <a:t>глобальные диаграммы важности, зависимости и взаимодействий.</a:t>
            </a:r>
          </a:p>
        </p:txBody>
      </p:sp>
    </p:spTree>
    <p:extLst>
      <p:ext uri="{BB962C8B-B14F-4D97-AF65-F5344CB8AC3E}">
        <p14:creationId xmlns:p14="http://schemas.microsoft.com/office/powerpoint/2010/main" val="1077732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SHAP (</a:t>
              </a:r>
              <a:r>
                <a:rPr lang="en-US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SHapley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Additive </a:t>
              </a:r>
              <a:r>
                <a:rPr lang="en-US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exPlanations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423283" cy="5677647"/>
          </a:xfrm>
        </p:spPr>
        <p:txBody>
          <a:bodyPr numCol="2">
            <a:normAutofit lnSpcReduction="10000"/>
          </a:bodyPr>
          <a:lstStyle/>
          <a:p>
            <a:pPr marL="0" indent="0" algn="l">
              <a:buNone/>
            </a:pP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## 12. Дополнительный блок: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SHAP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для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 Forest --------------------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library(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iml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## 12.1.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Переобучаем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без формулы -----------------------------------</a:t>
            </a:r>
          </a:p>
          <a:p>
            <a:pPr marL="0" indent="0" algn="l">
              <a:buNone/>
            </a:pP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# Матрица признаков и цель</a:t>
            </a:r>
          </a:p>
          <a:p>
            <a:pPr marL="0" indent="0" algn="l">
              <a:buNone/>
            </a:pP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train[,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setdiff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(names(train), c("diabetes", "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diabetes_factor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"))]</a:t>
            </a:r>
          </a:p>
          <a:p>
            <a:pPr marL="0" indent="0" algn="l">
              <a:buNone/>
            </a:pP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y_train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factor(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train$diabetes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levels = c(0, 1))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#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Обучение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в виде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x/y,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без формулы</a:t>
            </a:r>
          </a:p>
          <a:p>
            <a:pPr marL="0" indent="0" algn="l">
              <a:buNone/>
            </a:pP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rf_xy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randomForest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x        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y        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y_train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ntree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 = 500,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mtry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  = floor(sqrt(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ncol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))),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importance = TRUE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## 12.2.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Обёртка-предиктор для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iml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-------------------------------------</a:t>
            </a:r>
          </a:p>
          <a:p>
            <a:pPr marL="0" indent="0" algn="l">
              <a:buNone/>
            </a:pP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predict_fun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function(model,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 {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#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—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data.frame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только с признаками</a:t>
            </a:r>
          </a:p>
          <a:p>
            <a:pPr marL="0" indent="0" algn="l">
              <a:buNone/>
            </a:pP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 &lt;- predict(model,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newdata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type = "prob")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as.numeric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(p[, "1"])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}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predictor &lt;-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Predictor$new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model           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rf_xy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data            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y               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y_train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predict.function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predict_fun</a:t>
            </a: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## 12.3. 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Локальные 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SHAP-</a:t>
            </a:r>
            <a:r>
              <a:rPr lang="ru-RU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значения --------------------------------------</a:t>
            </a:r>
          </a:p>
          <a:p>
            <a:pPr marL="0" indent="0" algn="l">
              <a:buNone/>
            </a:pP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x_interest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X_train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[1, , drop = FALSE]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shap_local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&lt;-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Shapley$new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predictor   = predictor,</a:t>
            </a: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x.interest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= 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x_interest</a:t>
            </a: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marL="0" indent="0" algn="l">
              <a:buNone/>
            </a:pPr>
            <a:endParaRPr lang="en-US" sz="12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plot(</a:t>
            </a:r>
            <a:r>
              <a:rPr lang="en-US" sz="12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shap_local</a:t>
            </a:r>
            <a:r>
              <a:rPr lang="en-US" sz="12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76515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SHAP (</a:t>
              </a:r>
              <a:r>
                <a:rPr lang="en-US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SHapley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Additive </a:t>
              </a:r>
              <a:r>
                <a:rPr lang="en-US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exPlanations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pic>
        <p:nvPicPr>
          <p:cNvPr id="3" name="Объект 2">
            <a:extLst>
              <a:ext uri="{FF2B5EF4-FFF2-40B4-BE49-F238E27FC236}">
                <a16:creationId xmlns:a16="http://schemas.microsoft.com/office/drawing/2014/main" id="{7E21DA07-CF88-4FAF-8176-3990EA3B67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551723" y="1145594"/>
            <a:ext cx="8539682" cy="523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3628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Методы определения важности признаков: обзор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FA09BFB1-A8F3-41A3-9A2E-538BB69F3F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5860775"/>
              </p:ext>
            </p:extLst>
          </p:nvPr>
        </p:nvGraphicFramePr>
        <p:xfrm>
          <a:off x="201901" y="1193652"/>
          <a:ext cx="11618430" cy="503822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323686">
                  <a:extLst>
                    <a:ext uri="{9D8B030D-6E8A-4147-A177-3AD203B41FA5}">
                      <a16:colId xmlns:a16="http://schemas.microsoft.com/office/drawing/2014/main" val="1422052218"/>
                    </a:ext>
                  </a:extLst>
                </a:gridCol>
                <a:gridCol w="2323686">
                  <a:extLst>
                    <a:ext uri="{9D8B030D-6E8A-4147-A177-3AD203B41FA5}">
                      <a16:colId xmlns:a16="http://schemas.microsoft.com/office/drawing/2014/main" val="441272716"/>
                    </a:ext>
                  </a:extLst>
                </a:gridCol>
                <a:gridCol w="2323686">
                  <a:extLst>
                    <a:ext uri="{9D8B030D-6E8A-4147-A177-3AD203B41FA5}">
                      <a16:colId xmlns:a16="http://schemas.microsoft.com/office/drawing/2014/main" val="702644981"/>
                    </a:ext>
                  </a:extLst>
                </a:gridCol>
                <a:gridCol w="2323686">
                  <a:extLst>
                    <a:ext uri="{9D8B030D-6E8A-4147-A177-3AD203B41FA5}">
                      <a16:colId xmlns:a16="http://schemas.microsoft.com/office/drawing/2014/main" val="826895484"/>
                    </a:ext>
                  </a:extLst>
                </a:gridCol>
                <a:gridCol w="2323686">
                  <a:extLst>
                    <a:ext uri="{9D8B030D-6E8A-4147-A177-3AD203B41FA5}">
                      <a16:colId xmlns:a16="http://schemas.microsoft.com/office/drawing/2014/main" val="1882982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Метод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Уровень объяснения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На какие модели подходит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Плюсы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Минусы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3167522337"/>
                  </a:ext>
                </a:extLst>
              </a:tr>
              <a:tr h="696494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Коэффициенты регрессии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Глобальный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>
                          <a:effectLst/>
                        </a:rPr>
                        <a:t>Линейная, логистическая регрессия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Простая интерпретация, знак и величина коэффициента понятны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Требует нормировки признаков, работает только для линейных моделей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695376684"/>
                  </a:ext>
                </a:extLst>
              </a:tr>
              <a:tr h="590248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effectLst/>
                        </a:rPr>
                        <a:t>Gini / Information Gain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Глобальный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Деревья решений, </a:t>
                      </a:r>
                      <a:r>
                        <a:rPr lang="en-US" sz="1600" dirty="0">
                          <a:effectLst/>
                        </a:rPr>
                        <a:t>Random Forest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Быстро, встроено в алгоритм, не требует доп. кода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 err="1">
                          <a:effectLst/>
                        </a:rPr>
                        <a:t>Смещённость</a:t>
                      </a:r>
                      <a:r>
                        <a:rPr lang="ru-RU" sz="1300" dirty="0">
                          <a:effectLst/>
                        </a:rPr>
                        <a:t> в пользу признаков с большим числом значений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1747977637"/>
                  </a:ext>
                </a:extLst>
              </a:tr>
              <a:tr h="696494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effectLst/>
                        </a:rPr>
                        <a:t>Permutation importance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>
                          <a:effectLst/>
                        </a:rPr>
                        <a:t>Глобальный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Любая модель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Измеряет влияние на реальную метрику качества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Требует многократных прогонов модели, чувствителен к коррелированным признакам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1857932462"/>
                  </a:ext>
                </a:extLst>
              </a:tr>
              <a:tr h="696494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effectLst/>
                        </a:rPr>
                        <a:t>SHAP (</a:t>
                      </a:r>
                      <a:r>
                        <a:rPr lang="en-US" sz="1600" dirty="0" err="1">
                          <a:effectLst/>
                        </a:rPr>
                        <a:t>SHapley</a:t>
                      </a:r>
                      <a:r>
                        <a:rPr lang="en-US" sz="1600" dirty="0">
                          <a:effectLst/>
                        </a:rPr>
                        <a:t> Additive Explanations)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>
                          <a:effectLst/>
                        </a:rPr>
                        <a:t>Локальный + глобальный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Практически любая модель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Теоретически обоснован, даёт как локальные, так и глобальные объяснения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Вычислительно дорогой, требует настройки и понимания метода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3298827779"/>
                  </a:ext>
                </a:extLst>
              </a:tr>
              <a:tr h="908982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effectLst/>
                        </a:rPr>
                        <a:t>LIME (Local Interpretable Model-agnostic Explanations)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>
                          <a:effectLst/>
                        </a:rPr>
                        <a:t>Локальный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Любая модель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Хорош для объяснения отдельных предсказаний, интуитивен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Зависит от выбора окрестности и параметров аппроксимации, результаты могут быть нестабильны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2848340005"/>
                  </a:ext>
                </a:extLst>
              </a:tr>
              <a:tr h="802738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effectLst/>
                        </a:rPr>
                        <a:t>Ablation / </a:t>
                      </a:r>
                      <a:r>
                        <a:rPr lang="ru-RU" sz="1600" dirty="0">
                          <a:effectLst/>
                        </a:rPr>
                        <a:t>удаление признаков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>
                          <a:effectLst/>
                        </a:rPr>
                        <a:t>Глобальный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Любая модель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Простая идея: смотрим падение качества при удалении признака</a:t>
                      </a:r>
                    </a:p>
                  </a:txBody>
                  <a:tcPr marL="27540" marR="27540" marT="27540" marB="2754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dirty="0">
                          <a:effectLst/>
                        </a:rPr>
                        <a:t>Очень «дорого» при большом числе признаков, игнорирует совместное влияние групп признаков</a:t>
                      </a:r>
                    </a:p>
                  </a:txBody>
                  <a:tcPr marL="27540" marR="27540" marT="27540" marB="27540" anchor="ctr"/>
                </a:tc>
                <a:extLst>
                  <a:ext uri="{0D108BD9-81ED-4DB2-BD59-A6C34878D82A}">
                    <a16:rowId xmlns:a16="http://schemas.microsoft.com/office/drawing/2014/main" val="2150010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461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2381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898;g89d9307d70_13_164"/>
          <p:cNvSpPr txBox="1"/>
          <p:nvPr/>
        </p:nvSpPr>
        <p:spPr>
          <a:xfrm>
            <a:off x="3215680" y="2852936"/>
            <a:ext cx="6624736" cy="13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>
              <a:buClr>
                <a:srgbClr val="000000"/>
              </a:buClr>
              <a:buSzPts val="5867"/>
            </a:pP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Спасибо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за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внимание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!</a:t>
            </a:r>
            <a:endParaRPr sz="4800" b="1" dirty="0">
              <a:solidFill>
                <a:schemeClr val="bg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09783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1672</Words>
  <Application>Microsoft Office PowerPoint</Application>
  <PresentationFormat>Широкоэкранный</PresentationFormat>
  <Paragraphs>340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pplxSerif</vt:lpstr>
      <vt:lpstr>PT Sans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Альт</dc:creator>
  <cp:lastModifiedBy>Рамиля Власенкова</cp:lastModifiedBy>
  <cp:revision>61</cp:revision>
  <dcterms:created xsi:type="dcterms:W3CDTF">2025-09-03T07:14:40Z</dcterms:created>
  <dcterms:modified xsi:type="dcterms:W3CDTF">2026-03-12T12:56:51Z</dcterms:modified>
</cp:coreProperties>
</file>