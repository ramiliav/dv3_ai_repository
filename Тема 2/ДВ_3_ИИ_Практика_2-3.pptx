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333" r:id="rId5"/>
    <p:sldId id="268" r:id="rId6"/>
    <p:sldId id="310" r:id="rId7"/>
    <p:sldId id="318" r:id="rId8"/>
    <p:sldId id="270" r:id="rId9"/>
    <p:sldId id="286" r:id="rId10"/>
    <p:sldId id="319" r:id="rId11"/>
    <p:sldId id="320" r:id="rId12"/>
    <p:sldId id="322" r:id="rId13"/>
    <p:sldId id="323" r:id="rId14"/>
    <p:sldId id="324" r:id="rId15"/>
    <p:sldId id="325" r:id="rId16"/>
    <p:sldId id="326" r:id="rId17"/>
    <p:sldId id="334" r:id="rId18"/>
    <p:sldId id="327" r:id="rId19"/>
    <p:sldId id="328" r:id="rId20"/>
    <p:sldId id="329" r:id="rId21"/>
    <p:sldId id="330" r:id="rId22"/>
    <p:sldId id="331" r:id="rId23"/>
    <p:sldId id="332" r:id="rId24"/>
    <p:sldId id="317" r:id="rId25"/>
    <p:sldId id="266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263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331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347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870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53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472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221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006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582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894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6159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0948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288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1918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8160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2585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8064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7108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1569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mvLXggCIB-HKKw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</a:t>
            </a:r>
            <a:r>
              <a:rPr lang="ru-RU" sz="2800" b="1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занятие 3. </a:t>
            </a: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Продвинутое моделирование и оптимизация в биомедицинских задачах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Цели:</a:t>
            </a:r>
          </a:p>
          <a:p>
            <a:pPr algn="just"/>
            <a:r>
              <a:rPr lang="ru-RU" sz="2400" dirty="0"/>
              <a:t>Сравнить логистическую регрессию, дерево решений и Random </a:t>
            </a:r>
            <a:r>
              <a:rPr lang="ru-RU" sz="2400" dirty="0" err="1"/>
              <a:t>Forest</a:t>
            </a:r>
            <a:r>
              <a:rPr lang="ru-RU" sz="2400" dirty="0"/>
              <a:t> на одном клиническом </a:t>
            </a:r>
            <a:r>
              <a:rPr lang="ru-RU" sz="2400" dirty="0" err="1"/>
              <a:t>датасете</a:t>
            </a:r>
            <a:r>
              <a:rPr lang="ru-RU" sz="2400" dirty="0"/>
              <a:t>.</a:t>
            </a:r>
          </a:p>
          <a:p>
            <a:pPr algn="just"/>
            <a:r>
              <a:rPr lang="ru-RU" sz="2400" dirty="0"/>
              <a:t>Освоить настройку </a:t>
            </a:r>
            <a:r>
              <a:rPr lang="ru-RU" sz="2400" dirty="0" err="1"/>
              <a:t>гиперпараметров</a:t>
            </a:r>
            <a:r>
              <a:rPr lang="ru-RU" sz="2400" dirty="0"/>
              <a:t> с помощью Grid Search в </a:t>
            </a:r>
            <a:r>
              <a:rPr lang="ru-RU" sz="2400" dirty="0" err="1"/>
              <a:t>caret</a:t>
            </a:r>
            <a:r>
              <a:rPr lang="ru-RU" sz="2400" dirty="0"/>
              <a:t>.</a:t>
            </a:r>
          </a:p>
          <a:p>
            <a:pPr algn="just"/>
            <a:r>
              <a:rPr lang="ru-RU" sz="2400" dirty="0"/>
              <a:t>Научиться вычислять и интерпретировать AUC‑ROC и F1‑score при умеренном дисбалансе классов.</a:t>
            </a:r>
          </a:p>
          <a:p>
            <a:pPr algn="just"/>
            <a:r>
              <a:rPr lang="ru-RU" sz="2400" dirty="0"/>
              <a:t>Изучить важность признаков (Gini + </a:t>
            </a:r>
            <a:r>
              <a:rPr lang="ru-RU" sz="2400" dirty="0" err="1"/>
              <a:t>permutation</a:t>
            </a:r>
            <a:r>
              <a:rPr lang="ru-RU" sz="2400" dirty="0"/>
              <a:t>), построить RF на топ‑10 признаках и исследовать влияние числа деревьев.</a:t>
            </a:r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Датасет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Cleveland Heart Disease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Источник: UCI Machine Learning </a:t>
            </a:r>
            <a:r>
              <a:rPr lang="ru-RU" sz="2400" dirty="0" err="1"/>
              <a:t>Repository</a:t>
            </a:r>
            <a:r>
              <a:rPr lang="ru-RU" sz="2400" dirty="0"/>
              <a:t> (пакет </a:t>
            </a:r>
            <a:r>
              <a:rPr lang="ru-RU" sz="2400" dirty="0" err="1"/>
              <a:t>kmed</a:t>
            </a:r>
            <a:r>
              <a:rPr lang="ru-RU" sz="2400" dirty="0"/>
              <a:t>::</a:t>
            </a:r>
            <a:r>
              <a:rPr lang="ru-RU" sz="2400" dirty="0" err="1"/>
              <a:t>heart</a:t>
            </a:r>
            <a:r>
              <a:rPr lang="ru-RU" sz="2400" dirty="0"/>
              <a:t>)</a:t>
            </a:r>
          </a:p>
          <a:p>
            <a:pPr algn="just"/>
            <a:r>
              <a:rPr lang="ru-RU" sz="2400" dirty="0"/>
              <a:t>297 пациентов с подозрением на ИБС</a:t>
            </a:r>
          </a:p>
          <a:p>
            <a:pPr algn="just"/>
            <a:r>
              <a:rPr lang="ru-RU" sz="2400" dirty="0"/>
              <a:t>14 признаков: демография, факторы риска, ЭКГ, нагрузочные пробы, коронарография</a:t>
            </a:r>
          </a:p>
          <a:p>
            <a:pPr algn="just"/>
            <a:r>
              <a:rPr lang="ru-RU" sz="2400" dirty="0"/>
              <a:t>Целевая переменная: 0 = здоров, 1–4 = степень ИБС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Признаки: факторы риска и клиника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FCF810FB-8FC9-458B-920B-1AD91780D5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804403"/>
              </p:ext>
            </p:extLst>
          </p:nvPr>
        </p:nvGraphicFramePr>
        <p:xfrm>
          <a:off x="183023" y="903459"/>
          <a:ext cx="11536753" cy="562043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079107">
                  <a:extLst>
                    <a:ext uri="{9D8B030D-6E8A-4147-A177-3AD203B41FA5}">
                      <a16:colId xmlns:a16="http://schemas.microsoft.com/office/drawing/2014/main" val="3404140541"/>
                    </a:ext>
                  </a:extLst>
                </a:gridCol>
                <a:gridCol w="1816131">
                  <a:extLst>
                    <a:ext uri="{9D8B030D-6E8A-4147-A177-3AD203B41FA5}">
                      <a16:colId xmlns:a16="http://schemas.microsoft.com/office/drawing/2014/main" val="1420457724"/>
                    </a:ext>
                  </a:extLst>
                </a:gridCol>
                <a:gridCol w="3438449">
                  <a:extLst>
                    <a:ext uri="{9D8B030D-6E8A-4147-A177-3AD203B41FA5}">
                      <a16:colId xmlns:a16="http://schemas.microsoft.com/office/drawing/2014/main" val="366082779"/>
                    </a:ext>
                  </a:extLst>
                </a:gridCol>
                <a:gridCol w="5203066">
                  <a:extLst>
                    <a:ext uri="{9D8B030D-6E8A-4147-A177-3AD203B41FA5}">
                      <a16:colId xmlns:a16="http://schemas.microsoft.com/office/drawing/2014/main" val="4154400383"/>
                    </a:ext>
                  </a:extLst>
                </a:gridCol>
              </a:tblGrid>
              <a:tr h="245245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Имя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Тип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Диапазон/коды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>
                          <a:effectLst/>
                        </a:rPr>
                        <a:t>Смысл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383686836"/>
                  </a:ext>
                </a:extLst>
              </a:tr>
              <a:tr h="245245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age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числовой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годы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Возраст пациента.</a:t>
                      </a:r>
                      <a:r>
                        <a:rPr lang="en-US" sz="1200">
                          <a:effectLst/>
                        </a:rPr>
                        <a:t>nust+1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3393014897"/>
                  </a:ext>
                </a:extLst>
              </a:tr>
              <a:tr h="245245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sex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бинарный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 мужчина, 0 = женщина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Пол, важен из‑за разного риска ИБС.nust+1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659863624"/>
                  </a:ext>
                </a:extLst>
              </a:tr>
              <a:tr h="38769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cp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категориальный (1–4)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 типичная стенокардия; 2 = атипичная стенокардия; 3 = не ангинозная боль; 4 = бессимптомно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Тип боли в груди, отражает клинику ИБС.dataplatform.cloud.ibm+1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3371395920"/>
                  </a:ext>
                </a:extLst>
              </a:tr>
              <a:tr h="344957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trestbps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числовой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мм рт. ст.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Артериальное давление в покое при поступлении.dataplatform.cloud.ibm+1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3683017917"/>
                  </a:ext>
                </a:extLst>
              </a:tr>
              <a:tr h="344957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chol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числовой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мг/дл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Общий холестерин сыворотки.</a:t>
                      </a:r>
                      <a:r>
                        <a:rPr lang="en-US" sz="1200">
                          <a:effectLst/>
                        </a:rPr>
                        <a:t>dataplatform.cloud.ibm+1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2636098962"/>
                  </a:ext>
                </a:extLst>
              </a:tr>
              <a:tr h="429362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fbs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бинарный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если глюкоза натощак &gt; 120 мг/дл, иначе 0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Маркёр нарушения углеводного обмена (диабет/преддиабет).</a:t>
                      </a:r>
                      <a:r>
                        <a:rPr lang="en-US" sz="1200">
                          <a:effectLst/>
                        </a:rPr>
                        <a:t>dataplatform.cloud.ibm+1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559494483"/>
                  </a:ext>
                </a:extLst>
              </a:tr>
              <a:tr h="38769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restecg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категориальный (0–2)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= нормальная ЭКГ; 1 = изменения ST–T; 2 = признаки гипертрофии ЛЖ по критериям Эстеса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Результаты ЭКГ в покое.dataplatform.cloud.ibm+1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1221943670"/>
                  </a:ext>
                </a:extLst>
              </a:tr>
              <a:tr h="344957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thalach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числовой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уд/мин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Максимальная достигнутая ЧСС при нагрузочном тесте.pmc.ncbi.nlm.nih+1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3770574329"/>
                  </a:ext>
                </a:extLst>
              </a:tr>
              <a:tr h="344957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exang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бинарный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 стенокардия при нагрузке, 0 = нет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Наличие болей при нагрузочной пробе.dataplatform.cloud.ibm+1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188565734"/>
                  </a:ext>
                </a:extLst>
              </a:tr>
              <a:tr h="494525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oldpeak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числовой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относительные ед. (мм)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Депрессия сегмента ST относительно покоя при нагрузке, маркёр ишемии.dataplatform.cloud.ibm+1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2852716491"/>
                  </a:ext>
                </a:extLst>
              </a:tr>
              <a:tr h="344957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slope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категориальный (0–2)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= восходящий; 1 = плоский; 2 = нисходящий ST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Форма </a:t>
                      </a:r>
                      <a:r>
                        <a:rPr lang="en-US" sz="1200">
                          <a:effectLst/>
                        </a:rPr>
                        <a:t>ST‑</a:t>
                      </a:r>
                      <a:r>
                        <a:rPr lang="ru-RU" sz="1200">
                          <a:effectLst/>
                        </a:rPr>
                        <a:t>сегмента на пике нагрузки.</a:t>
                      </a:r>
                      <a:r>
                        <a:rPr lang="en-US" sz="1200">
                          <a:effectLst/>
                        </a:rPr>
                        <a:t>dataplatform.cloud.ibm+1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3154864874"/>
                  </a:ext>
                </a:extLst>
              </a:tr>
              <a:tr h="494525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ca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числовой (0–3)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0–3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Число крупных коронарных сосудов с контрастированием при коронарографии.dataplatform.cloud.ibm+1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2909569726"/>
                  </a:ext>
                </a:extLst>
              </a:tr>
              <a:tr h="494525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thal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категориальный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= нормальный; 6 = фиксированный дефект; 7 = обратимый дефект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Результат таллий‑перфузионного теста (обнаружение участков ишемии/рубца).dataplatform.cloud.ibm+1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3776976562"/>
                  </a:ext>
                </a:extLst>
              </a:tr>
              <a:tr h="42017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num / class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порядковый (0–4)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= нет болезни; 1–4 = различные степени ИБС</a:t>
                      </a:r>
                    </a:p>
                  </a:txBody>
                  <a:tcPr marL="24512" marR="24512" marT="24512" marB="245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Диагноз: наличие и тяжесть коронарной болезни сердца.archive.ics.uci+2</a:t>
                      </a:r>
                    </a:p>
                  </a:txBody>
                  <a:tcPr marL="24512" marR="24512" marT="24512" marB="24512" anchor="ctr"/>
                </a:tc>
                <a:extLst>
                  <a:ext uri="{0D108BD9-81ED-4DB2-BD59-A6C34878D82A}">
                    <a16:rowId xmlns:a16="http://schemas.microsoft.com/office/drawing/2014/main" val="3273873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816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https://disk.yandex.ru/d/mvLXggCIB-HKKw</a:t>
            </a: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Picture background">
            <a:extLst>
              <a:ext uri="{FF2B5EF4-FFF2-40B4-BE49-F238E27FC236}">
                <a16:creationId xmlns:a16="http://schemas.microsoft.com/office/drawing/2014/main" id="{298D9915-FFE3-4EB1-9ECD-AF74183E20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4" r="11041"/>
          <a:stretch/>
        </p:blipFill>
        <p:spPr bwMode="auto">
          <a:xfrm>
            <a:off x="5891238" y="1146823"/>
            <a:ext cx="6027314" cy="397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Идея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Grid Search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4" y="1223234"/>
            <a:ext cx="5912976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Задаём </a:t>
            </a:r>
            <a:r>
              <a:rPr lang="ru-RU" b="1" i="0" dirty="0">
                <a:effectLst/>
                <a:latin typeface="pplxSerif"/>
              </a:rPr>
              <a:t>сетку</a:t>
            </a:r>
            <a:r>
              <a:rPr lang="ru-RU" b="0" i="0" dirty="0">
                <a:effectLst/>
                <a:latin typeface="pplxSerif"/>
              </a:rPr>
              <a:t> значений </a:t>
            </a:r>
            <a:r>
              <a:rPr lang="ru-RU" b="0" i="0" dirty="0" err="1">
                <a:effectLst/>
                <a:latin typeface="pplxSerif"/>
              </a:rPr>
              <a:t>гиперпараметров</a:t>
            </a:r>
            <a:endParaRPr lang="ru-RU" b="0" i="0" dirty="0"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Для каждой комбинации параметров проводим k‑</a:t>
            </a:r>
            <a:r>
              <a:rPr lang="ru-RU" b="0" i="0" dirty="0" err="1">
                <a:effectLst/>
                <a:latin typeface="pplxSerif"/>
              </a:rPr>
              <a:t>fold</a:t>
            </a:r>
            <a:r>
              <a:rPr lang="ru-RU" b="0" i="0" dirty="0">
                <a:effectLst/>
                <a:latin typeface="pplxSerif"/>
              </a:rPr>
              <a:t> CV и считаем метрику (AUC‑ROC, F1).​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Сравниваем среднюю метрику между комбинациями и выбираем лучшую.​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Цена: растущая вычислительная сложность при увеличении числа </a:t>
            </a:r>
            <a:r>
              <a:rPr lang="ru-RU" b="0" i="0" dirty="0" err="1">
                <a:effectLst/>
                <a:latin typeface="pplxSerif"/>
              </a:rPr>
              <a:t>гиперпараметров</a:t>
            </a:r>
            <a:r>
              <a:rPr lang="ru-RU" b="0" i="0" dirty="0">
                <a:effectLst/>
                <a:latin typeface="pplxSerif"/>
              </a:rPr>
              <a:t> и значений.</a:t>
            </a:r>
          </a:p>
        </p:txBody>
      </p:sp>
    </p:spTree>
    <p:extLst>
      <p:ext uri="{BB962C8B-B14F-4D97-AF65-F5344CB8AC3E}">
        <p14:creationId xmlns:p14="http://schemas.microsoft.com/office/powerpoint/2010/main" val="2099339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Метрика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F1‑score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0C61546-9215-4D0C-81CB-5EE3A5637E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024" y="1223234"/>
                <a:ext cx="11735528" cy="5677647"/>
              </a:xfrm>
            </p:spPr>
            <p:txBody>
              <a:bodyPr>
                <a:norm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sz="3600" b="0" i="0" dirty="0">
                    <a:effectLst/>
                    <a:latin typeface="pplxSerif"/>
                  </a:rPr>
                  <a:t>F1‑score — гармоническое среднее </a:t>
                </a:r>
                <a:r>
                  <a:rPr lang="ru-RU" sz="3600" b="1" i="0" dirty="0">
                    <a:effectLst/>
                    <a:latin typeface="pplxSerif"/>
                  </a:rPr>
                  <a:t>Precision</a:t>
                </a:r>
                <a:r>
                  <a:rPr lang="ru-RU" sz="3600" b="0" i="0" dirty="0">
                    <a:effectLst/>
                    <a:latin typeface="pplxSerif"/>
                  </a:rPr>
                  <a:t> и </a:t>
                </a:r>
                <a:r>
                  <a:rPr lang="ru-RU" sz="3600" b="1" i="0" dirty="0" err="1">
                    <a:effectLst/>
                    <a:latin typeface="pplxSerif"/>
                  </a:rPr>
                  <a:t>Recall</a:t>
                </a:r>
                <a:r>
                  <a:rPr lang="ru-RU" sz="3600" b="0" i="0" dirty="0">
                    <a:effectLst/>
                    <a:latin typeface="pplxSerif"/>
                  </a:rPr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3600" b="0" i="0" dirty="0" smtClean="0">
                          <a:effectLst/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ru-RU" sz="3600" b="0" i="1" dirty="0" smtClean="0">
                          <a:effectLst/>
                          <a:latin typeface="Cambria Math" panose="02040503050406030204" pitchFamily="18" charset="0"/>
                        </a:rPr>
                        <m:t>1=2⋅</m:t>
                      </m:r>
                      <m:f>
                        <m:fPr>
                          <m:ctrlPr>
                            <a:rPr lang="ru-RU" sz="3600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i="1" dirty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ru-RU" sz="3600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ru-RU" sz="3600" i="1" dirty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ru-RU" sz="3600" i="1" dirty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ru-RU" sz="36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3600" i="1" dirty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  <m:r>
                            <m:rPr>
                              <m:nor/>
                            </m:rPr>
                            <a:rPr lang="ru-RU" sz="3600" dirty="0">
                              <a:latin typeface="pplxSerif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ru-RU" sz="2000" b="0" i="0" dirty="0">
                  <a:effectLst/>
                  <a:latin typeface="pplxSerif"/>
                </a:endParaRPr>
              </a:p>
            </p:txBody>
          </p:sp>
        </mc:Choice>
        <mc:Fallback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0C61546-9215-4D0C-81CB-5EE3A5637E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024" y="1223234"/>
                <a:ext cx="11735528" cy="5677647"/>
              </a:xfrm>
              <a:blipFill>
                <a:blip r:embed="rId6"/>
                <a:stretch>
                  <a:fillRect l="-1403" t="-26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D2AE5BC3-BB95-419B-8295-77BD6B52D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79" y="3287999"/>
            <a:ext cx="10227836" cy="306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122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Подготовка данных в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2">
            <a:normAutofit/>
          </a:bodyPr>
          <a:lstStyle/>
          <a:p>
            <a:pPr marL="0" indent="0" algn="just">
              <a:buNone/>
            </a:pP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## Шаг 1. Загрузка и подготовка данных -------------------------------</a:t>
            </a:r>
          </a:p>
          <a:p>
            <a:pPr marL="0" indent="0" algn="just">
              <a:buNone/>
            </a:pPr>
            <a:endParaRPr lang="ru-RU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kmed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dplyr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data("heart")</a:t>
            </a: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heart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Просмотр структуры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str(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summary(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Бинаризация целевой переменной:</a:t>
            </a:r>
          </a:p>
          <a:p>
            <a:pPr marL="0" indent="0" algn="just">
              <a:buNone/>
            </a:pP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0 -&gt;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healthy, 1–4 -&gt; disease</a:t>
            </a: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hd_clean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%&gt;%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mutate(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disease =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(num == 0, "healthy", "disease"),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disease = factor(disease)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) %&gt;%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select(-num)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9B243E-46F8-46F1-99DC-6EAD64DF2895}"/>
              </a:ext>
            </a:extLst>
          </p:cNvPr>
          <p:cNvSpPr txBox="1"/>
          <p:nvPr/>
        </p:nvSpPr>
        <p:spPr>
          <a:xfrm>
            <a:off x="7278597" y="4312547"/>
            <a:ext cx="39917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</a:rPr>
              <a:t>Объединяем числовые, категориальные признаки и целевую переменную.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 err="1">
                <a:effectLst/>
              </a:rPr>
              <a:t>Бинаризуем</a:t>
            </a:r>
            <a:r>
              <a:rPr lang="ru-RU" sz="2000" b="0" i="0" dirty="0">
                <a:effectLst/>
              </a:rPr>
              <a:t> диагноз: 0 → </a:t>
            </a:r>
            <a:r>
              <a:rPr lang="ru-RU" sz="2000" b="0" i="0" dirty="0" err="1">
                <a:effectLst/>
              </a:rPr>
              <a:t>healthy</a:t>
            </a:r>
            <a:r>
              <a:rPr lang="ru-RU" sz="2000" b="0" i="0" dirty="0">
                <a:effectLst/>
              </a:rPr>
              <a:t>, 1–4 → </a:t>
            </a:r>
            <a:r>
              <a:rPr lang="ru-RU" sz="2000" b="0" i="0" dirty="0" err="1">
                <a:effectLst/>
              </a:rPr>
              <a:t>disease</a:t>
            </a:r>
            <a:r>
              <a:rPr lang="ru-RU" sz="2000" b="0" i="0" dirty="0">
                <a:effectLst/>
              </a:rPr>
              <a:t>; удаляем строки с пропусками.</a:t>
            </a: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Разбиение на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train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/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test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и EDA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2">
            <a:normAutofit/>
          </a:bodyPr>
          <a:lstStyle/>
          <a:p>
            <a:pPr marL="0" indent="0" algn="l">
              <a:buNone/>
            </a:pP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## Шаг 2. Разбиение на 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train/test</a:t>
            </a:r>
            <a:endParaRPr lang="ru-RU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endParaRPr lang="en-US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library(caret)</a:t>
            </a:r>
          </a:p>
          <a:p>
            <a:pPr marL="0" indent="0" algn="l">
              <a:buNone/>
            </a:pPr>
            <a:endParaRPr lang="en-US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set.seed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(123)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createDataPartition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hd_clean$disease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    p = 0.7,</a:t>
            </a:r>
          </a:p>
          <a:p>
            <a:pPr marL="0"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    list = FALSE)</a:t>
            </a:r>
          </a:p>
          <a:p>
            <a:pPr marL="0" indent="0" algn="l">
              <a:buNone/>
            </a:pPr>
            <a:endParaRPr lang="en-US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train_raw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hd_clean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]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test_raw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hd_clean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[-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]</a:t>
            </a:r>
          </a:p>
          <a:p>
            <a:pPr marL="0" indent="0" algn="l">
              <a:buNone/>
            </a:pPr>
            <a:endParaRPr lang="en-US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Проверка распределения классов</a:t>
            </a:r>
          </a:p>
          <a:p>
            <a:pPr marL="0"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table(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train_raw$disease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table(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test_raw$disease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prop.table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(table(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train_raw$disease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prop.table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(table(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test_raw$disease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A1F95-00D2-4755-AFD1-7ECD57A043F7}"/>
              </a:ext>
            </a:extLst>
          </p:cNvPr>
          <p:cNvSpPr txBox="1"/>
          <p:nvPr/>
        </p:nvSpPr>
        <p:spPr>
          <a:xfrm>
            <a:off x="5968591" y="4062057"/>
            <a:ext cx="55103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</a:rPr>
              <a:t>70% наблюдений в обучающей выборке, 30% — в тестовой.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</a:rPr>
              <a:t>Проверяем распределение </a:t>
            </a:r>
            <a:r>
              <a:rPr lang="ru-RU" sz="2000" b="0" i="0" dirty="0" err="1">
                <a:effectLst/>
              </a:rPr>
              <a:t>healthy</a:t>
            </a:r>
            <a:r>
              <a:rPr lang="ru-RU" sz="2000" b="0" i="0" dirty="0">
                <a:effectLst/>
              </a:rPr>
              <a:t>/</a:t>
            </a:r>
            <a:r>
              <a:rPr lang="ru-RU" sz="2000" b="0" i="0" dirty="0" err="1">
                <a:effectLst/>
              </a:rPr>
              <a:t>disease</a:t>
            </a:r>
            <a:r>
              <a:rPr lang="ru-RU" sz="2000" b="0" i="0" dirty="0">
                <a:effectLst/>
              </a:rPr>
              <a:t> в </a:t>
            </a:r>
            <a:r>
              <a:rPr lang="ru-RU" sz="2000" b="0" i="0" dirty="0" err="1">
                <a:effectLst/>
              </a:rPr>
              <a:t>train</a:t>
            </a:r>
            <a:r>
              <a:rPr lang="ru-RU" sz="2000" b="0" i="0" dirty="0">
                <a:effectLst/>
              </a:rPr>
              <a:t> и </a:t>
            </a:r>
            <a:r>
              <a:rPr lang="ru-RU" sz="2000" b="0" i="0" dirty="0" err="1">
                <a:effectLst/>
              </a:rPr>
              <a:t>test</a:t>
            </a:r>
            <a:r>
              <a:rPr lang="ru-RU" sz="2000" b="0" i="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703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Препроцессинг и корреляции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num_cols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names(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train_raw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)[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sapply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train_raw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is.numeric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)]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cat_cols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setdiff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(names(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train_raw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), c(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num_cols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"disease"))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pre_proc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preProcess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train_raw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num_cols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],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method = c("center", "scale"))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train_raw</a:t>
            </a: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train[,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num_cols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] &lt;- predict(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pre_proc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train_raw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num_cols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])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 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test_raw</a:t>
            </a: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test[,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num_cols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]  &lt;- predict(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pre_proc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test_raw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num_cols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])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corr_mat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cor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(train[,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num_cols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])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corrplot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corr_mat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method = "color",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tl.cex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0.7)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A1F95-00D2-4755-AFD1-7ECD57A043F7}"/>
              </a:ext>
            </a:extLst>
          </p:cNvPr>
          <p:cNvSpPr txBox="1"/>
          <p:nvPr/>
        </p:nvSpPr>
        <p:spPr>
          <a:xfrm>
            <a:off x="8692487" y="2123065"/>
            <a:ext cx="33251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Стандартизируем только числовые признаки по </a:t>
            </a:r>
            <a:r>
              <a:rPr lang="ru-RU" sz="2000" b="0" i="0" dirty="0" err="1">
                <a:effectLst/>
                <a:latin typeface="pplxSerif"/>
              </a:rPr>
              <a:t>train</a:t>
            </a:r>
            <a:r>
              <a:rPr lang="ru-RU" sz="2000" b="0" i="0" dirty="0">
                <a:effectLst/>
                <a:latin typeface="pplxSerif"/>
              </a:rPr>
              <a:t> и применяем к </a:t>
            </a:r>
            <a:r>
              <a:rPr lang="ru-RU" sz="2000" b="0" i="0" dirty="0" err="1">
                <a:effectLst/>
                <a:latin typeface="pplxSerif"/>
              </a:rPr>
              <a:t>test</a:t>
            </a:r>
            <a:r>
              <a:rPr lang="ru-RU" sz="2000" b="0" i="0" dirty="0">
                <a:effectLst/>
                <a:latin typeface="pplx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Строим матрицу корреляций по числовым переменным.</a:t>
            </a:r>
          </a:p>
        </p:txBody>
      </p:sp>
    </p:spTree>
    <p:extLst>
      <p:ext uri="{BB962C8B-B14F-4D97-AF65-F5344CB8AC3E}">
        <p14:creationId xmlns:p14="http://schemas.microsoft.com/office/powerpoint/2010/main" val="548369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Cross‑validation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F1‑score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ctrl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trainControl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method          = "cv",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number          = 5,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summaryFunction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twoClassSummary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classProbs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= TRUE,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savePredictions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"final"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f1_score &lt;- function(true,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pred_class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positive = "disease") { ... 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A1F95-00D2-4755-AFD1-7ECD57A043F7}"/>
              </a:ext>
            </a:extLst>
          </p:cNvPr>
          <p:cNvSpPr txBox="1"/>
          <p:nvPr/>
        </p:nvSpPr>
        <p:spPr>
          <a:xfrm>
            <a:off x="7714052" y="2105561"/>
            <a:ext cx="33251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pplxSerif"/>
              </a:rPr>
              <a:t>5‑fold cross‑validation, </a:t>
            </a:r>
            <a:r>
              <a:rPr lang="ru-RU" sz="2000" b="0" i="0" dirty="0">
                <a:effectLst/>
                <a:latin typeface="pplxSerif"/>
              </a:rPr>
              <a:t>метрика </a:t>
            </a:r>
            <a:r>
              <a:rPr lang="en-US" sz="2000" b="0" i="0" dirty="0">
                <a:effectLst/>
                <a:latin typeface="pplxSerif"/>
              </a:rPr>
              <a:t>ROC </a:t>
            </a:r>
            <a:r>
              <a:rPr lang="ru-RU" sz="2000" b="0" i="0" dirty="0">
                <a:effectLst/>
                <a:latin typeface="pplxSerif"/>
              </a:rPr>
              <a:t>внутри </a:t>
            </a:r>
            <a:r>
              <a:rPr lang="en-US" sz="2000" b="0" i="0" dirty="0">
                <a:effectLst/>
                <a:latin typeface="pplxSerif"/>
              </a:rPr>
              <a:t>caret.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Пользовательская функция </a:t>
            </a:r>
            <a:r>
              <a:rPr lang="en-US" sz="2000" b="0" i="0" dirty="0">
                <a:effectLst/>
                <a:latin typeface="pplxSerif"/>
              </a:rPr>
              <a:t>F1‑score </a:t>
            </a:r>
            <a:r>
              <a:rPr lang="ru-RU" sz="2000" b="0" i="0" dirty="0">
                <a:effectLst/>
                <a:latin typeface="pplxSerif"/>
              </a:rPr>
              <a:t>для класса </a:t>
            </a:r>
            <a:r>
              <a:rPr lang="en-US" sz="2000" b="0" i="0" dirty="0">
                <a:effectLst/>
                <a:latin typeface="pplxSerif"/>
              </a:rPr>
              <a:t>disease.</a:t>
            </a:r>
          </a:p>
        </p:txBody>
      </p:sp>
    </p:spTree>
    <p:extLst>
      <p:ext uri="{BB962C8B-B14F-4D97-AF65-F5344CB8AC3E}">
        <p14:creationId xmlns:p14="http://schemas.microsoft.com/office/powerpoint/2010/main" val="2579797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Модель 1: логистическая регрессия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train(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disease ~ .,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data      = train,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method    = 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family    = binomial,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trControl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ctrl,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metric    = "ROC"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prob_glm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test, type = "prob")[, "disease"]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test, type = "raw")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roc(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test$disease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prob_glm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f1_glm  &lt;- f1_score(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test$disease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A1F95-00D2-4755-AFD1-7ECD57A043F7}"/>
              </a:ext>
            </a:extLst>
          </p:cNvPr>
          <p:cNvSpPr txBox="1"/>
          <p:nvPr/>
        </p:nvSpPr>
        <p:spPr>
          <a:xfrm>
            <a:off x="7714052" y="2105561"/>
            <a:ext cx="332519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Базовая линейная модель для бинарной классификации.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Считаем AUC и F1 на тестовой выборке.</a:t>
            </a:r>
          </a:p>
        </p:txBody>
      </p:sp>
    </p:spTree>
    <p:extLst>
      <p:ext uri="{BB962C8B-B14F-4D97-AF65-F5344CB8AC3E}">
        <p14:creationId xmlns:p14="http://schemas.microsoft.com/office/powerpoint/2010/main" val="577441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Модель 2: дерево решений (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rpart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)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+ Grid Search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grid_rpart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expand.grid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(cp = c(0.001, 0.01, 0.05))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train(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disease ~ .,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data      = train,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method    = 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trControl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ctrl,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tuneGrid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grid_rpart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metric    = "ROC"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prob_rpart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test, type = "prob")[, "disease"]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test, type = "raw")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roc(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test$disease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prob_rpart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f1_rpart  &lt;- f1_score(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test$disease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A1F95-00D2-4755-AFD1-7ECD57A043F7}"/>
              </a:ext>
            </a:extLst>
          </p:cNvPr>
          <p:cNvSpPr txBox="1"/>
          <p:nvPr/>
        </p:nvSpPr>
        <p:spPr>
          <a:xfrm>
            <a:off x="6005084" y="928257"/>
            <a:ext cx="59134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Настраиваем параметр сложности дерева </a:t>
            </a:r>
            <a:r>
              <a:rPr lang="ru-RU" sz="2000" b="0" i="0" dirty="0" err="1">
                <a:effectLst/>
                <a:latin typeface="pplxSerif"/>
              </a:rPr>
              <a:t>cp</a:t>
            </a:r>
            <a:r>
              <a:rPr lang="ru-RU" sz="2000" b="0" i="0" dirty="0">
                <a:effectLst/>
                <a:latin typeface="pplxSerif"/>
              </a:rPr>
              <a:t> через Grid Search.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 err="1">
                <a:effectLst/>
                <a:latin typeface="pplxSerif"/>
              </a:rPr>
              <a:t>cp</a:t>
            </a:r>
            <a:r>
              <a:rPr lang="ru-RU" sz="2000" b="0" i="0" dirty="0">
                <a:effectLst/>
                <a:latin typeface="pplxSerif"/>
              </a:rPr>
              <a:t> задаёт минимальное относительное улучшение качества (уменьшение ошибки/</a:t>
            </a:r>
            <a:r>
              <a:rPr lang="ru-RU" sz="2000" b="0" i="0" dirty="0" err="1">
                <a:effectLst/>
                <a:latin typeface="pplxSerif"/>
              </a:rPr>
              <a:t>импурити</a:t>
            </a:r>
            <a:r>
              <a:rPr lang="ru-RU" sz="2000" b="0" i="0" dirty="0">
                <a:effectLst/>
                <a:latin typeface="pplxSerif"/>
              </a:rPr>
              <a:t>), которое нужно получить, чтобы оставить ветвление в дереве.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Чем меньше </a:t>
            </a:r>
            <a:r>
              <a:rPr lang="ru-RU" sz="2000" b="0" i="0" dirty="0" err="1">
                <a:effectLst/>
                <a:latin typeface="pplxSerif"/>
              </a:rPr>
              <a:t>cp</a:t>
            </a:r>
            <a:r>
              <a:rPr lang="ru-RU" sz="2000" b="0" i="0" dirty="0">
                <a:effectLst/>
                <a:latin typeface="pplxSerif"/>
              </a:rPr>
              <a:t>, тем глубже и сложнее может вырасти дерево (меньше штраф за сложность, выше риск переобучения).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Чем больше </a:t>
            </a:r>
            <a:r>
              <a:rPr lang="ru-RU" sz="2000" b="0" i="0" dirty="0" err="1">
                <a:effectLst/>
                <a:latin typeface="pplxSerif"/>
              </a:rPr>
              <a:t>cp</a:t>
            </a:r>
            <a:r>
              <a:rPr lang="ru-RU" sz="2000" b="0" i="0" dirty="0">
                <a:effectLst/>
                <a:latin typeface="pplxSerif"/>
              </a:rPr>
              <a:t>, тем сильнее усечение (</a:t>
            </a:r>
            <a:r>
              <a:rPr lang="ru-RU" sz="2000" b="0" i="0" dirty="0" err="1">
                <a:effectLst/>
                <a:latin typeface="pplxSerif"/>
              </a:rPr>
              <a:t>pruning</a:t>
            </a:r>
            <a:r>
              <a:rPr lang="ru-RU" sz="2000" b="0" i="0" dirty="0">
                <a:effectLst/>
                <a:latin typeface="pplxSerif"/>
              </a:rPr>
              <a:t>), дерево будет более компактным и устойчивым, но возможно </a:t>
            </a:r>
            <a:r>
              <a:rPr lang="ru-RU" sz="2000" b="0" i="0" dirty="0" err="1">
                <a:effectLst/>
                <a:latin typeface="pplxSerif"/>
              </a:rPr>
              <a:t>недообученным</a:t>
            </a:r>
            <a:r>
              <a:rPr lang="ru-RU" sz="2000" b="0" i="0" dirty="0">
                <a:effectLst/>
                <a:latin typeface="pplxSeri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3404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Модель 3: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 Forest + Grid Search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grid_rf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expand.grid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mtry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c(2, 4, 6, 8))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train(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disease ~ .,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data      = train,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method    = "rf",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trControl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ctrl,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tuneGrid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grid_rf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metric    = "ROC",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ntree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= 200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best_mtry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model_rf$bestTune$mtry</a:t>
            </a: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prob_rf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test, type = "prob")[, "disease"]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test, type = "raw")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roc(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test$disease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prob_rf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f1_rf  &lt;- f1_score(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test$disease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A1F95-00D2-4755-AFD1-7ECD57A043F7}"/>
              </a:ext>
            </a:extLst>
          </p:cNvPr>
          <p:cNvSpPr txBox="1"/>
          <p:nvPr/>
        </p:nvSpPr>
        <p:spPr>
          <a:xfrm>
            <a:off x="7414524" y="1344006"/>
            <a:ext cx="33251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Перебираем </a:t>
            </a:r>
            <a:r>
              <a:rPr lang="ru-RU" sz="2000" b="0" i="0" dirty="0" err="1">
                <a:effectLst/>
                <a:latin typeface="pplxSerif"/>
              </a:rPr>
              <a:t>mtry</a:t>
            </a:r>
            <a:r>
              <a:rPr lang="ru-RU" sz="2000" b="0" i="0" dirty="0">
                <a:effectLst/>
                <a:latin typeface="pplxSerif"/>
              </a:rPr>
              <a:t>, фиксируя </a:t>
            </a:r>
            <a:r>
              <a:rPr lang="ru-RU" sz="2000" b="0" i="0" dirty="0" err="1">
                <a:effectLst/>
                <a:latin typeface="pplxSerif"/>
              </a:rPr>
              <a:t>ntree</a:t>
            </a:r>
            <a:r>
              <a:rPr lang="ru-RU" sz="2000" b="0" i="0" dirty="0">
                <a:effectLst/>
                <a:latin typeface="pplxSerif"/>
              </a:rPr>
              <a:t> = 200, и выбираем лучшую комбинацию по ROC.</a:t>
            </a:r>
          </a:p>
        </p:txBody>
      </p:sp>
    </p:spTree>
    <p:extLst>
      <p:ext uri="{BB962C8B-B14F-4D97-AF65-F5344CB8AC3E}">
        <p14:creationId xmlns:p14="http://schemas.microsoft.com/office/powerpoint/2010/main" val="2958116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моделей и ROC‑кривые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results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model = c("Logistic Regression",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 "Decision Tree 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 "Random Forest"),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AUC   = c(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F1    = c(f1_glm, f1_rpart, f1_rf)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A1F95-00D2-4755-AFD1-7ECD57A043F7}"/>
              </a:ext>
            </a:extLst>
          </p:cNvPr>
          <p:cNvSpPr txBox="1"/>
          <p:nvPr/>
        </p:nvSpPr>
        <p:spPr>
          <a:xfrm>
            <a:off x="7414524" y="1344006"/>
            <a:ext cx="33251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Таблица AUC и F1 для трёх моделей на одном тесте.</a:t>
            </a:r>
          </a:p>
        </p:txBody>
      </p:sp>
    </p:spTree>
    <p:extLst>
      <p:ext uri="{BB962C8B-B14F-4D97-AF65-F5344CB8AC3E}">
        <p14:creationId xmlns:p14="http://schemas.microsoft.com/office/powerpoint/2010/main" val="1717011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моделей и ROC‑кривые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roc_glm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  col = 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steelblue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2,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main = "ROC-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кривые: сравнение моделей (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Heart Disease)")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lines(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roc_rpart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col = 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darkorange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2)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lines(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   col = 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forestgreen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2)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abline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(a = 0, b = 1,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lty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2, col = "gray")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legend("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bottomright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legend = c("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LogReg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 "Decision Tree", "Random Forest"),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col    = c("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steelblue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 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darkorange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 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forestgreen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= 2)</a:t>
            </a:r>
          </a:p>
        </p:txBody>
      </p:sp>
    </p:spTree>
    <p:extLst>
      <p:ext uri="{BB962C8B-B14F-4D97-AF65-F5344CB8AC3E}">
        <p14:creationId xmlns:p14="http://schemas.microsoft.com/office/powerpoint/2010/main" val="723616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моделей и ROC‑кривые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F04FD62-198A-45CC-B0ED-376326CD1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2005116" y="797508"/>
            <a:ext cx="7823153" cy="585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14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54ECD6-1020-4CD8-A762-B69B0BB9A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915" y="1344006"/>
            <a:ext cx="5771612" cy="4523059"/>
          </a:xfrm>
          <a:prstGeom prst="rect">
            <a:avLst/>
          </a:prstGeom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Gini‑важность признаков (Random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Forest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4" y="1223234"/>
            <a:ext cx="6114746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imp_rf_gini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varImp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scale = FALSE)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imp_rf_gini</a:t>
            </a: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imp_rf_gini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top = 10,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main = "Random Forest: Gini feature importance")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A1F95-00D2-4755-AFD1-7ECD57A043F7}"/>
              </a:ext>
            </a:extLst>
          </p:cNvPr>
          <p:cNvSpPr txBox="1"/>
          <p:nvPr/>
        </p:nvSpPr>
        <p:spPr>
          <a:xfrm>
            <a:off x="1248874" y="4311327"/>
            <a:ext cx="33251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Встроенная Gini‑</a:t>
            </a:r>
            <a:r>
              <a:rPr lang="ru-RU" sz="2000" b="0" i="0" dirty="0" err="1">
                <a:effectLst/>
                <a:latin typeface="pplxSerif"/>
              </a:rPr>
              <a:t>importance</a:t>
            </a:r>
            <a:r>
              <a:rPr lang="ru-RU" sz="2000" b="0" i="0" dirty="0">
                <a:effectLst/>
                <a:latin typeface="pplxSerif"/>
              </a:rPr>
              <a:t> показывает, какие признаки чаще всего уменьшают </a:t>
            </a:r>
            <a:r>
              <a:rPr lang="ru-RU" sz="2000" b="0" i="0" dirty="0" err="1">
                <a:effectLst/>
                <a:latin typeface="pplxSerif"/>
              </a:rPr>
              <a:t>impurity</a:t>
            </a:r>
            <a:r>
              <a:rPr lang="ru-RU" sz="2000" b="0" i="0" dirty="0">
                <a:effectLst/>
                <a:latin typeface="pplxSerif"/>
              </a:rPr>
              <a:t> в деревьях.</a:t>
            </a:r>
          </a:p>
        </p:txBody>
      </p:sp>
    </p:spTree>
    <p:extLst>
      <p:ext uri="{BB962C8B-B14F-4D97-AF65-F5344CB8AC3E}">
        <p14:creationId xmlns:p14="http://schemas.microsoft.com/office/powerpoint/2010/main" val="3693878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Permutation importance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по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AUC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perm_importance_auc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function(model, data, target = "disease") { ... }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imp_rf_perm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perm_importance_auc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test, target = "disease")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imp_rf_perm</a:t>
            </a: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A1F95-00D2-4755-AFD1-7ECD57A043F7}"/>
              </a:ext>
            </a:extLst>
          </p:cNvPr>
          <p:cNvSpPr txBox="1"/>
          <p:nvPr/>
        </p:nvSpPr>
        <p:spPr>
          <a:xfrm>
            <a:off x="6709892" y="3092561"/>
            <a:ext cx="33251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 err="1">
                <a:effectLst/>
                <a:latin typeface="pplxSerif"/>
              </a:rPr>
              <a:t>Перетассовываем</a:t>
            </a:r>
            <a:r>
              <a:rPr lang="ru-RU" sz="2000" b="0" i="0" dirty="0">
                <a:effectLst/>
                <a:latin typeface="pplxSerif"/>
              </a:rPr>
              <a:t> каждый признак по очереди и измеряем падение AUC.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pplxSerif"/>
              </a:rPr>
              <a:t>Чем сильнее падает AUC, тем важнее признак для модели.</a:t>
            </a:r>
          </a:p>
        </p:txBody>
      </p:sp>
    </p:spTree>
    <p:extLst>
      <p:ext uri="{BB962C8B-B14F-4D97-AF65-F5344CB8AC3E}">
        <p14:creationId xmlns:p14="http://schemas.microsoft.com/office/powerpoint/2010/main" val="3254885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Сводная таблица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importance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и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boxplot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2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gini_df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imp_rf_gini$importance</a:t>
            </a: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gini_df$feature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rownames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gini_df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colnames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gini_df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)[1] &lt;- 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gini_importance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imp_df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gini_df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%&gt;%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mutate(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perm_importance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imp_rf_perm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[feature],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rank_gini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= rank(-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gini_importance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ties.method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"min"),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rank_perm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= rank(-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perm_importance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ties.method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"min")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) %&gt;%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arrange(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rank_perm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top_feature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imp_df$feature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[1]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boxplot(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train[[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top_feature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]] ~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train$disease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main = paste("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Распределение",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top_feature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"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по классам"),</a:t>
            </a:r>
          </a:p>
          <a:p>
            <a:pPr marL="0" indent="0" algn="l">
              <a:buNone/>
            </a:pP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xlab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"disease",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ylab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top_feature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col  = c("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lightblue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 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lightpink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091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73D36D98-06AA-41A7-996B-FE502C34F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5694" y="1327583"/>
            <a:ext cx="6665111" cy="5223270"/>
          </a:xfrm>
          <a:prstGeom prst="rect">
            <a:avLst/>
          </a:prstGeom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Сводная таблица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importance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и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boxplot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3105E46-8150-4650-A3AD-E7559DF00627}"/>
              </a:ext>
            </a:extLst>
          </p:cNvPr>
          <p:cNvSpPr txBox="1"/>
          <p:nvPr/>
        </p:nvSpPr>
        <p:spPr>
          <a:xfrm>
            <a:off x="7189564" y="1348609"/>
            <a:ext cx="47289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0" i="0" dirty="0">
                <a:effectLst/>
              </a:rPr>
              <a:t>Для самого важного признака показываем распределение по </a:t>
            </a:r>
            <a:r>
              <a:rPr lang="ru-RU" sz="2000" b="0" i="0" dirty="0" err="1">
                <a:effectLst/>
              </a:rPr>
              <a:t>healthy</a:t>
            </a:r>
            <a:r>
              <a:rPr lang="ru-RU" sz="2000" b="0" i="0" dirty="0">
                <a:effectLst/>
              </a:rPr>
              <a:t>/</a:t>
            </a:r>
            <a:r>
              <a:rPr lang="ru-RU" sz="2000" b="0" i="0" dirty="0" err="1">
                <a:effectLst/>
              </a:rPr>
              <a:t>disease</a:t>
            </a:r>
            <a:r>
              <a:rPr lang="ru-RU" sz="2000" b="0" i="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6870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Forest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на топ‑5 признаках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2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 &lt;- 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head(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imp_df$feature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[!is.na(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imp_df$perm_importance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)], k)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train[, c(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"disease")]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&lt;- test[,  c(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"disease")]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model_rf_topk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train(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disease ~ .,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data     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train_topk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method    = "rf",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trControl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ctrl,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tuneGrid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grid_rf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metric    = "ROC",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ntree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= 200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prob_rf_topk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model_rf_topk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type = "prob")[, "disease"]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pred_rf_topk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model_rf_topk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type = "raw")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roc_rf_topk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roc(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test_topk$disease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prob_rf_topk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auc_rf_topk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roc_rf_topk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f1_rf_topk  &lt;- f1_score(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test_topk$disease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pred_rf_topk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model = c("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RF_all_features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 paste0("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RF_top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", k)),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AUC   = c(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auc_rf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auc_rf_topk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F1    = c(f1_rf, f1_rf_topk)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7170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Влияние числа деревьев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2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rf_50 &lt;- train(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disease ~ .,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data      = train,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method    = "rf",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trControl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ctrl,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tuneGrid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mtry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best_mtry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metric    = "ROC",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ntree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= 50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rf_200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model_rf</a:t>
            </a: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rf_1000 &lt;- train(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disease ~ .,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data      = train,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method    = "rf",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trControl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ctrl,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tuneGrid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mtry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best_mtry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metric    = "ROC",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ntree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= 1000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models_ntree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list(rf_50 = rf_50, rf_200 = rf_200, rf_1000 = rf_1000)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ntree_results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lapply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(names(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models_ntree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), function(name) {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m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models_ntree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[[name]]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prob &lt;- predict(m,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test, type = "prob")[, "disease"]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pred &lt;- predict(m,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test, type = "raw")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model = name,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AUC  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(roc(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test$disease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prob))),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F1    = f1_score(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test$disease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pred)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)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})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ntree_results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do.call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rbind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ntree_results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1359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Заключение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Мы реализовали полный ML‑</a:t>
            </a:r>
            <a:r>
              <a:rPr lang="ru-RU" i="0" dirty="0" err="1">
                <a:effectLst/>
              </a:rPr>
              <a:t>pipeline</a:t>
            </a:r>
            <a:r>
              <a:rPr lang="ru-RU" i="0" dirty="0">
                <a:effectLst/>
              </a:rPr>
              <a:t>: от подготовки данных и стандартизации до настройки моделей и анализа важности признаков.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Random </a:t>
            </a:r>
            <a:r>
              <a:rPr lang="ru-RU" i="0" dirty="0" err="1">
                <a:effectLst/>
              </a:rPr>
              <a:t>Forest</a:t>
            </a:r>
            <a:r>
              <a:rPr lang="ru-RU" i="0" dirty="0">
                <a:effectLst/>
              </a:rPr>
              <a:t> на </a:t>
            </a:r>
            <a:r>
              <a:rPr lang="ru-RU" i="0" dirty="0" err="1">
                <a:effectLst/>
              </a:rPr>
              <a:t>Cleveland</a:t>
            </a:r>
            <a:r>
              <a:rPr lang="ru-RU" i="0" dirty="0">
                <a:effectLst/>
              </a:rPr>
              <a:t> Heart </a:t>
            </a:r>
            <a:r>
              <a:rPr lang="ru-RU" i="0" dirty="0" err="1">
                <a:effectLst/>
              </a:rPr>
              <a:t>Disease</a:t>
            </a:r>
            <a:r>
              <a:rPr lang="ru-RU" i="0" dirty="0">
                <a:effectLst/>
              </a:rPr>
              <a:t>, как правило, превосходит </a:t>
            </a:r>
            <a:r>
              <a:rPr lang="ru-RU" i="0" dirty="0" err="1">
                <a:effectLst/>
              </a:rPr>
              <a:t>логрег</a:t>
            </a:r>
            <a:r>
              <a:rPr lang="ru-RU" i="0" dirty="0">
                <a:effectLst/>
              </a:rPr>
              <a:t> и дерево по AUC и F1, но остаётся достаточно интерпретируемым.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Gini‑ и </a:t>
            </a:r>
            <a:r>
              <a:rPr lang="ru-RU" i="0" dirty="0" err="1">
                <a:effectLst/>
              </a:rPr>
              <a:t>permutation‑importance</a:t>
            </a:r>
            <a:r>
              <a:rPr lang="ru-RU" i="0" dirty="0">
                <a:effectLst/>
              </a:rPr>
              <a:t> помогают выделить клинически значимые факторы риска и построить компактную, но точную модель на топ‑10 признаках.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Анализ влияния </a:t>
            </a:r>
            <a:r>
              <a:rPr lang="ru-RU" i="0" dirty="0" err="1">
                <a:effectLst/>
              </a:rPr>
              <a:t>mtry</a:t>
            </a:r>
            <a:r>
              <a:rPr lang="ru-RU" i="0" dirty="0">
                <a:effectLst/>
              </a:rPr>
              <a:t>, числа деревьев и отбора признаков — пример практической оптимизации моделей для биомедицинских задач.</a:t>
            </a:r>
          </a:p>
        </p:txBody>
      </p:sp>
    </p:spTree>
    <p:extLst>
      <p:ext uri="{BB962C8B-B14F-4D97-AF65-F5344CB8AC3E}">
        <p14:creationId xmlns:p14="http://schemas.microsoft.com/office/powerpoint/2010/main" val="3082961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2991</Words>
  <Application>Microsoft Office PowerPoint</Application>
  <PresentationFormat>Широкоэкранный</PresentationFormat>
  <Paragraphs>496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pplxSerif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72</cp:revision>
  <dcterms:created xsi:type="dcterms:W3CDTF">2025-09-03T07:14:40Z</dcterms:created>
  <dcterms:modified xsi:type="dcterms:W3CDTF">2026-03-13T11:19:03Z</dcterms:modified>
</cp:coreProperties>
</file>