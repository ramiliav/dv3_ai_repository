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67" r:id="rId5"/>
    <p:sldId id="269" r:id="rId6"/>
    <p:sldId id="271" r:id="rId7"/>
    <p:sldId id="272" r:id="rId8"/>
    <p:sldId id="273" r:id="rId9"/>
    <p:sldId id="274" r:id="rId10"/>
    <p:sldId id="275" r:id="rId11"/>
    <p:sldId id="277" r:id="rId12"/>
    <p:sldId id="276" r:id="rId13"/>
    <p:sldId id="278" r:id="rId14"/>
    <p:sldId id="279" r:id="rId15"/>
    <p:sldId id="280" r:id="rId16"/>
    <p:sldId id="270" r:id="rId17"/>
    <p:sldId id="284" r:id="rId18"/>
    <p:sldId id="281" r:id="rId19"/>
    <p:sldId id="282" r:id="rId20"/>
    <p:sldId id="266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0" autoAdjust="0"/>
    <p:restoredTop sz="66263" autoAdjust="0"/>
  </p:normalViewPr>
  <p:slideViewPr>
    <p:cSldViewPr snapToGrid="0">
      <p:cViewPr varScale="1">
        <p:scale>
          <a:sx n="47" d="100"/>
          <a:sy n="47" d="100"/>
        </p:scale>
        <p:origin x="145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29370D-F2D9-4CCE-A730-8C5295B5F53C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235BED-E67C-4CE8-A9D1-79A059B95A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5898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39556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44417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b="0" i="0" dirty="0">
              <a:effectLst/>
              <a:latin typeface="fkGroteskNeue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53072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b="0" i="0" dirty="0">
              <a:effectLst/>
              <a:latin typeface="fkGroteskNeue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67107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8965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b="0" i="0" dirty="0">
              <a:effectLst/>
              <a:latin typeface="fkGroteskNeue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62724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37919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6047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57751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75661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09447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61216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8609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64537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82178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02390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77708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47048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b="0" i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6084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7A570D4-9143-4E91-8959-8D963457B763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6739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9760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90211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6784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9230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0435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7441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8365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8184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2846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88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11084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548A2A-B373-4BED-99C6-55213C852137}" type="datetimeFigureOut">
              <a:rPr lang="ru-RU" smtClean="0"/>
              <a:t>18.02.2026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6C5F04-6404-49A4-B263-990F845D4C3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086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9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MSShafigullin\Desktop\Проекты\Брендбук\Гайдлайн\Презентация\презентация шаблон КФУ-01.jp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472"/>
          <a:stretch/>
        </p:blipFill>
        <p:spPr bwMode="auto">
          <a:xfrm>
            <a:off x="0" y="0"/>
            <a:ext cx="12192000" cy="6855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C:\Users\MSShafigullin\Desktop\2020\Презентация КФУ\kfu_logo_circle_rus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03" y="548680"/>
            <a:ext cx="1536171" cy="1499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Google Shape;98;p2">
            <a:extLst>
              <a:ext uri="{FF2B5EF4-FFF2-40B4-BE49-F238E27FC236}">
                <a16:creationId xmlns:a16="http://schemas.microsoft.com/office/drawing/2014/main" id="{0F188103-7B17-734F-BE68-5A893025A082}"/>
              </a:ext>
            </a:extLst>
          </p:cNvPr>
          <p:cNvSpPr txBox="1"/>
          <p:nvPr/>
        </p:nvSpPr>
        <p:spPr>
          <a:xfrm>
            <a:off x="2482607" y="1725043"/>
            <a:ext cx="7997823" cy="3970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Курс ДПП ПП</a:t>
            </a:r>
          </a:p>
          <a:p>
            <a:pPr lvl="0" algn="ctr"/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Основы биоинформатики и компьютерной биологии</a:t>
            </a:r>
          </a:p>
          <a:p>
            <a:pPr lvl="0" algn="ctr"/>
            <a:endParaRPr lang="ru-RU" sz="2800" b="1" dirty="0">
              <a:solidFill>
                <a:schemeClr val="bg1"/>
              </a:solidFill>
              <a:latin typeface="PT Sans"/>
              <a:ea typeface="PT Sans"/>
              <a:cs typeface="PT Sans"/>
              <a:sym typeface="PT Sans"/>
            </a:endParaRPr>
          </a:p>
          <a:p>
            <a:pPr lvl="0" algn="ctr"/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Алгоритмы искусственного интеллекта в биологии и медицине</a:t>
            </a:r>
          </a:p>
          <a:p>
            <a:pPr lvl="0" algn="ctr"/>
            <a:b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</a:br>
            <a:r>
              <a:rPr lang="ru-RU" sz="2800" b="1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Лекция 2. </a:t>
            </a:r>
            <a:r>
              <a:rPr lang="ru-RU" sz="2800" b="1" dirty="0">
                <a:solidFill>
                  <a:schemeClr val="bg1"/>
                </a:solidFill>
                <a:latin typeface="PT Sans"/>
                <a:ea typeface="PT Sans"/>
                <a:cs typeface="PT Sans"/>
                <a:sym typeface="PT Sans"/>
              </a:rPr>
              <a:t>Продвинутое моделирование и оптимизация в биомедицинских задачах</a:t>
            </a:r>
          </a:p>
        </p:txBody>
      </p:sp>
    </p:spTree>
    <p:extLst>
      <p:ext uri="{BB962C8B-B14F-4D97-AF65-F5344CB8AC3E}">
        <p14:creationId xmlns:p14="http://schemas.microsoft.com/office/powerpoint/2010/main" val="2231862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2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98A76A24-00EA-EE42-8A4F-846D0D0A92B0}"/>
              </a:ext>
            </a:extLst>
          </p:cNvPr>
          <p:cNvGrpSpPr/>
          <p:nvPr/>
        </p:nvGrpSpPr>
        <p:grpSpPr>
          <a:xfrm>
            <a:off x="-50" y="0"/>
            <a:ext cx="827700" cy="6858000"/>
            <a:chOff x="-50" y="0"/>
            <a:chExt cx="827700" cy="5143500"/>
          </a:xfrm>
        </p:grpSpPr>
        <p:sp>
          <p:nvSpPr>
            <p:cNvPr id="25" name="Google Shape;106;p3">
              <a:extLst>
                <a:ext uri="{FF2B5EF4-FFF2-40B4-BE49-F238E27FC236}">
                  <a16:creationId xmlns:a16="http://schemas.microsoft.com/office/drawing/2014/main" id="{1212ABD6-BB78-564D-90F4-45A9BF52F65A}"/>
                </a:ext>
              </a:extLst>
            </p:cNvPr>
            <p:cNvSpPr/>
            <p:nvPr/>
          </p:nvSpPr>
          <p:spPr>
            <a:xfrm>
              <a:off x="-50" y="0"/>
              <a:ext cx="827700" cy="5143500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8" name="Google Shape;107;p3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C968D678-6F52-2F45-8BE7-5E2313AF23D6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87534"/>
              <a:ext cx="553050" cy="4327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109;p3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1F22E8DB-9008-9D4B-9E64-C397CC33A9DA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37087" y="4422472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110;p3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5E9D660B-F40F-CB41-B4B6-62BD62C97A4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87779" y="3741120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3" name="Google Shape;111;p3">
              <a:extLst>
                <a:ext uri="{FF2B5EF4-FFF2-40B4-BE49-F238E27FC236}">
                  <a16:creationId xmlns:a16="http://schemas.microsoft.com/office/drawing/2014/main" id="{23A12878-4A5D-E648-A640-94DEA9532F72}"/>
                </a:ext>
              </a:extLst>
            </p:cNvPr>
            <p:cNvSpPr txBox="1"/>
            <p:nvPr/>
          </p:nvSpPr>
          <p:spPr>
            <a:xfrm>
              <a:off x="84051" y="4728776"/>
              <a:ext cx="659482" cy="25388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34" name="Google Shape;112;p3">
              <a:extLst>
                <a:ext uri="{FF2B5EF4-FFF2-40B4-BE49-F238E27FC236}">
                  <a16:creationId xmlns:a16="http://schemas.microsoft.com/office/drawing/2014/main" id="{0525B736-A5F9-A04E-92B8-E50E60AAE2C0}"/>
                </a:ext>
              </a:extLst>
            </p:cNvPr>
            <p:cNvSpPr txBox="1"/>
            <p:nvPr/>
          </p:nvSpPr>
          <p:spPr>
            <a:xfrm>
              <a:off x="84051" y="4083918"/>
              <a:ext cx="659482" cy="25388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37" name="Google Shape;108;p3">
            <a:extLst>
              <a:ext uri="{FF2B5EF4-FFF2-40B4-BE49-F238E27FC236}">
                <a16:creationId xmlns:a16="http://schemas.microsoft.com/office/drawing/2014/main" id="{5493CD04-205D-294C-BD53-0914C34565C1}"/>
              </a:ext>
            </a:extLst>
          </p:cNvPr>
          <p:cNvSpPr txBox="1"/>
          <p:nvPr/>
        </p:nvSpPr>
        <p:spPr>
          <a:xfrm>
            <a:off x="964967" y="220551"/>
            <a:ext cx="734481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rgbClr val="00549F"/>
                </a:solidFill>
                <a:latin typeface="PT Sans"/>
                <a:ea typeface="PT Sans"/>
                <a:cs typeface="PT Sans"/>
                <a:sym typeface="PT Sans"/>
              </a:rPr>
              <a:t>Введение</a:t>
            </a:r>
            <a:endParaRPr lang="en-US" dirty="0">
              <a:solidFill>
                <a:srgbClr val="00549F"/>
              </a:solidFill>
              <a:latin typeface="PT Sans"/>
              <a:ea typeface="PT Sans"/>
              <a:cs typeface="PT Sans"/>
              <a:sym typeface="PT Sans"/>
            </a:endParaRPr>
          </a:p>
        </p:txBody>
      </p:sp>
      <p:sp>
        <p:nvSpPr>
          <p:cNvPr id="12" name="Объект 2"/>
          <p:cNvSpPr>
            <a:spLocks noGrp="1"/>
          </p:cNvSpPr>
          <p:nvPr>
            <p:ph idx="1"/>
          </p:nvPr>
        </p:nvSpPr>
        <p:spPr>
          <a:xfrm>
            <a:off x="1043608" y="926349"/>
            <a:ext cx="10562698" cy="5677647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b="0" i="0" dirty="0">
                <a:effectLst/>
                <a:latin typeface="fkGroteskNeue"/>
              </a:rPr>
              <a:t>Где мы были и где мы теперь: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Лекция 1: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Базовые алгоритмы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Простые метрики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Идеальные данные (хорошо сбалансированные)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Реальный мир: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Модель говорит "хорошо", но что это значит?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Несбалансированные классы (99% здоровых)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Нужна интерпретация: почему именно этот прогноз?</a:t>
            </a:r>
          </a:p>
          <a:p>
            <a:pPr marL="0" indent="0" algn="just">
              <a:buNone/>
            </a:pPr>
            <a:endParaRPr lang="ru-RU" b="0" i="0" dirty="0">
              <a:effectLst/>
              <a:latin typeface="fkGroteskNeue"/>
            </a:endParaRPr>
          </a:p>
          <a:p>
            <a:pPr marL="0" indent="0" algn="just">
              <a:buNone/>
            </a:pPr>
            <a:endParaRPr lang="ru-RU" sz="4000" dirty="0"/>
          </a:p>
        </p:txBody>
      </p:sp>
    </p:spTree>
    <p:extLst>
      <p:ext uri="{BB962C8B-B14F-4D97-AF65-F5344CB8AC3E}">
        <p14:creationId xmlns:p14="http://schemas.microsoft.com/office/powerpoint/2010/main" val="2824079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3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Feature Importance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 lnSpcReduction="10000"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Какие признаки действительно важны?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Способ 1: Встроенный </a:t>
            </a:r>
            <a:r>
              <a:rPr lang="ru-RU" b="0" i="0" dirty="0" err="1">
                <a:effectLst/>
                <a:latin typeface="fkGroteskNeue"/>
              </a:rPr>
              <a:t>Feature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Importance</a:t>
            </a:r>
            <a:endParaRPr lang="ru-RU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 err="1">
                <a:effectLst/>
                <a:latin typeface="fkGroteskNeue"/>
              </a:rPr>
              <a:t>Random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Forest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XGBoost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Gradient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Boosting</a:t>
            </a:r>
            <a:endParaRPr lang="ru-RU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Считают на основе количества сплитов и </a:t>
            </a:r>
            <a:r>
              <a:rPr lang="ru-RU" b="0" i="0" dirty="0" err="1">
                <a:effectLst/>
                <a:latin typeface="fkGroteskNeue"/>
              </a:rPr>
              <a:t>decrease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impurity</a:t>
            </a:r>
            <a:endParaRPr lang="ru-RU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Быстро, но приблизительно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Способ 2: </a:t>
            </a:r>
            <a:r>
              <a:rPr lang="ru-RU" b="0" i="0" dirty="0" err="1">
                <a:effectLst/>
                <a:latin typeface="fkGroteskNeue"/>
              </a:rPr>
              <a:t>Permutation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Importance</a:t>
            </a:r>
            <a:endParaRPr lang="ru-RU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Переставляем значения признака случайно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Смотрим, насколько упадёт качество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Универсален: работает с любой моделью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Способ 3: SHAP, LIME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Объясняют каждое предсказание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Сложнее, но самые точные</a:t>
            </a:r>
          </a:p>
          <a:p>
            <a:pPr marL="0" indent="0" algn="just">
              <a:buNone/>
            </a:pPr>
            <a:endParaRPr lang="ru-RU" sz="4000" i="1" dirty="0"/>
          </a:p>
        </p:txBody>
      </p:sp>
    </p:spTree>
    <p:extLst>
      <p:ext uri="{BB962C8B-B14F-4D97-AF65-F5344CB8AC3E}">
        <p14:creationId xmlns:p14="http://schemas.microsoft.com/office/powerpoint/2010/main" val="2146142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4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Пример 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Feature Importance</a:t>
              </a:r>
              <a:endParaRPr lang="ru-RU" sz="2000" dirty="0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2400" b="1" i="1" dirty="0"/>
              <a:t>Case Study: Предсказание рецидива рака</a:t>
            </a:r>
          </a:p>
          <a:p>
            <a:pPr marL="0" indent="0" algn="just">
              <a:buNone/>
            </a:pPr>
            <a:endParaRPr lang="ru-RU" sz="2400" b="1" i="1" dirty="0"/>
          </a:p>
          <a:p>
            <a:pPr marL="0" indent="0" algn="just">
              <a:buNone/>
            </a:pPr>
            <a:endParaRPr lang="ru-RU" sz="2400" b="1" i="1" dirty="0"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D43895DD-C2AC-43B6-B204-C7FD2A5D41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6040845"/>
              </p:ext>
            </p:extLst>
          </p:nvPr>
        </p:nvGraphicFramePr>
        <p:xfrm>
          <a:off x="1140804" y="1815234"/>
          <a:ext cx="9910392" cy="3169920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4955196">
                  <a:extLst>
                    <a:ext uri="{9D8B030D-6E8A-4147-A177-3AD203B41FA5}">
                      <a16:colId xmlns:a16="http://schemas.microsoft.com/office/drawing/2014/main" val="1869621526"/>
                    </a:ext>
                  </a:extLst>
                </a:gridCol>
                <a:gridCol w="4955196">
                  <a:extLst>
                    <a:ext uri="{9D8B030D-6E8A-4147-A177-3AD203B41FA5}">
                      <a16:colId xmlns:a16="http://schemas.microsoft.com/office/drawing/2014/main" val="32256995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 latinLnBrk="0"/>
                      <a:r>
                        <a:rPr lang="ru-RU" sz="2800" dirty="0"/>
                        <a:t>Ген</a:t>
                      </a:r>
                    </a:p>
                  </a:txBody>
                  <a:tcPr marL="76200" marR="76200" marT="76200" marB="76200" anchor="b"/>
                </a:tc>
                <a:tc>
                  <a:txBody>
                    <a:bodyPr/>
                    <a:lstStyle/>
                    <a:p>
                      <a:pPr algn="l" fontAlgn="b" latinLnBrk="0"/>
                      <a:r>
                        <a:rPr lang="ru-RU" sz="2800"/>
                        <a:t>Важность</a:t>
                      </a:r>
                    </a:p>
                  </a:txBody>
                  <a:tcPr marL="76200" marR="76200" marT="76200" marB="76200" anchor="b"/>
                </a:tc>
                <a:extLst>
                  <a:ext uri="{0D108BD9-81ED-4DB2-BD59-A6C34878D82A}">
                    <a16:rowId xmlns:a16="http://schemas.microsoft.com/office/drawing/2014/main" val="42613614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base" latinLnBrk="0"/>
                      <a:r>
                        <a:rPr lang="en-US" sz="2800"/>
                        <a:t>TP53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ru-RU" sz="2800"/>
                        <a:t>0.35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10571915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base" latinLnBrk="0"/>
                      <a:r>
                        <a:rPr lang="en-US" sz="2800"/>
                        <a:t>BRCA1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ru-RU" sz="2800"/>
                        <a:t>0.18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13024201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base" latinLnBrk="0"/>
                      <a:r>
                        <a:rPr lang="en-US" sz="2800"/>
                        <a:t>MYC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ru-RU" sz="2800"/>
                        <a:t>0.14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13017527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base" latinLnBrk="0"/>
                      <a:r>
                        <a:rPr lang="en-US" sz="2800"/>
                        <a:t>KRAS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ru-RU" sz="2800"/>
                        <a:t>0.12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3488649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base" latinLnBrk="0"/>
                      <a:r>
                        <a:rPr lang="ru-RU" sz="2800" dirty="0"/>
                        <a:t>Остальные</a:t>
                      </a:r>
                    </a:p>
                  </a:txBody>
                  <a:tcPr marL="76200" marR="76200" anchor="ctr"/>
                </a:tc>
                <a:tc>
                  <a:txBody>
                    <a:bodyPr/>
                    <a:lstStyle/>
                    <a:p>
                      <a:pPr fontAlgn="base" latinLnBrk="0"/>
                      <a:r>
                        <a:rPr lang="ru-RU" sz="2800" dirty="0"/>
                        <a:t>0.21</a:t>
                      </a:r>
                    </a:p>
                  </a:txBody>
                  <a:tcPr marL="76200" marR="76200" anchor="ctr"/>
                </a:tc>
                <a:extLst>
                  <a:ext uri="{0D108BD9-81ED-4DB2-BD59-A6C34878D82A}">
                    <a16:rowId xmlns:a16="http://schemas.microsoft.com/office/drawing/2014/main" val="367953587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94DF35F4-1306-4823-9BAD-1D8E0B7A36C4}"/>
              </a:ext>
            </a:extLst>
          </p:cNvPr>
          <p:cNvSpPr txBox="1"/>
          <p:nvPr/>
        </p:nvSpPr>
        <p:spPr>
          <a:xfrm>
            <a:off x="1928609" y="5230335"/>
            <a:ext cx="778206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i="1" dirty="0"/>
              <a:t>Вывод</a:t>
            </a:r>
            <a:r>
              <a:rPr lang="ru-RU" i="1" dirty="0"/>
              <a:t>: TP53 больше 30% важности → возможный биологический смысл!</a:t>
            </a:r>
          </a:p>
          <a:p>
            <a:endParaRPr lang="ru-RU" i="1" dirty="0"/>
          </a:p>
          <a:p>
            <a:r>
              <a:rPr lang="ru-RU" i="1" dirty="0"/>
              <a:t>Далее: поиск в литературе, функциональные исследования</a:t>
            </a:r>
          </a:p>
        </p:txBody>
      </p:sp>
    </p:spTree>
    <p:extLst>
      <p:ext uri="{BB962C8B-B14F-4D97-AF65-F5344CB8AC3E}">
        <p14:creationId xmlns:p14="http://schemas.microsoft.com/office/powerpoint/2010/main" val="549262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5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Интерпретация коэффициентов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Логистическая регрессия: читаем модель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Модель: </a:t>
            </a:r>
            <a:r>
              <a:rPr lang="ru-RU" b="0" i="0" dirty="0" err="1">
                <a:effectLst/>
                <a:latin typeface="fkGroteskNeue"/>
              </a:rPr>
              <a:t>log</a:t>
            </a:r>
            <a:r>
              <a:rPr lang="ru-RU" b="0" i="0" dirty="0">
                <a:effectLst/>
                <a:latin typeface="fkGroteskNeue"/>
              </a:rPr>
              <a:t>(P(болезнь) / (1 - P(болезнь))) = β₀ + β₁X₁ + β₂X₂ + ...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Коэффициент β для признака X: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β &gt; 0: признак увеличивает риск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β &lt; 0: признак снижает риск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|β| &gt; это вес влияния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Пример: β₁ = 0.5 для "возраст"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→ каждый год жизни увеличивает </a:t>
            </a:r>
            <a:r>
              <a:rPr lang="ru-RU" b="0" i="0" dirty="0" err="1">
                <a:effectLst/>
                <a:latin typeface="fkGroteskNeue"/>
              </a:rPr>
              <a:t>log-odds</a:t>
            </a:r>
            <a:r>
              <a:rPr lang="ru-RU" b="0" i="0" dirty="0">
                <a:effectLst/>
                <a:latin typeface="fkGroteskNeue"/>
              </a:rPr>
              <a:t> на 0.5</a:t>
            </a:r>
            <a:br>
              <a:rPr lang="ru-RU" b="0" i="0" dirty="0">
                <a:effectLst/>
                <a:latin typeface="fkGroteskNeue"/>
              </a:rPr>
            </a:br>
            <a:r>
              <a:rPr lang="ru-RU" b="0" i="0" dirty="0">
                <a:effectLst/>
                <a:latin typeface="fkGroteskNeue"/>
              </a:rPr>
              <a:t>→ каждый год жизни увеличивает шанс болезни в e^0.5 ≈ 1.65 раз</a:t>
            </a:r>
          </a:p>
          <a:p>
            <a:pPr algn="just"/>
            <a:endParaRPr lang="ru-RU" sz="4000" i="1" dirty="0"/>
          </a:p>
        </p:txBody>
      </p:sp>
    </p:spTree>
    <p:extLst>
      <p:ext uri="{BB962C8B-B14F-4D97-AF65-F5344CB8AC3E}">
        <p14:creationId xmlns:p14="http://schemas.microsoft.com/office/powerpoint/2010/main" val="3224330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6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Несбалансированные данные (1)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ru-RU" sz="2400" b="1" i="1" dirty="0">
                <a:effectLst/>
                <a:latin typeface="fkGroteskNeue"/>
              </a:rPr>
              <a:t>Главная проблема реальной клиники</a:t>
            </a:r>
          </a:p>
          <a:p>
            <a:pPr marL="0" indent="0" algn="l">
              <a:buNone/>
            </a:pPr>
            <a:r>
              <a:rPr lang="ru-RU" sz="2400" b="0" i="0" dirty="0">
                <a:effectLst/>
                <a:latin typeface="fkGroteskNeue"/>
              </a:rPr>
              <a:t>В </a:t>
            </a:r>
            <a:r>
              <a:rPr lang="ru-RU" sz="2400" b="0" i="0" dirty="0" err="1">
                <a:effectLst/>
                <a:latin typeface="fkGroteskNeue"/>
              </a:rPr>
              <a:t>датасете</a:t>
            </a:r>
            <a:r>
              <a:rPr lang="ru-RU" sz="2400" b="0" i="0" dirty="0">
                <a:effectLst/>
                <a:latin typeface="fkGroteskNeue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fkGroteskNeue"/>
              </a:rPr>
              <a:t>990 здоровых пациентов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fkGroteskNeue"/>
              </a:rPr>
              <a:t>10 больных пациентов</a:t>
            </a:r>
          </a:p>
          <a:p>
            <a:pPr marL="0" indent="0" algn="l">
              <a:buNone/>
            </a:pPr>
            <a:r>
              <a:rPr lang="ru-RU" sz="2400" b="0" i="0" dirty="0">
                <a:effectLst/>
                <a:latin typeface="fkGroteskNeue"/>
              </a:rPr>
              <a:t>Модель, которая всегда говорит "здоров":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 err="1">
                <a:effectLst/>
                <a:latin typeface="fkGroteskNeue"/>
              </a:rPr>
              <a:t>Accuracy</a:t>
            </a:r>
            <a:r>
              <a:rPr lang="ru-RU" sz="2400" b="0" i="0" dirty="0">
                <a:effectLst/>
                <a:latin typeface="fkGroteskNeue"/>
              </a:rPr>
              <a:t>: 99%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fkGroteskNeue"/>
              </a:rPr>
              <a:t>Но находит 0 больных ← бесполезна!</a:t>
            </a:r>
          </a:p>
          <a:p>
            <a:pPr marL="0" indent="0" algn="l">
              <a:buNone/>
            </a:pPr>
            <a:r>
              <a:rPr lang="ru-RU" sz="2400" b="0" i="0" dirty="0">
                <a:effectLst/>
                <a:latin typeface="fkGroteskNeue"/>
              </a:rPr>
              <a:t>Это частая ситуация в медицине: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fkGroteskNeue"/>
              </a:rPr>
              <a:t>Редкие болезни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fkGroteskNeue"/>
              </a:rPr>
              <a:t>Редкие побочные эффекты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fkGroteskNeue"/>
              </a:rPr>
              <a:t>Редкие конечные точки</a:t>
            </a:r>
          </a:p>
          <a:p>
            <a:pPr algn="just"/>
            <a:endParaRPr lang="ru-RU" sz="2400" i="1" dirty="0"/>
          </a:p>
        </p:txBody>
      </p:sp>
    </p:spTree>
    <p:extLst>
      <p:ext uri="{BB962C8B-B14F-4D97-AF65-F5344CB8AC3E}">
        <p14:creationId xmlns:p14="http://schemas.microsoft.com/office/powerpoint/2010/main" val="3579789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7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Несбалансированные данные (2)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Решение 1: Метрики</a:t>
            </a:r>
          </a:p>
          <a:p>
            <a:pPr marL="0" indent="0" algn="l">
              <a:buNone/>
            </a:pPr>
            <a:r>
              <a:rPr lang="ru-RU" b="0" i="1" dirty="0">
                <a:effectLst/>
                <a:latin typeface="fkGroteskNeue"/>
              </a:rPr>
              <a:t>Неправильно</a:t>
            </a:r>
            <a:r>
              <a:rPr lang="ru-RU" b="0" i="0" dirty="0">
                <a:effectLst/>
                <a:latin typeface="fkGroteskNeue"/>
              </a:rPr>
              <a:t>: использовать </a:t>
            </a:r>
            <a:r>
              <a:rPr lang="ru-RU" b="0" i="0" dirty="0" err="1">
                <a:effectLst/>
                <a:latin typeface="fkGroteskNeue"/>
              </a:rPr>
              <a:t>Accuracy</a:t>
            </a:r>
            <a:endParaRPr lang="ru-RU" b="0" i="0" dirty="0">
              <a:effectLst/>
              <a:latin typeface="fkGroteskNeue"/>
            </a:endParaRPr>
          </a:p>
          <a:p>
            <a:pPr marL="0" indent="0" algn="l">
              <a:buNone/>
            </a:pPr>
            <a:r>
              <a:rPr lang="ru-RU" b="0" i="1" dirty="0">
                <a:effectLst/>
                <a:latin typeface="fkGroteskNeue"/>
              </a:rPr>
              <a:t>Правильно</a:t>
            </a:r>
            <a:r>
              <a:rPr lang="ru-RU" b="0" i="0" dirty="0">
                <a:effectLst/>
                <a:latin typeface="fkGroteskNeue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AUC-ROC (инвариантна к классовому дисбалансу)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F1-score (усредняет по классам)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Precision-</a:t>
            </a:r>
            <a:r>
              <a:rPr lang="ru-RU" b="0" i="0" dirty="0" err="1">
                <a:effectLst/>
                <a:latin typeface="fkGroteskNeue"/>
              </a:rPr>
              <a:t>Recall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curve</a:t>
            </a:r>
            <a:r>
              <a:rPr lang="ru-RU" b="0" i="0" dirty="0">
                <a:effectLst/>
                <a:latin typeface="fkGroteskNeue"/>
              </a:rPr>
              <a:t> (для редких классов)</a:t>
            </a:r>
          </a:p>
          <a:p>
            <a:pPr marL="0" indent="0" algn="l">
              <a:buNone/>
            </a:pPr>
            <a:r>
              <a:rPr lang="ru-RU" b="0" i="1" dirty="0">
                <a:effectLst/>
                <a:latin typeface="fkGroteskNeue"/>
              </a:rPr>
              <a:t>Практически: для несбалансированных данных смотрим AUC-ROC + </a:t>
            </a:r>
            <a:r>
              <a:rPr lang="ru-RU" b="0" i="1" dirty="0" err="1">
                <a:effectLst/>
                <a:latin typeface="fkGroteskNeue"/>
              </a:rPr>
              <a:t>Recall</a:t>
            </a:r>
            <a:r>
              <a:rPr lang="ru-RU" b="0" i="1" dirty="0">
                <a:effectLst/>
                <a:latin typeface="fkGroteskNeue"/>
              </a:rPr>
              <a:t>, чтобы не пропустить редкий класс</a:t>
            </a:r>
          </a:p>
        </p:txBody>
      </p:sp>
    </p:spTree>
    <p:extLst>
      <p:ext uri="{BB962C8B-B14F-4D97-AF65-F5344CB8AC3E}">
        <p14:creationId xmlns:p14="http://schemas.microsoft.com/office/powerpoint/2010/main" val="765225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8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Несбалансированные данные (3)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2400" b="1" i="1" dirty="0">
                <a:effectLst/>
                <a:latin typeface="fkGroteskNeue"/>
              </a:rPr>
              <a:t>Решение 2: </a:t>
            </a:r>
            <a:r>
              <a:rPr lang="en-US" sz="2400" b="1" i="1" dirty="0">
                <a:effectLst/>
                <a:latin typeface="fkGroteskNeue"/>
              </a:rPr>
              <a:t>Over/under</a:t>
            </a:r>
            <a:r>
              <a:rPr lang="ru-RU" sz="2400" b="1" i="1" dirty="0" err="1">
                <a:effectLst/>
                <a:latin typeface="fkGroteskNeue"/>
              </a:rPr>
              <a:t>sampling</a:t>
            </a:r>
            <a:endParaRPr lang="ru-RU" sz="2400" b="1" i="1" dirty="0">
              <a:effectLst/>
              <a:latin typeface="fkGroteskNeue"/>
            </a:endParaRPr>
          </a:p>
          <a:p>
            <a:pPr marL="0" indent="0" algn="l">
              <a:buNone/>
            </a:pPr>
            <a:r>
              <a:rPr lang="ru-RU" sz="2400" b="0" i="0" dirty="0" err="1">
                <a:effectLst/>
                <a:latin typeface="fkGroteskNeue"/>
              </a:rPr>
              <a:t>Over-sampling</a:t>
            </a:r>
            <a:r>
              <a:rPr lang="ru-RU" sz="2400" b="0" i="0" dirty="0">
                <a:effectLst/>
                <a:latin typeface="fkGroteskNeue"/>
              </a:rPr>
              <a:t> меньшинства: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fkGroteskNeue"/>
              </a:rPr>
              <a:t>Дублируем примеры редкого класса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fkGroteskNeue"/>
              </a:rPr>
              <a:t>Риск: переобучение на дублях</a:t>
            </a:r>
          </a:p>
          <a:p>
            <a:pPr marL="0" indent="0" algn="l">
              <a:buNone/>
            </a:pPr>
            <a:r>
              <a:rPr lang="ru-RU" sz="2400" b="0" i="0" dirty="0">
                <a:effectLst/>
                <a:latin typeface="fkGroteskNeue"/>
              </a:rPr>
              <a:t>SMOTE (</a:t>
            </a:r>
            <a:r>
              <a:rPr lang="ru-RU" sz="2400" b="0" i="0" dirty="0" err="1">
                <a:effectLst/>
                <a:latin typeface="fkGroteskNeue"/>
              </a:rPr>
              <a:t>Synthetic</a:t>
            </a:r>
            <a:r>
              <a:rPr lang="ru-RU" sz="2400" b="0" i="0" dirty="0">
                <a:effectLst/>
                <a:latin typeface="fkGroteskNeue"/>
              </a:rPr>
              <a:t> </a:t>
            </a:r>
            <a:r>
              <a:rPr lang="ru-RU" sz="2400" b="0" i="0" dirty="0" err="1">
                <a:effectLst/>
                <a:latin typeface="fkGroteskNeue"/>
              </a:rPr>
              <a:t>Minority</a:t>
            </a:r>
            <a:r>
              <a:rPr lang="ru-RU" sz="2400" b="0" i="0" dirty="0">
                <a:effectLst/>
                <a:latin typeface="fkGroteskNeue"/>
              </a:rPr>
              <a:t> </a:t>
            </a:r>
            <a:r>
              <a:rPr lang="ru-RU" sz="2400" b="0" i="0" dirty="0" err="1">
                <a:effectLst/>
                <a:latin typeface="fkGroteskNeue"/>
              </a:rPr>
              <a:t>Over-sampling</a:t>
            </a:r>
            <a:r>
              <a:rPr lang="ru-RU" sz="2400" b="0" i="0" dirty="0">
                <a:effectLst/>
                <a:latin typeface="fkGroteskNeue"/>
              </a:rPr>
              <a:t>):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fkGroteskNeue"/>
              </a:rPr>
              <a:t>Генерируем синтетические примеры редкого класса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fkGroteskNeue"/>
              </a:rPr>
              <a:t>Интерполяция между реальными примерами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fkGroteskNeue"/>
              </a:rPr>
              <a:t>Лучше, чем простое дублирование</a:t>
            </a:r>
          </a:p>
          <a:p>
            <a:pPr marL="0" indent="0" algn="l">
              <a:buNone/>
            </a:pPr>
            <a:r>
              <a:rPr lang="ru-RU" sz="2400" b="0" i="0" dirty="0" err="1">
                <a:effectLst/>
                <a:latin typeface="fkGroteskNeue"/>
              </a:rPr>
              <a:t>Under-sampling</a:t>
            </a:r>
            <a:r>
              <a:rPr lang="ru-RU" sz="2400" b="0" i="0" dirty="0">
                <a:effectLst/>
                <a:latin typeface="fkGroteskNeue"/>
              </a:rPr>
              <a:t> большинства: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fkGroteskNeue"/>
              </a:rPr>
              <a:t>Удаляем примеры большинства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latin typeface="fkGroteskNeue"/>
              </a:rPr>
              <a:t>Риск: теряем информацию</a:t>
            </a:r>
          </a:p>
          <a:p>
            <a:pPr marL="0" indent="0" algn="l">
              <a:buNone/>
            </a:pPr>
            <a:r>
              <a:rPr lang="ru-RU" sz="2400" b="0" i="1" dirty="0">
                <a:effectLst/>
                <a:latin typeface="fkGroteskNeue"/>
              </a:rPr>
              <a:t>Совет: SMOTE + под-выборка = золотая середина</a:t>
            </a:r>
          </a:p>
        </p:txBody>
      </p:sp>
    </p:spTree>
    <p:extLst>
      <p:ext uri="{BB962C8B-B14F-4D97-AF65-F5344CB8AC3E}">
        <p14:creationId xmlns:p14="http://schemas.microsoft.com/office/powerpoint/2010/main" val="26852650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9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Несбалансированные данные (4)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Решение 3: Веса классов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Во время обучения даём больший вес редкому классу</a:t>
            </a:r>
            <a:endParaRPr lang="en-US" b="0" i="0" dirty="0">
              <a:effectLst/>
              <a:latin typeface="fkGroteskNeue"/>
            </a:endParaRPr>
          </a:p>
          <a:p>
            <a:pPr algn="l"/>
            <a:r>
              <a:rPr lang="ru-RU" b="0" i="0" dirty="0">
                <a:effectLst/>
                <a:latin typeface="fkGroteskNeue"/>
              </a:rPr>
              <a:t>Модель "штрафует" себя за ошибку на редком классе.</a:t>
            </a:r>
          </a:p>
          <a:p>
            <a:pPr marL="0" indent="0" algn="l">
              <a:buNone/>
            </a:pPr>
            <a:r>
              <a:rPr lang="ru-RU" b="0" i="1" dirty="0">
                <a:effectLst/>
                <a:latin typeface="fkGroteskNeue"/>
              </a:rPr>
              <a:t>Самое простое и часто эффективное решение.</a:t>
            </a:r>
          </a:p>
          <a:p>
            <a:pPr algn="l"/>
            <a:endParaRPr lang="ru-RU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2961777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10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Сравнение алгоритмов (1)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Как выбрать лучший?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На одном </a:t>
            </a:r>
            <a:r>
              <a:rPr lang="ru-RU" b="0" i="0" dirty="0" err="1">
                <a:effectLst/>
                <a:latin typeface="fkGroteskNeue"/>
              </a:rPr>
              <a:t>датасете</a:t>
            </a:r>
            <a:r>
              <a:rPr lang="ru-RU" b="0" i="0" dirty="0">
                <a:effectLst/>
                <a:latin typeface="fkGroteskNeue"/>
              </a:rPr>
              <a:t> несколько алгоритмов:</a:t>
            </a:r>
            <a:endParaRPr lang="en-US" b="0" i="0" dirty="0">
              <a:effectLst/>
              <a:latin typeface="fkGroteskNeue"/>
            </a:endParaRPr>
          </a:p>
          <a:p>
            <a:pPr marL="360363" indent="0" algn="l">
              <a:buNone/>
            </a:pPr>
            <a:r>
              <a:rPr lang="ru-RU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Алгоритм        </a:t>
            </a:r>
            <a:r>
              <a:rPr lang="en-US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	Accuracy  	AUC-ROC  	</a:t>
            </a:r>
            <a:r>
              <a:rPr lang="ru-RU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Время обучения</a:t>
            </a:r>
          </a:p>
          <a:p>
            <a:pPr marL="360363" indent="0" algn="l">
              <a:buNone/>
            </a:pPr>
            <a:r>
              <a:rPr lang="en-US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Logistic Reg    	0.92      	0.85     	&lt; 1 </a:t>
            </a:r>
            <a:r>
              <a:rPr lang="ru-RU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сек</a:t>
            </a:r>
          </a:p>
          <a:p>
            <a:pPr marL="360363" indent="0" algn="l">
              <a:buNone/>
            </a:pPr>
            <a:r>
              <a:rPr lang="en-US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Random Forest	0.94      	0.88     	2 </a:t>
            </a:r>
            <a:r>
              <a:rPr lang="ru-RU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сек</a:t>
            </a:r>
          </a:p>
          <a:p>
            <a:pPr marL="360363" indent="0" algn="l">
              <a:buNone/>
            </a:pPr>
            <a:r>
              <a:rPr lang="en-US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SVM             	0.93      	0.87     	5 </a:t>
            </a:r>
            <a:r>
              <a:rPr lang="ru-RU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сек</a:t>
            </a:r>
          </a:p>
          <a:p>
            <a:pPr marL="360363" indent="0" algn="l">
              <a:buNone/>
            </a:pPr>
            <a:r>
              <a:rPr lang="en-US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XGBoost</a:t>
            </a:r>
            <a:r>
              <a:rPr lang="en-US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       	0.95      	0.90     	8 </a:t>
            </a:r>
            <a:r>
              <a:rPr lang="ru-RU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сек</a:t>
            </a:r>
            <a:endParaRPr lang="en-US" b="0" i="0" dirty="0"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360363" indent="0" algn="l">
              <a:buNone/>
            </a:pPr>
            <a:endParaRPr lang="en-US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l">
              <a:buNone/>
            </a:pPr>
            <a:r>
              <a:rPr lang="ru-RU" i="1" dirty="0">
                <a:effectLst/>
                <a:latin typeface="fkGroteskNeue"/>
              </a:rPr>
              <a:t>Вопрос: выбираем </a:t>
            </a:r>
            <a:r>
              <a:rPr lang="ru-RU" i="1" dirty="0" err="1">
                <a:effectLst/>
                <a:latin typeface="fkGroteskNeue"/>
              </a:rPr>
              <a:t>XGBoost</a:t>
            </a:r>
            <a:r>
              <a:rPr lang="ru-RU" i="1" dirty="0">
                <a:effectLst/>
                <a:latin typeface="fkGroteskNeue"/>
              </a:rPr>
              <a:t> и идём пить чай?</a:t>
            </a:r>
            <a:endParaRPr lang="ru-RU" i="1" dirty="0"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l">
              <a:buNone/>
            </a:pPr>
            <a:endParaRPr lang="ru-RU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35523693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11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Сравнение алгоритмов (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2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Статистическая значимость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Проблема: может быть случайность!</a:t>
            </a:r>
          </a:p>
          <a:p>
            <a:pPr algn="l"/>
            <a:r>
              <a:rPr lang="ru-RU" b="0" i="0" dirty="0">
                <a:effectLst/>
                <a:latin typeface="fkGroteskNeue"/>
              </a:rPr>
              <a:t>Решение: K-</a:t>
            </a:r>
            <a:r>
              <a:rPr lang="ru-RU" b="0" i="0" dirty="0" err="1">
                <a:effectLst/>
                <a:latin typeface="fkGroteskNeue"/>
              </a:rPr>
              <a:t>fold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cross-validation</a:t>
            </a:r>
            <a:endParaRPr lang="ru-RU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Обучаем каждый алгоритм 5 раз (на разных </a:t>
            </a:r>
            <a:r>
              <a:rPr lang="ru-RU" b="0" i="0" dirty="0" err="1">
                <a:effectLst/>
                <a:latin typeface="fkGroteskNeue"/>
              </a:rPr>
              <a:t>фолдах</a:t>
            </a:r>
            <a:r>
              <a:rPr lang="ru-RU" b="0" i="0" dirty="0">
                <a:effectLst/>
                <a:latin typeface="fkGroteskNeue"/>
              </a:rPr>
              <a:t>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Получаем распределение результатов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Проверяем, есть ли статистическая разница (t-</a:t>
            </a:r>
            <a:r>
              <a:rPr lang="ru-RU" b="0" i="0" dirty="0" err="1">
                <a:effectLst/>
                <a:latin typeface="fkGroteskNeue"/>
              </a:rPr>
              <a:t>test</a:t>
            </a:r>
            <a:r>
              <a:rPr lang="ru-RU" b="0" i="0" dirty="0">
                <a:effectLst/>
                <a:latin typeface="fkGroteskNeue"/>
              </a:rPr>
              <a:t>)</a:t>
            </a:r>
            <a:endParaRPr lang="en-US" b="0" i="0" dirty="0">
              <a:effectLst/>
              <a:latin typeface="fkGroteskNeue"/>
            </a:endParaRPr>
          </a:p>
          <a:p>
            <a:pPr marL="0" indent="0" algn="l">
              <a:buNone/>
            </a:pPr>
            <a:endParaRPr lang="en-US" dirty="0">
              <a:latin typeface="fkGroteskNeue"/>
            </a:endParaRPr>
          </a:p>
          <a:p>
            <a:pPr marL="0" indent="0" algn="l">
              <a:buNone/>
            </a:pPr>
            <a:r>
              <a:rPr lang="en-US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Logistic Reg: 0.85 ± 0.03</a:t>
            </a:r>
          </a:p>
          <a:p>
            <a:pPr marL="0" indent="0" algn="l">
              <a:buNone/>
            </a:pPr>
            <a:r>
              <a:rPr lang="en-US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Random Forest: 0.88 ± 0.04</a:t>
            </a:r>
          </a:p>
          <a:p>
            <a:pPr marL="0" indent="0" algn="l">
              <a:buNone/>
            </a:pPr>
            <a:r>
              <a:rPr lang="en-US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XGBoost</a:t>
            </a:r>
            <a:r>
              <a:rPr lang="en-US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: 0.90 ± 0.02  	</a:t>
            </a:r>
            <a:r>
              <a:rPr lang="en-US" b="0" i="1" dirty="0">
                <a:effectLst/>
                <a:latin typeface="fkGroteskNeue"/>
              </a:rPr>
              <a:t>← </a:t>
            </a:r>
            <a:r>
              <a:rPr lang="ru-RU" b="0" i="1" dirty="0">
                <a:effectLst/>
                <a:latin typeface="fkGroteskNeue"/>
              </a:rPr>
              <a:t>лучше?</a:t>
            </a:r>
          </a:p>
          <a:p>
            <a:pPr marL="0" indent="0" algn="l">
              <a:buNone/>
            </a:pPr>
            <a:endParaRPr lang="ru-RU" b="0" i="0" dirty="0">
              <a:effectLst/>
              <a:latin typeface="fkGroteskNeue"/>
            </a:endParaRPr>
          </a:p>
          <a:p>
            <a:pPr marL="0" indent="0" algn="l">
              <a:buNone/>
            </a:pPr>
            <a:endParaRPr lang="ru-RU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12447500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icture background">
            <a:extLst>
              <a:ext uri="{FF2B5EF4-FFF2-40B4-BE49-F238E27FC236}">
                <a16:creationId xmlns:a16="http://schemas.microsoft.com/office/drawing/2014/main" id="{DBDD2531-F048-4E5E-9A1A-2FB4ADE42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6403" y="2069248"/>
            <a:ext cx="6391275" cy="3705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12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Сравнение алгоритмов (3)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6095857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Интерпретируемость </a:t>
            </a:r>
            <a:r>
              <a:rPr lang="en-US" b="1" i="1" dirty="0">
                <a:effectLst/>
                <a:latin typeface="fkGroteskNeue"/>
              </a:rPr>
              <a:t>vs </a:t>
            </a:r>
            <a:r>
              <a:rPr lang="ru-RU" b="1" i="1" dirty="0">
                <a:effectLst/>
                <a:latin typeface="fkGroteskNeue"/>
              </a:rPr>
              <a:t>Точность</a:t>
            </a:r>
            <a:endParaRPr lang="en-US" b="1" i="1" dirty="0">
              <a:effectLst/>
              <a:latin typeface="fkGroteskNeue"/>
            </a:endParaRPr>
          </a:p>
          <a:p>
            <a:pPr marL="0" indent="0" algn="l">
              <a:buNone/>
            </a:pPr>
            <a:endParaRPr lang="en-US" b="1" i="1" dirty="0">
              <a:latin typeface="fkGroteskNeue"/>
            </a:endParaRP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Trade-</a:t>
            </a:r>
            <a:r>
              <a:rPr lang="ru-RU" b="0" i="0" dirty="0" err="1">
                <a:effectLst/>
                <a:latin typeface="fkGroteskNeue"/>
              </a:rPr>
              <a:t>off</a:t>
            </a:r>
            <a:r>
              <a:rPr lang="ru-RU" b="0" i="0" dirty="0">
                <a:effectLst/>
                <a:latin typeface="fkGroteskNeue"/>
              </a:rPr>
              <a:t>: часто нужно выбирать.</a:t>
            </a:r>
          </a:p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В медицине: интерпретируемость часто важнее точности</a:t>
            </a:r>
          </a:p>
        </p:txBody>
      </p:sp>
    </p:spTree>
    <p:extLst>
      <p:ext uri="{BB962C8B-B14F-4D97-AF65-F5344CB8AC3E}">
        <p14:creationId xmlns:p14="http://schemas.microsoft.com/office/powerpoint/2010/main" val="41795095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13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Практический пример (1)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Диагностика диабета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Данные: 768 пациентов, 8 признаков (возраст, </a:t>
            </a:r>
            <a:r>
              <a:rPr lang="en-US" b="0" i="0" dirty="0">
                <a:effectLst/>
                <a:latin typeface="fkGroteskNeue"/>
              </a:rPr>
              <a:t>BMI, </a:t>
            </a:r>
            <a:r>
              <a:rPr lang="ru-RU" b="0" i="0" dirty="0">
                <a:effectLst/>
                <a:latin typeface="fkGroteskNeue"/>
              </a:rPr>
              <a:t>глюкоза, давление...)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Классы: 500 без диабета, 268 с диабетом (сбалансировано)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Обучение </a:t>
            </a:r>
            <a:r>
              <a:rPr lang="en-US" b="0" i="0" dirty="0">
                <a:effectLst/>
                <a:latin typeface="fkGroteskNeue"/>
              </a:rPr>
              <a:t>Random Forest: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fkGroteskNeue"/>
              </a:rPr>
              <a:t>Accuracy: 0.97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fkGroteskNeue"/>
              </a:rPr>
              <a:t>AUC-ROC: 0.99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fkGroteskNeue"/>
              </a:rPr>
              <a:t>Feature Importance: Glucose (0.30), BMI (0.25), Age (0.18)...</a:t>
            </a:r>
          </a:p>
          <a:p>
            <a:pPr marL="0" indent="0" algn="l">
              <a:buNone/>
            </a:pPr>
            <a:r>
              <a:rPr lang="ru-RU" b="0" i="1" dirty="0">
                <a:effectLst/>
                <a:latin typeface="fkGroteskNeue"/>
              </a:rPr>
              <a:t>Вывод: модель работает хорошо, глюкоза — главный предиктор</a:t>
            </a:r>
          </a:p>
        </p:txBody>
      </p:sp>
    </p:spTree>
    <p:extLst>
      <p:ext uri="{BB962C8B-B14F-4D97-AF65-F5344CB8AC3E}">
        <p14:creationId xmlns:p14="http://schemas.microsoft.com/office/powerpoint/2010/main" val="18044508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14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Практический пример (</a:t>
              </a:r>
              <a:r>
                <a:rPr lang="en-US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2</a:t>
              </a:r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Проверка переобучения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Тестирование на новой когорте пациентов: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 err="1">
                <a:effectLst/>
                <a:latin typeface="fkGroteskNeue"/>
              </a:rPr>
              <a:t>Accuracy</a:t>
            </a:r>
            <a:r>
              <a:rPr lang="ru-RU" b="0" i="0" dirty="0">
                <a:effectLst/>
                <a:latin typeface="fkGroteskNeue"/>
              </a:rPr>
              <a:t>: 0.91 (на 6% хуже!)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AUC-ROC: 0.92 (на 7% хуже)</a:t>
            </a:r>
          </a:p>
          <a:p>
            <a:pPr marL="0" indent="0" algn="l">
              <a:buNone/>
            </a:pPr>
            <a:r>
              <a:rPr lang="ru-RU" b="0" i="1" dirty="0">
                <a:effectLst/>
                <a:latin typeface="fkGroteskNeue"/>
              </a:rPr>
              <a:t>Есть переобучение.</a:t>
            </a:r>
          </a:p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Решение: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Регуляризация: </a:t>
            </a:r>
            <a:r>
              <a:rPr lang="ru-RU" b="0" i="0" dirty="0" err="1">
                <a:effectLst/>
                <a:latin typeface="fkGroteskNeue"/>
              </a:rPr>
              <a:t>max_depth</a:t>
            </a:r>
            <a:r>
              <a:rPr lang="ru-RU" b="0" i="0" dirty="0">
                <a:effectLst/>
                <a:latin typeface="fkGroteskNeue"/>
              </a:rPr>
              <a:t>=10, </a:t>
            </a:r>
            <a:r>
              <a:rPr lang="ru-RU" b="0" i="0" dirty="0" err="1">
                <a:effectLst/>
                <a:latin typeface="fkGroteskNeue"/>
              </a:rPr>
              <a:t>min_samples_leaf</a:t>
            </a:r>
            <a:r>
              <a:rPr lang="ru-RU" b="0" i="0" dirty="0">
                <a:effectLst/>
                <a:latin typeface="fkGroteskNeue"/>
              </a:rPr>
              <a:t>=5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 err="1">
                <a:effectLst/>
                <a:latin typeface="fkGroteskNeue"/>
              </a:rPr>
              <a:t>Feature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selection</a:t>
            </a:r>
            <a:r>
              <a:rPr lang="ru-RU" b="0" i="0" dirty="0">
                <a:effectLst/>
                <a:latin typeface="fkGroteskNeue"/>
              </a:rPr>
              <a:t>: оставляем только топ-5 признаков</a:t>
            </a:r>
          </a:p>
          <a:p>
            <a:pPr marL="0" indent="0" algn="l">
              <a:buNone/>
            </a:pPr>
            <a:r>
              <a:rPr lang="ru-RU" b="0" i="1" dirty="0">
                <a:effectLst/>
                <a:latin typeface="fkGroteskNeue"/>
              </a:rPr>
              <a:t>Результат: </a:t>
            </a:r>
            <a:r>
              <a:rPr lang="ru-RU" b="0" i="1" dirty="0" err="1">
                <a:effectLst/>
                <a:latin typeface="fkGroteskNeue"/>
              </a:rPr>
              <a:t>Accuracy</a:t>
            </a:r>
            <a:r>
              <a:rPr lang="ru-RU" b="0" i="1" dirty="0">
                <a:effectLst/>
                <a:latin typeface="fkGroteskNeue"/>
              </a:rPr>
              <a:t> 0.93, но стабильнее</a:t>
            </a:r>
          </a:p>
        </p:txBody>
      </p:sp>
    </p:spTree>
    <p:extLst>
      <p:ext uri="{BB962C8B-B14F-4D97-AF65-F5344CB8AC3E}">
        <p14:creationId xmlns:p14="http://schemas.microsoft.com/office/powerpoint/2010/main" val="27709959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15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Расширенные техники (1)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1" i="1" dirty="0">
                <a:effectLst/>
                <a:latin typeface="fkGroteskNeue"/>
              </a:rPr>
              <a:t>Ансамблевые методы</a:t>
            </a:r>
          </a:p>
          <a:p>
            <a:pPr marL="0" indent="0" algn="l">
              <a:buNone/>
            </a:pPr>
            <a:r>
              <a:rPr lang="ru-RU" b="0" i="1" dirty="0">
                <a:effectLst/>
                <a:latin typeface="fkGroteskNeue"/>
              </a:rPr>
              <a:t>Идея</a:t>
            </a:r>
            <a:r>
              <a:rPr lang="ru-RU" b="0" i="0" dirty="0">
                <a:effectLst/>
                <a:latin typeface="fkGroteskNeue"/>
              </a:rPr>
              <a:t>: один классификатор хороший, несколько хороших — лучше!</a:t>
            </a:r>
          </a:p>
          <a:p>
            <a:pPr algn="l"/>
            <a:r>
              <a:rPr lang="ru-RU" b="0" i="0" dirty="0" err="1">
                <a:effectLst/>
                <a:latin typeface="fkGroteskNeue"/>
              </a:rPr>
              <a:t>Voting</a:t>
            </a:r>
            <a:r>
              <a:rPr lang="ru-RU" b="0" i="0" dirty="0">
                <a:effectLst/>
                <a:latin typeface="fkGroteskNeue"/>
              </a:rPr>
              <a:t>: несколько моделей голосуют</a:t>
            </a:r>
            <a:endParaRPr lang="en-US" b="0" i="0" dirty="0">
              <a:effectLst/>
              <a:latin typeface="fkGroteskNeue"/>
            </a:endParaRPr>
          </a:p>
          <a:p>
            <a:pPr algn="l"/>
            <a:r>
              <a:rPr lang="ru-RU" b="0" i="0" dirty="0" err="1">
                <a:effectLst/>
                <a:latin typeface="fkGroteskNeue"/>
              </a:rPr>
              <a:t>Stacking</a:t>
            </a:r>
            <a:r>
              <a:rPr lang="ru-RU" b="0" i="0" dirty="0">
                <a:effectLst/>
                <a:latin typeface="fkGroteskNeue"/>
              </a:rPr>
              <a:t>: первый уровень моделей → второй уровень мета-модель</a:t>
            </a:r>
          </a:p>
          <a:p>
            <a:pPr algn="l"/>
            <a:r>
              <a:rPr lang="ru-RU" b="0" i="0" dirty="0" err="1">
                <a:effectLst/>
                <a:latin typeface="fkGroteskNeue"/>
              </a:rPr>
              <a:t>Boosting</a:t>
            </a:r>
            <a:r>
              <a:rPr lang="ru-RU" b="0" i="0" dirty="0">
                <a:effectLst/>
                <a:latin typeface="fkGroteskNeue"/>
              </a:rPr>
              <a:t>: </a:t>
            </a:r>
            <a:r>
              <a:rPr lang="ru-RU" b="0" i="0" dirty="0" err="1">
                <a:effectLst/>
                <a:latin typeface="fkGroteskNeue"/>
              </a:rPr>
              <a:t>XGBoost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LightGBM</a:t>
            </a:r>
            <a:r>
              <a:rPr lang="ru-RU" b="0" i="0" dirty="0">
                <a:effectLst/>
                <a:latin typeface="fkGroteskNeue"/>
              </a:rPr>
              <a:t> — последовательное обучение слабых моделей</a:t>
            </a:r>
          </a:p>
          <a:p>
            <a:pPr algn="l"/>
            <a:endParaRPr lang="ru-RU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15608158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8A0E89EE-006C-462B-85FE-BA36FEA9E4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4669" y="1344006"/>
            <a:ext cx="7597331" cy="3975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16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Расширенные техники (2)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r>
              <a:rPr lang="ru-RU" sz="2000" b="1" i="1" dirty="0" err="1">
                <a:effectLst/>
                <a:latin typeface="fkGroteskNeue"/>
              </a:rPr>
              <a:t>Гиперпараметрическая</a:t>
            </a:r>
            <a:r>
              <a:rPr lang="ru-RU" sz="2000" b="1" i="1" dirty="0">
                <a:effectLst/>
                <a:latin typeface="fkGroteskNeue"/>
              </a:rPr>
              <a:t> оптимизация</a:t>
            </a:r>
          </a:p>
          <a:p>
            <a:pPr marL="0" indent="0" algn="l">
              <a:buNone/>
            </a:pPr>
            <a:r>
              <a:rPr lang="en-US" sz="2000" b="0" i="0" dirty="0">
                <a:effectLst/>
                <a:latin typeface="fkGroteskNeue"/>
              </a:rPr>
              <a:t>Grid Search:</a:t>
            </a:r>
          </a:p>
          <a:p>
            <a:pPr marL="457200" lvl="1" indent="0">
              <a:buNone/>
            </a:pPr>
            <a:r>
              <a:rPr lang="en-US" sz="18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param_grid</a:t>
            </a:r>
            <a:r>
              <a:rPr lang="en-US" sz="18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= {</a:t>
            </a:r>
          </a:p>
          <a:p>
            <a:pPr marL="457200" lvl="1" indent="0">
              <a:buNone/>
            </a:pPr>
            <a:r>
              <a:rPr lang="en-US" sz="18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  '</a:t>
            </a:r>
            <a:r>
              <a:rPr lang="en-US" sz="18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n_estimators</a:t>
            </a:r>
            <a:r>
              <a:rPr lang="en-US" sz="18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': [50, 100, 200],</a:t>
            </a:r>
          </a:p>
          <a:p>
            <a:pPr marL="457200" lvl="1" indent="0">
              <a:buNone/>
            </a:pPr>
            <a:r>
              <a:rPr lang="en-US" sz="18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  '</a:t>
            </a:r>
            <a:r>
              <a:rPr lang="en-US" sz="18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max_depth</a:t>
            </a:r>
            <a:r>
              <a:rPr lang="en-US" sz="18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': [5, 10, 15],</a:t>
            </a:r>
          </a:p>
          <a:p>
            <a:pPr marL="457200" lvl="1" indent="0">
              <a:buNone/>
            </a:pPr>
            <a:r>
              <a:rPr lang="en-US" sz="18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    '</a:t>
            </a:r>
            <a:r>
              <a:rPr lang="en-US" sz="1800" b="0" i="0" dirty="0" err="1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min_samples_leaf</a:t>
            </a:r>
            <a:r>
              <a:rPr lang="en-US" sz="18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': [2, 4]</a:t>
            </a:r>
          </a:p>
          <a:p>
            <a:pPr marL="457200" lvl="1" indent="0">
              <a:buNone/>
            </a:pPr>
            <a:r>
              <a:rPr lang="en-US" sz="1800" b="0" i="0" dirty="0">
                <a:effectLst/>
                <a:latin typeface="Cambria Math" panose="02040503050406030204" pitchFamily="18" charset="0"/>
                <a:ea typeface="Cambria Math" panose="02040503050406030204" pitchFamily="18" charset="0"/>
              </a:rPr>
              <a:t>}</a:t>
            </a:r>
          </a:p>
          <a:p>
            <a:pPr marL="0" indent="0" algn="l">
              <a:buNone/>
            </a:pPr>
            <a:r>
              <a:rPr lang="ru-RU" sz="2000" b="0" i="0" dirty="0">
                <a:effectLst/>
                <a:latin typeface="fkGroteskNeue"/>
              </a:rPr>
              <a:t>Пробуем все комбинации: 3 × 3 × 2 = 18 моделей</a:t>
            </a:r>
          </a:p>
          <a:p>
            <a:pPr marL="0" indent="0" algn="l">
              <a:buNone/>
            </a:pPr>
            <a:r>
              <a:rPr lang="ru-RU" sz="2000" b="0" i="0" dirty="0" err="1">
                <a:effectLst/>
                <a:latin typeface="fkGroteskNeue"/>
              </a:rPr>
              <a:t>Random</a:t>
            </a:r>
            <a:r>
              <a:rPr lang="ru-RU" sz="2000" b="0" i="0" dirty="0">
                <a:effectLst/>
                <a:latin typeface="fkGroteskNeue"/>
              </a:rPr>
              <a:t> Search: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fkGroteskNeue"/>
              </a:rPr>
              <a:t>Случайная выборка параметров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fkGroteskNeue"/>
              </a:rPr>
              <a:t>Быстрее, но может пропустить оптимум</a:t>
            </a:r>
          </a:p>
          <a:p>
            <a:pPr marL="0" indent="0" algn="l">
              <a:buNone/>
            </a:pPr>
            <a:r>
              <a:rPr lang="ru-RU" sz="2000" b="0" i="0" dirty="0">
                <a:effectLst/>
                <a:latin typeface="fkGroteskNeue"/>
              </a:rPr>
              <a:t>Байесовская оптимизация: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fkGroteskNeue"/>
              </a:rPr>
              <a:t>Умная стратегия выбора параметров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effectLst/>
                <a:latin typeface="fkGroteskNeue"/>
              </a:rPr>
              <a:t>Дороже вычислительно, но эффективнее</a:t>
            </a:r>
          </a:p>
          <a:p>
            <a:pPr marL="0" indent="0" algn="l">
              <a:buNone/>
            </a:pPr>
            <a:endParaRPr lang="en-US" sz="2000" b="0" i="0" dirty="0">
              <a:effectLst/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marL="0" indent="0" algn="l">
              <a:buNone/>
            </a:pPr>
            <a:endParaRPr lang="en-US" sz="2000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38081070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17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SMOTE и дисбаланс в медицине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9623" y="1038273"/>
            <a:ext cx="5912977" cy="1377726"/>
          </a:xfrm>
        </p:spPr>
        <p:txBody>
          <a:bodyPr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effectLst/>
                <a:latin typeface="pplxSerif"/>
              </a:rPr>
              <a:t>Проблема: редкие случаи заболевания (1–5%) → </a:t>
            </a:r>
            <a:r>
              <a:rPr lang="ru-RU" sz="1800" b="0" i="0" dirty="0" err="1">
                <a:effectLst/>
                <a:latin typeface="pplxSerif"/>
              </a:rPr>
              <a:t>accuracy</a:t>
            </a:r>
            <a:r>
              <a:rPr lang="ru-RU" sz="1800" b="0" i="0" dirty="0">
                <a:effectLst/>
                <a:latin typeface="pplxSerif"/>
              </a:rPr>
              <a:t> обманчиво высока.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effectLst/>
                <a:latin typeface="pplxSerif"/>
              </a:rPr>
              <a:t>Решение: SMOTE + </a:t>
            </a:r>
            <a:r>
              <a:rPr lang="ru-RU" sz="1800" b="0" i="0" dirty="0" err="1">
                <a:effectLst/>
                <a:latin typeface="pplxSerif"/>
              </a:rPr>
              <a:t>Random</a:t>
            </a:r>
            <a:r>
              <a:rPr lang="ru-RU" sz="1800" b="0" i="0" dirty="0">
                <a:effectLst/>
                <a:latin typeface="pplxSerif"/>
              </a:rPr>
              <a:t> </a:t>
            </a:r>
            <a:r>
              <a:rPr lang="ru-RU" sz="1800" b="0" i="0" dirty="0" err="1">
                <a:effectLst/>
                <a:latin typeface="pplxSerif"/>
              </a:rPr>
              <a:t>Forest</a:t>
            </a:r>
            <a:r>
              <a:rPr lang="ru-RU" sz="1800" b="0" i="0" dirty="0">
                <a:effectLst/>
                <a:latin typeface="pplxSerif"/>
              </a:rPr>
              <a:t> / SVM.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effectLst/>
                <a:latin typeface="pplxSerif"/>
              </a:rPr>
              <a:t>Результат: рост </a:t>
            </a:r>
            <a:r>
              <a:rPr lang="ru-RU" sz="1800" b="0" i="0" dirty="0" err="1">
                <a:effectLst/>
                <a:latin typeface="pplxSerif"/>
              </a:rPr>
              <a:t>recall</a:t>
            </a:r>
            <a:r>
              <a:rPr lang="ru-RU" sz="1800" b="0" i="0" dirty="0">
                <a:effectLst/>
                <a:latin typeface="pplxSerif"/>
              </a:rPr>
              <a:t> и F1 для редкого класса без сильной потери по </a:t>
            </a:r>
            <a:r>
              <a:rPr lang="ru-RU" sz="1800" b="0" i="0" dirty="0" err="1">
                <a:effectLst/>
                <a:latin typeface="pplxSerif"/>
              </a:rPr>
              <a:t>majority</a:t>
            </a:r>
            <a:r>
              <a:rPr lang="ru-RU" sz="1800" b="0" i="0" dirty="0">
                <a:effectLst/>
                <a:latin typeface="pplxSerif"/>
              </a:rPr>
              <a:t>‑классу.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DD02473-96F0-473E-9096-36DAF663D9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118876"/>
            <a:ext cx="6372225" cy="1638300"/>
          </a:xfrm>
          <a:prstGeom prst="rect">
            <a:avLst/>
          </a:prstGeom>
        </p:spPr>
      </p:pic>
      <p:pic>
        <p:nvPicPr>
          <p:cNvPr id="5" name="Picture 2" descr="Figure 1">
            <a:extLst>
              <a:ext uri="{FF2B5EF4-FFF2-40B4-BE49-F238E27FC236}">
                <a16:creationId xmlns:a16="http://schemas.microsoft.com/office/drawing/2014/main" id="{E45BEC33-A49E-451A-84F7-FD28BF3A63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1116" y="1170880"/>
            <a:ext cx="5740081" cy="53615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5153D85-3162-47A5-8E27-9FA8EBFC5E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8056" y="2629264"/>
            <a:ext cx="4464628" cy="244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7316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18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Практические рекомендации 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2400" b="1" dirty="0"/>
              <a:t>От идеи к интерпретации</a:t>
            </a:r>
          </a:p>
          <a:p>
            <a:pPr algn="just"/>
            <a:r>
              <a:rPr lang="ru-RU" sz="2400" dirty="0"/>
              <a:t>✓ Постановка задачи ясна</a:t>
            </a:r>
          </a:p>
          <a:p>
            <a:pPr algn="just"/>
            <a:r>
              <a:rPr lang="ru-RU" sz="2400" dirty="0"/>
              <a:t>✓ Данные собраны и очищены</a:t>
            </a:r>
          </a:p>
          <a:p>
            <a:pPr algn="just"/>
            <a:r>
              <a:rPr lang="ru-RU" sz="2400" dirty="0"/>
              <a:t>✓ Выбрана метрика качества</a:t>
            </a:r>
          </a:p>
          <a:p>
            <a:pPr algn="just"/>
            <a:r>
              <a:rPr lang="ru-RU" sz="2400" dirty="0"/>
              <a:t>✓ Реализована валидация (K-</a:t>
            </a:r>
            <a:r>
              <a:rPr lang="ru-RU" sz="2400" dirty="0" err="1"/>
              <a:t>fold</a:t>
            </a:r>
            <a:r>
              <a:rPr lang="ru-RU" sz="2400" dirty="0"/>
              <a:t>)</a:t>
            </a:r>
          </a:p>
          <a:p>
            <a:pPr algn="just"/>
            <a:r>
              <a:rPr lang="ru-RU" sz="2400" dirty="0"/>
              <a:t>✓ Несбалансированность учтена (если есть)</a:t>
            </a:r>
          </a:p>
          <a:p>
            <a:pPr algn="just"/>
            <a:r>
              <a:rPr lang="ru-RU" sz="2400" dirty="0"/>
              <a:t>✓ </a:t>
            </a:r>
            <a:r>
              <a:rPr lang="ru-RU" sz="2400" dirty="0" err="1"/>
              <a:t>Feature</a:t>
            </a:r>
            <a:r>
              <a:rPr lang="ru-RU" sz="2400" dirty="0"/>
              <a:t> </a:t>
            </a:r>
            <a:r>
              <a:rPr lang="ru-RU" sz="2400" dirty="0" err="1"/>
              <a:t>Importance</a:t>
            </a:r>
            <a:r>
              <a:rPr lang="ru-RU" sz="2400" dirty="0"/>
              <a:t> посчитана и интерпретирована</a:t>
            </a:r>
          </a:p>
          <a:p>
            <a:pPr algn="just"/>
            <a:r>
              <a:rPr lang="ru-RU" sz="2400" dirty="0"/>
              <a:t>✓ Алгоритмы сравнены статистически</a:t>
            </a:r>
          </a:p>
          <a:p>
            <a:pPr algn="just"/>
            <a:r>
              <a:rPr lang="ru-RU" sz="2400" dirty="0"/>
              <a:t>✓ Переобучение проверено</a:t>
            </a:r>
          </a:p>
          <a:p>
            <a:pPr algn="just"/>
            <a:r>
              <a:rPr lang="ru-RU" sz="2400" dirty="0"/>
              <a:t>✓ Результаты воспроизводимы</a:t>
            </a:r>
          </a:p>
          <a:p>
            <a:pPr algn="just"/>
            <a:r>
              <a:rPr lang="ru-RU" sz="2400" dirty="0"/>
              <a:t>✓ Биологическая интерпретация сделана</a:t>
            </a:r>
            <a:endParaRPr lang="ru-RU" sz="2400" i="1" dirty="0"/>
          </a:p>
        </p:txBody>
      </p:sp>
    </p:spTree>
    <p:extLst>
      <p:ext uri="{BB962C8B-B14F-4D97-AF65-F5344CB8AC3E}">
        <p14:creationId xmlns:p14="http://schemas.microsoft.com/office/powerpoint/2010/main" val="386283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12"/>
          <p:cNvSpPr>
            <a:spLocks noGrp="1"/>
          </p:cNvSpPr>
          <p:nvPr>
            <p:ph type="sldNum" sz="quarter" idx="12"/>
          </p:nvPr>
        </p:nvSpPr>
        <p:spPr>
          <a:xfrm>
            <a:off x="9274478" y="6356350"/>
            <a:ext cx="2743200" cy="365125"/>
          </a:xfrm>
        </p:spPr>
        <p:txBody>
          <a:bodyPr/>
          <a:lstStyle/>
          <a:p>
            <a:fld id="{B19B0651-EE4F-4900-A07F-96A6BFA9D0F0}" type="slidenum">
              <a:rPr lang="ru-RU" smtClean="0">
                <a:latin typeface="PT Sans" panose="020B0503020203020204" pitchFamily="34" charset="0"/>
              </a:rPr>
              <a:pPr/>
              <a:t>19</a:t>
            </a:fld>
            <a:endParaRPr lang="ru-RU" dirty="0">
              <a:latin typeface="PT Sans" panose="020B0503020203020204" pitchFamily="34" charset="0"/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7342440-FCEE-2E4F-950F-6FE7857B3EB5}"/>
              </a:ext>
            </a:extLst>
          </p:cNvPr>
          <p:cNvGrpSpPr/>
          <p:nvPr/>
        </p:nvGrpSpPr>
        <p:grpSpPr>
          <a:xfrm>
            <a:off x="0" y="-4966"/>
            <a:ext cx="12192000" cy="1035565"/>
            <a:chOff x="0" y="1924"/>
            <a:chExt cx="9144000" cy="832664"/>
          </a:xfrm>
        </p:grpSpPr>
        <p:sp>
          <p:nvSpPr>
            <p:cNvPr id="10" name="Google Shape;133;p5">
              <a:extLst>
                <a:ext uri="{FF2B5EF4-FFF2-40B4-BE49-F238E27FC236}">
                  <a16:creationId xmlns:a16="http://schemas.microsoft.com/office/drawing/2014/main" id="{E1FF157E-1AAE-A345-AC22-C4FE991023F3}"/>
                </a:ext>
              </a:extLst>
            </p:cNvPr>
            <p:cNvSpPr/>
            <p:nvPr/>
          </p:nvSpPr>
          <p:spPr>
            <a:xfrm>
              <a:off x="0" y="1924"/>
              <a:ext cx="9144000" cy="832664"/>
            </a:xfrm>
            <a:prstGeom prst="rect">
              <a:avLst/>
            </a:prstGeom>
            <a:gradFill>
              <a:gsLst>
                <a:gs pos="0">
                  <a:srgbClr val="003061"/>
                </a:gs>
                <a:gs pos="50000">
                  <a:srgbClr val="00468D"/>
                </a:gs>
                <a:gs pos="100000">
                  <a:srgbClr val="0054AA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PT Sans" panose="020B0503020203020204" pitchFamily="34" charset="0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34;p5" descr="C:\Users\MSShafigullin\Desktop\2020\Презентация КФУ\kfu_logo_circle_rus.png">
              <a:extLst>
                <a:ext uri="{FF2B5EF4-FFF2-40B4-BE49-F238E27FC236}">
                  <a16:creationId xmlns:a16="http://schemas.microsoft.com/office/drawing/2014/main" id="{25CDED6D-DB62-6B41-9BFC-DFBDD55047A7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37267" y="148256"/>
              <a:ext cx="55305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Google Shape;135;p5">
              <a:extLst>
                <a:ext uri="{FF2B5EF4-FFF2-40B4-BE49-F238E27FC236}">
                  <a16:creationId xmlns:a16="http://schemas.microsoft.com/office/drawing/2014/main" id="{B90A0E07-9A35-E74D-859C-8109875E2889}"/>
                </a:ext>
              </a:extLst>
            </p:cNvPr>
            <p:cNvSpPr txBox="1"/>
            <p:nvPr/>
          </p:nvSpPr>
          <p:spPr>
            <a:xfrm>
              <a:off x="835887" y="240719"/>
              <a:ext cx="7344900" cy="3216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ru-RU" sz="2000" dirty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Вопросы?</a:t>
              </a:r>
            </a:p>
          </p:txBody>
        </p:sp>
        <p:pic>
          <p:nvPicPr>
            <p:cNvPr id="14" name="Google Shape;136;p5" descr="C:\Users\MSShafigullin\Desktop\Проекты\Презентация по ДК\qs.jpg">
              <a:extLst>
                <a:ext uri="{FF2B5EF4-FFF2-40B4-BE49-F238E27FC236}">
                  <a16:creationId xmlns:a16="http://schemas.microsoft.com/office/drawing/2014/main" id="{9F8DFA2B-AC78-464C-BC1D-62929B6D8A97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878094" y="367563"/>
              <a:ext cx="353386" cy="35338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" name="Google Shape;137;p5" descr="C:\Users\MSShafigullin\Desktop\2020\Презентация КФУ\THE.png">
              <a:extLst>
                <a:ext uri="{FF2B5EF4-FFF2-40B4-BE49-F238E27FC236}">
                  <a16:creationId xmlns:a16="http://schemas.microsoft.com/office/drawing/2014/main" id="{835D2624-2EF8-2144-9816-A09872F47777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928787" y="114719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38;p5">
              <a:extLst>
                <a:ext uri="{FF2B5EF4-FFF2-40B4-BE49-F238E27FC236}">
                  <a16:creationId xmlns:a16="http://schemas.microsoft.com/office/drawing/2014/main" id="{841F1A31-5CCC-E941-956A-F47E7E67D768}"/>
                </a:ext>
              </a:extLst>
            </p:cNvPr>
            <p:cNvSpPr txBox="1"/>
            <p:nvPr/>
          </p:nvSpPr>
          <p:spPr>
            <a:xfrm>
              <a:off x="8279432" y="374979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370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13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  <p:sp>
          <p:nvSpPr>
            <p:cNvPr id="17" name="Google Shape;139;p5">
              <a:extLst>
                <a:ext uri="{FF2B5EF4-FFF2-40B4-BE49-F238E27FC236}">
                  <a16:creationId xmlns:a16="http://schemas.microsoft.com/office/drawing/2014/main" id="{A28DBFF6-9F47-6244-B20A-895959377BC2}"/>
                </a:ext>
              </a:extLst>
            </p:cNvPr>
            <p:cNvSpPr txBox="1"/>
            <p:nvPr/>
          </p:nvSpPr>
          <p:spPr>
            <a:xfrm>
              <a:off x="8279432" y="71442"/>
              <a:ext cx="659482" cy="2721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601-800</a:t>
              </a:r>
              <a:endParaRPr>
                <a:latin typeface="PT Sans" panose="020B0503020203020204" pitchFamily="34" charset="0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800"/>
                <a:buFont typeface="PT Sans"/>
                <a:buNone/>
              </a:pPr>
              <a:r>
                <a:rPr lang="ru-RU" sz="800" b="0" u="none" strike="noStrike" cap="none">
                  <a:solidFill>
                    <a:schemeClr val="lt1"/>
                  </a:solidFill>
                  <a:latin typeface="PT Sans" panose="020B0503020203020204" pitchFamily="34" charset="0"/>
                  <a:ea typeface="PT Sans"/>
                  <a:cs typeface="PT Sans"/>
                  <a:sym typeface="PT Sans"/>
                </a:rPr>
                <a:t>9</a:t>
              </a:r>
              <a:endParaRPr sz="800" b="0" u="none" strike="noStrike" cap="none">
                <a:solidFill>
                  <a:schemeClr val="lt1"/>
                </a:solidFill>
                <a:latin typeface="PT Sans" panose="020B0503020203020204" pitchFamily="34" charset="0"/>
                <a:ea typeface="PT Sans"/>
                <a:cs typeface="PT Sans"/>
                <a:sym typeface="PT Sans"/>
              </a:endParaRPr>
            </a:p>
          </p:txBody>
        </p:sp>
      </p:grpSp>
      <p:sp>
        <p:nvSpPr>
          <p:cNvPr id="19" name="Объект 2">
            <a:extLst>
              <a:ext uri="{FF2B5EF4-FFF2-40B4-BE49-F238E27FC236}">
                <a16:creationId xmlns:a16="http://schemas.microsoft.com/office/drawing/2014/main" id="{30C61546-9215-4D0C-81CB-5EE3A5637E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23" y="1223234"/>
            <a:ext cx="11423283" cy="5677647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b="0" i="0" dirty="0">
                <a:effectLst/>
                <a:latin typeface="fkGroteskNeue"/>
              </a:rPr>
              <a:t>Книги: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  <a:latin typeface="fkGroteskNeue"/>
              </a:rPr>
              <a:t>"</a:t>
            </a:r>
            <a:r>
              <a:rPr lang="en-US" b="0" i="0" dirty="0">
                <a:effectLst/>
                <a:latin typeface="fkGroteskNeue"/>
              </a:rPr>
              <a:t>Introduction to Statistical Learning" (James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en-US" b="0" i="0" dirty="0">
                <a:effectLst/>
                <a:latin typeface="fkGroteskNeue"/>
              </a:rPr>
              <a:t>et al</a:t>
            </a:r>
            <a:r>
              <a:rPr lang="ru-RU" dirty="0">
                <a:latin typeface="fkGroteskNeue"/>
              </a:rPr>
              <a:t>.</a:t>
            </a:r>
            <a:r>
              <a:rPr lang="en-US" b="0" i="0" dirty="0">
                <a:effectLst/>
                <a:latin typeface="fkGroteskNeue"/>
              </a:rPr>
              <a:t>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fkGroteskNeue"/>
              </a:rPr>
              <a:t>"Biomedical Data Science" (Love, Huber, Anders)</a:t>
            </a:r>
            <a:endParaRPr lang="ru-RU" sz="4000" i="1" dirty="0"/>
          </a:p>
        </p:txBody>
      </p:sp>
    </p:spTree>
    <p:extLst>
      <p:ext uri="{BB962C8B-B14F-4D97-AF65-F5344CB8AC3E}">
        <p14:creationId xmlns:p14="http://schemas.microsoft.com/office/powerpoint/2010/main" val="27232645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:\Users\MSShafigullin\Desktop\Проекты\Брендбук\Гайдлайн\Презентация\презентация шаблон КФУ-01.jp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472"/>
          <a:stretch/>
        </p:blipFill>
        <p:spPr bwMode="auto">
          <a:xfrm>
            <a:off x="0" y="2381"/>
            <a:ext cx="12192000" cy="6855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C:\Users\MSShafigullin\Desktop\2020\Презентация КФУ\kfu_logo_circle_rus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03" y="548680"/>
            <a:ext cx="1536171" cy="1499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Google Shape;898;g89d9307d70_13_164"/>
          <p:cNvSpPr txBox="1"/>
          <p:nvPr/>
        </p:nvSpPr>
        <p:spPr>
          <a:xfrm>
            <a:off x="3215680" y="2852936"/>
            <a:ext cx="6624736" cy="13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>
              <a:buClr>
                <a:srgbClr val="000000"/>
              </a:buClr>
              <a:buSzPts val="5867"/>
            </a:pPr>
            <a:r>
              <a:rPr lang="en-US" sz="48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Спасибо</a:t>
            </a:r>
            <a:r>
              <a:rPr lang="en-US" sz="4800" b="1" dirty="0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 </a:t>
            </a:r>
            <a:r>
              <a:rPr lang="en-US" sz="48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за</a:t>
            </a:r>
            <a:r>
              <a:rPr lang="en-US" sz="4800" b="1" dirty="0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 </a:t>
            </a:r>
            <a:r>
              <a:rPr lang="en-US" sz="48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внимание</a:t>
            </a:r>
            <a:r>
              <a:rPr lang="en-US" sz="4800" b="1" dirty="0">
                <a:solidFill>
                  <a:schemeClr val="bg1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!</a:t>
            </a:r>
            <a:endParaRPr sz="4800" b="1" dirty="0">
              <a:solidFill>
                <a:schemeClr val="bg1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097835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1765</TotalTime>
  <Words>1132</Words>
  <Application>Microsoft Office PowerPoint</Application>
  <PresentationFormat>Широкоэкранный</PresentationFormat>
  <Paragraphs>288</Paragraphs>
  <Slides>20</Slides>
  <Notes>20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9" baseType="lpstr">
      <vt:lpstr>Arial</vt:lpstr>
      <vt:lpstr>Calibri</vt:lpstr>
      <vt:lpstr>Calibri Light</vt:lpstr>
      <vt:lpstr>Cambria Math</vt:lpstr>
      <vt:lpstr>fkGroteskNeue</vt:lpstr>
      <vt:lpstr>pplxSerif</vt:lpstr>
      <vt:lpstr>PT Sans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Альт</dc:creator>
  <cp:lastModifiedBy>Рамиля Власенкова</cp:lastModifiedBy>
  <cp:revision>52</cp:revision>
  <dcterms:created xsi:type="dcterms:W3CDTF">2025-09-03T07:14:40Z</dcterms:created>
  <dcterms:modified xsi:type="dcterms:W3CDTF">2026-02-18T11:42:46Z</dcterms:modified>
</cp:coreProperties>
</file>