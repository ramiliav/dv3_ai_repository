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7" r:id="rId5"/>
    <p:sldId id="269" r:id="rId6"/>
    <p:sldId id="271" r:id="rId7"/>
    <p:sldId id="272" r:id="rId8"/>
    <p:sldId id="273" r:id="rId9"/>
    <p:sldId id="274" r:id="rId10"/>
    <p:sldId id="275" r:id="rId11"/>
    <p:sldId id="277" r:id="rId12"/>
    <p:sldId id="276" r:id="rId13"/>
    <p:sldId id="278" r:id="rId14"/>
    <p:sldId id="279" r:id="rId15"/>
    <p:sldId id="280" r:id="rId16"/>
    <p:sldId id="270" r:id="rId17"/>
    <p:sldId id="283" r:id="rId18"/>
    <p:sldId id="284" r:id="rId19"/>
    <p:sldId id="281" r:id="rId20"/>
    <p:sldId id="282" r:id="rId21"/>
    <p:sldId id="26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66263" autoAdjust="0"/>
  </p:normalViewPr>
  <p:slideViewPr>
    <p:cSldViewPr snapToGrid="0">
      <p:cViewPr varScale="1">
        <p:scale>
          <a:sx n="47" d="100"/>
          <a:sy n="47" d="100"/>
        </p:scale>
        <p:origin x="14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Добрый день! На прошлой лекции мы разобрали основы. Теперь пойдём глубже.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Представьте: вы обучили </a:t>
            </a: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 95%, все рады. Но потом врач задаёт вопрос: "А почему ты думаешь, что у этого пациента рак?"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вы ответите "модель сказала", врач вас не будет слушать. Нужна интерпретация.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Вторая проблема: в реальной клинике классы </a:t>
            </a:r>
            <a:r>
              <a:rPr lang="ru-RU" b="0" i="0" dirty="0" err="1">
                <a:effectLst/>
                <a:latin typeface="fkGroteskNeue"/>
              </a:rPr>
              <a:t>несбалансированы</a:t>
            </a:r>
            <a:r>
              <a:rPr lang="ru-RU" b="0" i="0" dirty="0">
                <a:effectLst/>
                <a:latin typeface="fkGroteskNeue"/>
              </a:rPr>
              <a:t>. Редкие болезни. Если у вас 99% здоровых, модель, которая всегда говорит "здоров", получит 99% </a:t>
            </a:r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. Но это совершенно бесполезная модель.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Сегодня мы разберём оба эти вопроса. Интерпретируемость и работа с дисбалансом — это то, что отличает хорошего </a:t>
            </a:r>
            <a:r>
              <a:rPr lang="ru-RU" b="0" i="0" dirty="0" err="1">
                <a:effectLst/>
                <a:latin typeface="fkGroteskNeue"/>
              </a:rPr>
              <a:t>data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scientist</a:t>
            </a:r>
            <a:r>
              <a:rPr lang="ru-RU" b="0" i="0" dirty="0">
                <a:effectLst/>
                <a:latin typeface="fkGroteskNeue"/>
              </a:rPr>
              <a:t> от великого.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Первый вопрос: какие признаки действительно важны?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 обучилась на 20,000 генах и 100 пациентах. Модель работает. Но какие гены на самом деле ответственны за предсказание?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Способ 1: Встроенный </a:t>
            </a:r>
            <a:r>
              <a:rPr lang="ru-RU" b="0" i="0" dirty="0" err="1">
                <a:effectLst/>
                <a:latin typeface="fkGroteskNeue"/>
              </a:rPr>
              <a:t>Feature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r>
              <a:rPr lang="ru-RU" b="0" i="0" dirty="0">
                <a:effectLst/>
                <a:latin typeface="fkGroteskNeue"/>
              </a:rPr>
              <a:t> (самый популярный)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 рассчитывает </a:t>
            </a:r>
            <a:r>
              <a:rPr lang="ru-RU" b="0" i="0" dirty="0" err="1">
                <a:effectLst/>
                <a:latin typeface="fkGroteskNeue"/>
              </a:rPr>
              <a:t>Feature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r>
              <a:rPr lang="ru-RU" b="0" i="0" dirty="0">
                <a:effectLst/>
                <a:latin typeface="fkGroteskNeue"/>
              </a:rPr>
              <a:t> "из коробки":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это работает?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Для каждого дерева в лесу, для каждого узла, где происходит сплит (разделение), мы смотрим: на сколько улучшилось "нечистота" (</a:t>
            </a:r>
            <a:r>
              <a:rPr lang="ru-RU" b="0" i="0" dirty="0" err="1">
                <a:effectLst/>
                <a:latin typeface="fkGroteskNeue"/>
              </a:rPr>
              <a:t>impurity</a:t>
            </a:r>
            <a:r>
              <a:rPr lang="ru-RU" b="0" i="0" dirty="0">
                <a:effectLst/>
                <a:latin typeface="fkGroteskNeue"/>
              </a:rPr>
              <a:t>)?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Гены, которые часто используются в сплитах и очень улучшают классификацию, получают высокие баллы.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Плюсы: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Очень быстро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Интуитивно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Встроено в </a:t>
            </a:r>
            <a:r>
              <a:rPr lang="ru-RU" b="0" i="0" dirty="0" err="1">
                <a:effectLst/>
                <a:latin typeface="fkGroteskNeue"/>
              </a:rPr>
              <a:t>sklearn</a:t>
            </a:r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Минусы: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Может быть смещено в сторону </a:t>
            </a:r>
            <a:r>
              <a:rPr lang="ru-RU" b="0" i="0" dirty="0" err="1">
                <a:effectLst/>
                <a:latin typeface="fkGroteskNeue"/>
              </a:rPr>
              <a:t>высоковариативных</a:t>
            </a:r>
            <a:r>
              <a:rPr lang="ru-RU" b="0" i="0" dirty="0">
                <a:effectLst/>
                <a:latin typeface="fkGroteskNeue"/>
              </a:rPr>
              <a:t> признаков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Не учитывает </a:t>
            </a:r>
            <a:r>
              <a:rPr lang="ru-RU" b="0" i="0" dirty="0" err="1">
                <a:effectLst/>
                <a:latin typeface="fkGroteskNeue"/>
              </a:rPr>
              <a:t>коллинеарность</a:t>
            </a:r>
            <a:r>
              <a:rPr lang="ru-RU" b="0" i="0" dirty="0">
                <a:effectLst/>
                <a:latin typeface="fkGroteskNeue"/>
              </a:rPr>
              <a:t> (если два гена коррелируют, может быть, один "украсть" важность у другого)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Способ 2: </a:t>
            </a:r>
            <a:r>
              <a:rPr lang="ru-RU" b="0" i="0" dirty="0" err="1">
                <a:effectLst/>
                <a:latin typeface="fkGroteskNeue"/>
              </a:rPr>
              <a:t>Permutation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r>
              <a:rPr lang="ru-RU" b="0" i="0" dirty="0">
                <a:effectLst/>
                <a:latin typeface="fkGroteskNeue"/>
              </a:rPr>
              <a:t> (более робастный)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Идея: если признак действительно важен, то перестановка его значений случайно должна сильно испортить модель.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Плюсы: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Работает с любой моделью (не только </a:t>
            </a: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Менее предвзята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Учитывает </a:t>
            </a:r>
            <a:r>
              <a:rPr lang="ru-RU" b="0" i="0" dirty="0" err="1">
                <a:effectLst/>
                <a:latin typeface="fkGroteskNeue"/>
              </a:rPr>
              <a:t>коллинеарность</a:t>
            </a:r>
            <a:r>
              <a:rPr lang="ru-RU" b="0" i="0" dirty="0">
                <a:effectLst/>
                <a:latin typeface="fkGroteskNeue"/>
              </a:rPr>
              <a:t> (если два гена коррелируют, оба получат низкую важность)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Минусы: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Медленнее (нужно много перестановок)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Может быть неустойчива на маленьких выборках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Способ 3: SHAP, LIME (самые точные, но сложные)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SHAP (</a:t>
            </a:r>
            <a:r>
              <a:rPr lang="ru-RU" b="0" i="0" dirty="0" err="1">
                <a:effectLst/>
                <a:latin typeface="fkGroteskNeue"/>
              </a:rPr>
              <a:t>SHapley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Additive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exPlanations</a:t>
            </a:r>
            <a:r>
              <a:rPr lang="ru-RU" b="0" i="0" dirty="0">
                <a:effectLst/>
                <a:latin typeface="fkGroteskNeue"/>
              </a:rPr>
              <a:t>) использует теорию игр.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Идея: для каждого предсказания посмотрим, на сколько каждый признак способствовал этому предсказанию?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Предсказание: "рак" (вероятность 0.85)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Базовая вероятность (для среднего пациента): 0.50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TP53 мутация: +0.20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Возраст 65: +0.10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Экспрессия MYC: +0.05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Итого: 0.50 + 0.20 + 0.10 + 0.05 = 0.85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очень мощно: мы знаем не просто, что TP53 важен, мы знаем, что для этого конкретного пациента TP53 добавил 20% к вероятности рака.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Плюсы: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Самая точная интерпретация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Объясняет каждое предсказание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Теоретически обоснована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Минусы: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Вычислительно дорого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Библиотека SHAP может быть медленной на больших </a:t>
            </a:r>
            <a:r>
              <a:rPr lang="ru-RU" b="0" i="0" dirty="0" err="1">
                <a:effectLst/>
                <a:latin typeface="fkGroteskNeue"/>
              </a:rPr>
              <a:t>датасетах</a:t>
            </a:r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Рекомендация: начните с </a:t>
            </a:r>
            <a:r>
              <a:rPr lang="ru-RU" b="0" i="0" dirty="0" err="1">
                <a:effectLst/>
                <a:latin typeface="fkGroteskNeue"/>
              </a:rPr>
              <a:t>Permutation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r>
              <a:rPr lang="ru-RU" b="0" i="0" dirty="0">
                <a:effectLst/>
                <a:latin typeface="fkGroteskNeue"/>
              </a:rPr>
              <a:t>, потом если нужна детальная интерпретация — SHAP.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fkGroteskNeue"/>
              </a:rPr>
              <a:t>Давайте посмотрим на реальный пример: предсказание рецидива рака молочной железы.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Интерпретация: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TP53 в 35% случаев решает, будет ли рецидив или нет. Это имеет биологический смысл: TP53 — это "страж генома", отвечает за апоптоз. Мутация TP53 → раковые клетки не умирают → рецидив.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BRCA1 — знаменитый ген рака молочной железы, 18% важности. Тоже логично.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Что дальше?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Когда вы видите такую таблицу: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Проверяете литературу: есть ли известная связь TP53 и рецидива?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Если да — отлично, модель уловила биологию.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Если нет — либо вы нашли новое, либо модель ошибается.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Функциональные исследования: почему TP53 важна? Экспресс-анализ, вестерны и т.д.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Важный момент: </a:t>
            </a:r>
            <a:r>
              <a:rPr lang="ru-RU" b="0" i="0" dirty="0" err="1">
                <a:effectLst/>
                <a:latin typeface="fkGroteskNeue"/>
              </a:rPr>
              <a:t>Feature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r>
              <a:rPr lang="ru-RU" b="0" i="0" dirty="0">
                <a:effectLst/>
                <a:latin typeface="fkGroteskNeue"/>
              </a:rPr>
              <a:t> — это не p-</a:t>
            </a:r>
            <a:r>
              <a:rPr lang="ru-RU" b="0" i="0" dirty="0" err="1">
                <a:effectLst/>
                <a:latin typeface="fkGroteskNeue"/>
              </a:rPr>
              <a:t>value</a:t>
            </a:r>
            <a:r>
              <a:rPr lang="ru-RU" b="0" i="0" dirty="0">
                <a:effectLst/>
                <a:latin typeface="fkGroteskNeue"/>
              </a:rPr>
              <a:t>. Высокая важность не значит "статистически значимо". Это просто "часто используется моделью". Нужно отдельно проверять на независимой выборке.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710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А теперь логистическая регрессия. Это более интерпретируемая модель.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Логистическая регрессия моделирует: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log</a:t>
            </a:r>
            <a:r>
              <a:rPr lang="ru-RU" b="0" i="0" dirty="0">
                <a:effectLst/>
                <a:latin typeface="fkGroteskNeue"/>
              </a:rPr>
              <a:t>(P(болезнь) / (1 - P(болезнь))) = β₀ + β₁X₁ + β₂X₂ + ...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называется </a:t>
            </a:r>
            <a:r>
              <a:rPr lang="ru-RU" b="0" i="0" dirty="0" err="1">
                <a:effectLst/>
                <a:latin typeface="fkGroteskNeue"/>
              </a:rPr>
              <a:t>log-odds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Интерпретация коэффициента: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β₁ = 0.5 для признака X₁, это значит: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 увеличении X₁ на одну единицу </a:t>
            </a:r>
            <a:r>
              <a:rPr lang="ru-RU" b="0" i="0" dirty="0" err="1">
                <a:effectLst/>
                <a:latin typeface="fkGroteskNeue"/>
              </a:rPr>
              <a:t>log-odds</a:t>
            </a:r>
            <a:r>
              <a:rPr lang="ru-RU" b="0" i="0" dirty="0">
                <a:effectLst/>
                <a:latin typeface="fkGroteskNeue"/>
              </a:rPr>
              <a:t> увеличивается на 0.5.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Или переводя в вероятность: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Odds</a:t>
            </a:r>
            <a:r>
              <a:rPr lang="ru-RU" b="0" i="0" dirty="0">
                <a:effectLst/>
                <a:latin typeface="fkGroteskNeue"/>
              </a:rPr>
              <a:t> увеличиваются в e^0.5 ≈ 1.65 раза.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 с возрастом: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Пусть β_возраст = 0.05 (это реалистично).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Тогда каждый год жизни увеличивает </a:t>
            </a:r>
            <a:r>
              <a:rPr lang="ru-RU" b="0" i="0" dirty="0" err="1">
                <a:effectLst/>
                <a:latin typeface="fkGroteskNeue"/>
              </a:rPr>
              <a:t>odds</a:t>
            </a:r>
            <a:r>
              <a:rPr lang="ru-RU" b="0" i="0" dirty="0">
                <a:effectLst/>
                <a:latin typeface="fkGroteskNeue"/>
              </a:rPr>
              <a:t> развития диабета в e^0.05 ≈ 1.05 раз.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То есть в 65 лет (плюс 10 лет от 55-летнего):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Odds</a:t>
            </a:r>
            <a:r>
              <a:rPr lang="ru-RU" b="0" i="0" dirty="0">
                <a:effectLst/>
                <a:latin typeface="fkGroteskNeue"/>
              </a:rPr>
              <a:t> увеличиваются в (1.05)^10 ≈ 1.63 раза.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Медицинская интерпретация: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"Каждый дополнительный год жизни увеличивает риск диабета на 5%."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 с геномными вариантами: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TP53 мутация: β_TP53 = 1.2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Наличие TP53 мутации увеличивает </a:t>
            </a:r>
            <a:r>
              <a:rPr lang="ru-RU" b="0" i="0" dirty="0" err="1">
                <a:effectLst/>
                <a:latin typeface="fkGroteskNeue"/>
              </a:rPr>
              <a:t>odds</a:t>
            </a:r>
            <a:r>
              <a:rPr lang="ru-RU" b="0" i="0" dirty="0">
                <a:effectLst/>
                <a:latin typeface="fkGroteskNeue"/>
              </a:rPr>
              <a:t> развития рака в e^1.2 ≈ 3.3 раза.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"Пациент с TP53 мутацией имеет риск рака в 3.3 раза выше, чем без мутации (при равных других условиях)."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очень мощно для клиники: врач может сказать пациенту: "У вас обнаружена TP53 мутация, это увеличивает ваш риск рака в три раза. Нужен усиленный мониторинг."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Важная оговорка: коэффициенты в логистической регрессии зависят от шкалы признаков! Если вы не нормализовали данные, интерпретация может быть неправильной. Всегда используйте </a:t>
            </a:r>
            <a:r>
              <a:rPr lang="ru-RU" b="0" i="0" dirty="0" err="1">
                <a:effectLst/>
                <a:latin typeface="fkGroteskNeue"/>
              </a:rPr>
              <a:t>StandardScaler</a:t>
            </a:r>
            <a:r>
              <a:rPr lang="ru-RU" b="0" i="0" dirty="0">
                <a:effectLst/>
                <a:latin typeface="fkGroteskNeue"/>
              </a:rPr>
              <a:t>().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965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Теперь к главной проблеме. Несбалансированные данные.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 идеальном мире для каждого больного человека есть здоровый. Классы 50-50.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 реальности: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Редкие болезни: 99% здоровых, 1% больных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Побочные эффекты лекарств: 98% без </a:t>
            </a:r>
            <a:r>
              <a:rPr lang="ru-RU" b="0" i="0" dirty="0" err="1">
                <a:effectLst/>
                <a:latin typeface="fkGroteskNeue"/>
              </a:rPr>
              <a:t>побочек</a:t>
            </a:r>
            <a:r>
              <a:rPr lang="ru-RU" b="0" i="0" dirty="0">
                <a:effectLst/>
                <a:latin typeface="fkGroteskNeue"/>
              </a:rPr>
              <a:t>, 2% с </a:t>
            </a:r>
            <a:r>
              <a:rPr lang="ru-RU" b="0" i="0" dirty="0" err="1">
                <a:effectLst/>
                <a:latin typeface="fkGroteskNeue"/>
              </a:rPr>
              <a:t>побочками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Редкие осложнения: 99.5% без осложнений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Что случается, когда у вас 990 здоровых и 10 больных?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Наивная модель: "Всегда говори 'здоров'."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: 990/1000 = 99%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Recall</a:t>
            </a:r>
            <a:r>
              <a:rPr lang="ru-RU" b="0" i="0" dirty="0">
                <a:effectLst/>
                <a:latin typeface="fkGroteskNeue"/>
              </a:rPr>
              <a:t>: 0/10 = 0% (не нашли ни одного больного!)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AUC-ROC: 0.5 (хуже, чем случайность после калибровки)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совершенно бесполезная модель, но по </a:t>
            </a:r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 кажется отличной!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Почему так происходит?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Машинное обучение — это оптимизация. Модель оптимизирует </a:t>
            </a:r>
            <a:r>
              <a:rPr lang="ru-RU" b="0" i="0" dirty="0" err="1">
                <a:effectLst/>
                <a:latin typeface="fkGroteskNeue"/>
              </a:rPr>
              <a:t>loss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function</a:t>
            </a:r>
            <a:r>
              <a:rPr lang="ru-RU" b="0" i="0" dirty="0">
                <a:effectLst/>
                <a:latin typeface="fkGroteskNeue"/>
              </a:rPr>
              <a:t>. Если задача — минимизировать ошибки классификации (то есть </a:t>
            </a:r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), модель найдёт самый лёгкий путь: просто всегда говори большинство.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27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Решение 1: Правильная метрика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мы видели на лекции 1, никогда не используйте </a:t>
            </a:r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 для несбалансированных данных.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AUC-ROC — вот правильная метрика.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ROC-</a:t>
            </a:r>
            <a:r>
              <a:rPr lang="ru-RU" b="0" i="0" dirty="0" err="1">
                <a:effectLst/>
                <a:latin typeface="fkGroteskNeue"/>
              </a:rPr>
              <a:t>curve</a:t>
            </a:r>
            <a:r>
              <a:rPr lang="ru-RU" b="0" i="0" dirty="0">
                <a:effectLst/>
                <a:latin typeface="fkGroteskNeue"/>
              </a:rPr>
              <a:t> инвариантна к классовому дисбалансу. Она показывает: какой </a:t>
            </a:r>
            <a:r>
              <a:rPr lang="ru-RU" b="0" i="0" dirty="0" err="1">
                <a:effectLst/>
                <a:latin typeface="fkGroteskNeue"/>
              </a:rPr>
              <a:t>trade-off</a:t>
            </a:r>
            <a:r>
              <a:rPr lang="ru-RU" b="0" i="0" dirty="0">
                <a:effectLst/>
                <a:latin typeface="fkGroteskNeue"/>
              </a:rPr>
              <a:t> между нахождением больных (TPR) и ложными тревогами (FPR)?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Даже если у вас 99% здоровых, AUC-ROC будет объективной.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F1-score — второй вариант.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F1 = 2 * (Precision * </a:t>
            </a:r>
            <a:r>
              <a:rPr lang="ru-RU" b="0" i="0" dirty="0" err="1">
                <a:effectLst/>
                <a:latin typeface="fkGroteskNeue"/>
              </a:rPr>
              <a:t>Recall</a:t>
            </a:r>
            <a:r>
              <a:rPr lang="ru-RU" b="0" i="0" dirty="0">
                <a:effectLst/>
                <a:latin typeface="fkGroteskNeue"/>
              </a:rPr>
              <a:t>) / (Precision + </a:t>
            </a:r>
            <a:r>
              <a:rPr lang="ru-RU" b="0" i="0" dirty="0" err="1">
                <a:effectLst/>
                <a:latin typeface="fkGroteskNeue"/>
              </a:rPr>
              <a:t>Recall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Для несбалансированных данных используйте F1-macro (усредняем F1 по классам) или F1-weighted (взвешиваем по количеству примеров).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Precision-</a:t>
            </a:r>
            <a:r>
              <a:rPr lang="ru-RU" b="0" i="0" dirty="0" err="1">
                <a:effectLst/>
                <a:latin typeface="fkGroteskNeue"/>
              </a:rPr>
              <a:t>Recall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curve</a:t>
            </a:r>
            <a:r>
              <a:rPr lang="ru-RU" b="0" i="0" dirty="0">
                <a:effectLst/>
                <a:latin typeface="fkGroteskNeue"/>
              </a:rPr>
              <a:t> — третий вариант, особенно хорош для очень редких классов.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Практически: сначала смотрим на AUC-ROC, потом на </a:t>
            </a:r>
            <a:r>
              <a:rPr lang="ru-RU" b="0" i="0" dirty="0" err="1">
                <a:effectLst/>
                <a:latin typeface="fkGroteskNeue"/>
              </a:rPr>
              <a:t>Recall</a:t>
            </a:r>
            <a:r>
              <a:rPr lang="ru-RU" b="0" i="0" dirty="0">
                <a:effectLst/>
                <a:latin typeface="fkGroteskNeue"/>
              </a:rPr>
              <a:t> (чтобы не пропустить редкий класс), потом на Precision (чтобы не было слишком много ложных тревог).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791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Решение 2: </a:t>
            </a:r>
            <a:r>
              <a:rPr lang="ru-RU" b="0" i="0" dirty="0" err="1">
                <a:effectLst/>
                <a:latin typeface="fkGroteskNeue"/>
              </a:rPr>
              <a:t>Перебаланс</a:t>
            </a:r>
            <a:r>
              <a:rPr lang="ru-RU" b="0" i="0" dirty="0">
                <a:effectLst/>
                <a:latin typeface="fkGroteskNeue"/>
              </a:rPr>
              <a:t> данных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метрика не решит, нужно менять сами данные.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Over-sampling</a:t>
            </a:r>
            <a:r>
              <a:rPr lang="ru-RU" b="0" i="0" dirty="0">
                <a:effectLst/>
                <a:latin typeface="fkGroteskNeue"/>
              </a:rPr>
              <a:t> меньшинства: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Берём 10 больных пациентов и дублируем их несколько раз: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Оригинальные 10 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Дубли 10 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Ещё дубли 10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Теперь 30 больных вместо 10. Классы ближе к балансу.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Проблема: модель может "запомнить" дубли. Это переобучение.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SMOTE (</a:t>
            </a:r>
            <a:r>
              <a:rPr lang="ru-RU" b="0" i="0" dirty="0" err="1">
                <a:effectLst/>
                <a:latin typeface="fkGroteskNeue"/>
              </a:rPr>
              <a:t>Synthetic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Minority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Over-sampling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Technique</a:t>
            </a:r>
            <a:r>
              <a:rPr lang="ru-RU" b="0" i="0" dirty="0">
                <a:effectLst/>
                <a:latin typeface="fkGroteskNeue"/>
              </a:rPr>
              <a:t>):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Вместо дублирования генерируем синтетические примеры.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Как? Берём случайно два примера из редкого класса, интерполируем между ними.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Пример: пациент A с TP53, без BRCA1. Пациент B с BRCA1, с TP53.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Синтетический пациент: что-то между A и B в генном пространстве.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лучше, чем просто дублирование, потому что модель учится на новых примерах, а не на дублях.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Under-sampling</a:t>
            </a:r>
            <a:r>
              <a:rPr lang="ru-RU" b="0" i="0" dirty="0">
                <a:effectLst/>
                <a:latin typeface="fkGroteskNeue"/>
              </a:rPr>
              <a:t> большинства: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Удаляем примеры большинства, чтобы сбалансировать.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Если 990 здоровых, берём рандомно 50 (или 20-30, чтобы примерно в балансе).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Проблема: теряем информацию. Если у вас есть паттерны в здоровых, которые встречаются редко, под-выборка их удалит.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выбрать?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Большой </a:t>
            </a:r>
            <a:r>
              <a:rPr lang="ru-RU" b="0" i="0" dirty="0" err="1">
                <a:effectLst/>
                <a:latin typeface="fkGroteskNeue"/>
              </a:rPr>
              <a:t>датасет</a:t>
            </a:r>
            <a:r>
              <a:rPr lang="ru-RU" b="0" i="0" dirty="0">
                <a:effectLst/>
                <a:latin typeface="fkGroteskNeue"/>
              </a:rPr>
              <a:t> (&gt;10,000) → </a:t>
            </a:r>
            <a:r>
              <a:rPr lang="ru-RU" b="0" i="0" dirty="0" err="1">
                <a:effectLst/>
                <a:latin typeface="fkGroteskNeue"/>
              </a:rPr>
              <a:t>over-sampling</a:t>
            </a:r>
            <a:r>
              <a:rPr lang="ru-RU" b="0" i="0" dirty="0">
                <a:effectLst/>
                <a:latin typeface="fkGroteskNeue"/>
              </a:rPr>
              <a:t> меньшинства или SMOTE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Маленький </a:t>
            </a:r>
            <a:r>
              <a:rPr lang="ru-RU" b="0" i="0" dirty="0" err="1">
                <a:effectLst/>
                <a:latin typeface="fkGroteskNeue"/>
              </a:rPr>
              <a:t>датасет</a:t>
            </a:r>
            <a:r>
              <a:rPr lang="ru-RU" b="0" i="0" dirty="0">
                <a:effectLst/>
                <a:latin typeface="fkGroteskNeue"/>
              </a:rPr>
              <a:t> (&lt;1,000) → SMOTE + небольшое </a:t>
            </a:r>
            <a:r>
              <a:rPr lang="ru-RU" b="0" i="0" dirty="0" err="1">
                <a:effectLst/>
                <a:latin typeface="fkGroteskNeue"/>
              </a:rPr>
              <a:t>under-sampling</a:t>
            </a:r>
            <a:r>
              <a:rPr lang="ru-RU" b="0" i="0" dirty="0">
                <a:effectLst/>
                <a:latin typeface="fkGroteskNeue"/>
              </a:rPr>
              <a:t> большинства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Очень маленький (&lt;100) → может, вообще не разделять, использовать кросс-валидацию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Важное: SMOTE делается только на </a:t>
            </a:r>
            <a:r>
              <a:rPr lang="ru-RU" b="0" i="0" dirty="0" err="1">
                <a:effectLst/>
                <a:latin typeface="fkGroteskNeue"/>
              </a:rPr>
              <a:t>training</a:t>
            </a:r>
            <a:r>
              <a:rPr lang="ru-RU" b="0" i="0" dirty="0">
                <a:effectLst/>
                <a:latin typeface="fkGroteskNeue"/>
              </a:rPr>
              <a:t> данных. Test набор остаётся нетронутым (чтобы был честный тест).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04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fkGroteskNeue"/>
              </a:rPr>
              <a:t>Многие алгоритмы поддерживают </a:t>
            </a:r>
            <a:r>
              <a:rPr lang="ru-RU" dirty="0" err="1"/>
              <a:t>class_weight</a:t>
            </a:r>
            <a:r>
              <a:rPr lang="ru-RU" b="0" i="0" dirty="0">
                <a:effectLst/>
                <a:latin typeface="fkGroteskNeue"/>
              </a:rPr>
              <a:t> параметр.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это работает?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 обучении модель получает штраф за ошибку на редком классе. Если она ошибается на редком классе, </a:t>
            </a:r>
            <a:r>
              <a:rPr lang="ru-RU" b="0" i="0" dirty="0" err="1">
                <a:effectLst/>
                <a:latin typeface="fkGroteskNeue"/>
              </a:rPr>
              <a:t>loss</a:t>
            </a:r>
            <a:r>
              <a:rPr lang="ru-RU" b="0" i="0" dirty="0">
                <a:effectLst/>
                <a:latin typeface="fkGroteskNeue"/>
              </a:rPr>
              <a:t> увеличивается в 10 раз.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заставляет модель учиться лучше на редких примерах.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часто самое эффективное решение, потому что: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Просто (одна строка кода)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Не требует много памяти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Часто работает лучше, чем SMOTE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Рекомендация: начните с </a:t>
            </a:r>
            <a:r>
              <a:rPr lang="ru-RU" b="0" i="0" dirty="0" err="1">
                <a:effectLst/>
                <a:latin typeface="fkGroteskNeue"/>
              </a:rPr>
              <a:t>class_weight</a:t>
            </a:r>
            <a:r>
              <a:rPr lang="ru-RU" b="0" i="0" dirty="0">
                <a:effectLst/>
                <a:latin typeface="fkGroteskNeue"/>
              </a:rPr>
              <a:t>='</a:t>
            </a:r>
            <a:r>
              <a:rPr lang="ru-RU" b="0" i="0" dirty="0" err="1">
                <a:effectLst/>
                <a:latin typeface="fkGroteskNeue"/>
              </a:rPr>
              <a:t>balanced</a:t>
            </a:r>
            <a:r>
              <a:rPr lang="ru-RU" b="0" i="0" dirty="0">
                <a:effectLst/>
                <a:latin typeface="fkGroteskNeue"/>
              </a:rPr>
              <a:t>'. Если не работает — пробуйте SMOTE.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ПАУЗА</a:t>
            </a:r>
          </a:p>
          <a:p>
            <a:br>
              <a:rPr lang="ru-RU" dirty="0"/>
            </a:b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775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Теперь у вас есть несколько алгоритмов. Как выбрать лучший?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Обучили </a:t>
            </a:r>
            <a:r>
              <a:rPr lang="ru-RU" b="0" i="0" dirty="0" err="1">
                <a:effectLst/>
                <a:latin typeface="fkGroteskNeue"/>
              </a:rPr>
              <a:t>Logistic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Regression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, SVM, </a:t>
            </a:r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 на одном </a:t>
            </a:r>
            <a:r>
              <a:rPr lang="ru-RU" b="0" i="0" dirty="0" err="1">
                <a:effectLst/>
                <a:latin typeface="fkGroteskNeue"/>
              </a:rPr>
              <a:t>датасете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Результаты на тестовом наборе: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[table]</a:t>
            </a:r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Вывод: </a:t>
            </a:r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 самый лучший! Все рады!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Но подождите...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566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Может быть, это случайность. Может быть, на другом </a:t>
            </a: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seed</a:t>
            </a:r>
            <a:r>
              <a:rPr lang="ru-RU" b="0" i="0" dirty="0">
                <a:effectLst/>
                <a:latin typeface="fkGroteskNeue"/>
              </a:rPr>
              <a:t> результаты другие?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Правильный подход: K-</a:t>
            </a: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cross-validation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Обучаем каждый алгоритм 5 раз (с 5-fold):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1: </a:t>
            </a:r>
            <a:r>
              <a:rPr lang="ru-RU" b="0" i="0" dirty="0" err="1">
                <a:effectLst/>
                <a:latin typeface="fkGroteskNeue"/>
              </a:rPr>
              <a:t>train</a:t>
            </a:r>
            <a:r>
              <a:rPr lang="ru-RU" b="0" i="0" dirty="0">
                <a:effectLst/>
                <a:latin typeface="fkGroteskNeue"/>
              </a:rPr>
              <a:t> на </a:t>
            </a:r>
            <a:r>
              <a:rPr lang="ru-RU" b="0" i="0" dirty="0" err="1">
                <a:effectLst/>
                <a:latin typeface="fkGroteskNeue"/>
              </a:rPr>
              <a:t>фолдах</a:t>
            </a:r>
            <a:r>
              <a:rPr lang="ru-RU" b="0" i="0" dirty="0">
                <a:effectLst/>
                <a:latin typeface="fkGroteskNeue"/>
              </a:rPr>
              <a:t> 2-5,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 на </a:t>
            </a:r>
            <a:r>
              <a:rPr lang="ru-RU" b="0" i="0" dirty="0" err="1">
                <a:effectLst/>
                <a:latin typeface="fkGroteskNeue"/>
              </a:rPr>
              <a:t>фолде</a:t>
            </a:r>
            <a:r>
              <a:rPr lang="ru-RU" b="0" i="0" dirty="0">
                <a:effectLst/>
                <a:latin typeface="fkGroteskNeue"/>
              </a:rPr>
              <a:t>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2: </a:t>
            </a:r>
            <a:r>
              <a:rPr lang="ru-RU" b="0" i="0" dirty="0" err="1">
                <a:effectLst/>
                <a:latin typeface="fkGroteskNeue"/>
              </a:rPr>
              <a:t>train</a:t>
            </a:r>
            <a:r>
              <a:rPr lang="ru-RU" b="0" i="0" dirty="0">
                <a:effectLst/>
                <a:latin typeface="fkGroteskNeue"/>
              </a:rPr>
              <a:t> на </a:t>
            </a:r>
            <a:r>
              <a:rPr lang="ru-RU" b="0" i="0" dirty="0" err="1">
                <a:effectLst/>
                <a:latin typeface="fkGroteskNeue"/>
              </a:rPr>
              <a:t>фолдах</a:t>
            </a:r>
            <a:r>
              <a:rPr lang="ru-RU" b="0" i="0" dirty="0">
                <a:effectLst/>
                <a:latin typeface="fkGroteskNeue"/>
              </a:rPr>
              <a:t> 1,3-5,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 на </a:t>
            </a:r>
            <a:r>
              <a:rPr lang="ru-RU" b="0" i="0" dirty="0" err="1">
                <a:effectLst/>
                <a:latin typeface="fkGroteskNeue"/>
              </a:rPr>
              <a:t>фолде</a:t>
            </a:r>
            <a:r>
              <a:rPr lang="ru-RU" b="0" i="0" dirty="0">
                <a:effectLst/>
                <a:latin typeface="fkGroteskNeue"/>
              </a:rPr>
              <a:t> 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...и т.д.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Результаты: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Теперь видно: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: 0.900 ± 0.015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: 0.882 ± 0.011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SVM: 0.868 ± 0.008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Пересекаются ли доверительные интервалы?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: [0.885, 0.915]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: [0.871, 0.893]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Нет полного пересечения. 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 действительно лучше RF.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Но...</a:t>
            </a:r>
          </a:p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44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Часто есть </a:t>
            </a:r>
            <a:r>
              <a:rPr lang="ru-RU" b="0" i="0" dirty="0" err="1">
                <a:effectLst/>
                <a:latin typeface="fkGroteskNeue"/>
              </a:rPr>
              <a:t>trade-off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 на 1% лучше RF, но гораздо менее интерпретируемая.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 медицине это критично.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Врач должен понять, почему модель предсказала рак. "Потому что </a:t>
            </a:r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 так сказал" — это не ответ.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Поэтому в реальности часто выбирают </a:t>
            </a:r>
            <a:r>
              <a:rPr lang="ru-RU" b="0" i="0" dirty="0" err="1">
                <a:effectLst/>
                <a:latin typeface="fkGroteskNeue"/>
              </a:rPr>
              <a:t>Logistic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Regression</a:t>
            </a:r>
            <a:r>
              <a:rPr lang="ru-RU" b="0" i="0" dirty="0">
                <a:effectLst/>
                <a:latin typeface="fkGroteskNeue"/>
              </a:rPr>
              <a:t> или </a:t>
            </a: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, даже если есть модель на 1-2% лучше.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Правило: если интерпретируемость важна (а в медицине она всегда важна), выбирайте более простую модель.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121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Давайте реальный пример: диагностика сахарного диабета.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Датасет</a:t>
            </a:r>
            <a:r>
              <a:rPr lang="ru-RU" b="0" i="0" dirty="0">
                <a:effectLst/>
                <a:latin typeface="fkGroteskNeue"/>
              </a:rPr>
              <a:t>: 768 пациентов из клиники Пима (</a:t>
            </a:r>
            <a:r>
              <a:rPr lang="ru-RU" b="0" i="0" dirty="0" err="1">
                <a:effectLst/>
                <a:latin typeface="fkGroteskNeue"/>
              </a:rPr>
              <a:t>аризона</a:t>
            </a:r>
            <a:r>
              <a:rPr lang="ru-RU" b="0" i="0" dirty="0">
                <a:effectLst/>
                <a:latin typeface="fkGroteskNeue"/>
              </a:rPr>
              <a:t>), 500 без диабета, 268 с диабетом.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Признаки (8):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Количество беременностей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Глюкоза натощак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Кровяное давление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Толщина кожной складки трицепса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Инсулин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Индекс массы тела (BMI)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Функция родословной по диабету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fkGroteskNeue"/>
              </a:rPr>
              <a:t>Возраст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Предварительная обработка, обучение, оценка.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Вывод: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"Модель использует в основном глюкозу и BMI для предсказания диабета. Это имеет биологический смысл: гипергликемия (высокая глюкоза) и ожирение (высокий BMI) — главные факторы диабета."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860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Проверка на переобучение: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Обучили на первых 600 пациентов, тестируем на последних 168.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Есть некоторое переобучение, но не критичное.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453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Ансамблевые методы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Часто один классификатор хорош, но несколько ещё лучше.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Voting</a:t>
            </a:r>
            <a:r>
              <a:rPr lang="ru-RU" b="0" i="0" dirty="0">
                <a:effectLst/>
                <a:latin typeface="fkGroteskNeue"/>
              </a:rPr>
              <a:t>: Три модели "голосуют". Результат = большинство голосов. Часто даёт лучше результаты, чем любая одна модель.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Stacking:</a:t>
            </a:r>
            <a:r>
              <a:rPr lang="ru-RU" b="0" i="0" dirty="0">
                <a:effectLst/>
                <a:latin typeface="fkGroteskNeue"/>
              </a:rPr>
              <a:t> Первый уровень: несколько моделей (RF, SVM, LR). Второй уровень: мета-модель (обычно LR), которая учится комбинировать предсказания первого уровня. Это как совет врачей: несколько специалистов дают мнение, а главврач принимает финальное решение.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Boosting</a:t>
            </a:r>
            <a:r>
              <a:rPr lang="ru-RU" b="0" i="0" dirty="0">
                <a:effectLst/>
                <a:latin typeface="fkGroteskNeue"/>
              </a:rPr>
              <a:t>: Последовательное обучение слабых моделей. Каждая новая модель учится на ошибках предыдущей. Часто очень эффективно, но нужна тщательная подстройка </a:t>
            </a:r>
            <a:r>
              <a:rPr lang="ru-RU" b="0" i="0" dirty="0" err="1">
                <a:effectLst/>
                <a:latin typeface="fkGroteskNeue"/>
              </a:rPr>
              <a:t>гиперпараметров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7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effectLst/>
                <a:latin typeface="fkGroteskNeue"/>
              </a:rPr>
              <a:t>Гиперпараметрическая</a:t>
            </a:r>
            <a:r>
              <a:rPr lang="ru-RU" b="0" i="0" dirty="0">
                <a:effectLst/>
                <a:latin typeface="fkGroteskNeue"/>
              </a:rPr>
              <a:t> оптимизация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Каждый алгоритм имеет параметры, которые нужно выбрать: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Random Forest: </a:t>
            </a:r>
            <a:r>
              <a:rPr lang="en-US" b="0" i="0" dirty="0" err="1">
                <a:effectLst/>
                <a:latin typeface="fkGroteskNeue"/>
              </a:rPr>
              <a:t>n_estimators</a:t>
            </a:r>
            <a:r>
              <a:rPr lang="en-US" b="0" i="0" dirty="0">
                <a:effectLst/>
                <a:latin typeface="fkGroteskNeue"/>
              </a:rPr>
              <a:t>, </a:t>
            </a:r>
            <a:r>
              <a:rPr lang="en-US" b="0" i="0" dirty="0" err="1">
                <a:effectLst/>
                <a:latin typeface="fkGroteskNeue"/>
              </a:rPr>
              <a:t>max_depth</a:t>
            </a:r>
            <a:r>
              <a:rPr lang="en-US" b="0" i="0" dirty="0">
                <a:effectLst/>
                <a:latin typeface="fkGroteskNeue"/>
              </a:rPr>
              <a:t>, </a:t>
            </a:r>
            <a:r>
              <a:rPr lang="en-US" b="0" i="0" dirty="0" err="1">
                <a:effectLst/>
                <a:latin typeface="fkGroteskNeue"/>
              </a:rPr>
              <a:t>min_samples_leaf</a:t>
            </a:r>
            <a:r>
              <a:rPr lang="en-US" b="0" i="0" dirty="0">
                <a:effectLst/>
                <a:latin typeface="fkGroteskNeue"/>
              </a:rPr>
              <a:t>...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SVM: C, kernel, gamma...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выбрать оптимальные?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 Search: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Пробуем все комбинации: 3 × 3 × 3 = 27 моделей. Долго, но гарантированно найдём лучшие.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Random Search: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b="0" i="0" dirty="0">
                <a:effectLst/>
                <a:latin typeface="fkGroteskNeue"/>
              </a:rPr>
              <a:t>Пробуем 10 случайных комбинаций вместо всех 27. Быстрее, но может пропустить оптимум.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Байесовская оптимизация: Умная стратегия выбора параметров. Использует прошлые результаты, чтобы выбрать следующий набор параметров. Самый эффективный, но самый сложный.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239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effectLst/>
                <a:latin typeface="fkGroteskNeue"/>
              </a:rPr>
              <a:t>Гиперпараметрическая</a:t>
            </a:r>
            <a:r>
              <a:rPr lang="ru-RU" b="0" i="0" dirty="0">
                <a:effectLst/>
                <a:latin typeface="fkGroteskNeue"/>
              </a:rPr>
              <a:t> оптимизация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Каждый алгоритм имеет параметры, которые нужно выбрать: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Random Forest: </a:t>
            </a:r>
            <a:r>
              <a:rPr lang="en-US" b="0" i="0" dirty="0" err="1">
                <a:effectLst/>
                <a:latin typeface="fkGroteskNeue"/>
              </a:rPr>
              <a:t>n_estimators</a:t>
            </a:r>
            <a:r>
              <a:rPr lang="en-US" b="0" i="0" dirty="0">
                <a:effectLst/>
                <a:latin typeface="fkGroteskNeue"/>
              </a:rPr>
              <a:t>, </a:t>
            </a:r>
            <a:r>
              <a:rPr lang="en-US" b="0" i="0" dirty="0" err="1">
                <a:effectLst/>
                <a:latin typeface="fkGroteskNeue"/>
              </a:rPr>
              <a:t>max_depth</a:t>
            </a:r>
            <a:r>
              <a:rPr lang="en-US" b="0" i="0" dirty="0">
                <a:effectLst/>
                <a:latin typeface="fkGroteskNeue"/>
              </a:rPr>
              <a:t>, </a:t>
            </a:r>
            <a:r>
              <a:rPr lang="en-US" b="0" i="0" dirty="0" err="1">
                <a:effectLst/>
                <a:latin typeface="fkGroteskNeue"/>
              </a:rPr>
              <a:t>min_samples_leaf</a:t>
            </a:r>
            <a:r>
              <a:rPr lang="en-US" b="0" i="0" dirty="0">
                <a:effectLst/>
                <a:latin typeface="fkGroteskNeue"/>
              </a:rPr>
              <a:t>...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SVM: C, kernel, gamma...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выбрать оптимальные?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 Search: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Пробуем все комбинации: 3 × 3 × 3 = 27 моделей. Долго, но гарантированно найдём лучшие.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Random Search: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b="0" i="0" dirty="0">
                <a:effectLst/>
                <a:latin typeface="fkGroteskNeue"/>
              </a:rPr>
              <a:t>Пробуем 10 случайных комбинаций вместо всех 27. Быстрее, но может пропустить оптимум.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Байесовская оптимизация: Умная стратегия выбора параметров. Использует прошлые результаты, чтобы выбрать следующий набор параметров. Самый эффективный, но самый сложный.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5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effectLst/>
                <a:latin typeface="fkGroteskNeue"/>
              </a:rPr>
              <a:t>Гиперпараметрическая</a:t>
            </a:r>
            <a:r>
              <a:rPr lang="ru-RU" b="0" i="0" dirty="0">
                <a:effectLst/>
                <a:latin typeface="fkGroteskNeue"/>
              </a:rPr>
              <a:t> оптимизация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Каждый алгоритм имеет параметры, которые нужно выбрать: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Random Forest: </a:t>
            </a:r>
            <a:r>
              <a:rPr lang="en-US" b="0" i="0" dirty="0" err="1">
                <a:effectLst/>
                <a:latin typeface="fkGroteskNeue"/>
              </a:rPr>
              <a:t>n_estimators</a:t>
            </a:r>
            <a:r>
              <a:rPr lang="en-US" b="0" i="0" dirty="0">
                <a:effectLst/>
                <a:latin typeface="fkGroteskNeue"/>
              </a:rPr>
              <a:t>, </a:t>
            </a:r>
            <a:r>
              <a:rPr lang="en-US" b="0" i="0" dirty="0" err="1">
                <a:effectLst/>
                <a:latin typeface="fkGroteskNeue"/>
              </a:rPr>
              <a:t>max_depth</a:t>
            </a:r>
            <a:r>
              <a:rPr lang="en-US" b="0" i="0" dirty="0">
                <a:effectLst/>
                <a:latin typeface="fkGroteskNeue"/>
              </a:rPr>
              <a:t>, </a:t>
            </a:r>
            <a:r>
              <a:rPr lang="en-US" b="0" i="0" dirty="0" err="1">
                <a:effectLst/>
                <a:latin typeface="fkGroteskNeue"/>
              </a:rPr>
              <a:t>min_samples_leaf</a:t>
            </a:r>
            <a:r>
              <a:rPr lang="en-US" b="0" i="0" dirty="0">
                <a:effectLst/>
                <a:latin typeface="fkGroteskNeue"/>
              </a:rPr>
              <a:t>...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SVM: C, kernel, gamma...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Как выбрать оптимальные?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 Search: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Пробуем все комбинации: 3 × 3 × 3 = 27 моделей. Долго, но гарантированно найдём лучшие.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Random Search: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b="0" i="0" dirty="0">
                <a:effectLst/>
                <a:latin typeface="fkGroteskNeue"/>
              </a:rPr>
              <a:t>Пробуем 10 случайных комбинаций вместо всех 27. Быстрее, но может пропустить оптимум.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Байесовская оптимизация: Умная стратегия выбора параметров. Использует прошлые результаты, чтобы выбрать следующий набор параметров. Самый эффективный, но самый сложный.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770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Перед тем, как опубликовать результаты: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Задача ясна, метрика выбрана правильно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Данные </a:t>
            </a:r>
            <a:r>
              <a:rPr lang="ru-RU" b="0" i="0" dirty="0" err="1">
                <a:effectLst/>
                <a:latin typeface="fkGroteskNeue"/>
              </a:rPr>
              <a:t>препроцессированы</a:t>
            </a:r>
            <a:r>
              <a:rPr lang="ru-RU" b="0" i="0" dirty="0">
                <a:effectLst/>
                <a:latin typeface="fkGroteskNeue"/>
              </a:rPr>
              <a:t> (удалены пропуски, нормализованы, отобраны признаки)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Использована правильная валидация (K-</a:t>
            </a: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или </a:t>
            </a:r>
            <a:r>
              <a:rPr lang="ru-RU" b="0" i="0" dirty="0" err="1">
                <a:effectLst/>
                <a:latin typeface="fkGroteskNeue"/>
              </a:rPr>
              <a:t>train-test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Учтены несбалансированные классы (если они есть)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</a:t>
            </a:r>
            <a:r>
              <a:rPr lang="ru-RU" b="0" i="0" dirty="0" err="1">
                <a:effectLst/>
                <a:latin typeface="fkGroteskNeue"/>
              </a:rPr>
              <a:t>Feature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r>
              <a:rPr lang="ru-RU" b="0" i="0" dirty="0">
                <a:effectLst/>
                <a:latin typeface="fkGroteskNeue"/>
              </a:rPr>
              <a:t> посчитана и интерпретирована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Несколько алгоритмов сравнены статистически (K-</a:t>
            </a: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+ t-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Проверено переобучение (</a:t>
            </a:r>
            <a:r>
              <a:rPr lang="ru-RU" b="0" i="0" dirty="0" err="1">
                <a:effectLst/>
                <a:latin typeface="fkGroteskNeue"/>
              </a:rPr>
              <a:t>gap</a:t>
            </a:r>
            <a:r>
              <a:rPr lang="ru-RU" b="0" i="0" dirty="0">
                <a:effectLst/>
                <a:latin typeface="fkGroteskNeue"/>
              </a:rPr>
              <a:t> между </a:t>
            </a:r>
            <a:r>
              <a:rPr lang="ru-RU" b="0" i="0" dirty="0" err="1">
                <a:effectLst/>
                <a:latin typeface="fkGroteskNeue"/>
              </a:rPr>
              <a:t>train</a:t>
            </a:r>
            <a:r>
              <a:rPr lang="ru-RU" b="0" i="0" dirty="0">
                <a:effectLst/>
                <a:latin typeface="fkGroteskNeue"/>
              </a:rPr>
              <a:t> и 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Результаты воспроизводимы (код на </a:t>
            </a:r>
            <a:r>
              <a:rPr lang="ru-RU" b="0" i="0" dirty="0" err="1">
                <a:effectLst/>
                <a:latin typeface="fkGroteskNeue"/>
              </a:rPr>
              <a:t>GitHub</a:t>
            </a:r>
            <a:r>
              <a:rPr lang="ru-RU" b="0" i="0" dirty="0">
                <a:effectLst/>
                <a:latin typeface="fkGroteskNeue"/>
              </a:rPr>
              <a:t>, фиксированный </a:t>
            </a:r>
            <a:r>
              <a:rPr lang="ru-RU" b="0" i="0" dirty="0" err="1">
                <a:effectLst/>
                <a:latin typeface="fkGroteskNeue"/>
              </a:rPr>
              <a:t>seed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✓ Биологическая/медицинская интерпретация проведена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70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  <a:latin typeface="fkGroteskNeue"/>
              </a:rPr>
              <a:t>Мы научились предсказывать классы. Но в медицине часто нужно предсказывать время события.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Когда произойдёт рецидив? Когда пациент умрёт? Как долго будет болеть?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Это задача анализа выживаемости (</a:t>
            </a:r>
            <a:r>
              <a:rPr lang="ru-RU" b="0" i="0" dirty="0" err="1">
                <a:effectLst/>
                <a:latin typeface="fkGroteskNeue"/>
              </a:rPr>
              <a:t>survival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analysis</a:t>
            </a:r>
            <a:r>
              <a:rPr lang="ru-RU" b="0" i="0" dirty="0">
                <a:effectLst/>
                <a:latin typeface="fkGroteskNeue"/>
              </a:rPr>
              <a:t>).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Мы разберём: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Функции выживаемости S(t) и опасности h(t)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Кривые Каплана-Мейера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Модель пропорциональных рисков Кокса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Интерпретацию </a:t>
            </a:r>
            <a:r>
              <a:rPr lang="ru-RU" b="0" i="0" dirty="0" err="1">
                <a:effectLst/>
                <a:latin typeface="fkGroteskNeue"/>
              </a:rPr>
              <a:t>Hazard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Ratio</a:t>
            </a:r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Спасибо за внимание!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08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Лекция 2. </a:t>
            </a: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Продвинутое моделирование и оптимизация в биомедицинских задачах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effectLst/>
                <a:latin typeface="fkGroteskNeue"/>
              </a:rPr>
              <a:t>Где мы были и где мы теперь: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Лекция 1: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Базовые алгоритмы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Простые метрики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Идеальные данные (хорошо сбалансированные)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Реальный мир: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Модель говорит "хорошо", но что это значит?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Несбалансированные классы (99% здоровых)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Нужна интерпретация: почему именно этот прогноз?</a:t>
            </a:r>
          </a:p>
          <a:p>
            <a:pPr marL="0" indent="0" algn="just">
              <a:buNone/>
            </a:pPr>
            <a:endParaRPr lang="ru-RU" b="0" i="0" dirty="0">
              <a:effectLst/>
              <a:latin typeface="fkGroteskNeue"/>
            </a:endParaRPr>
          </a:p>
          <a:p>
            <a:pPr marL="0" indent="0" algn="just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Feature Importance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Какие признаки действительно важны?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Способ 1: Встроенный </a:t>
            </a:r>
            <a:r>
              <a:rPr lang="ru-RU" b="0" i="0" dirty="0" err="1">
                <a:effectLst/>
                <a:latin typeface="fkGroteskNeue"/>
              </a:rPr>
              <a:t>Feature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Random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Forest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Gradient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Boosting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Считают на основе количества сплитов и </a:t>
            </a:r>
            <a:r>
              <a:rPr lang="ru-RU" b="0" i="0" dirty="0" err="1">
                <a:effectLst/>
                <a:latin typeface="fkGroteskNeue"/>
              </a:rPr>
              <a:t>decrease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impurity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Быстро, но приблизительно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Способ 2: </a:t>
            </a:r>
            <a:r>
              <a:rPr lang="ru-RU" b="0" i="0" dirty="0" err="1">
                <a:effectLst/>
                <a:latin typeface="fkGroteskNeue"/>
              </a:rPr>
              <a:t>Permutation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Importance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Переставляем значения признака случайно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Смотрим, насколько упадёт качество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Универсален: работает с любой моделью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Способ 3: SHAP, LIME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Объясняют каждое предсказание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Сложнее, но самые точные</a:t>
            </a:r>
          </a:p>
          <a:p>
            <a:pPr marL="0" indent="0" algn="just">
              <a:buNone/>
            </a:pPr>
            <a:endParaRPr lang="ru-RU" sz="4000" i="1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Feature Importance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i="1" dirty="0"/>
              <a:t>Case Study: Предсказание рецидива рака</a:t>
            </a:r>
          </a:p>
          <a:p>
            <a:pPr marL="0" indent="0" algn="just">
              <a:buNone/>
            </a:pPr>
            <a:endParaRPr lang="ru-RU" sz="2400" b="1" i="1" dirty="0"/>
          </a:p>
          <a:p>
            <a:pPr marL="0" indent="0" algn="just">
              <a:buNone/>
            </a:pPr>
            <a:endParaRPr lang="ru-RU" sz="2400" b="1" i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3895DD-C2AC-43B6-B204-C7FD2A5D4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40845"/>
              </p:ext>
            </p:extLst>
          </p:nvPr>
        </p:nvGraphicFramePr>
        <p:xfrm>
          <a:off x="1140804" y="1815234"/>
          <a:ext cx="9910392" cy="31699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955196">
                  <a:extLst>
                    <a:ext uri="{9D8B030D-6E8A-4147-A177-3AD203B41FA5}">
                      <a16:colId xmlns:a16="http://schemas.microsoft.com/office/drawing/2014/main" val="1869621526"/>
                    </a:ext>
                  </a:extLst>
                </a:gridCol>
                <a:gridCol w="4955196">
                  <a:extLst>
                    <a:ext uri="{9D8B030D-6E8A-4147-A177-3AD203B41FA5}">
                      <a16:colId xmlns:a16="http://schemas.microsoft.com/office/drawing/2014/main" val="3225699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 latinLnBrk="0"/>
                      <a:r>
                        <a:rPr lang="ru-RU" sz="2800" dirty="0"/>
                        <a:t>Ген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ru-RU" sz="2800"/>
                        <a:t>Важность</a:t>
                      </a: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426136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800"/>
                        <a:t>TP53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800"/>
                        <a:t>0.35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5719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800"/>
                        <a:t>BRCA1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800"/>
                        <a:t>0.18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30242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800"/>
                        <a:t>MYC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800"/>
                        <a:t>0.14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301752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2800"/>
                        <a:t>KRAS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800"/>
                        <a:t>0.12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48864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800" dirty="0"/>
                        <a:t>Остальные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800" dirty="0"/>
                        <a:t>0.21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67953587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4DF35F4-1306-4823-9BAD-1D8E0B7A36C4}"/>
              </a:ext>
            </a:extLst>
          </p:cNvPr>
          <p:cNvSpPr txBox="1"/>
          <p:nvPr/>
        </p:nvSpPr>
        <p:spPr>
          <a:xfrm>
            <a:off x="1928609" y="5230335"/>
            <a:ext cx="7782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Вывод</a:t>
            </a:r>
            <a:r>
              <a:rPr lang="ru-RU" i="1" dirty="0"/>
              <a:t>: TP53 больше 30% важности → возможный биологический смысл!</a:t>
            </a:r>
          </a:p>
          <a:p>
            <a:endParaRPr lang="ru-RU" i="1" dirty="0"/>
          </a:p>
          <a:p>
            <a:r>
              <a:rPr lang="ru-RU" i="1" dirty="0"/>
              <a:t>Далее: поиск в литературе, функциональные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5492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Интерпретация коэффициентов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Логистическая регрессия: читаем модель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Модель: </a:t>
            </a:r>
            <a:r>
              <a:rPr lang="ru-RU" b="0" i="0" dirty="0" err="1">
                <a:effectLst/>
                <a:latin typeface="fkGroteskNeue"/>
              </a:rPr>
              <a:t>log</a:t>
            </a:r>
            <a:r>
              <a:rPr lang="ru-RU" b="0" i="0" dirty="0">
                <a:effectLst/>
                <a:latin typeface="fkGroteskNeue"/>
              </a:rPr>
              <a:t>(P(болезнь) / (1 - P(болезнь))) = β₀ + β₁X₁ + β₂X₂ + ...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Коэффициент β для признака X: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β &gt; 0: признак увеличивает риск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β &lt; 0: признак снижает риск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|β| &gt; это вес влияния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Пример: β₁ = 0.5 для "возраст"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→ каждый год жизни увеличивает </a:t>
            </a:r>
            <a:r>
              <a:rPr lang="ru-RU" b="0" i="0" dirty="0" err="1">
                <a:effectLst/>
                <a:latin typeface="fkGroteskNeue"/>
              </a:rPr>
              <a:t>log-odds</a:t>
            </a:r>
            <a:r>
              <a:rPr lang="ru-RU" b="0" i="0" dirty="0">
                <a:effectLst/>
                <a:latin typeface="fkGroteskNeue"/>
              </a:rPr>
              <a:t> на 0.5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b="0" i="0" dirty="0">
                <a:effectLst/>
                <a:latin typeface="fkGroteskNeue"/>
              </a:rPr>
              <a:t>→ каждый год жизни увеличивает шанс болезни в e^0.5 ≈ 1.65 раз</a:t>
            </a:r>
          </a:p>
          <a:p>
            <a:pPr algn="just"/>
            <a:endParaRPr lang="ru-RU" sz="4000" i="1" dirty="0"/>
          </a:p>
        </p:txBody>
      </p:sp>
    </p:spTree>
    <p:extLst>
      <p:ext uri="{BB962C8B-B14F-4D97-AF65-F5344CB8AC3E}">
        <p14:creationId xmlns:p14="http://schemas.microsoft.com/office/powerpoint/2010/main" val="3224330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Несбалансированные данные 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Главная проблема реальной клиники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В </a:t>
            </a:r>
            <a:r>
              <a:rPr lang="ru-RU" sz="2400" b="0" i="0" dirty="0" err="1">
                <a:effectLst/>
                <a:latin typeface="fkGroteskNeue"/>
              </a:rPr>
              <a:t>датасете</a:t>
            </a:r>
            <a:r>
              <a:rPr lang="ru-RU" sz="2400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990 здоровых пациентов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10 больных пациентов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Модель, которая всегда говорит "здоров":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  <a:latin typeface="fkGroteskNeue"/>
              </a:rPr>
              <a:t>Accuracy</a:t>
            </a:r>
            <a:r>
              <a:rPr lang="ru-RU" sz="2400" b="0" i="0" dirty="0">
                <a:effectLst/>
                <a:latin typeface="fkGroteskNeue"/>
              </a:rPr>
              <a:t>: 99%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Но находит 0 больных ← бесполезна!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Это частая ситуация в медицине: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Редкие болезни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Редкие побочные эффекты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Редкие конечные точки</a:t>
            </a:r>
          </a:p>
          <a:p>
            <a:pPr algn="just"/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357978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Несбалансированные данные (2)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Решение 1: Метрики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Неправильно</a:t>
            </a:r>
            <a:r>
              <a:rPr lang="ru-RU" b="0" i="0" dirty="0">
                <a:effectLst/>
                <a:latin typeface="fkGroteskNeue"/>
              </a:rPr>
              <a:t>: использовать </a:t>
            </a:r>
            <a:r>
              <a:rPr lang="ru-RU" b="0" i="0" dirty="0" err="1">
                <a:effectLst/>
                <a:latin typeface="fkGroteskNeue"/>
              </a:rPr>
              <a:t>Accuracy</a:t>
            </a:r>
            <a:endParaRPr lang="ru-RU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Правильно</a:t>
            </a:r>
            <a:r>
              <a:rPr lang="ru-RU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AUC-ROC (инвариантна к классовому дисбалансу)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F1-score (усредняет по классам)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Precision-</a:t>
            </a:r>
            <a:r>
              <a:rPr lang="ru-RU" b="0" i="0" dirty="0" err="1">
                <a:effectLst/>
                <a:latin typeface="fkGroteskNeue"/>
              </a:rPr>
              <a:t>Recall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curve</a:t>
            </a:r>
            <a:r>
              <a:rPr lang="ru-RU" b="0" i="0" dirty="0">
                <a:effectLst/>
                <a:latin typeface="fkGroteskNeue"/>
              </a:rPr>
              <a:t> (для редких классов)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Практически: для несбалансированных данных смотрим AUC-ROC + </a:t>
            </a:r>
            <a:r>
              <a:rPr lang="ru-RU" b="0" i="1" dirty="0" err="1">
                <a:effectLst/>
                <a:latin typeface="fkGroteskNeue"/>
              </a:rPr>
              <a:t>Recall</a:t>
            </a:r>
            <a:r>
              <a:rPr lang="ru-RU" b="0" i="1" dirty="0">
                <a:effectLst/>
                <a:latin typeface="fkGroteskNeue"/>
              </a:rPr>
              <a:t>, чтобы не пропустить редкий класс</a:t>
            </a:r>
          </a:p>
        </p:txBody>
      </p:sp>
    </p:spTree>
    <p:extLst>
      <p:ext uri="{BB962C8B-B14F-4D97-AF65-F5344CB8AC3E}">
        <p14:creationId xmlns:p14="http://schemas.microsoft.com/office/powerpoint/2010/main" val="76522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Несбалансированные данные (3)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Решение 2: </a:t>
            </a:r>
            <a:r>
              <a:rPr lang="en-US" sz="2400" b="1" i="1" dirty="0">
                <a:effectLst/>
                <a:latin typeface="fkGroteskNeue"/>
              </a:rPr>
              <a:t>Over/under</a:t>
            </a:r>
            <a:r>
              <a:rPr lang="ru-RU" sz="2400" b="1" i="1" dirty="0" err="1">
                <a:effectLst/>
                <a:latin typeface="fkGroteskNeue"/>
              </a:rPr>
              <a:t>sampling</a:t>
            </a:r>
            <a:endParaRPr lang="ru-RU" sz="2400" b="1" i="1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400" b="0" i="0" dirty="0" err="1">
                <a:effectLst/>
                <a:latin typeface="fkGroteskNeue"/>
              </a:rPr>
              <a:t>Over-sampling</a:t>
            </a:r>
            <a:r>
              <a:rPr lang="ru-RU" sz="2400" b="0" i="0" dirty="0">
                <a:effectLst/>
                <a:latin typeface="fkGroteskNeue"/>
              </a:rPr>
              <a:t> меньшинства: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Дублируем примеры редкого класса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Риск: переобучение на дублях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SMOTE (</a:t>
            </a:r>
            <a:r>
              <a:rPr lang="ru-RU" sz="2400" b="0" i="0" dirty="0" err="1">
                <a:effectLst/>
                <a:latin typeface="fkGroteskNeue"/>
              </a:rPr>
              <a:t>Synthetic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Minority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Over-sampling</a:t>
            </a:r>
            <a:r>
              <a:rPr lang="ru-RU" sz="2400" b="0" i="0" dirty="0">
                <a:effectLst/>
                <a:latin typeface="fkGroteskNeu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Генерируем синтетические примеры редкого класса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Интерполяция между реальными примерами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Лучше, чем простое дублирование</a:t>
            </a:r>
          </a:p>
          <a:p>
            <a:pPr marL="0" indent="0" algn="l">
              <a:buNone/>
            </a:pPr>
            <a:r>
              <a:rPr lang="ru-RU" sz="2400" b="0" i="0" dirty="0" err="1">
                <a:effectLst/>
                <a:latin typeface="fkGroteskNeue"/>
              </a:rPr>
              <a:t>Under-sampling</a:t>
            </a:r>
            <a:r>
              <a:rPr lang="ru-RU" sz="2400" b="0" i="0" dirty="0">
                <a:effectLst/>
                <a:latin typeface="fkGroteskNeue"/>
              </a:rPr>
              <a:t> большинства: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Удаляем примеры большинства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Риск: теряем информацию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Совет: SMOTE + под-выборка = золотая середина</a:t>
            </a:r>
          </a:p>
        </p:txBody>
      </p:sp>
    </p:spTree>
    <p:extLst>
      <p:ext uri="{BB962C8B-B14F-4D97-AF65-F5344CB8AC3E}">
        <p14:creationId xmlns:p14="http://schemas.microsoft.com/office/powerpoint/2010/main" val="268526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Несбалансированные данные (4)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Решение 3: Веса классов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Во время обучения даём больший вес редкому классу</a:t>
            </a:r>
            <a:endParaRPr lang="en-US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Модель "штрафует" себя за ошибку на редком классе.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Самое простое и часто эффективное решение.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96177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алгоритмов 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Как выбрать лучший?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На одном </a:t>
            </a:r>
            <a:r>
              <a:rPr lang="ru-RU" b="0" i="0" dirty="0" err="1">
                <a:effectLst/>
                <a:latin typeface="fkGroteskNeue"/>
              </a:rPr>
              <a:t>датасете</a:t>
            </a:r>
            <a:r>
              <a:rPr lang="ru-RU" b="0" i="0" dirty="0">
                <a:effectLst/>
                <a:latin typeface="fkGroteskNeue"/>
              </a:rPr>
              <a:t> несколько алгоритмов:</a:t>
            </a:r>
            <a:endParaRPr lang="en-US" b="0" i="0" dirty="0">
              <a:effectLst/>
              <a:latin typeface="fkGroteskNeue"/>
            </a:endParaRPr>
          </a:p>
          <a:p>
            <a:pPr marL="360363" indent="0" algn="l">
              <a:buNone/>
            </a:pP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Алгоритм        </a:t>
            </a: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Accuracy  	AUC-ROC  	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Время обучения</a:t>
            </a:r>
          </a:p>
          <a:p>
            <a:pPr marL="360363" indent="0" algn="l">
              <a:buNone/>
            </a:pP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Logistic Reg    	0.92      	0.85     	&lt; 1 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сек</a:t>
            </a:r>
          </a:p>
          <a:p>
            <a:pPr marL="360363" indent="0" algn="l">
              <a:buNone/>
            </a:pP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 Forest	0.94      	0.88     	2 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сек</a:t>
            </a:r>
          </a:p>
          <a:p>
            <a:pPr marL="360363" indent="0" algn="l">
              <a:buNone/>
            </a:pP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SVM             	0.93      	0.87     	5 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сек</a:t>
            </a:r>
          </a:p>
          <a:p>
            <a:pPr marL="360363" indent="0" algn="l">
              <a:buNone/>
            </a:pPr>
            <a:r>
              <a:rPr lang="en-US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XGBoost</a:t>
            </a: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	0.95      	0.90     	8 </a:t>
            </a: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сек</a:t>
            </a:r>
            <a:endParaRPr lang="en-US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0363" indent="0" algn="l"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i="1" dirty="0">
                <a:effectLst/>
                <a:latin typeface="fkGroteskNeue"/>
              </a:rPr>
              <a:t>Вопрос: выбираем </a:t>
            </a:r>
            <a:r>
              <a:rPr lang="ru-RU" i="1" dirty="0" err="1">
                <a:effectLst/>
                <a:latin typeface="fkGroteskNeue"/>
              </a:rPr>
              <a:t>XGBoost</a:t>
            </a:r>
            <a:r>
              <a:rPr lang="ru-RU" i="1" dirty="0">
                <a:effectLst/>
                <a:latin typeface="fkGroteskNeue"/>
              </a:rPr>
              <a:t> и идём пить чай?</a:t>
            </a:r>
            <a:endParaRPr lang="ru-RU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552369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алгоритмов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2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Статистическая значимость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Проблема: может быть случайность!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Решение: K-</a:t>
            </a:r>
            <a:r>
              <a:rPr lang="ru-RU" b="0" i="0" dirty="0" err="1">
                <a:effectLst/>
                <a:latin typeface="fkGroteskNeue"/>
              </a:rPr>
              <a:t>fold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cross-validation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Обучаем каждый алгоритм 5 раз (на разных </a:t>
            </a:r>
            <a:r>
              <a:rPr lang="ru-RU" b="0" i="0" dirty="0" err="1">
                <a:effectLst/>
                <a:latin typeface="fkGroteskNeue"/>
              </a:rPr>
              <a:t>фолдах</a:t>
            </a:r>
            <a:r>
              <a:rPr lang="ru-RU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Получаем распределение результатов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Проверяем, есть ли статистическая разница (t-</a:t>
            </a:r>
            <a:r>
              <a:rPr lang="ru-RU" b="0" i="0" dirty="0" err="1">
                <a:effectLst/>
                <a:latin typeface="fkGroteskNeue"/>
              </a:rPr>
              <a:t>test</a:t>
            </a:r>
            <a:r>
              <a:rPr lang="ru-RU" b="0" i="0" dirty="0">
                <a:effectLst/>
                <a:latin typeface="fkGroteskNeue"/>
              </a:rPr>
              <a:t>)</a:t>
            </a:r>
            <a:endParaRPr lang="en-US" b="0" i="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en-US" dirty="0">
              <a:latin typeface="fkGroteskNeue"/>
            </a:endParaRPr>
          </a:p>
          <a:p>
            <a:pPr marL="0" indent="0" algn="l">
              <a:buNone/>
            </a:pP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Logistic Reg: 0.85 ± 0.03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 Forest: 0.88 ± 0.04</a:t>
            </a:r>
          </a:p>
          <a:p>
            <a:pPr marL="0" indent="0" algn="l">
              <a:buNone/>
            </a:pPr>
            <a:r>
              <a:rPr lang="en-US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XGBoost</a:t>
            </a:r>
            <a:r>
              <a:rPr lang="en-US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0.90 ± 0.02  	</a:t>
            </a:r>
            <a:r>
              <a:rPr lang="en-US" b="0" i="1" dirty="0">
                <a:effectLst/>
                <a:latin typeface="fkGroteskNeue"/>
              </a:rPr>
              <a:t>← </a:t>
            </a:r>
            <a:r>
              <a:rPr lang="ru-RU" b="0" i="1" dirty="0">
                <a:effectLst/>
                <a:latin typeface="fkGroteskNeue"/>
              </a:rPr>
              <a:t>лучше?</a:t>
            </a:r>
          </a:p>
          <a:p>
            <a:pPr marL="0" indent="0" algn="l">
              <a:buNone/>
            </a:pPr>
            <a:endParaRPr lang="ru-RU" b="0" i="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244750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DBDD2531-F048-4E5E-9A1A-2FB4ADE42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403" y="2069248"/>
            <a:ext cx="6391275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алгоритмов (3)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6095857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Интерпретируемость </a:t>
            </a:r>
            <a:r>
              <a:rPr lang="en-US" b="1" i="1" dirty="0">
                <a:effectLst/>
                <a:latin typeface="fkGroteskNeue"/>
              </a:rPr>
              <a:t>vs </a:t>
            </a:r>
            <a:r>
              <a:rPr lang="ru-RU" b="1" i="1" dirty="0">
                <a:effectLst/>
                <a:latin typeface="fkGroteskNeue"/>
              </a:rPr>
              <a:t>Точность</a:t>
            </a:r>
            <a:endParaRPr lang="en-US" b="1" i="1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en-US" b="1" i="1" dirty="0">
              <a:latin typeface="fkGroteskNeue"/>
            </a:endParaRP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Trade-</a:t>
            </a:r>
            <a:r>
              <a:rPr lang="ru-RU" b="0" i="0" dirty="0" err="1">
                <a:effectLst/>
                <a:latin typeface="fkGroteskNeue"/>
              </a:rPr>
              <a:t>off</a:t>
            </a:r>
            <a:r>
              <a:rPr lang="ru-RU" b="0" i="0" dirty="0">
                <a:effectLst/>
                <a:latin typeface="fkGroteskNeue"/>
              </a:rPr>
              <a:t>: часто нужно выбирать.</a:t>
            </a:r>
          </a:p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В медицине: интерпретируемость часто важнее 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4179509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Практический пример 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Диагностика диабета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Данные: 768 пациентов, 8 признаков (возраст, </a:t>
            </a:r>
            <a:r>
              <a:rPr lang="en-US" b="0" i="0" dirty="0">
                <a:effectLst/>
                <a:latin typeface="fkGroteskNeue"/>
              </a:rPr>
              <a:t>BMI, </a:t>
            </a:r>
            <a:r>
              <a:rPr lang="ru-RU" b="0" i="0" dirty="0">
                <a:effectLst/>
                <a:latin typeface="fkGroteskNeue"/>
              </a:rPr>
              <a:t>глюкоза, давление...)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Классы: 500 без диабета, 268 с диабетом (сбалансировано)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Обучение </a:t>
            </a:r>
            <a:r>
              <a:rPr lang="en-US" b="0" i="0" dirty="0">
                <a:effectLst/>
                <a:latin typeface="fkGroteskNeue"/>
              </a:rPr>
              <a:t>Random Forest: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Accuracy: 0.97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AUC-ROC: 0.99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Feature Importance: Glucose (0.30), BMI (0.25), Age (0.18)...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Вывод: модель работает хорошо, глюкоза — главный предиктор</a:t>
            </a:r>
          </a:p>
        </p:txBody>
      </p:sp>
    </p:spTree>
    <p:extLst>
      <p:ext uri="{BB962C8B-B14F-4D97-AF65-F5344CB8AC3E}">
        <p14:creationId xmlns:p14="http://schemas.microsoft.com/office/powerpoint/2010/main" val="1804450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Практический пример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2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Проверка переобучения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Тестирование на новой когорте пациентов: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Accuracy</a:t>
            </a:r>
            <a:r>
              <a:rPr lang="ru-RU" b="0" i="0" dirty="0">
                <a:effectLst/>
                <a:latin typeface="fkGroteskNeue"/>
              </a:rPr>
              <a:t>: 0.91 (на 6% хуже!)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AUC-ROC: 0.92 (на 7% хуже)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Есть переобучение.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Решение: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Регуляризация: </a:t>
            </a:r>
            <a:r>
              <a:rPr lang="ru-RU" b="0" i="0" dirty="0" err="1">
                <a:effectLst/>
                <a:latin typeface="fkGroteskNeue"/>
              </a:rPr>
              <a:t>max_depth</a:t>
            </a:r>
            <a:r>
              <a:rPr lang="ru-RU" b="0" i="0" dirty="0">
                <a:effectLst/>
                <a:latin typeface="fkGroteskNeue"/>
              </a:rPr>
              <a:t>=10, </a:t>
            </a:r>
            <a:r>
              <a:rPr lang="ru-RU" b="0" i="0" dirty="0" err="1">
                <a:effectLst/>
                <a:latin typeface="fkGroteskNeue"/>
              </a:rPr>
              <a:t>min_samples_leaf</a:t>
            </a:r>
            <a:r>
              <a:rPr lang="ru-RU" b="0" i="0" dirty="0">
                <a:effectLst/>
                <a:latin typeface="fkGroteskNeue"/>
              </a:rPr>
              <a:t>=5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fkGroteskNeue"/>
              </a:rPr>
              <a:t>Feature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selection</a:t>
            </a:r>
            <a:r>
              <a:rPr lang="ru-RU" b="0" i="0" dirty="0">
                <a:effectLst/>
                <a:latin typeface="fkGroteskNeue"/>
              </a:rPr>
              <a:t>: оставляем только топ-5 признаков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Результат: </a:t>
            </a:r>
            <a:r>
              <a:rPr lang="ru-RU" b="0" i="1" dirty="0" err="1">
                <a:effectLst/>
                <a:latin typeface="fkGroteskNeue"/>
              </a:rPr>
              <a:t>Accuracy</a:t>
            </a:r>
            <a:r>
              <a:rPr lang="ru-RU" b="0" i="1" dirty="0">
                <a:effectLst/>
                <a:latin typeface="fkGroteskNeue"/>
              </a:rPr>
              <a:t> 0.93, но стабильнее</a:t>
            </a:r>
          </a:p>
        </p:txBody>
      </p:sp>
    </p:spTree>
    <p:extLst>
      <p:ext uri="{BB962C8B-B14F-4D97-AF65-F5344CB8AC3E}">
        <p14:creationId xmlns:p14="http://schemas.microsoft.com/office/powerpoint/2010/main" val="2770995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Расширенные техники 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Ансамблевые методы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Идея</a:t>
            </a:r>
            <a:r>
              <a:rPr lang="ru-RU" b="0" i="0" dirty="0">
                <a:effectLst/>
                <a:latin typeface="fkGroteskNeue"/>
              </a:rPr>
              <a:t>: один классификатор хороший, несколько хороших — лучше!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Voting</a:t>
            </a:r>
            <a:r>
              <a:rPr lang="ru-RU" b="0" i="0" dirty="0">
                <a:effectLst/>
                <a:latin typeface="fkGroteskNeue"/>
              </a:rPr>
              <a:t>: несколько моделей голосуют</a:t>
            </a:r>
            <a:endParaRPr lang="en-US" b="0" i="0" dirty="0">
              <a:effectLst/>
              <a:latin typeface="fkGroteskNeue"/>
            </a:endParaRPr>
          </a:p>
          <a:p>
            <a:pPr algn="l"/>
            <a:r>
              <a:rPr lang="ru-RU" b="0" i="0" dirty="0" err="1">
                <a:effectLst/>
                <a:latin typeface="fkGroteskNeue"/>
              </a:rPr>
              <a:t>Stacking</a:t>
            </a:r>
            <a:r>
              <a:rPr lang="ru-RU" b="0" i="0" dirty="0">
                <a:effectLst/>
                <a:latin typeface="fkGroteskNeue"/>
              </a:rPr>
              <a:t>: первый уровень моделей → второй уровень мета-модель</a:t>
            </a:r>
          </a:p>
          <a:p>
            <a:pPr algn="l"/>
            <a:r>
              <a:rPr lang="ru-RU" b="0" i="0" dirty="0" err="1">
                <a:effectLst/>
                <a:latin typeface="fkGroteskNeue"/>
              </a:rPr>
              <a:t>Boosting</a:t>
            </a:r>
            <a:r>
              <a:rPr lang="ru-RU" b="0" i="0" dirty="0">
                <a:effectLst/>
                <a:latin typeface="fkGroteskNeue"/>
              </a:rPr>
              <a:t>: </a:t>
            </a:r>
            <a:r>
              <a:rPr lang="ru-RU" b="0" i="0" dirty="0" err="1">
                <a:effectLst/>
                <a:latin typeface="fkGroteskNeue"/>
              </a:rPr>
              <a:t>XGBoost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LightGBM</a:t>
            </a:r>
            <a:r>
              <a:rPr lang="ru-RU" b="0" i="0" dirty="0">
                <a:effectLst/>
                <a:latin typeface="fkGroteskNeue"/>
              </a:rPr>
              <a:t> — последовательное обучение слабых моделей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560815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A0E89EE-006C-462B-85FE-BA36FEA9E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669" y="1344006"/>
            <a:ext cx="7597331" cy="397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Расширенные техники (2)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1" i="1" dirty="0" err="1">
                <a:effectLst/>
                <a:latin typeface="fkGroteskNeue"/>
              </a:rPr>
              <a:t>Гиперпараметрическая</a:t>
            </a:r>
            <a:r>
              <a:rPr lang="ru-RU" sz="2000" b="1" i="1" dirty="0">
                <a:effectLst/>
                <a:latin typeface="fkGroteskNeue"/>
              </a:rPr>
              <a:t> оптимизация</a:t>
            </a: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fkGroteskNeue"/>
              </a:rPr>
              <a:t>Grid Search:</a:t>
            </a:r>
          </a:p>
          <a:p>
            <a:pPr marL="457200" lvl="1" indent="0">
              <a:buNone/>
            </a:pP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param_grid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{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'</a:t>
            </a: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n_estimators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': [50, 100, 200],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'</a:t>
            </a: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max_depth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': [5, 10, 15],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'</a:t>
            </a: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min_samples_leaf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': [2, 4]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Пробуем все комбинации: 3 × 3 × 2 = 18 моделей</a:t>
            </a:r>
          </a:p>
          <a:p>
            <a:pPr marL="0" indent="0" algn="l">
              <a:buNone/>
            </a:pPr>
            <a:r>
              <a:rPr lang="ru-RU" sz="2000" b="0" i="0" dirty="0" err="1">
                <a:effectLst/>
                <a:latin typeface="fkGroteskNeue"/>
              </a:rPr>
              <a:t>Random</a:t>
            </a:r>
            <a:r>
              <a:rPr lang="ru-RU" sz="2000" b="0" i="0" dirty="0">
                <a:effectLst/>
                <a:latin typeface="fkGroteskNeue"/>
              </a:rPr>
              <a:t> Search: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Случайная выборка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Быстрее, но может пропустить оптимум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Байесовская оптимизация: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Умная стратегия выбора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Дороже вычислительно, но эффективнее</a:t>
            </a:r>
          </a:p>
          <a:p>
            <a:pPr marL="0" indent="0" algn="l">
              <a:buNone/>
            </a:pPr>
            <a:endParaRPr lang="en-US" sz="20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808107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A0E89EE-006C-462B-85FE-BA36FEA9E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669" y="1344006"/>
            <a:ext cx="7597331" cy="397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Расширенные техники (2)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1" i="1" dirty="0" err="1">
                <a:effectLst/>
                <a:latin typeface="fkGroteskNeue"/>
              </a:rPr>
              <a:t>Гиперпараметрическая</a:t>
            </a:r>
            <a:r>
              <a:rPr lang="ru-RU" sz="2000" b="1" i="1" dirty="0">
                <a:effectLst/>
                <a:latin typeface="fkGroteskNeue"/>
              </a:rPr>
              <a:t> оптимизация</a:t>
            </a: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fkGroteskNeue"/>
              </a:rPr>
              <a:t>Grid Search:</a:t>
            </a:r>
          </a:p>
          <a:p>
            <a:pPr marL="457200" lvl="1" indent="0">
              <a:buNone/>
            </a:pP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param_grid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{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'</a:t>
            </a: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n_estimators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': [50, 100, 200],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'</a:t>
            </a: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max_depth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': [5, 10, 15],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'</a:t>
            </a:r>
            <a:r>
              <a:rPr lang="en-US" sz="18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min_samples_leaf</a:t>
            </a: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': [2, 4]</a:t>
            </a:r>
          </a:p>
          <a:p>
            <a:pPr marL="457200" lvl="1" indent="0">
              <a:buNone/>
            </a:pPr>
            <a:r>
              <a:rPr lang="en-US" sz="18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Пробуем все комбинации: 3 × 3 × 2 = 18 моделей</a:t>
            </a:r>
          </a:p>
          <a:p>
            <a:pPr marL="0" indent="0" algn="l">
              <a:buNone/>
            </a:pPr>
            <a:r>
              <a:rPr lang="ru-RU" sz="2000" b="0" i="0" dirty="0" err="1">
                <a:effectLst/>
                <a:latin typeface="fkGroteskNeue"/>
              </a:rPr>
              <a:t>Random</a:t>
            </a:r>
            <a:r>
              <a:rPr lang="ru-RU" sz="2000" b="0" i="0" dirty="0">
                <a:effectLst/>
                <a:latin typeface="fkGroteskNeue"/>
              </a:rPr>
              <a:t> Search: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Случайная выборка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Быстрее, но может пропустить оптимум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Байесовская оптимизация: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Умная стратегия выбора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Дороже вычислительно, но эффективнее</a:t>
            </a:r>
          </a:p>
          <a:p>
            <a:pPr marL="0" indent="0" algn="l">
              <a:buNone/>
            </a:pPr>
            <a:endParaRPr lang="en-US" sz="20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32943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SMOTE и дисбаланс в медицине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23" y="1038273"/>
            <a:ext cx="5912977" cy="1377726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pplxSerif"/>
              </a:rPr>
              <a:t>Проблема: редкие случаи заболевания (1–5%) → </a:t>
            </a:r>
            <a:r>
              <a:rPr lang="ru-RU" sz="1800" b="0" i="0" dirty="0" err="1">
                <a:effectLst/>
                <a:latin typeface="pplxSerif"/>
              </a:rPr>
              <a:t>accuracy</a:t>
            </a:r>
            <a:r>
              <a:rPr lang="ru-RU" sz="1800" b="0" i="0" dirty="0">
                <a:effectLst/>
                <a:latin typeface="pplxSerif"/>
              </a:rPr>
              <a:t> обманчиво высока.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pplxSerif"/>
              </a:rPr>
              <a:t>Решение: SMOTE + </a:t>
            </a:r>
            <a:r>
              <a:rPr lang="ru-RU" sz="1800" b="0" i="0" dirty="0" err="1">
                <a:effectLst/>
                <a:latin typeface="pplxSerif"/>
              </a:rPr>
              <a:t>Random</a:t>
            </a:r>
            <a:r>
              <a:rPr lang="ru-RU" sz="1800" b="0" i="0" dirty="0">
                <a:effectLst/>
                <a:latin typeface="pplxSerif"/>
              </a:rPr>
              <a:t> </a:t>
            </a:r>
            <a:r>
              <a:rPr lang="ru-RU" sz="1800" b="0" i="0" dirty="0" err="1">
                <a:effectLst/>
                <a:latin typeface="pplxSerif"/>
              </a:rPr>
              <a:t>Forest</a:t>
            </a:r>
            <a:r>
              <a:rPr lang="ru-RU" sz="1800" b="0" i="0" dirty="0">
                <a:effectLst/>
                <a:latin typeface="pplxSerif"/>
              </a:rPr>
              <a:t> / SVM.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pplxSerif"/>
              </a:rPr>
              <a:t>Результат: рост </a:t>
            </a:r>
            <a:r>
              <a:rPr lang="ru-RU" sz="1800" b="0" i="0" dirty="0" err="1">
                <a:effectLst/>
                <a:latin typeface="pplxSerif"/>
              </a:rPr>
              <a:t>recall</a:t>
            </a:r>
            <a:r>
              <a:rPr lang="ru-RU" sz="1800" b="0" i="0" dirty="0">
                <a:effectLst/>
                <a:latin typeface="pplxSerif"/>
              </a:rPr>
              <a:t> и F1 для редкого класса без сильной потери по </a:t>
            </a:r>
            <a:r>
              <a:rPr lang="ru-RU" sz="1800" b="0" i="0" dirty="0" err="1">
                <a:effectLst/>
                <a:latin typeface="pplxSerif"/>
              </a:rPr>
              <a:t>majority</a:t>
            </a:r>
            <a:r>
              <a:rPr lang="ru-RU" sz="1800" b="0" i="0" dirty="0">
                <a:effectLst/>
                <a:latin typeface="pplxSerif"/>
              </a:rPr>
              <a:t>‑классу.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D02473-96F0-473E-9096-36DAF663D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18876"/>
            <a:ext cx="6372225" cy="1638300"/>
          </a:xfrm>
          <a:prstGeom prst="rect">
            <a:avLst/>
          </a:prstGeom>
        </p:spPr>
      </p:pic>
      <p:pic>
        <p:nvPicPr>
          <p:cNvPr id="5" name="Picture 2" descr="Figure 1">
            <a:extLst>
              <a:ext uri="{FF2B5EF4-FFF2-40B4-BE49-F238E27FC236}">
                <a16:creationId xmlns:a16="http://schemas.microsoft.com/office/drawing/2014/main" id="{E45BEC33-A49E-451A-84F7-FD28BF3A6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116" y="1170880"/>
            <a:ext cx="5740081" cy="536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153D85-3162-47A5-8E27-9FA8EBFC5E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056" y="2629264"/>
            <a:ext cx="4464628" cy="244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31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Практические рекомендации 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/>
              <a:t>От идеи к интерпретации</a:t>
            </a:r>
          </a:p>
          <a:p>
            <a:pPr algn="just"/>
            <a:r>
              <a:rPr lang="ru-RU" sz="2400" dirty="0"/>
              <a:t>✓ Постановка задачи ясна</a:t>
            </a:r>
          </a:p>
          <a:p>
            <a:pPr algn="just"/>
            <a:r>
              <a:rPr lang="ru-RU" sz="2400" dirty="0"/>
              <a:t>✓ Данные собраны и очищены</a:t>
            </a:r>
          </a:p>
          <a:p>
            <a:pPr algn="just"/>
            <a:r>
              <a:rPr lang="ru-RU" sz="2400" dirty="0"/>
              <a:t>✓ Выбрана метрика качества</a:t>
            </a:r>
          </a:p>
          <a:p>
            <a:pPr algn="just"/>
            <a:r>
              <a:rPr lang="ru-RU" sz="2400" dirty="0"/>
              <a:t>✓ Реализована валидация (K-</a:t>
            </a:r>
            <a:r>
              <a:rPr lang="ru-RU" sz="2400" dirty="0" err="1"/>
              <a:t>fold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✓ Несбалансированность учтена (если есть)</a:t>
            </a:r>
          </a:p>
          <a:p>
            <a:pPr algn="just"/>
            <a:r>
              <a:rPr lang="ru-RU" sz="2400" dirty="0"/>
              <a:t>✓ </a:t>
            </a:r>
            <a:r>
              <a:rPr lang="ru-RU" sz="2400" dirty="0" err="1"/>
              <a:t>Feature</a:t>
            </a:r>
            <a:r>
              <a:rPr lang="ru-RU" sz="2400" dirty="0"/>
              <a:t> </a:t>
            </a:r>
            <a:r>
              <a:rPr lang="ru-RU" sz="2400" dirty="0" err="1"/>
              <a:t>Importance</a:t>
            </a:r>
            <a:r>
              <a:rPr lang="ru-RU" sz="2400" dirty="0"/>
              <a:t> посчитана и интерпретирована</a:t>
            </a:r>
          </a:p>
          <a:p>
            <a:pPr algn="just"/>
            <a:r>
              <a:rPr lang="ru-RU" sz="2400" dirty="0"/>
              <a:t>✓ Алгоритмы сравнены статистически</a:t>
            </a:r>
          </a:p>
          <a:p>
            <a:pPr algn="just"/>
            <a:r>
              <a:rPr lang="ru-RU" sz="2400" dirty="0"/>
              <a:t>✓ Переобучение проверено</a:t>
            </a:r>
          </a:p>
          <a:p>
            <a:pPr algn="just"/>
            <a:r>
              <a:rPr lang="ru-RU" sz="2400" dirty="0"/>
              <a:t>✓ Результаты воспроизводимы</a:t>
            </a:r>
          </a:p>
          <a:p>
            <a:pPr algn="just"/>
            <a:r>
              <a:rPr lang="ru-RU" sz="2400" dirty="0"/>
              <a:t>✓ Биологическая интерпретация сделана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38628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Вопросы?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Книги: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"</a:t>
            </a:r>
            <a:r>
              <a:rPr lang="en-US" b="0" i="0" dirty="0">
                <a:effectLst/>
                <a:latin typeface="fkGroteskNeue"/>
              </a:rPr>
              <a:t>Introduction to Statistical Learning" (James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en-US" b="0" i="0" dirty="0">
                <a:effectLst/>
                <a:latin typeface="fkGroteskNeue"/>
              </a:rPr>
              <a:t>et al</a:t>
            </a:r>
            <a:r>
              <a:rPr lang="ru-RU" dirty="0">
                <a:latin typeface="fkGroteskNeue"/>
              </a:rPr>
              <a:t>.</a:t>
            </a:r>
            <a:r>
              <a:rPr lang="en-US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"Biomedical Data Science" (Love, Huber, Anders)</a:t>
            </a:r>
            <a:endParaRPr lang="ru-RU" sz="4000" i="1" dirty="0"/>
          </a:p>
        </p:txBody>
      </p:sp>
    </p:spTree>
    <p:extLst>
      <p:ext uri="{BB962C8B-B14F-4D97-AF65-F5344CB8AC3E}">
        <p14:creationId xmlns:p14="http://schemas.microsoft.com/office/powerpoint/2010/main" val="2723264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3676</Words>
  <Application>Microsoft Office PowerPoint</Application>
  <PresentationFormat>Широкоэкранный</PresentationFormat>
  <Paragraphs>543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fkGroteskNeue</vt:lpstr>
      <vt:lpstr>pplxSerif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51</cp:revision>
  <dcterms:created xsi:type="dcterms:W3CDTF">2025-09-03T07:14:40Z</dcterms:created>
  <dcterms:modified xsi:type="dcterms:W3CDTF">2026-02-18T10:15:53Z</dcterms:modified>
</cp:coreProperties>
</file>