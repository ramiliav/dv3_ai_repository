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8" r:id="rId5"/>
    <p:sldId id="279" r:id="rId6"/>
    <p:sldId id="309" r:id="rId7"/>
    <p:sldId id="310" r:id="rId8"/>
    <p:sldId id="311" r:id="rId9"/>
    <p:sldId id="318" r:id="rId10"/>
    <p:sldId id="270" r:id="rId11"/>
    <p:sldId id="286" r:id="rId12"/>
    <p:sldId id="287" r:id="rId13"/>
    <p:sldId id="312" r:id="rId14"/>
    <p:sldId id="313" r:id="rId15"/>
    <p:sldId id="314" r:id="rId16"/>
    <p:sldId id="315" r:id="rId17"/>
    <p:sldId id="316" r:id="rId18"/>
    <p:sldId id="305" r:id="rId19"/>
    <p:sldId id="319" r:id="rId20"/>
    <p:sldId id="320" r:id="rId21"/>
    <p:sldId id="321" r:id="rId22"/>
    <p:sldId id="322" r:id="rId23"/>
    <p:sldId id="317" r:id="rId24"/>
    <p:sldId id="266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034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304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331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967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347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70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4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669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835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947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872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795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661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8121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567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661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683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1569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4DhUQiedqWyZQw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2. Продвинутое моделирование и оптимизация в биомедицинских задачах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Освоить </a:t>
            </a:r>
            <a:r>
              <a:rPr lang="en-US" sz="2400" dirty="0"/>
              <a:t>k‑fold cross‑validation </a:t>
            </a:r>
            <a:r>
              <a:rPr lang="ru-RU" sz="2400" dirty="0"/>
              <a:t>для оценки качества моделей.</a:t>
            </a:r>
          </a:p>
          <a:p>
            <a:pPr algn="just"/>
            <a:r>
              <a:rPr lang="ru-RU" sz="2400" dirty="0"/>
              <a:t>Научиться настраивать </a:t>
            </a:r>
            <a:r>
              <a:rPr lang="ru-RU" sz="2400" dirty="0" err="1"/>
              <a:t>гиперпараметры</a:t>
            </a:r>
            <a:r>
              <a:rPr lang="ru-RU" sz="2400" dirty="0"/>
              <a:t> </a:t>
            </a:r>
            <a:r>
              <a:rPr lang="en-US" sz="2400" dirty="0"/>
              <a:t>Random Forest </a:t>
            </a:r>
            <a:r>
              <a:rPr lang="ru-RU" sz="2400" dirty="0"/>
              <a:t>с помощью </a:t>
            </a:r>
            <a:r>
              <a:rPr lang="en-US" sz="2400" dirty="0"/>
              <a:t>Grid Search </a:t>
            </a:r>
            <a:r>
              <a:rPr lang="ru-RU" sz="2400" dirty="0"/>
              <a:t>и </a:t>
            </a:r>
            <a:r>
              <a:rPr lang="en-US" sz="2400" dirty="0"/>
              <a:t>Random Search.</a:t>
            </a:r>
          </a:p>
          <a:p>
            <a:pPr algn="just"/>
            <a:r>
              <a:rPr lang="ru-RU" sz="2400" dirty="0"/>
              <a:t>Применить настройку </a:t>
            </a:r>
            <a:r>
              <a:rPr lang="ru-RU" sz="2400" dirty="0" err="1"/>
              <a:t>гиперпараметров</a:t>
            </a:r>
            <a:r>
              <a:rPr lang="ru-RU" sz="2400" dirty="0"/>
              <a:t> к задаче </a:t>
            </a:r>
            <a:r>
              <a:rPr lang="en-US" sz="2400" dirty="0"/>
              <a:t>Pima Indians Diabetes.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Pima Indians Diabetes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Pima Indians Diabetes (UCI / </a:t>
            </a:r>
            <a:r>
              <a:rPr lang="en-US" sz="2400" dirty="0" err="1"/>
              <a:t>mlbench</a:t>
            </a:r>
            <a:r>
              <a:rPr lang="en-US" sz="2400" dirty="0"/>
              <a:t>).</a:t>
            </a:r>
          </a:p>
          <a:p>
            <a:pPr algn="just"/>
            <a:r>
              <a:rPr lang="ru-RU" sz="2400" dirty="0"/>
              <a:t>Описание:</a:t>
            </a:r>
          </a:p>
          <a:p>
            <a:pPr lvl="1" algn="just"/>
            <a:r>
              <a:rPr lang="ru-RU" sz="2000" dirty="0"/>
              <a:t>пациентки пима-индейцы ≥21 года;</a:t>
            </a:r>
          </a:p>
          <a:p>
            <a:pPr lvl="1" algn="just"/>
            <a:r>
              <a:rPr lang="ru-RU" sz="2000" dirty="0"/>
              <a:t>признаки: число беременностей, глюкоза, артериальное давление, </a:t>
            </a:r>
            <a:r>
              <a:rPr lang="en-US" sz="2000" dirty="0"/>
              <a:t>BMI </a:t>
            </a:r>
            <a:r>
              <a:rPr lang="ru-RU" sz="2000" dirty="0"/>
              <a:t>и др.;</a:t>
            </a:r>
          </a:p>
          <a:p>
            <a:pPr lvl="1" algn="just"/>
            <a:r>
              <a:rPr lang="ru-RU" sz="2000" dirty="0"/>
              <a:t>целевая переменная: наличие диабета (</a:t>
            </a:r>
            <a:r>
              <a:rPr lang="en-US" sz="2000" dirty="0"/>
              <a:t>diabetes: neg/pos).</a:t>
            </a:r>
          </a:p>
          <a:p>
            <a:pPr algn="just"/>
            <a:r>
              <a:rPr lang="ru-RU" sz="2400" dirty="0"/>
              <a:t>В </a:t>
            </a:r>
            <a:r>
              <a:rPr lang="en-US" sz="2400" dirty="0"/>
              <a:t>R: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::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ru-RU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https://disk.yandex.ru/d/4DhUQiedqWyZQw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D7762204-A565-46FF-BE16-2EA057903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927" y="1223234"/>
            <a:ext cx="652462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k‑fold Cross‑Validation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5310030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Разбиваем обучающую выборку на k частей (</a:t>
            </a:r>
            <a:r>
              <a:rPr lang="ru-RU" b="0" i="0" dirty="0" err="1">
                <a:effectLst/>
                <a:latin typeface="pplxSerif"/>
              </a:rPr>
              <a:t>folds</a:t>
            </a:r>
            <a:r>
              <a:rPr lang="ru-RU" b="0" i="0" dirty="0">
                <a:effectLst/>
                <a:latin typeface="pplxSerif"/>
              </a:rPr>
              <a:t>), обычно k = 5.​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 каждом прогоне: 1 </a:t>
            </a:r>
            <a:r>
              <a:rPr lang="ru-RU" b="0" i="0" dirty="0" err="1">
                <a:effectLst/>
                <a:latin typeface="pplxSerif"/>
              </a:rPr>
              <a:t>fold</a:t>
            </a:r>
            <a:r>
              <a:rPr lang="ru-RU" b="0" i="0" dirty="0">
                <a:effectLst/>
                <a:latin typeface="pplxSerif"/>
              </a:rPr>
              <a:t> — валидация, остальные k−1 — обучение.​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Усредняем метрику по всем </a:t>
            </a:r>
            <a:r>
              <a:rPr lang="ru-RU" b="0" i="0" dirty="0" err="1">
                <a:effectLst/>
                <a:latin typeface="pplxSerif"/>
              </a:rPr>
              <a:t>fold’ам</a:t>
            </a:r>
            <a:r>
              <a:rPr lang="ru-RU" b="0" i="0" dirty="0">
                <a:effectLst/>
                <a:latin typeface="pplxSerif"/>
              </a:rPr>
              <a:t> → более стабильная оценка, чем один </a:t>
            </a:r>
            <a:r>
              <a:rPr lang="ru-RU" b="0" i="0" dirty="0" err="1">
                <a:effectLst/>
                <a:latin typeface="pplxSerif"/>
              </a:rPr>
              <a:t>train</a:t>
            </a:r>
            <a:r>
              <a:rPr lang="ru-RU" b="0" i="0" dirty="0">
                <a:effectLst/>
                <a:latin typeface="pplxSerif"/>
              </a:rPr>
              <a:t>/</a:t>
            </a:r>
            <a:r>
              <a:rPr lang="ru-RU" b="0" i="0" dirty="0" err="1">
                <a:effectLst/>
                <a:latin typeface="pplxSerif"/>
              </a:rPr>
              <a:t>test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ru-RU" b="0" i="0" dirty="0" err="1">
                <a:effectLst/>
                <a:latin typeface="pplxSerif"/>
              </a:rPr>
              <a:t>split</a:t>
            </a:r>
            <a:r>
              <a:rPr lang="ru-RU" b="0" i="0" dirty="0">
                <a:effectLst/>
                <a:latin typeface="pplxSerif"/>
              </a:rPr>
              <a:t>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Используем k‑</a:t>
            </a:r>
            <a:r>
              <a:rPr lang="ru-RU" b="0" i="0" dirty="0" err="1">
                <a:effectLst/>
                <a:latin typeface="pplxSerif"/>
              </a:rPr>
              <a:t>fold</a:t>
            </a:r>
            <a:r>
              <a:rPr lang="ru-RU" b="0" i="0" dirty="0">
                <a:effectLst/>
                <a:latin typeface="pplxSerif"/>
              </a:rPr>
              <a:t> CV внутри Grid Search для выбора лучших </a:t>
            </a:r>
            <a:r>
              <a:rPr lang="ru-RU" b="0" i="0" dirty="0" err="1">
                <a:effectLst/>
                <a:latin typeface="pplxSerif"/>
              </a:rPr>
              <a:t>гиперпараметров</a:t>
            </a:r>
            <a:r>
              <a:rPr lang="ru-RU" b="0" i="0" dirty="0">
                <a:effectLst/>
                <a:latin typeface="pplx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939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Гиперпараметры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11735528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pplxSerif"/>
              </a:rPr>
              <a:t>ntree</a:t>
            </a:r>
            <a:r>
              <a:rPr lang="ru-RU" b="0" i="0" dirty="0">
                <a:effectLst/>
                <a:latin typeface="pplxSerif"/>
              </a:rPr>
              <a:t> — число деревьев (100, 300, 500 …).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pplxSerif"/>
              </a:rPr>
              <a:t>mtry</a:t>
            </a:r>
            <a:r>
              <a:rPr lang="ru-RU" b="0" i="0" dirty="0">
                <a:effectLst/>
                <a:latin typeface="pplxSerif"/>
              </a:rPr>
              <a:t> — число признаков, случайно выбираемых на каждом разбиении узла.​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pplxSerif"/>
              </a:rPr>
              <a:t>nodesize</a:t>
            </a:r>
            <a:r>
              <a:rPr lang="ru-RU" b="1" i="0" dirty="0">
                <a:effectLst/>
                <a:latin typeface="pplxSerif"/>
              </a:rPr>
              <a:t> / </a:t>
            </a:r>
            <a:r>
              <a:rPr lang="ru-RU" b="1" i="0" dirty="0" err="1">
                <a:effectLst/>
                <a:latin typeface="pplxSerif"/>
              </a:rPr>
              <a:t>min.node.size</a:t>
            </a:r>
            <a:r>
              <a:rPr lang="ru-RU" b="0" i="0" dirty="0">
                <a:effectLst/>
                <a:latin typeface="pplxSerif"/>
              </a:rPr>
              <a:t> — минимальный размер листа.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effectLst/>
                <a:latin typeface="pplxSerif"/>
              </a:rPr>
              <a:t>maxdepth</a:t>
            </a:r>
            <a:r>
              <a:rPr lang="ru-RU" b="0" i="0" dirty="0">
                <a:effectLst/>
                <a:latin typeface="pplxSerif"/>
              </a:rPr>
              <a:t> — максимальная глубина дерева (в некоторых реализациях).​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 этой практике настраиваем главным образом </a:t>
            </a:r>
            <a:r>
              <a:rPr lang="ru-RU" b="1" i="0" dirty="0" err="1">
                <a:effectLst/>
                <a:latin typeface="pplxSerif"/>
              </a:rPr>
              <a:t>mtry</a:t>
            </a:r>
            <a:r>
              <a:rPr lang="ru-RU" b="0" i="0" dirty="0">
                <a:effectLst/>
                <a:latin typeface="pplxSerif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743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Picture background">
            <a:extLst>
              <a:ext uri="{FF2B5EF4-FFF2-40B4-BE49-F238E27FC236}">
                <a16:creationId xmlns:a16="http://schemas.microsoft.com/office/drawing/2014/main" id="{298D9915-FFE3-4EB1-9ECD-AF74183E2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4" r="11041"/>
          <a:stretch/>
        </p:blipFill>
        <p:spPr bwMode="auto">
          <a:xfrm>
            <a:off x="5891238" y="1146823"/>
            <a:ext cx="6027314" cy="397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Идея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Grid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5912976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Задаём </a:t>
            </a:r>
            <a:r>
              <a:rPr lang="ru-RU" b="1" i="0" dirty="0">
                <a:effectLst/>
                <a:latin typeface="pplxSerif"/>
              </a:rPr>
              <a:t>сетку</a:t>
            </a:r>
            <a:r>
              <a:rPr lang="ru-RU" b="0" i="0" dirty="0">
                <a:effectLst/>
                <a:latin typeface="pplxSerif"/>
              </a:rPr>
              <a:t> значений </a:t>
            </a:r>
            <a:r>
              <a:rPr lang="ru-RU" b="0" i="0" dirty="0" err="1">
                <a:effectLst/>
                <a:latin typeface="pplxSerif"/>
              </a:rPr>
              <a:t>гиперпараметров</a:t>
            </a:r>
            <a:r>
              <a:rPr lang="ru-RU" b="0" i="0" dirty="0">
                <a:effectLst/>
                <a:latin typeface="pplxSerif"/>
              </a:rPr>
              <a:t>, например: </a:t>
            </a:r>
            <a:r>
              <a:rPr lang="ru-RU" b="0" i="0" dirty="0" err="1">
                <a:effectLst/>
                <a:latin typeface="pplxSerif"/>
              </a:rPr>
              <a:t>mtry</a:t>
            </a:r>
            <a:r>
              <a:rPr lang="ru-RU" b="0" i="0" dirty="0">
                <a:effectLst/>
                <a:latin typeface="pplxSerif"/>
              </a:rPr>
              <a:t> ∈ {2, 4, 6}.​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Для каждой комбинации параметров проводим k‑</a:t>
            </a:r>
            <a:r>
              <a:rPr lang="ru-RU" b="0" i="0" dirty="0" err="1">
                <a:effectLst/>
                <a:latin typeface="pplxSerif"/>
              </a:rPr>
              <a:t>fold</a:t>
            </a:r>
            <a:r>
              <a:rPr lang="ru-RU" b="0" i="0" dirty="0">
                <a:effectLst/>
                <a:latin typeface="pplxSerif"/>
              </a:rPr>
              <a:t> CV и считаем метрику (AUC‑ROC, F1).​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Сравниваем среднюю метрику между комбинациями и выбираем лучшую.​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Цена: растущая вычислительная сложность при увеличении числа </a:t>
            </a:r>
            <a:r>
              <a:rPr lang="ru-RU" b="0" i="0" dirty="0" err="1">
                <a:effectLst/>
                <a:latin typeface="pplxSerif"/>
              </a:rPr>
              <a:t>гиперпараметров</a:t>
            </a:r>
            <a:r>
              <a:rPr lang="ru-RU" b="0" i="0" dirty="0">
                <a:effectLst/>
                <a:latin typeface="pplxSerif"/>
              </a:rPr>
              <a:t> и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2099339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Picture background">
            <a:extLst>
              <a:ext uri="{FF2B5EF4-FFF2-40B4-BE49-F238E27FC236}">
                <a16:creationId xmlns:a16="http://schemas.microsoft.com/office/drawing/2014/main" id="{298D9915-FFE3-4EB1-9ECD-AF74183E2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4" r="11041"/>
          <a:stretch/>
        </p:blipFill>
        <p:spPr bwMode="auto">
          <a:xfrm>
            <a:off x="5891238" y="1146823"/>
            <a:ext cx="6027314" cy="397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Идея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4" y="1223234"/>
            <a:ext cx="5912976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Вместо полного перебора: случайно выбираем N комбинаций из большого пространства параметров.​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При том же времени можем исследовать более широкий диапазон значений.​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Часто даёт качество, сопоставимое с Grid Search, но быстрее.</a:t>
            </a:r>
          </a:p>
        </p:txBody>
      </p:sp>
    </p:spTree>
    <p:extLst>
      <p:ext uri="{BB962C8B-B14F-4D97-AF65-F5344CB8AC3E}">
        <p14:creationId xmlns:p14="http://schemas.microsoft.com/office/powerpoint/2010/main" val="2055093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Метрика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F1‑score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0C61546-9215-4D0C-81CB-5EE3A5637E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3024" y="1223234"/>
                <a:ext cx="11735528" cy="5677647"/>
              </a:xfrm>
            </p:spPr>
            <p:txBody>
              <a:bodyPr>
                <a:norm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2000" b="0" i="0" dirty="0">
                    <a:effectLst/>
                    <a:latin typeface="pplxSerif"/>
                  </a:rPr>
                  <a:t>F1‑score — гармоническое среднее </a:t>
                </a:r>
                <a:r>
                  <a:rPr lang="ru-RU" sz="2000" b="1" i="0" dirty="0">
                    <a:effectLst/>
                    <a:latin typeface="pplxSerif"/>
                  </a:rPr>
                  <a:t>Precision</a:t>
                </a:r>
                <a:r>
                  <a:rPr lang="ru-RU" sz="2000" b="0" i="0" dirty="0">
                    <a:effectLst/>
                    <a:latin typeface="pplxSerif"/>
                  </a:rPr>
                  <a:t> и </a:t>
                </a:r>
                <a:r>
                  <a:rPr lang="ru-RU" sz="2000" b="1" i="0" dirty="0" err="1">
                    <a:effectLst/>
                    <a:latin typeface="pplxSerif"/>
                  </a:rPr>
                  <a:t>Recall</a:t>
                </a:r>
                <a:r>
                  <a:rPr lang="ru-RU" sz="2000" b="0" i="0" dirty="0">
                    <a:effectLst/>
                    <a:latin typeface="pplxSerif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000" b="0" i="0" dirty="0" smtClean="0">
                        <a:effectLst/>
                        <a:latin typeface="Cambria Math" panose="02040503050406030204" pitchFamily="18" charset="0"/>
                      </a:rPr>
                      <m:t>F</m:t>
                    </m:r>
                    <m:r>
                      <a:rPr lang="ru-RU" sz="2000" b="0" i="1" dirty="0" smtClean="0">
                        <a:effectLst/>
                        <a:latin typeface="Cambria Math" panose="02040503050406030204" pitchFamily="18" charset="0"/>
                      </a:rPr>
                      <m:t>1=2⋅</m:t>
                    </m:r>
                    <m:f>
                      <m:fPr>
                        <m:ctrlPr>
                          <a:rPr lang="ru-RU" sz="2000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𝑅𝑒𝑐𝑎𝑙𝑙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pplxSerif"/>
                          </a:rPr>
                          <m:t> </m:t>
                        </m:r>
                      </m:den>
                    </m:f>
                  </m:oMath>
                </a14:m>
                <a:endParaRPr lang="en-US" sz="1800" b="0" i="0" dirty="0">
                  <a:effectLst/>
                  <a:latin typeface="pplxSerif"/>
                </a:endParaRPr>
              </a:p>
              <a:p>
                <a:r>
                  <a:rPr lang="ru-RU" sz="2000" b="0" i="0" dirty="0">
                    <a:effectLst/>
                    <a:latin typeface="pplxSerif"/>
                  </a:rPr>
                  <a:t>Учитывает и ложноположительные, и ложноотрицательные ошибки, поэтому полезен при несбалансированных классах.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2000" b="0" i="0" dirty="0">
                    <a:effectLst/>
                    <a:latin typeface="pplxSerif"/>
                  </a:rPr>
                  <a:t>Высокий F1 означает, что модель одновременно достаточно точна (мало FP) и чувствительна (мало FN).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sz="2000" b="0" i="0" dirty="0">
                    <a:effectLst/>
                    <a:latin typeface="pplxSerif"/>
                  </a:rPr>
                  <a:t>В задачах медицины F1 часто предпочтительнее, чем простая </a:t>
                </a:r>
                <a:r>
                  <a:rPr lang="ru-RU" sz="2000" b="0" i="0" dirty="0" err="1">
                    <a:effectLst/>
                    <a:latin typeface="pplxSerif"/>
                  </a:rPr>
                  <a:t>Accuracy</a:t>
                </a:r>
                <a:r>
                  <a:rPr lang="ru-RU" sz="2000" b="0" i="0" dirty="0">
                    <a:effectLst/>
                    <a:latin typeface="pplxSerif"/>
                  </a:rPr>
                  <a:t>, когда класс «болен» редкий.</a:t>
                </a:r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0C61546-9215-4D0C-81CB-5EE3A5637E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3024" y="1223234"/>
                <a:ext cx="11735528" cy="5677647"/>
              </a:xfrm>
              <a:blipFill>
                <a:blip r:embed="rId6"/>
                <a:stretch>
                  <a:fillRect l="-468" t="-1182" r="-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D2AE5BC3-BB95-419B-8295-77BD6B52D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79" y="3612625"/>
            <a:ext cx="10227836" cy="306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12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Подготовка данных 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mlbench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dplyr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library(caret)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library(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pROC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data("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PimaIndiansDiabetes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filter(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complete.cases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(.)) %&gt;%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mutate(diabetes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(diabetes == "pos", "pos", "neg"),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diabetes = factor(diabetes, levels = c("neg", "pos")))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sample(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seq_len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)), floor(0.7 *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test 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pid_clean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[-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train_idx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]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Базовый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Forest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rf_baseline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randomForest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diabetes ~ .,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      = train,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= 500,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   = 2,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importance = TRUE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pred_base_prob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rf_baseline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"pos"]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roc_base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pred_base_prob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auc_base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roc_base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auc_base</a:t>
            </a: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3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Сетка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гиперпараметров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для Grid Search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just">
              <a:buNone/>
            </a:pPr>
            <a:r>
              <a:rPr lang="ru-RU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# Сетка по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tune_grid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expand.grid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mtry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c(2, 4, 6)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6BCD7E-463C-48D1-93ED-788CDC9781F9}"/>
              </a:ext>
            </a:extLst>
          </p:cNvPr>
          <p:cNvSpPr txBox="1"/>
          <p:nvPr/>
        </p:nvSpPr>
        <p:spPr>
          <a:xfrm>
            <a:off x="4105141" y="2400614"/>
            <a:ext cx="60981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 err="1">
                <a:effectLst/>
              </a:rPr>
              <a:t>ntree</a:t>
            </a:r>
            <a:r>
              <a:rPr lang="ru-RU" sz="2400" b="0" i="0" dirty="0">
                <a:effectLst/>
              </a:rPr>
              <a:t> фиксируем, например 500; </a:t>
            </a:r>
            <a:r>
              <a:rPr lang="ru-RU" sz="2400" b="0" i="0" dirty="0" err="1">
                <a:effectLst/>
              </a:rPr>
              <a:t>mtry</a:t>
            </a:r>
            <a:r>
              <a:rPr lang="ru-RU" sz="2400" b="0" i="0" dirty="0">
                <a:effectLst/>
              </a:rPr>
              <a:t> — основной параметр, влияющий на сложность деревьев.​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При желании можно сравнить несколько значений </a:t>
            </a:r>
            <a:r>
              <a:rPr lang="ru-RU" sz="2400" b="0" i="0" dirty="0" err="1">
                <a:effectLst/>
              </a:rPr>
              <a:t>ntree</a:t>
            </a:r>
            <a:r>
              <a:rPr lang="ru-RU" sz="2400" b="0" i="0" dirty="0">
                <a:effectLst/>
              </a:rPr>
              <a:t> (но это увеличивает время расчёта).</a:t>
            </a:r>
          </a:p>
        </p:txBody>
      </p:sp>
    </p:spTree>
    <p:extLst>
      <p:ext uri="{BB962C8B-B14F-4D97-AF65-F5344CB8AC3E}">
        <p14:creationId xmlns:p14="http://schemas.microsoft.com/office/powerpoint/2010/main" val="151714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Настройка k‑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fold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CV в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caret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ctrl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trainControl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method          = "cv",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number          = 5,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summaryFunction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twoClassSummary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classProbs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= TRUE,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savePredictions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"final",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verboseIter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= TRUE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4DC2CD-087C-4D3B-A1F7-0640E44B3893}"/>
              </a:ext>
            </a:extLst>
          </p:cNvPr>
          <p:cNvSpPr txBox="1"/>
          <p:nvPr/>
        </p:nvSpPr>
        <p:spPr>
          <a:xfrm>
            <a:off x="6011116" y="1485336"/>
            <a:ext cx="58104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method = "cv", number = 5 → 5‑fold cross‑validation.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summaryFunction</a:t>
            </a:r>
            <a:r>
              <a:rPr lang="en-US" sz="2400" dirty="0"/>
              <a:t> = </a:t>
            </a:r>
            <a:r>
              <a:rPr lang="en-US" sz="2400" dirty="0" err="1"/>
              <a:t>twoClassSummary</a:t>
            </a:r>
            <a:r>
              <a:rPr lang="en-US" sz="2400" dirty="0"/>
              <a:t> </a:t>
            </a:r>
            <a:r>
              <a:rPr lang="ru-RU" sz="2400" dirty="0"/>
              <a:t>позволяет считать </a:t>
            </a:r>
            <a:r>
              <a:rPr lang="en-US" sz="2400" dirty="0"/>
              <a:t>AUC‑ROC, Sensitivity, Specificity.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classProbs</a:t>
            </a:r>
            <a:r>
              <a:rPr lang="en-US" sz="2400" dirty="0"/>
              <a:t> = TRUE </a:t>
            </a:r>
            <a:r>
              <a:rPr lang="ru-RU" sz="2400" dirty="0"/>
              <a:t>включает работу с вероятностями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2772245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5B68C8-C431-4C29-A783-A313269DF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84" y="2237308"/>
            <a:ext cx="6714897" cy="4119042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Запуск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Grid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 lnSpcReduction="10000"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grid_search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train(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diabetes ~ .,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    = train,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method    = "rf",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ctrl,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tuneGrid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tune_grid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metric    = "ROC",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= 500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print(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grid_search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grid_search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EAEBE9-6610-4C61-B9D7-0CDA6B6730A0}"/>
              </a:ext>
            </a:extLst>
          </p:cNvPr>
          <p:cNvSpPr txBox="1"/>
          <p:nvPr/>
        </p:nvSpPr>
        <p:spPr>
          <a:xfrm>
            <a:off x="4877160" y="989070"/>
            <a:ext cx="60981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Для каждой </a:t>
            </a:r>
            <a:r>
              <a:rPr lang="ru-RU" sz="2400" b="0" i="0" dirty="0" err="1">
                <a:effectLst/>
              </a:rPr>
              <a:t>mtry</a:t>
            </a:r>
            <a:r>
              <a:rPr lang="ru-RU" sz="2400" b="0" i="0" dirty="0">
                <a:effectLst/>
              </a:rPr>
              <a:t> выполняется 5‑fold CV, метрика — AUC‑ROC.​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</a:rPr>
              <a:t>График показывает, как меняется AUC при разных </a:t>
            </a:r>
            <a:r>
              <a:rPr lang="ru-RU" sz="2400" b="0" i="0" dirty="0" err="1">
                <a:effectLst/>
              </a:rPr>
              <a:t>mtry</a:t>
            </a:r>
            <a:r>
              <a:rPr lang="ru-RU" sz="2400" b="0" i="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7021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Лучшая модель и оценка на тесте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best_params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grid_search$bestTune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best_params</a:t>
            </a: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pred_best_prob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grid_search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"pos"]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roc_best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pred_best_prob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auc_best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roc_best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data.frame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model = c("Baseline", "Grid Search"),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AUC   = c(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auc_base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), 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4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auc_best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marL="0" indent="0" algn="just">
              <a:buNone/>
            </a:pP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591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37B8176-F4A3-4046-8E02-B1926F43A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501" y="2791375"/>
            <a:ext cx="6153396" cy="3774607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/>
          </a:bodyPr>
          <a:lstStyle/>
          <a:p>
            <a:pPr marL="0" indent="0" algn="just">
              <a:buNone/>
            </a:pP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ctrl_random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trainControl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method          = "cv",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number          = 5,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search          = "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random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summaryFunction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twoClassSummary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classProbs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= TRUE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18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set.seed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(123)</a:t>
            </a:r>
          </a:p>
          <a:p>
            <a:pPr marL="0" indent="0" algn="just">
              <a:buNone/>
            </a:pP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random_search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train(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diabetes ~ .,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data       = train,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method     = "rf",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trControl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=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ctrl_random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tuneLength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10,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metric     = "ROC",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ntree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= 500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print(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random_search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18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random_search</a:t>
            </a:r>
            <a:r>
              <a:rPr lang="en-US" sz="1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5967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30FAFC-242A-4E4D-85BE-8F905E27F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116" y="1223234"/>
            <a:ext cx="5962650" cy="3657600"/>
          </a:xfrm>
          <a:prstGeom prst="rect">
            <a:avLst/>
          </a:prstGeom>
        </p:spPr>
      </p:pic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 Search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2">
            <a:normAutofit/>
          </a:bodyPr>
          <a:lstStyle/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pred_random_prob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predict(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random_search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newdata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test, type = "prob")[, "pos"]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roc_random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roc(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test$diabetes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pred_random_prob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plot(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roc_base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 col = "gray",    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main = "ROC: baseline vs tuned RF")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lines(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roc_best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 col = "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steelblue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lines(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roc_random,col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"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darkorange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2)</a:t>
            </a:r>
          </a:p>
          <a:p>
            <a:pPr marL="0" indent="0" algn="just">
              <a:buNone/>
            </a:pP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abline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(a = 0, b = 1,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lty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2, col = "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lightgray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legend("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bottomright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legend = c("Baseline", "Grid Search", "Random Search"),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col    = c("gray", "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steelblue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", "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darkorange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"),</a:t>
            </a:r>
          </a:p>
          <a:p>
            <a:pPr marL="0" indent="0" algn="just">
              <a:buNone/>
            </a:pP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lwd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= 2)</a:t>
            </a:r>
          </a:p>
        </p:txBody>
      </p:sp>
    </p:spTree>
    <p:extLst>
      <p:ext uri="{BB962C8B-B14F-4D97-AF65-F5344CB8AC3E}">
        <p14:creationId xmlns:p14="http://schemas.microsoft.com/office/powerpoint/2010/main" val="2419153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4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(BCW)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В Задании 4 вы реализуете похожий </a:t>
            </a:r>
            <a:r>
              <a:rPr lang="en-US" b="0" i="0" dirty="0">
                <a:effectLst/>
                <a:latin typeface="pplxSerif"/>
              </a:rPr>
              <a:t>Grid Search </a:t>
            </a:r>
            <a:r>
              <a:rPr lang="ru-RU" b="0" i="0" dirty="0">
                <a:effectLst/>
                <a:latin typeface="pplxSerif"/>
              </a:rPr>
              <a:t>для </a:t>
            </a:r>
            <a:r>
              <a:rPr lang="en-US" b="0" i="0" dirty="0">
                <a:effectLst/>
                <a:latin typeface="pplxSerif"/>
              </a:rPr>
              <a:t>Random Forest </a:t>
            </a:r>
            <a:r>
              <a:rPr lang="ru-RU" b="0" i="0" dirty="0">
                <a:effectLst/>
                <a:latin typeface="pplxSerif"/>
              </a:rPr>
              <a:t>на </a:t>
            </a:r>
            <a:r>
              <a:rPr lang="ru-RU" b="0" i="0" dirty="0" err="1">
                <a:effectLst/>
                <a:latin typeface="pplxSerif"/>
              </a:rPr>
              <a:t>датасете</a:t>
            </a:r>
            <a:r>
              <a:rPr lang="ru-RU" b="0" i="0" dirty="0">
                <a:effectLst/>
                <a:latin typeface="pplxSerif"/>
              </a:rPr>
              <a:t> </a:t>
            </a:r>
            <a:r>
              <a:rPr lang="en-US" b="0" i="0" dirty="0">
                <a:effectLst/>
                <a:latin typeface="pplxSerif"/>
              </a:rPr>
              <a:t>Breast Cancer Wisconsin.​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Сетка: </a:t>
            </a:r>
            <a:r>
              <a:rPr lang="en-US" b="0" i="0" dirty="0" err="1">
                <a:effectLst/>
                <a:latin typeface="pplxSerif"/>
              </a:rPr>
              <a:t>mtry</a:t>
            </a:r>
            <a:r>
              <a:rPr lang="en-US" b="0" i="0" dirty="0">
                <a:effectLst/>
                <a:latin typeface="pplxSerif"/>
              </a:rPr>
              <a:t>; </a:t>
            </a:r>
            <a:r>
              <a:rPr lang="ru-RU" b="0" i="0" dirty="0">
                <a:effectLst/>
                <a:latin typeface="pplxSerif"/>
              </a:rPr>
              <a:t>метрика — </a:t>
            </a:r>
            <a:r>
              <a:rPr lang="en-US" b="0" i="0" dirty="0">
                <a:effectLst/>
                <a:latin typeface="pplxSerif"/>
              </a:rPr>
              <a:t>AUC, F1‑score; 5‑fold Cross‑Validation.</a:t>
            </a:r>
          </a:p>
        </p:txBody>
      </p:sp>
    </p:spTree>
    <p:extLst>
      <p:ext uri="{BB962C8B-B14F-4D97-AF65-F5344CB8AC3E}">
        <p14:creationId xmlns:p14="http://schemas.microsoft.com/office/powerpoint/2010/main" val="1601438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SVM с RBF‑ядром: идея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Support </a:t>
            </a:r>
            <a:r>
              <a:rPr lang="ru-RU" b="0" i="0" dirty="0" err="1">
                <a:effectLst/>
              </a:rPr>
              <a:t>Vector</a:t>
            </a:r>
            <a:r>
              <a:rPr lang="ru-RU" b="0" i="0" dirty="0">
                <a:effectLst/>
              </a:rPr>
              <a:t> Machine (SVM) ищет границу максимального зазора между классами.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Для нелинейно разделимых данных используется ядро (</a:t>
            </a:r>
            <a:r>
              <a:rPr lang="ru-RU" b="0" i="0" dirty="0" err="1">
                <a:effectLst/>
              </a:rPr>
              <a:t>kernel</a:t>
            </a:r>
            <a:r>
              <a:rPr lang="ru-RU" b="0" i="0" dirty="0">
                <a:effectLst/>
              </a:rPr>
              <a:t>), которое отображает признаки в более высокое измерение.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RBF‑ядро (</a:t>
            </a:r>
            <a:r>
              <a:rPr lang="ru-RU" b="0" i="0" dirty="0" err="1">
                <a:effectLst/>
              </a:rPr>
              <a:t>Radial</a:t>
            </a:r>
            <a:r>
              <a:rPr lang="ru-RU" b="0" i="0" dirty="0">
                <a:effectLst/>
              </a:rPr>
              <a:t> </a:t>
            </a:r>
            <a:r>
              <a:rPr lang="ru-RU" b="0" i="0" dirty="0" err="1">
                <a:effectLst/>
              </a:rPr>
              <a:t>Basis</a:t>
            </a:r>
            <a:r>
              <a:rPr lang="ru-RU" b="0" i="0" dirty="0">
                <a:effectLst/>
              </a:rPr>
              <a:t> </a:t>
            </a:r>
            <a:r>
              <a:rPr lang="ru-RU" b="0" i="0" dirty="0" err="1">
                <a:effectLst/>
              </a:rPr>
              <a:t>Function</a:t>
            </a:r>
            <a:r>
              <a:rPr lang="ru-RU" b="0" i="0" dirty="0">
                <a:effectLst/>
              </a:rPr>
              <a:t>) — одно из самых популярных: хорошо работает при сложных, изогнутых границах.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 задачах биомедицины SVM часто даёт хорошее качество «из коробки», но чувствителен к выбору </a:t>
            </a:r>
            <a:r>
              <a:rPr lang="ru-RU" b="0" i="0" dirty="0" err="1">
                <a:effectLst/>
              </a:rPr>
              <a:t>гиперпараметров</a:t>
            </a:r>
            <a:r>
              <a:rPr lang="ru-RU" b="0" i="0" dirty="0">
                <a:effectLst/>
              </a:rPr>
              <a:t>.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8844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Гиперпараметры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SVM (</a:t>
              </a:r>
              <a:r>
                <a:rPr lang="en-US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svmRadial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22" y="1180353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C — штраф за ошибки классификации: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большой C → модель сильнее наказывает ошибки, граница становится «жёсткой», риск переобучения;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маленький C → более гладкая граница, больше ошибок на обучении, лучше обобщение.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σ (</a:t>
            </a:r>
            <a:r>
              <a:rPr lang="ru-RU" i="0" dirty="0" err="1">
                <a:effectLst/>
              </a:rPr>
              <a:t>sigma</a:t>
            </a:r>
            <a:r>
              <a:rPr lang="ru-RU" i="0" dirty="0">
                <a:effectLst/>
              </a:rPr>
              <a:t>) — параметр RBF‑ядра (ширина </a:t>
            </a:r>
            <a:r>
              <a:rPr lang="ru-RU" i="0" dirty="0" err="1">
                <a:effectLst/>
              </a:rPr>
              <a:t>гауссианы</a:t>
            </a:r>
            <a:r>
              <a:rPr lang="ru-RU" i="0" dirty="0">
                <a:effectLst/>
              </a:rPr>
              <a:t>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маленький </a:t>
            </a:r>
            <a:r>
              <a:rPr lang="ru-RU" i="0" dirty="0" err="1">
                <a:effectLst/>
              </a:rPr>
              <a:t>sigma</a:t>
            </a:r>
            <a:r>
              <a:rPr lang="ru-RU" i="0" dirty="0">
                <a:effectLst/>
              </a:rPr>
              <a:t> → высокая гибкость, сложная граница (риск переобучения);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большой </a:t>
            </a:r>
            <a:r>
              <a:rPr lang="ru-RU" i="0" dirty="0" err="1">
                <a:effectLst/>
              </a:rPr>
              <a:t>sigma</a:t>
            </a:r>
            <a:r>
              <a:rPr lang="ru-RU" i="0" dirty="0">
                <a:effectLst/>
              </a:rPr>
              <a:t> → гладкая, почти линейная граница.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Наша сетка: C∈{0.25,1,4}, σ∈{0.01,0.05,0.1}.</a:t>
            </a:r>
            <a:br>
              <a:rPr lang="ru-RU" dirty="0"/>
            </a:br>
            <a:endParaRPr lang="en-US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9927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Grid Search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для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SVM (Pima)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22" y="1180353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Используем </a:t>
            </a:r>
            <a:r>
              <a:rPr lang="en-US" i="0" dirty="0">
                <a:effectLst/>
              </a:rPr>
              <a:t>caret::train() </a:t>
            </a:r>
            <a:r>
              <a:rPr lang="ru-RU" i="0" dirty="0">
                <a:effectLst/>
              </a:rPr>
              <a:t>с </a:t>
            </a:r>
            <a:r>
              <a:rPr lang="en-US" i="0" dirty="0">
                <a:effectLst/>
              </a:rPr>
              <a:t>method = "</a:t>
            </a:r>
            <a:r>
              <a:rPr lang="en-US" i="0" dirty="0" err="1">
                <a:effectLst/>
              </a:rPr>
              <a:t>svmRadial</a:t>
            </a:r>
            <a:r>
              <a:rPr lang="en-US" i="0" dirty="0">
                <a:effectLst/>
              </a:rPr>
              <a:t>".</a:t>
            </a:r>
            <a:endParaRPr lang="ru-RU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pplxSerif"/>
              </a:rPr>
              <a:t>Сетка по двум </a:t>
            </a:r>
            <a:r>
              <a:rPr lang="ru-RU" b="0" i="0" dirty="0" err="1">
                <a:effectLst/>
                <a:latin typeface="pplxSerif"/>
              </a:rPr>
              <a:t>гиперпараметрам</a:t>
            </a:r>
            <a:r>
              <a:rPr lang="ru-RU" b="0" i="0" dirty="0">
                <a:effectLst/>
                <a:latin typeface="pplxSerif"/>
              </a:rPr>
              <a:t>: </a:t>
            </a:r>
          </a:p>
          <a:p>
            <a:pPr marL="457200" lvl="1" indent="0">
              <a:buNone/>
            </a:pPr>
            <a:r>
              <a:rPr lang="sv-SE" b="0" dirty="0">
                <a:latin typeface="Cambria Math" panose="02040503050406030204" pitchFamily="18" charset="0"/>
                <a:ea typeface="Cambria Math" panose="02040503050406030204" pitchFamily="18" charset="0"/>
              </a:rPr>
              <a:t>grid_svm &lt;- expand.grid(</a:t>
            </a:r>
          </a:p>
          <a:p>
            <a:pPr marL="457200" lvl="1" indent="0">
              <a:buNone/>
            </a:pPr>
            <a:r>
              <a:rPr lang="sv-SE" b="0" dirty="0">
                <a:latin typeface="Cambria Math" panose="02040503050406030204" pitchFamily="18" charset="0"/>
                <a:ea typeface="Cambria Math" panose="02040503050406030204" pitchFamily="18" charset="0"/>
              </a:rPr>
              <a:t>  C     = c(0.25, 1, 4),</a:t>
            </a:r>
          </a:p>
          <a:p>
            <a:pPr marL="457200" lvl="1" indent="0">
              <a:buNone/>
            </a:pPr>
            <a:r>
              <a:rPr lang="sv-SE" b="0" dirty="0">
                <a:latin typeface="Cambria Math" panose="02040503050406030204" pitchFamily="18" charset="0"/>
                <a:ea typeface="Cambria Math" panose="02040503050406030204" pitchFamily="18" charset="0"/>
              </a:rPr>
              <a:t>  sigma = c(0.01, 0.05, 0.1)</a:t>
            </a:r>
          </a:p>
          <a:p>
            <a:pPr marL="457200" lvl="1" indent="0">
              <a:buNone/>
            </a:pPr>
            <a:r>
              <a:rPr lang="sv-SE" b="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b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Тот же </a:t>
            </a:r>
            <a:r>
              <a:rPr lang="ru-RU" i="0" dirty="0" err="1">
                <a:effectLst/>
              </a:rPr>
              <a:t>trainControl</a:t>
            </a:r>
            <a:r>
              <a:rPr lang="ru-RU" i="0" dirty="0">
                <a:effectLst/>
              </a:rPr>
              <a:t> (5‑fold CV, метрика ROC), что и для </a:t>
            </a:r>
            <a:r>
              <a:rPr lang="ru-RU" i="0" dirty="0" err="1">
                <a:effectLst/>
              </a:rPr>
              <a:t>Random</a:t>
            </a:r>
            <a:r>
              <a:rPr lang="ru-RU" i="0" dirty="0">
                <a:effectLst/>
              </a:rPr>
              <a:t> </a:t>
            </a:r>
            <a:r>
              <a:rPr lang="ru-RU" i="0" dirty="0" err="1">
                <a:effectLst/>
              </a:rPr>
              <a:t>Forest</a:t>
            </a:r>
            <a:r>
              <a:rPr lang="ru-RU" i="0" dirty="0"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Итог: 9 комбинаций параметров, для каждой считаем средний AUC, выбираем лучшую.</a:t>
            </a:r>
            <a:endParaRPr lang="en-US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2031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RF vs SVM: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сравнение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22" y="1180353"/>
            <a:ext cx="11423283" cy="567764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600" i="0" dirty="0">
                <a:effectLst/>
              </a:rPr>
              <a:t>Для лучшей модели </a:t>
            </a:r>
            <a:r>
              <a:rPr lang="en-US" sz="3600" i="0" dirty="0">
                <a:effectLst/>
              </a:rPr>
              <a:t>SVM (best C, sigma) </a:t>
            </a:r>
            <a:r>
              <a:rPr lang="ru-RU" sz="3600" i="0" dirty="0">
                <a:effectLst/>
              </a:rPr>
              <a:t>считаем на тесте:</a:t>
            </a:r>
          </a:p>
          <a:p>
            <a:pPr lvl="1"/>
            <a:r>
              <a:rPr lang="en-US" sz="3200" i="0" dirty="0">
                <a:effectLst/>
              </a:rPr>
              <a:t>AUC‑ROC;</a:t>
            </a:r>
          </a:p>
          <a:p>
            <a:pPr lvl="1"/>
            <a:r>
              <a:rPr lang="en-US" sz="3200" i="0" dirty="0">
                <a:effectLst/>
              </a:rPr>
              <a:t>F1‑score (</a:t>
            </a:r>
            <a:r>
              <a:rPr lang="ru-RU" sz="3200" i="0" dirty="0">
                <a:effectLst/>
              </a:rPr>
              <a:t>при пороге 0.5).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600" i="0" dirty="0">
                <a:effectLst/>
              </a:rPr>
              <a:t>Сравниваем с лучшим </a:t>
            </a:r>
            <a:r>
              <a:rPr lang="en-US" sz="3600" i="0" dirty="0">
                <a:effectLst/>
              </a:rPr>
              <a:t>Random Forest (best </a:t>
            </a:r>
            <a:r>
              <a:rPr lang="en-US" sz="3600" i="0" dirty="0" err="1">
                <a:effectLst/>
              </a:rPr>
              <a:t>mtry</a:t>
            </a:r>
            <a:r>
              <a:rPr lang="en-US" sz="3600" i="0" dirty="0">
                <a:effectLst/>
              </a:rPr>
              <a:t>): </a:t>
            </a:r>
            <a:r>
              <a:rPr lang="ru-RU" sz="3600" i="0" dirty="0">
                <a:effectLst/>
              </a:rPr>
              <a:t>таблица </a:t>
            </a:r>
            <a:r>
              <a:rPr lang="en-US" sz="3600" i="0" dirty="0">
                <a:effectLst/>
              </a:rPr>
              <a:t>model × AUC × F1</a:t>
            </a:r>
          </a:p>
        </p:txBody>
      </p:sp>
    </p:spTree>
    <p:extLst>
      <p:ext uri="{BB962C8B-B14F-4D97-AF65-F5344CB8AC3E}">
        <p14:creationId xmlns:p14="http://schemas.microsoft.com/office/powerpoint/2010/main" val="946057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Когда и как использовать Grid /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Random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Search в ML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Зачем нужен перебор </a:t>
            </a:r>
            <a:r>
              <a:rPr lang="ru-RU" i="0" dirty="0" err="1">
                <a:effectLst/>
              </a:rPr>
              <a:t>гиперпараметров</a:t>
            </a:r>
            <a:endParaRPr lang="ru-RU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Улучшение качества модели без изменения структуры алгоритма.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Поиск баланса «качество ↔ сложность модели ↔ время обучения».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Когда подходит Grid Search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Небольшое число </a:t>
            </a:r>
            <a:r>
              <a:rPr lang="ru-RU" i="0" dirty="0" err="1">
                <a:effectLst/>
              </a:rPr>
              <a:t>гиперпараметров</a:t>
            </a:r>
            <a:r>
              <a:rPr lang="ru-RU" i="0" dirty="0">
                <a:effectLst/>
              </a:rPr>
              <a:t> и значений (например, </a:t>
            </a:r>
            <a:r>
              <a:rPr lang="ru-RU" i="0" dirty="0" err="1">
                <a:effectLst/>
              </a:rPr>
              <a:t>mtry</a:t>
            </a:r>
            <a:r>
              <a:rPr lang="ru-RU" i="0" dirty="0">
                <a:effectLst/>
              </a:rPr>
              <a:t> ∈ {2,4,6}).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Нужно тщательно исследовать </a:t>
            </a:r>
            <a:r>
              <a:rPr lang="ru-RU" i="1" dirty="0">
                <a:effectLst/>
              </a:rPr>
              <a:t>узкий</a:t>
            </a:r>
            <a:r>
              <a:rPr lang="ru-RU" i="0" dirty="0">
                <a:effectLst/>
              </a:rPr>
              <a:t> диапазон параметров вокруг «разумных» значений.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Подходит для учебных задач и моделей средней сложности.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Когда лучше </a:t>
            </a:r>
            <a:r>
              <a:rPr lang="ru-RU" i="0" dirty="0" err="1">
                <a:effectLst/>
              </a:rPr>
              <a:t>Random</a:t>
            </a:r>
            <a:r>
              <a:rPr lang="ru-RU" i="0" dirty="0">
                <a:effectLst/>
              </a:rPr>
              <a:t> Search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Много </a:t>
            </a:r>
            <a:r>
              <a:rPr lang="ru-RU" i="0" dirty="0" err="1">
                <a:effectLst/>
              </a:rPr>
              <a:t>гиперпараметров</a:t>
            </a:r>
            <a:r>
              <a:rPr lang="ru-RU" i="0" dirty="0">
                <a:effectLst/>
              </a:rPr>
              <a:t> или широкий диапазон значений.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Важна скорость: за то же время можно использовать больше комбинаций.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Практически в больших проектах часто начинают с </a:t>
            </a:r>
            <a:r>
              <a:rPr lang="ru-RU" i="0" dirty="0" err="1">
                <a:effectLst/>
              </a:rPr>
              <a:t>Random</a:t>
            </a:r>
            <a:r>
              <a:rPr lang="ru-RU" i="0" dirty="0">
                <a:effectLst/>
              </a:rPr>
              <a:t> Search, а затем локально </a:t>
            </a:r>
            <a:r>
              <a:rPr lang="ru-RU" i="0" dirty="0" err="1">
                <a:effectLst/>
              </a:rPr>
              <a:t>донастраивают</a:t>
            </a:r>
            <a:r>
              <a:rPr lang="ru-RU" i="0" dirty="0"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Общие рекомендации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Всегда отделяйте </a:t>
            </a:r>
            <a:r>
              <a:rPr lang="ru-RU" i="0" dirty="0" err="1">
                <a:effectLst/>
              </a:rPr>
              <a:t>train</a:t>
            </a:r>
            <a:r>
              <a:rPr lang="ru-RU" i="0" dirty="0">
                <a:effectLst/>
              </a:rPr>
              <a:t>/</a:t>
            </a:r>
            <a:r>
              <a:rPr lang="ru-RU" i="0" dirty="0" err="1">
                <a:effectLst/>
              </a:rPr>
              <a:t>validation</a:t>
            </a:r>
            <a:r>
              <a:rPr lang="ru-RU" i="0" dirty="0">
                <a:effectLst/>
              </a:rPr>
              <a:t> (CV) от </a:t>
            </a:r>
            <a:r>
              <a:rPr lang="ru-RU" i="0" dirty="0" err="1">
                <a:effectLst/>
              </a:rPr>
              <a:t>final</a:t>
            </a:r>
            <a:r>
              <a:rPr lang="ru-RU" i="0" dirty="0">
                <a:effectLst/>
              </a:rPr>
              <a:t> </a:t>
            </a:r>
            <a:r>
              <a:rPr lang="ru-RU" i="0" dirty="0" err="1">
                <a:effectLst/>
              </a:rPr>
              <a:t>test</a:t>
            </a:r>
            <a:r>
              <a:rPr lang="ru-RU" i="0" dirty="0">
                <a:effectLst/>
              </a:rPr>
              <a:t>: тест не должен участвовать в подборе </a:t>
            </a:r>
            <a:r>
              <a:rPr lang="ru-RU" i="0" dirty="0" err="1">
                <a:effectLst/>
              </a:rPr>
              <a:t>гиперпараметров</a:t>
            </a:r>
            <a:r>
              <a:rPr lang="ru-RU" i="0" dirty="0"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Выбирайте метрику, отражающую задачу (для дисбаланса — F1 или AUC‑PR, а не только </a:t>
            </a:r>
            <a:r>
              <a:rPr lang="ru-RU" i="0" dirty="0" err="1">
                <a:effectLst/>
              </a:rPr>
              <a:t>Accuracy</a:t>
            </a:r>
            <a:r>
              <a:rPr lang="ru-RU" i="0" dirty="0">
                <a:effectLst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i="0" dirty="0">
                <a:effectLst/>
              </a:rPr>
              <a:t>Начинайте с грубой настройки (широкий диапазон, мало итераций), затем при необходимости делайте более «тонкий» поиск в окрестности лучших значений.</a:t>
            </a:r>
          </a:p>
        </p:txBody>
      </p:sp>
    </p:spTree>
    <p:extLst>
      <p:ext uri="{BB962C8B-B14F-4D97-AF65-F5344CB8AC3E}">
        <p14:creationId xmlns:p14="http://schemas.microsoft.com/office/powerpoint/2010/main" val="3082961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1923</Words>
  <Application>Microsoft Office PowerPoint</Application>
  <PresentationFormat>Широкоэкранный</PresentationFormat>
  <Paragraphs>342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pplxSerif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68</cp:revision>
  <dcterms:created xsi:type="dcterms:W3CDTF">2025-09-03T07:14:40Z</dcterms:created>
  <dcterms:modified xsi:type="dcterms:W3CDTF">2026-03-12T16:57:46Z</dcterms:modified>
</cp:coreProperties>
</file>