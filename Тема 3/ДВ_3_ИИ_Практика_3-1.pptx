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70" r:id="rId6"/>
    <p:sldId id="286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276" r:id="rId16"/>
    <p:sldId id="266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Средний стиль 3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Средний стиль 3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9370D-F2D9-4CCE-A730-8C5295B5F53C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35BED-E67C-4CE8-A9D1-79A059B95A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89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95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441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30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50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424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870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538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8743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895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463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79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738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820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322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24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3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02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678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3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043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184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84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10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8A2A-B373-4BED-99C6-55213C852137}" type="datetimeFigureOut">
              <a:rPr lang="ru-RU" smtClean="0"/>
              <a:t>19.03.2026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C5F04-6404-49A4-B263-990F845D4C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86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RamiliaV/DV3_AI_repositor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k.yandex.ru/d/rpHqlK2ajxZrUw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0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98;p2">
            <a:extLst>
              <a:ext uri="{FF2B5EF4-FFF2-40B4-BE49-F238E27FC236}">
                <a16:creationId xmlns:a16="http://schemas.microsoft.com/office/drawing/2014/main" id="{0F188103-7B17-734F-BE68-5A893025A082}"/>
              </a:ext>
            </a:extLst>
          </p:cNvPr>
          <p:cNvSpPr txBox="1"/>
          <p:nvPr/>
        </p:nvSpPr>
        <p:spPr>
          <a:xfrm>
            <a:off x="2482607" y="1725043"/>
            <a:ext cx="7997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Курс ДПП ПП</a:t>
            </a: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Основы биоинформатики и компьютерной биологии</a:t>
            </a:r>
          </a:p>
          <a:p>
            <a:pPr lvl="0" algn="ctr"/>
            <a:endParaRPr lang="ru-RU" sz="2800" b="1" dirty="0">
              <a:solidFill>
                <a:schemeClr val="bg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lvl="0" algn="ctr"/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Алгоритмы искусственного интеллекта в биологии и медицине</a:t>
            </a:r>
          </a:p>
          <a:p>
            <a:pPr lvl="0" algn="ctr"/>
            <a:b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lang="ru-RU" sz="2800" b="1" dirty="0">
                <a:solidFill>
                  <a:schemeClr val="bg1"/>
                </a:solidFill>
                <a:latin typeface="PT Sans"/>
                <a:ea typeface="PT Sans"/>
                <a:cs typeface="PT Sans"/>
                <a:sym typeface="PT Sans"/>
              </a:rPr>
              <a:t>Практическое занятие 1. Построение и интерпретация моделей выживаемости в медицине</a:t>
            </a:r>
          </a:p>
        </p:txBody>
      </p:sp>
    </p:spTree>
    <p:extLst>
      <p:ext uri="{BB962C8B-B14F-4D97-AF65-F5344CB8AC3E}">
        <p14:creationId xmlns:p14="http://schemas.microsoft.com/office/powerpoint/2010/main" val="2231862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8A76A24-00EA-EE42-8A4F-846D0D0A92B0}"/>
              </a:ext>
            </a:extLst>
          </p:cNvPr>
          <p:cNvGrpSpPr/>
          <p:nvPr/>
        </p:nvGrpSpPr>
        <p:grpSpPr>
          <a:xfrm>
            <a:off x="-50" y="0"/>
            <a:ext cx="827700" cy="6858000"/>
            <a:chOff x="-50" y="0"/>
            <a:chExt cx="827700" cy="5143500"/>
          </a:xfrm>
        </p:grpSpPr>
        <p:sp>
          <p:nvSpPr>
            <p:cNvPr id="25" name="Google Shape;106;p3">
              <a:extLst>
                <a:ext uri="{FF2B5EF4-FFF2-40B4-BE49-F238E27FC236}">
                  <a16:creationId xmlns:a16="http://schemas.microsoft.com/office/drawing/2014/main" id="{1212ABD6-BB78-564D-90F4-45A9BF52F65A}"/>
                </a:ext>
              </a:extLst>
            </p:cNvPr>
            <p:cNvSpPr/>
            <p:nvPr/>
          </p:nvSpPr>
          <p:spPr>
            <a:xfrm>
              <a:off x="-50" y="0"/>
              <a:ext cx="827700" cy="5143500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107;p3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C968D678-6F52-2F45-8BE7-5E2313AF23D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87534"/>
              <a:ext cx="553050" cy="4327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109;p3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1F22E8DB-9008-9D4B-9E64-C397CC33A9D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7087" y="4422472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10;p3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5E9D660B-F40F-CB41-B4B6-62BD62C97A4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7779" y="3741120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11;p3">
              <a:extLst>
                <a:ext uri="{FF2B5EF4-FFF2-40B4-BE49-F238E27FC236}">
                  <a16:creationId xmlns:a16="http://schemas.microsoft.com/office/drawing/2014/main" id="{23A12878-4A5D-E648-A640-94DEA9532F72}"/>
                </a:ext>
              </a:extLst>
            </p:cNvPr>
            <p:cNvSpPr txBox="1"/>
            <p:nvPr/>
          </p:nvSpPr>
          <p:spPr>
            <a:xfrm>
              <a:off x="84051" y="4728776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34" name="Google Shape;112;p3">
              <a:extLst>
                <a:ext uri="{FF2B5EF4-FFF2-40B4-BE49-F238E27FC236}">
                  <a16:creationId xmlns:a16="http://schemas.microsoft.com/office/drawing/2014/main" id="{0525B736-A5F9-A04E-92B8-E50E60AAE2C0}"/>
                </a:ext>
              </a:extLst>
            </p:cNvPr>
            <p:cNvSpPr txBox="1"/>
            <p:nvPr/>
          </p:nvSpPr>
          <p:spPr>
            <a:xfrm>
              <a:off x="84051" y="4083918"/>
              <a:ext cx="659482" cy="253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37" name="Google Shape;108;p3">
            <a:extLst>
              <a:ext uri="{FF2B5EF4-FFF2-40B4-BE49-F238E27FC236}">
                <a16:creationId xmlns:a16="http://schemas.microsoft.com/office/drawing/2014/main" id="{5493CD04-205D-294C-BD53-0914C34565C1}"/>
              </a:ext>
            </a:extLst>
          </p:cNvPr>
          <p:cNvSpPr txBox="1"/>
          <p:nvPr/>
        </p:nvSpPr>
        <p:spPr>
          <a:xfrm>
            <a:off x="964967" y="220551"/>
            <a:ext cx="734481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0549F"/>
                </a:solidFill>
                <a:latin typeface="PT Sans"/>
                <a:ea typeface="PT Sans"/>
                <a:cs typeface="PT Sans"/>
                <a:sym typeface="PT Sans"/>
              </a:rPr>
              <a:t>Введение</a:t>
            </a:r>
            <a:endParaRPr lang="en-US" dirty="0">
              <a:solidFill>
                <a:srgbClr val="00549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2" name="Объект 2"/>
          <p:cNvSpPr>
            <a:spLocks noGrp="1"/>
          </p:cNvSpPr>
          <p:nvPr>
            <p:ph idx="1"/>
          </p:nvPr>
        </p:nvSpPr>
        <p:spPr>
          <a:xfrm>
            <a:off x="1043608" y="926349"/>
            <a:ext cx="10562698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Цели:</a:t>
            </a:r>
          </a:p>
          <a:p>
            <a:pPr algn="just"/>
            <a:r>
              <a:rPr lang="ru-RU" sz="2400" dirty="0"/>
              <a:t>Освоить основные понятия анализа выживаемости: функция выживаемости S(t), цензурирование, время до события</a:t>
            </a:r>
          </a:p>
          <a:p>
            <a:pPr algn="just"/>
            <a:r>
              <a:rPr lang="ru-RU" sz="2400" dirty="0"/>
              <a:t>Построить объект </a:t>
            </a:r>
            <a:r>
              <a:rPr lang="ru-RU" sz="2400" dirty="0" err="1"/>
              <a:t>Surv</a:t>
            </a:r>
            <a:r>
              <a:rPr lang="ru-RU" sz="2400" dirty="0"/>
              <a:t> и KM-кривые по стадиям (I-IV) для когорты TCGA-</a:t>
            </a:r>
            <a:r>
              <a:rPr lang="en-US" sz="2400" dirty="0"/>
              <a:t>LUAD</a:t>
            </a:r>
            <a:endParaRPr lang="ru-RU" sz="2400" dirty="0"/>
          </a:p>
          <a:p>
            <a:pPr algn="just"/>
            <a:r>
              <a:rPr lang="ru-RU" sz="2400" dirty="0"/>
              <a:t>Оценить медианы выживаемости и доверительные интервалы</a:t>
            </a:r>
          </a:p>
          <a:p>
            <a:pPr algn="just"/>
            <a:r>
              <a:rPr lang="ru-RU" sz="2400" dirty="0"/>
              <a:t>Провести </a:t>
            </a:r>
            <a:r>
              <a:rPr lang="ru-RU" sz="2400" dirty="0" err="1"/>
              <a:t>log-rank</a:t>
            </a:r>
            <a:r>
              <a:rPr lang="ru-RU" sz="2400" dirty="0"/>
              <a:t> тест и интерпретировать статистическую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282407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 err="1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Датасет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TCGA-LUAD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algn="just"/>
            <a:r>
              <a:rPr lang="ru-RU" sz="2400" dirty="0"/>
              <a:t>Источник: </a:t>
            </a:r>
            <a:r>
              <a:rPr lang="en-US" sz="2400" dirty="0"/>
              <a:t>The Cancer Genome Atlas (TCGA), </a:t>
            </a:r>
            <a:r>
              <a:rPr lang="ru-RU" sz="2400" dirty="0"/>
              <a:t>когорта </a:t>
            </a:r>
            <a:r>
              <a:rPr lang="en-US" sz="2400" dirty="0"/>
              <a:t>Lung Adenocarcinoma</a:t>
            </a:r>
          </a:p>
          <a:p>
            <a:pPr algn="just"/>
            <a:r>
              <a:rPr lang="ru-RU" sz="2400" dirty="0"/>
              <a:t>~500 пациентов с аденокарциномой лёгкого</a:t>
            </a:r>
            <a:endParaRPr lang="en-US" sz="2400" dirty="0"/>
          </a:p>
          <a:p>
            <a:pPr algn="just"/>
            <a:r>
              <a:rPr lang="ru-RU" sz="2400" dirty="0"/>
              <a:t>Клинические данные: дни до смерти/последнего визита, </a:t>
            </a:r>
            <a:r>
              <a:rPr lang="en-US" sz="2400" dirty="0"/>
              <a:t>vital status, pathologic stage</a:t>
            </a:r>
          </a:p>
          <a:p>
            <a:pPr algn="just"/>
            <a:r>
              <a:rPr lang="ru-RU" sz="2400" dirty="0"/>
              <a:t>Доступ через </a:t>
            </a:r>
            <a:r>
              <a:rPr lang="en-US" sz="2400" dirty="0"/>
              <a:t>R: </a:t>
            </a:r>
            <a:r>
              <a:rPr lang="ru-RU" sz="2400" dirty="0"/>
              <a:t>пакеты </a:t>
            </a:r>
            <a:r>
              <a:rPr lang="en-US" sz="2400" dirty="0"/>
              <a:t>RTCGA + </a:t>
            </a:r>
            <a:r>
              <a:rPr lang="en-US" sz="2400" dirty="0" err="1"/>
              <a:t>RTCGA.clinical</a:t>
            </a:r>
            <a:endParaRPr lang="en-US" sz="2400" dirty="0"/>
          </a:p>
          <a:p>
            <a:pPr algn="just"/>
            <a:endParaRPr lang="en-US" sz="2400" dirty="0"/>
          </a:p>
          <a:p>
            <a:pPr marL="0" indent="0" algn="just">
              <a:buNone/>
            </a:pPr>
            <a:r>
              <a:rPr lang="ru-RU" sz="2400" dirty="0"/>
              <a:t>Ключевые переменные:</a:t>
            </a:r>
          </a:p>
          <a:p>
            <a:pPr algn="just"/>
            <a:r>
              <a:rPr lang="en-US" sz="2400" dirty="0" err="1"/>
              <a:t>patient.days_to_death</a:t>
            </a:r>
            <a:endParaRPr lang="en-US" sz="2400" dirty="0"/>
          </a:p>
          <a:p>
            <a:pPr algn="just"/>
            <a:r>
              <a:rPr lang="en-US" sz="2400" dirty="0" err="1"/>
              <a:t>patient.days_to_last_followup</a:t>
            </a:r>
            <a:endParaRPr lang="en-US" sz="2400" dirty="0"/>
          </a:p>
          <a:p>
            <a:pPr algn="just"/>
            <a:r>
              <a:rPr lang="en-US" sz="2400" dirty="0" err="1"/>
              <a:t>patient.vital_status</a:t>
            </a:r>
            <a:endParaRPr lang="en-US" sz="2400" dirty="0"/>
          </a:p>
          <a:p>
            <a:pPr algn="just"/>
            <a:r>
              <a:rPr lang="en-US" sz="2400" dirty="0" err="1"/>
              <a:t>patient.stage_event.pathologic_stage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14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Ссылка на скрипт / ноутбук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скрипт 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R: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6"/>
              </a:rPr>
              <a:t>https://disk.yandex.ru/d/rpHqlK2ajxZrUw</a:t>
            </a: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r>
              <a:rPr lang="ru-RU" sz="2400" dirty="0">
                <a:latin typeface="+mj-lt"/>
                <a:ea typeface="Cambria Math" panose="02040503050406030204" pitchFamily="18" charset="0"/>
              </a:rPr>
              <a:t>Ссылка на </a:t>
            </a:r>
            <a:r>
              <a:rPr lang="en-US" sz="2400" dirty="0" err="1">
                <a:latin typeface="+mj-lt"/>
                <a:ea typeface="Cambria Math" panose="02040503050406030204" pitchFamily="18" charset="0"/>
              </a:rPr>
              <a:t>github</a:t>
            </a:r>
            <a:r>
              <a:rPr lang="en-US" sz="2400" dirty="0">
                <a:latin typeface="+mj-lt"/>
                <a:ea typeface="Cambria Math" panose="02040503050406030204" pitchFamily="18" charset="0"/>
              </a:rPr>
              <a:t> (</a:t>
            </a:r>
            <a:r>
              <a:rPr lang="ru-RU" sz="2400" dirty="0">
                <a:latin typeface="+mj-lt"/>
                <a:ea typeface="Cambria Math" panose="02040503050406030204" pitchFamily="18" charset="0"/>
              </a:rPr>
              <a:t>все материалы по ДВ3):</a:t>
            </a:r>
          </a:p>
          <a:p>
            <a:pPr marL="0" indent="0" algn="just">
              <a:buNone/>
            </a:pPr>
            <a:r>
              <a:rPr lang="en-US" sz="2400" dirty="0">
                <a:latin typeface="+mj-lt"/>
                <a:ea typeface="Cambria Math" panose="02040503050406030204" pitchFamily="18" charset="0"/>
                <a:hlinkClick r:id="rId7"/>
              </a:rPr>
              <a:t>https://github.com/RamiliaV/DV3_AI_repository</a:t>
            </a:r>
            <a:endParaRPr lang="en-US" sz="2400" dirty="0">
              <a:latin typeface="+mj-lt"/>
              <a:ea typeface="Cambria Math" panose="02040503050406030204" pitchFamily="18" charset="0"/>
            </a:endParaRPr>
          </a:p>
          <a:p>
            <a:pPr marL="0" indent="0" algn="just">
              <a:buNone/>
            </a:pPr>
            <a:endParaRPr lang="ru-RU" sz="2400" dirty="0">
              <a:latin typeface="+mj-lt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59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Функция выживаемости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S(t)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S(t) = вероятность выжить до момента t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S(0) = 1.0 (все живы в начале)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S(t) монотонно убывает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Медиана выживаемости: время t, при котором S(t) = 0.50</a:t>
            </a:r>
          </a:p>
          <a:p>
            <a:pPr marL="0" indent="0" algn="l">
              <a:buNone/>
            </a:pPr>
            <a:endParaRPr lang="ru-RU" sz="2000" dirty="0"/>
          </a:p>
          <a:p>
            <a:pPr marL="0" indent="0" algn="l">
              <a:buNone/>
            </a:pPr>
            <a:r>
              <a:rPr lang="ru-RU" sz="2000" b="1" dirty="0">
                <a:effectLst/>
                <a:latin typeface="PT Sans"/>
              </a:rPr>
              <a:t>Свойства: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S(0) = 1.0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S(∞) = 0</a:t>
            </a:r>
          </a:p>
          <a:p>
            <a:pPr marL="457200" indent="-228600" algn="l">
              <a:buChar char="•"/>
            </a:pPr>
            <a:r>
              <a:rPr lang="ru-RU" sz="2000" dirty="0">
                <a:effectLst/>
                <a:latin typeface="PT Sans"/>
              </a:rPr>
              <a:t>S(t) — невозрастающая ступенчатая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8783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6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Цензурирование 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 numCol="1">
            <a:normAutofit/>
          </a:bodyPr>
          <a:lstStyle/>
          <a:p>
            <a:pPr marL="0" indent="0" algn="l">
              <a:buNone/>
            </a:pPr>
            <a:r>
              <a:rPr lang="ru-RU" sz="2000" b="0" i="0" dirty="0">
                <a:effectLst/>
              </a:rPr>
              <a:t>Правое цензурирование: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effectLst/>
              </a:rPr>
              <a:t>Пациент жив на момент окончания наблюдения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000" b="0" i="0" dirty="0">
              <a:effectLst/>
            </a:endParaRPr>
          </a:p>
          <a:p>
            <a:pPr marL="0" indent="0" algn="l">
              <a:buNone/>
            </a:pPr>
            <a:r>
              <a:rPr lang="ru-RU" sz="2000" b="0" i="0" dirty="0">
                <a:effectLst/>
              </a:rPr>
              <a:t>В </a:t>
            </a:r>
            <a:r>
              <a:rPr lang="en-US" sz="2000" b="0" i="0" dirty="0">
                <a:effectLst/>
              </a:rPr>
              <a:t>TCGA-LUAD: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status = 1 (dead), status = 0 (alive / lost to follow-up)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time = </a:t>
            </a:r>
            <a:r>
              <a:rPr lang="en-US" sz="2000" b="0" i="0" dirty="0" err="1">
                <a:effectLst/>
              </a:rPr>
              <a:t>days_to_death</a:t>
            </a:r>
            <a:r>
              <a:rPr lang="en-US" sz="2000" b="0" i="0" dirty="0">
                <a:effectLst/>
              </a:rPr>
              <a:t> (</a:t>
            </a:r>
            <a:r>
              <a:rPr lang="ru-RU" sz="2000" b="0" i="0" dirty="0">
                <a:effectLst/>
              </a:rPr>
              <a:t>если умер) или </a:t>
            </a:r>
            <a:r>
              <a:rPr lang="en-US" sz="2000" b="0" i="0" dirty="0" err="1">
                <a:effectLst/>
              </a:rPr>
              <a:t>days_to_last_followup</a:t>
            </a:r>
            <a:r>
              <a:rPr lang="en-US" sz="2000" b="0" i="0" dirty="0">
                <a:effectLst/>
              </a:rPr>
              <a:t> (</a:t>
            </a:r>
            <a:r>
              <a:rPr lang="ru-RU" sz="2000" b="0" i="0" dirty="0">
                <a:effectLst/>
              </a:rPr>
              <a:t>если жив)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000" b="0" i="0" dirty="0">
              <a:effectLst/>
            </a:endParaRPr>
          </a:p>
          <a:p>
            <a:pPr marL="0" indent="0" algn="l">
              <a:buNone/>
            </a:pPr>
            <a:r>
              <a:rPr lang="ru-RU" sz="2000" b="0" i="0" dirty="0">
                <a:effectLst/>
              </a:rPr>
              <a:t>⚠ Цензурированные наблюдения НЕЛЬЗЯ просто выбросить!</a:t>
            </a:r>
          </a:p>
        </p:txBody>
      </p:sp>
    </p:spTree>
    <p:extLst>
      <p:ext uri="{BB962C8B-B14F-4D97-AF65-F5344CB8AC3E}">
        <p14:creationId xmlns:p14="http://schemas.microsoft.com/office/powerpoint/2010/main" val="3747039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7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Препроцессинг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TCGA-LUAD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Формируем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и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status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df %&gt;% mutate(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time = coalesce(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patient.days_to_death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as.numeric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patient.days_to_last_followup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)),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status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ifelse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tolower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patient.vital_status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== "dead",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  1, 0))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Упрощение стадий: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stage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-&gt; I;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iia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iib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-&gt; II; ...</a:t>
            </a:r>
          </a:p>
          <a:p>
            <a:pPr marL="0" indent="0" algn="l">
              <a:buNone/>
            </a:pPr>
            <a:endParaRPr lang="en-US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Перевод в годы: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#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time_years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time / 365.25</a:t>
            </a:r>
          </a:p>
        </p:txBody>
      </p:sp>
    </p:spTree>
    <p:extLst>
      <p:ext uri="{BB962C8B-B14F-4D97-AF65-F5344CB8AC3E}">
        <p14:creationId xmlns:p14="http://schemas.microsoft.com/office/powerpoint/2010/main" val="54836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8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Объект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Surv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в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R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>
                <a:effectLst/>
                <a:ea typeface="Cambria Math" panose="02040503050406030204" pitchFamily="18" charset="0"/>
              </a:rPr>
              <a:t>Surv(time, event) — </a:t>
            </a:r>
            <a:r>
              <a:rPr lang="ru-RU" dirty="0">
                <a:effectLst/>
                <a:ea typeface="Cambria Math" panose="02040503050406030204" pitchFamily="18" charset="0"/>
              </a:rPr>
              <a:t>базовый объект пакета </a:t>
            </a:r>
            <a:r>
              <a:rPr lang="en-US" dirty="0">
                <a:effectLst/>
                <a:ea typeface="Cambria Math" panose="02040503050406030204" pitchFamily="18" charset="0"/>
              </a:rPr>
              <a:t>survival</a:t>
            </a:r>
          </a:p>
          <a:p>
            <a:pPr marL="0" indent="0" algn="l">
              <a:buNone/>
            </a:pPr>
            <a:r>
              <a:rPr lang="en-US" dirty="0">
                <a:effectLst/>
                <a:ea typeface="Cambria Math" panose="02040503050406030204" pitchFamily="18" charset="0"/>
              </a:rPr>
              <a:t>time = </a:t>
            </a:r>
            <a:r>
              <a:rPr lang="ru-RU" dirty="0">
                <a:effectLst/>
                <a:ea typeface="Cambria Math" panose="02040503050406030204" pitchFamily="18" charset="0"/>
              </a:rPr>
              <a:t>время до события или цензуры</a:t>
            </a:r>
          </a:p>
          <a:p>
            <a:pPr marL="0" indent="0" algn="l">
              <a:buNone/>
            </a:pPr>
            <a:r>
              <a:rPr lang="en-US" dirty="0">
                <a:effectLst/>
                <a:ea typeface="Cambria Math" panose="02040503050406030204" pitchFamily="18" charset="0"/>
              </a:rPr>
              <a:t>event = 1 (</a:t>
            </a:r>
            <a:r>
              <a:rPr lang="ru-RU" dirty="0">
                <a:effectLst/>
                <a:ea typeface="Cambria Math" panose="02040503050406030204" pitchFamily="18" charset="0"/>
              </a:rPr>
              <a:t>событие) или 0 (цензура)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В выводе: число+ означает цензуру (напр. 5.2+)</a:t>
            </a:r>
          </a:p>
          <a:p>
            <a:pPr marL="0" indent="0" algn="l">
              <a:buNone/>
            </a:pPr>
            <a:endParaRPr lang="ru-RU" i="1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surv_obj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Surv(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time 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df_surv$time_years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event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df_surv$status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553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9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Kaplan-Meier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оценка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Непараметрическая оценка функции выживаемости</a:t>
            </a:r>
          </a:p>
          <a:p>
            <a:pPr marL="0" indent="0" algn="l">
              <a:buNone/>
            </a:pPr>
            <a:endParaRPr lang="ru-RU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Формула:</a:t>
            </a:r>
          </a:p>
          <a:p>
            <a:pPr marL="0" indent="0" algn="l">
              <a:buNone/>
            </a:pPr>
            <a:r>
              <a:rPr lang="ru-RU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S(t) = S(t-1) × (1 - dt / </a:t>
            </a:r>
            <a:r>
              <a:rPr lang="en-US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nt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 algn="l">
              <a:buNone/>
            </a:pPr>
            <a:endParaRPr lang="en-US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dirty="0">
                <a:effectLst/>
                <a:ea typeface="Cambria Math" panose="02040503050406030204" pitchFamily="18" charset="0"/>
              </a:rPr>
              <a:t>dt = </a:t>
            </a:r>
            <a:r>
              <a:rPr lang="ru-RU" dirty="0">
                <a:effectLst/>
                <a:ea typeface="Cambria Math" panose="02040503050406030204" pitchFamily="18" charset="0"/>
              </a:rPr>
              <a:t>число событий в момент </a:t>
            </a:r>
            <a:r>
              <a:rPr lang="en-US" dirty="0">
                <a:effectLst/>
                <a:ea typeface="Cambria Math" panose="02040503050406030204" pitchFamily="18" charset="0"/>
              </a:rPr>
              <a:t>t</a:t>
            </a:r>
          </a:p>
          <a:p>
            <a:pPr marL="0" indent="0" algn="l">
              <a:buNone/>
            </a:pPr>
            <a:r>
              <a:rPr lang="en-US" dirty="0" err="1">
                <a:effectLst/>
                <a:ea typeface="Cambria Math" panose="02040503050406030204" pitchFamily="18" charset="0"/>
              </a:rPr>
              <a:t>nt</a:t>
            </a:r>
            <a:r>
              <a:rPr lang="en-US" dirty="0">
                <a:effectLst/>
                <a:ea typeface="Cambria Math" panose="02040503050406030204" pitchFamily="18" charset="0"/>
              </a:rPr>
              <a:t> = </a:t>
            </a:r>
            <a:r>
              <a:rPr lang="ru-RU" dirty="0">
                <a:effectLst/>
                <a:ea typeface="Cambria Math" panose="02040503050406030204" pitchFamily="18" charset="0"/>
              </a:rPr>
              <a:t>число пациентов "под риском" в момент </a:t>
            </a:r>
            <a:r>
              <a:rPr lang="en-US" dirty="0">
                <a:effectLst/>
                <a:ea typeface="Cambria Math" panose="02040503050406030204" pitchFamily="18" charset="0"/>
              </a:rPr>
              <a:t>t</a:t>
            </a:r>
          </a:p>
          <a:p>
            <a:pPr marL="0" indent="0" algn="l">
              <a:buNone/>
            </a:pPr>
            <a:endParaRPr lang="en-US" dirty="0">
              <a:effectLst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km_fit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survfit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surv_obj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 ~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stage_simple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, data =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932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10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KM-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кривые по стадиям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TCGA-LUAD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Код для построения графика:</a:t>
            </a:r>
          </a:p>
          <a:p>
            <a:pPr marL="0" indent="0" algn="l">
              <a:buNone/>
            </a:pPr>
            <a:endParaRPr lang="ru-RU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ggsurvplot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km_fit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data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pval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TRUE, conf.int = TRUE,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risk.table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TRUE,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xlab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Время (годы)",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ylab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</a:t>
            </a: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Вероятность выживания",</a:t>
            </a:r>
          </a:p>
          <a:p>
            <a:pPr marL="0" indent="0" algn="l">
              <a:buNone/>
            </a:pPr>
            <a:r>
              <a:rPr lang="ru-RU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legend.labs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c("I","II","III","IV"))</a:t>
            </a:r>
          </a:p>
          <a:p>
            <a:pPr marL="0" indent="0" algn="l">
              <a:buNone/>
            </a:pPr>
            <a:endParaRPr lang="en-US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Описание: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4 кривые для стадий </a:t>
            </a:r>
            <a:r>
              <a:rPr lang="en-US" dirty="0">
                <a:effectLst/>
                <a:ea typeface="Cambria Math" panose="02040503050406030204" pitchFamily="18" charset="0"/>
              </a:rPr>
              <a:t>I-IV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Стадия </a:t>
            </a:r>
            <a:r>
              <a:rPr lang="en-US" dirty="0">
                <a:effectLst/>
                <a:ea typeface="Cambria Math" panose="02040503050406030204" pitchFamily="18" charset="0"/>
              </a:rPr>
              <a:t>I — </a:t>
            </a:r>
            <a:r>
              <a:rPr lang="ru-RU" dirty="0">
                <a:effectLst/>
                <a:ea typeface="Cambria Math" panose="02040503050406030204" pitchFamily="18" charset="0"/>
              </a:rPr>
              <a:t>наилучший прогноз, </a:t>
            </a:r>
            <a:r>
              <a:rPr lang="en-US" dirty="0">
                <a:effectLst/>
                <a:ea typeface="Cambria Math" panose="02040503050406030204" pitchFamily="18" charset="0"/>
              </a:rPr>
              <a:t>IV — </a:t>
            </a:r>
            <a:r>
              <a:rPr lang="ru-RU" dirty="0">
                <a:effectLst/>
                <a:ea typeface="Cambria Math" panose="02040503050406030204" pitchFamily="18" charset="0"/>
              </a:rPr>
              <a:t>наихудший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Доверительные интервалы показывают неопределённость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Таблица </a:t>
            </a:r>
            <a:r>
              <a:rPr lang="en-US" dirty="0">
                <a:effectLst/>
                <a:ea typeface="Cambria Math" panose="02040503050406030204" pitchFamily="18" charset="0"/>
              </a:rPr>
              <a:t>risk table </a:t>
            </a:r>
            <a:r>
              <a:rPr lang="ru-RU" dirty="0">
                <a:effectLst/>
                <a:ea typeface="Cambria Math" panose="02040503050406030204" pitchFamily="18" charset="0"/>
              </a:rPr>
              <a:t>под графиком</a:t>
            </a:r>
          </a:p>
        </p:txBody>
      </p:sp>
    </p:spTree>
    <p:extLst>
      <p:ext uri="{BB962C8B-B14F-4D97-AF65-F5344CB8AC3E}">
        <p14:creationId xmlns:p14="http://schemas.microsoft.com/office/powerpoint/2010/main" val="180156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11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Медианы выживаемости по стадиям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Медиана = время, при котором </a:t>
            </a:r>
            <a:r>
              <a:rPr lang="en-US" dirty="0">
                <a:effectLst/>
                <a:ea typeface="Cambria Math" panose="02040503050406030204" pitchFamily="18" charset="0"/>
              </a:rPr>
              <a:t>S(t) = 0.50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Для ранних стадий медиана может быть </a:t>
            </a:r>
            <a:r>
              <a:rPr lang="en-US" dirty="0">
                <a:effectLst/>
                <a:ea typeface="Cambria Math" panose="02040503050406030204" pitchFamily="18" charset="0"/>
              </a:rPr>
              <a:t>NA (&gt;50% </a:t>
            </a:r>
            <a:r>
              <a:rPr lang="ru-RU" dirty="0">
                <a:effectLst/>
                <a:ea typeface="Cambria Math" panose="02040503050406030204" pitchFamily="18" charset="0"/>
              </a:rPr>
              <a:t>живы)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Клиническая интерпретация: медиана = "типичное" время жизни</a:t>
            </a:r>
          </a:p>
          <a:p>
            <a:pPr marL="0" indent="0" algn="l">
              <a:buNone/>
            </a:pPr>
            <a:endParaRPr lang="ru-RU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Код: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surv_median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km_fit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69599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12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Log-rank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тест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Сравнение двух (или более) кривых выживаемости</a:t>
            </a:r>
          </a:p>
          <a:p>
            <a:pPr marL="0" indent="0" algn="l">
              <a:buNone/>
            </a:pPr>
            <a:endParaRPr lang="ru-RU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Гипотезы:</a:t>
            </a:r>
          </a:p>
          <a:p>
            <a:r>
              <a:rPr lang="en-US" dirty="0">
                <a:effectLst/>
                <a:ea typeface="Cambria Math" panose="02040503050406030204" pitchFamily="18" charset="0"/>
              </a:rPr>
              <a:t>H0: </a:t>
            </a:r>
            <a:r>
              <a:rPr lang="ru-RU" dirty="0">
                <a:effectLst/>
                <a:ea typeface="Cambria Math" panose="02040503050406030204" pitchFamily="18" charset="0"/>
              </a:rPr>
              <a:t>кривые НЕ различаются</a:t>
            </a:r>
          </a:p>
          <a:p>
            <a:r>
              <a:rPr lang="en-US" dirty="0">
                <a:effectLst/>
                <a:ea typeface="Cambria Math" panose="02040503050406030204" pitchFamily="18" charset="0"/>
              </a:rPr>
              <a:t>H1: </a:t>
            </a:r>
            <a:r>
              <a:rPr lang="ru-RU" dirty="0">
                <a:effectLst/>
                <a:ea typeface="Cambria Math" panose="02040503050406030204" pitchFamily="18" charset="0"/>
              </a:rPr>
              <a:t>кривые различаются</a:t>
            </a:r>
          </a:p>
          <a:p>
            <a:pPr marL="0" indent="0" algn="l">
              <a:buNone/>
            </a:pPr>
            <a:endParaRPr lang="ru-RU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en-US" dirty="0">
                <a:effectLst/>
                <a:ea typeface="Cambria Math" panose="02040503050406030204" pitchFamily="18" charset="0"/>
              </a:rPr>
              <a:t>Chi-square </a:t>
            </a:r>
            <a:r>
              <a:rPr lang="ru-RU" dirty="0">
                <a:effectLst/>
                <a:ea typeface="Cambria Math" panose="02040503050406030204" pitchFamily="18" charset="0"/>
              </a:rPr>
              <a:t>статистика + </a:t>
            </a:r>
            <a:r>
              <a:rPr lang="en-US" dirty="0">
                <a:effectLst/>
                <a:ea typeface="Cambria Math" panose="02040503050406030204" pitchFamily="18" charset="0"/>
              </a:rPr>
              <a:t>p-value</a:t>
            </a:r>
          </a:p>
          <a:p>
            <a:pPr marL="0" indent="0" algn="l">
              <a:buNone/>
            </a:pPr>
            <a:r>
              <a:rPr lang="en-US" dirty="0">
                <a:effectLst/>
                <a:ea typeface="Cambria Math" panose="02040503050406030204" pitchFamily="18" charset="0"/>
              </a:rPr>
              <a:t>p &lt; 0.05 — </a:t>
            </a:r>
            <a:r>
              <a:rPr lang="ru-RU" dirty="0">
                <a:effectLst/>
                <a:ea typeface="Cambria Math" panose="02040503050406030204" pitchFamily="18" charset="0"/>
              </a:rPr>
              <a:t>значимые различия между группами</a:t>
            </a:r>
          </a:p>
          <a:p>
            <a:pPr marL="0" indent="0" algn="l">
              <a:buNone/>
            </a:pPr>
            <a:endParaRPr lang="ru-RU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Код: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logrank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&lt;-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survdiff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surv_obj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~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stage_simple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data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1548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13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Попарные </a:t>
              </a:r>
              <a:r>
                <a:rPr lang="en-US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log-rank </a:t>
              </a:r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тесты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 err="1">
                <a:effectLst/>
                <a:ea typeface="Cambria Math" panose="02040503050406030204" pitchFamily="18" charset="0"/>
              </a:rPr>
              <a:t>survdiff</a:t>
            </a:r>
            <a:r>
              <a:rPr lang="en-US" dirty="0">
                <a:effectLst/>
                <a:ea typeface="Cambria Math" panose="02040503050406030204" pitchFamily="18" charset="0"/>
              </a:rPr>
              <a:t> </a:t>
            </a:r>
            <a:r>
              <a:rPr lang="ru-RU" dirty="0">
                <a:effectLst/>
                <a:ea typeface="Cambria Math" panose="02040503050406030204" pitchFamily="18" charset="0"/>
              </a:rPr>
              <a:t>сравнивает все группы одновременно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Для парных сравнений: </a:t>
            </a:r>
            <a:r>
              <a:rPr lang="en-US" dirty="0" err="1">
                <a:effectLst/>
                <a:ea typeface="Cambria Math" panose="02040503050406030204" pitchFamily="18" charset="0"/>
              </a:rPr>
              <a:t>pairwise_survdiff</a:t>
            </a:r>
            <a:r>
              <a:rPr lang="en-US" dirty="0">
                <a:effectLst/>
                <a:ea typeface="Cambria Math" panose="02040503050406030204" pitchFamily="18" charset="0"/>
              </a:rPr>
              <a:t>()</a:t>
            </a: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Поправка на множественные сравнения (</a:t>
            </a:r>
            <a:r>
              <a:rPr lang="en-US" dirty="0">
                <a:effectLst/>
                <a:ea typeface="Cambria Math" panose="02040503050406030204" pitchFamily="18" charset="0"/>
              </a:rPr>
              <a:t>BH, Bonferroni)</a:t>
            </a:r>
          </a:p>
          <a:p>
            <a:pPr marL="0" indent="0" algn="l">
              <a:buNone/>
            </a:pPr>
            <a:endParaRPr lang="en-US" dirty="0">
              <a:effectLst/>
              <a:ea typeface="Cambria Math" panose="02040503050406030204" pitchFamily="18" charset="0"/>
            </a:endParaRPr>
          </a:p>
          <a:p>
            <a:pPr marL="0" indent="0" algn="l">
              <a:buNone/>
            </a:pPr>
            <a:r>
              <a:rPr lang="ru-RU" dirty="0">
                <a:effectLst/>
                <a:ea typeface="Cambria Math" panose="02040503050406030204" pitchFamily="18" charset="0"/>
              </a:rPr>
              <a:t>Код:</a:t>
            </a:r>
          </a:p>
          <a:p>
            <a:pPr marL="0" indent="0" algn="l">
              <a:buNone/>
            </a:pP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pairwise_survdiff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Surv(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time_years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status) ~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stage_simple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data =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df_surv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pPr marL="0" indent="0" algn="l">
              <a:buNone/>
            </a:pP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p.adjust.method</a:t>
            </a:r>
            <a:r>
              <a:rPr lang="en-US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"BH")</a:t>
            </a:r>
          </a:p>
        </p:txBody>
      </p:sp>
    </p:spTree>
    <p:extLst>
      <p:ext uri="{BB962C8B-B14F-4D97-AF65-F5344CB8AC3E}">
        <p14:creationId xmlns:p14="http://schemas.microsoft.com/office/powerpoint/2010/main" val="146540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14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Клиническая интерпретация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Стадия I: наилучший прогноз</a:t>
            </a:r>
            <a:endParaRPr lang="en-US" sz="2800" dirty="0">
              <a:effectLst/>
              <a:latin typeface="PT Sans"/>
            </a:endParaRPr>
          </a:p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Стадия IV: наихудший прогноз</a:t>
            </a:r>
          </a:p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Различия статистически значимы (p &lt; 0.05)</a:t>
            </a:r>
          </a:p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Это соответствует TNM-классификации</a:t>
            </a:r>
          </a:p>
          <a:p>
            <a:pPr marL="0" indent="0" algn="l">
              <a:buNone/>
            </a:pPr>
            <a:endParaRPr lang="ru-RU" dirty="0"/>
          </a:p>
          <a:p>
            <a:pPr marL="0" indent="0" algn="l">
              <a:buNone/>
            </a:pPr>
            <a:r>
              <a:rPr lang="ru-RU" sz="2800" b="1" dirty="0">
                <a:effectLst/>
                <a:latin typeface="PT Sans"/>
              </a:rPr>
              <a:t>Ограничения:</a:t>
            </a:r>
          </a:p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Стадия — грубый показатель</a:t>
            </a:r>
          </a:p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Не учитывает гистологический подтип, статус курения, мутации (EGFR, KRAS, ALK)</a:t>
            </a:r>
            <a:endParaRPr lang="en-US" sz="2800" dirty="0">
              <a:effectLst/>
              <a:latin typeface="PT Sans"/>
            </a:endParaRPr>
          </a:p>
          <a:p>
            <a:pPr marL="457200" indent="-228600" algn="l">
              <a:buChar char="•"/>
            </a:pPr>
            <a:r>
              <a:rPr lang="ru-RU" sz="2800" dirty="0">
                <a:effectLst/>
                <a:latin typeface="PT Sans"/>
              </a:rPr>
              <a:t>Для более точного прогноза </a:t>
            </a:r>
            <a:r>
              <a:rPr lang="ru-RU" dirty="0">
                <a:latin typeface="PT Sans"/>
              </a:rPr>
              <a:t>можно использовать</a:t>
            </a:r>
            <a:r>
              <a:rPr lang="ru-RU" sz="2800" dirty="0">
                <a:effectLst/>
                <a:latin typeface="PT Sans"/>
              </a:rPr>
              <a:t> модель Кокса</a:t>
            </a:r>
          </a:p>
        </p:txBody>
      </p:sp>
    </p:spTree>
    <p:extLst>
      <p:ext uri="{BB962C8B-B14F-4D97-AF65-F5344CB8AC3E}">
        <p14:creationId xmlns:p14="http://schemas.microsoft.com/office/powerpoint/2010/main" val="172897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/>
          <p:cNvSpPr>
            <a:spLocks noGrp="1"/>
          </p:cNvSpPr>
          <p:nvPr>
            <p:ph type="sldNum" sz="quarter" idx="12"/>
          </p:nvPr>
        </p:nvSpPr>
        <p:spPr>
          <a:xfrm>
            <a:off x="9274478" y="6356350"/>
            <a:ext cx="2743200" cy="365125"/>
          </a:xfrm>
        </p:spPr>
        <p:txBody>
          <a:bodyPr/>
          <a:lstStyle/>
          <a:p>
            <a:fld id="{B19B0651-EE4F-4900-A07F-96A6BFA9D0F0}" type="slidenum">
              <a:rPr lang="ru-RU" smtClean="0">
                <a:latin typeface="PT Sans" panose="020B0503020203020204" pitchFamily="34" charset="0"/>
              </a:rPr>
              <a:pPr/>
              <a:t>15</a:t>
            </a:fld>
            <a:endParaRPr lang="ru-RU" dirty="0">
              <a:latin typeface="PT Sans" panose="020B0503020203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7342440-FCEE-2E4F-950F-6FE7857B3EB5}"/>
              </a:ext>
            </a:extLst>
          </p:cNvPr>
          <p:cNvGrpSpPr/>
          <p:nvPr/>
        </p:nvGrpSpPr>
        <p:grpSpPr>
          <a:xfrm>
            <a:off x="0" y="-4966"/>
            <a:ext cx="12192000" cy="1035565"/>
            <a:chOff x="0" y="1924"/>
            <a:chExt cx="9144000" cy="832664"/>
          </a:xfrm>
        </p:grpSpPr>
        <p:sp>
          <p:nvSpPr>
            <p:cNvPr id="10" name="Google Shape;133;p5">
              <a:extLst>
                <a:ext uri="{FF2B5EF4-FFF2-40B4-BE49-F238E27FC236}">
                  <a16:creationId xmlns:a16="http://schemas.microsoft.com/office/drawing/2014/main" id="{E1FF157E-1AAE-A345-AC22-C4FE991023F3}"/>
                </a:ext>
              </a:extLst>
            </p:cNvPr>
            <p:cNvSpPr/>
            <p:nvPr/>
          </p:nvSpPr>
          <p:spPr>
            <a:xfrm>
              <a:off x="0" y="1924"/>
              <a:ext cx="9144000" cy="832664"/>
            </a:xfrm>
            <a:prstGeom prst="rect">
              <a:avLst/>
            </a:prstGeom>
            <a:gradFill>
              <a:gsLst>
                <a:gs pos="0">
                  <a:srgbClr val="003061"/>
                </a:gs>
                <a:gs pos="50000">
                  <a:srgbClr val="00468D"/>
                </a:gs>
                <a:gs pos="100000">
                  <a:srgbClr val="0054A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PT Sans" panose="020B0503020203020204" pitchFamily="34" charset="0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" name="Google Shape;134;p5" descr="C:\Users\MSShafigullin\Desktop\2020\Презентация КФУ\kfu_logo_circle_rus.png">
              <a:extLst>
                <a:ext uri="{FF2B5EF4-FFF2-40B4-BE49-F238E27FC236}">
                  <a16:creationId xmlns:a16="http://schemas.microsoft.com/office/drawing/2014/main" id="{25CDED6D-DB62-6B41-9BFC-DFBDD55047A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37267" y="148256"/>
              <a:ext cx="553050" cy="5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35;p5">
              <a:extLst>
                <a:ext uri="{FF2B5EF4-FFF2-40B4-BE49-F238E27FC236}">
                  <a16:creationId xmlns:a16="http://schemas.microsoft.com/office/drawing/2014/main" id="{B90A0E07-9A35-E74D-859C-8109875E2889}"/>
                </a:ext>
              </a:extLst>
            </p:cNvPr>
            <p:cNvSpPr txBox="1"/>
            <p:nvPr/>
          </p:nvSpPr>
          <p:spPr>
            <a:xfrm>
              <a:off x="835887" y="240719"/>
              <a:ext cx="7344900" cy="321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ru-RU" sz="2000" dirty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Связь с Заданием 5</a:t>
              </a:r>
            </a:p>
          </p:txBody>
        </p:sp>
        <p:pic>
          <p:nvPicPr>
            <p:cNvPr id="14" name="Google Shape;136;p5" descr="C:\Users\MSShafigullin\Desktop\Проекты\Презентация по ДК\qs.jpg">
              <a:extLst>
                <a:ext uri="{FF2B5EF4-FFF2-40B4-BE49-F238E27FC236}">
                  <a16:creationId xmlns:a16="http://schemas.microsoft.com/office/drawing/2014/main" id="{9F8DFA2B-AC78-464C-BC1D-62929B6D8A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878094" y="367563"/>
              <a:ext cx="353386" cy="3533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37;p5" descr="C:\Users\MSShafigullin\Desktop\2020\Презентация КФУ\THE.png">
              <a:extLst>
                <a:ext uri="{FF2B5EF4-FFF2-40B4-BE49-F238E27FC236}">
                  <a16:creationId xmlns:a16="http://schemas.microsoft.com/office/drawing/2014/main" id="{835D2624-2EF8-2144-9816-A09872F4777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928787" y="114719"/>
              <a:ext cx="252000" cy="2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38;p5">
              <a:extLst>
                <a:ext uri="{FF2B5EF4-FFF2-40B4-BE49-F238E27FC236}">
                  <a16:creationId xmlns:a16="http://schemas.microsoft.com/office/drawing/2014/main" id="{841F1A31-5CCC-E941-956A-F47E7E67D768}"/>
                </a:ext>
              </a:extLst>
            </p:cNvPr>
            <p:cNvSpPr txBox="1"/>
            <p:nvPr/>
          </p:nvSpPr>
          <p:spPr>
            <a:xfrm>
              <a:off x="8279432" y="374979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370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13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7" name="Google Shape;139;p5">
              <a:extLst>
                <a:ext uri="{FF2B5EF4-FFF2-40B4-BE49-F238E27FC236}">
                  <a16:creationId xmlns:a16="http://schemas.microsoft.com/office/drawing/2014/main" id="{A28DBFF6-9F47-6244-B20A-895959377BC2}"/>
                </a:ext>
              </a:extLst>
            </p:cNvPr>
            <p:cNvSpPr txBox="1"/>
            <p:nvPr/>
          </p:nvSpPr>
          <p:spPr>
            <a:xfrm>
              <a:off x="8279432" y="71442"/>
              <a:ext cx="659482" cy="272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601-800</a:t>
              </a:r>
              <a:endParaRPr>
                <a:latin typeface="PT Sans" panose="020B0503020203020204" pitchFamily="34" charset="0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800"/>
                <a:buFont typeface="PT Sans"/>
                <a:buNone/>
              </a:pPr>
              <a:r>
                <a:rPr lang="ru-RU" sz="800" b="0" u="none" strike="noStrike" cap="none">
                  <a:solidFill>
                    <a:schemeClr val="lt1"/>
                  </a:solidFill>
                  <a:latin typeface="PT Sans" panose="020B0503020203020204" pitchFamily="34" charset="0"/>
                  <a:ea typeface="PT Sans"/>
                  <a:cs typeface="PT Sans"/>
                  <a:sym typeface="PT Sans"/>
                </a:rPr>
                <a:t>9</a:t>
              </a:r>
              <a:endParaRPr sz="800" b="0" u="none" strike="noStrike" cap="none">
                <a:solidFill>
                  <a:schemeClr val="lt1"/>
                </a:solidFill>
                <a:latin typeface="PT Sans" panose="020B0503020203020204" pitchFamily="34" charset="0"/>
                <a:ea typeface="PT Sans"/>
                <a:cs typeface="PT Sans"/>
                <a:sym typeface="PT Sans"/>
              </a:endParaRPr>
            </a:p>
          </p:txBody>
        </p:sp>
      </p:grp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0C61546-9215-4D0C-81CB-5EE3A5637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023" y="1223234"/>
            <a:ext cx="11423283" cy="5677647"/>
          </a:xfrm>
        </p:spPr>
        <p:txBody>
          <a:bodyPr>
            <a:normAutofit/>
          </a:bodyPr>
          <a:lstStyle/>
          <a:p>
            <a:pPr marL="0" indent="0" algn="just">
              <a:buNone/>
              <a:tabLst>
                <a:tab pos="180975" algn="l"/>
              </a:tabLst>
            </a:pPr>
            <a:r>
              <a:rPr lang="ru-RU" sz="3600" dirty="0">
                <a:ea typeface="Cambria Math" panose="02040503050406030204" pitchFamily="18" charset="0"/>
              </a:rPr>
              <a:t>На практике: KM-кривые по стадиям для TCGA-LUAD (аденокарцинома лёгкого)</a:t>
            </a:r>
          </a:p>
          <a:p>
            <a:pPr algn="just">
              <a:tabLst>
                <a:tab pos="180975" algn="l"/>
              </a:tabLst>
            </a:pPr>
            <a:endParaRPr lang="ru-RU" sz="3600" dirty="0">
              <a:ea typeface="Cambria Math" panose="02040503050406030204" pitchFamily="18" charset="0"/>
            </a:endParaRP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3600" dirty="0">
                <a:ea typeface="Cambria Math" panose="02040503050406030204" pitchFamily="18" charset="0"/>
              </a:rPr>
              <a:t>Дома (Задание 5): KM-кривые по стадиям для TCGA-BRCA (рак молочной железы)</a:t>
            </a:r>
          </a:p>
          <a:p>
            <a:pPr marL="0" indent="0" algn="just">
              <a:buNone/>
              <a:tabLst>
                <a:tab pos="180975" algn="l"/>
              </a:tabLst>
            </a:pPr>
            <a:r>
              <a:rPr lang="ru-RU" sz="3600" dirty="0">
                <a:ea typeface="Cambria Math" panose="02040503050406030204" pitchFamily="18" charset="0"/>
              </a:rPr>
              <a:t>Общая логика анализа одинаковая, меняется только </a:t>
            </a:r>
            <a:r>
              <a:rPr lang="ru-RU" sz="3600" dirty="0" err="1">
                <a:ea typeface="Cambria Math" panose="02040503050406030204" pitchFamily="18" charset="0"/>
              </a:rPr>
              <a:t>датасет</a:t>
            </a:r>
            <a:endParaRPr lang="en-US" sz="2800" dirty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098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2381"/>
            <a:ext cx="12192000" cy="6855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MSShafigullin\Desktop\2020\Презентация КФУ\kfu_logo_circle_rus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03" y="548680"/>
            <a:ext cx="1536171" cy="14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3215680" y="2852936"/>
            <a:ext cx="6624736" cy="1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>
              <a:buClr>
                <a:srgbClr val="000000"/>
              </a:buClr>
              <a:buSzPts val="5867"/>
            </a:pP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48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4800" b="1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0978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</TotalTime>
  <Words>1004</Words>
  <Application>Microsoft Office PowerPoint</Application>
  <PresentationFormat>Широкоэкранный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PT Sans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Альт</dc:creator>
  <cp:lastModifiedBy>Рамиля Власенкова</cp:lastModifiedBy>
  <cp:revision>79</cp:revision>
  <dcterms:created xsi:type="dcterms:W3CDTF">2025-09-03T07:14:40Z</dcterms:created>
  <dcterms:modified xsi:type="dcterms:W3CDTF">2026-03-19T10:59:01Z</dcterms:modified>
</cp:coreProperties>
</file>