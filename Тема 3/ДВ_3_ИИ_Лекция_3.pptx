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71" r:id="rId9"/>
    <p:sldId id="289" r:id="rId10"/>
    <p:sldId id="272" r:id="rId11"/>
    <p:sldId id="273" r:id="rId12"/>
    <p:sldId id="276" r:id="rId13"/>
    <p:sldId id="277" r:id="rId14"/>
    <p:sldId id="274" r:id="rId15"/>
    <p:sldId id="275" r:id="rId16"/>
    <p:sldId id="278" r:id="rId17"/>
    <p:sldId id="291" r:id="rId18"/>
    <p:sldId id="280" r:id="rId19"/>
    <p:sldId id="298" r:id="rId20"/>
    <p:sldId id="299" r:id="rId21"/>
    <p:sldId id="292" r:id="rId22"/>
    <p:sldId id="293" r:id="rId23"/>
    <p:sldId id="281" r:id="rId24"/>
    <p:sldId id="294" r:id="rId25"/>
    <p:sldId id="295" r:id="rId26"/>
    <p:sldId id="296" r:id="rId27"/>
    <p:sldId id="297" r:id="rId28"/>
    <p:sldId id="284" r:id="rId29"/>
    <p:sldId id="285" r:id="rId30"/>
    <p:sldId id="279" r:id="rId31"/>
    <p:sldId id="282" r:id="rId32"/>
    <p:sldId id="286" r:id="rId33"/>
    <p:sldId id="290" r:id="rId34"/>
    <p:sldId id="288" r:id="rId35"/>
    <p:sldId id="287" r:id="rId36"/>
    <p:sldId id="266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64879" autoAdjust="0"/>
  </p:normalViewPr>
  <p:slideViewPr>
    <p:cSldViewPr snapToGrid="0">
      <p:cViewPr varScale="1">
        <p:scale>
          <a:sx n="46" d="100"/>
          <a:sy n="46" d="100"/>
        </p:scale>
        <p:origin x="14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На лекциях 1-2 мы предсказывали классы: болен или здоров, рецидив или нет.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Но в медицине часто нужно ответить на другой вопрос: когда произойдёт событие?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Когда у пациента будет рецидив рака?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Как долго пациент проживёт после диагноза?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Через сколько лет произойдёт отказ трансплантата?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фундаментально другой тип задачи.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Главное отличие: мы работаем со временем и цензурированием.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Цензурирование: в середине исследования некоторых пациентов "теряем" — они уезжают, выходят из исследования, но событие ещё не произошло.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Наивный подход ("просто посчитаем, сколько % имели событие") будет неправильный, потому что </a:t>
            </a:r>
            <a:r>
              <a:rPr lang="ru-RU" b="0" i="0" dirty="0" err="1">
                <a:effectLst/>
                <a:latin typeface="fkGroteskNeue"/>
              </a:rPr>
              <a:t>потеренные</a:t>
            </a:r>
            <a:r>
              <a:rPr lang="ru-RU" b="0" i="0" dirty="0">
                <a:effectLst/>
                <a:latin typeface="fkGroteskNeue"/>
              </a:rPr>
              <a:t> пациенты тоже могли бы иметь события позже.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и есть анализ выживаемости (</a:t>
            </a:r>
            <a:r>
              <a:rPr lang="ru-RU" b="0" i="0" dirty="0" err="1">
                <a:effectLst/>
                <a:latin typeface="fkGroteskNeue"/>
              </a:rPr>
              <a:t>Survival</a:t>
            </a:r>
            <a:r>
              <a:rPr lang="ru-RU" b="0" i="0" dirty="0">
                <a:effectLst/>
                <a:latin typeface="fkGroteskNeue"/>
              </a:rPr>
              <a:t> Analysis).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S(t) — функция выживаемости: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вероятность того, что пациент "выживет" (не будет события) до времени t.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S(t) = P(время события &gt; t)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Пример: рак молочной железы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S(1) = 0.98 → 98% живы через год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S(5) = 0.75 → 75% живы через 5 лет (это общее выживание)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S(10) = 0.50 → через 10 лет живы 50% пациентов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55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h(t) — функция опасности (</a:t>
            </a:r>
            <a:r>
              <a:rPr lang="ru-RU" b="0" i="0" dirty="0" err="1">
                <a:effectLst/>
                <a:latin typeface="fkGroteskNeue"/>
              </a:rPr>
              <a:t>hazard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function</a:t>
            </a:r>
            <a:r>
              <a:rPr lang="ru-RU" b="0" i="0" dirty="0">
                <a:effectLst/>
                <a:latin typeface="fkGroteskNeue"/>
              </a:rPr>
              <a:t>):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"мгновенный риск" события в момент t, учитывая, что пациент дожил до t.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Связана с S(t): чем больше h(t), тем быстрее падает S(t).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050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Кривая Каплана-Мейера: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эмпирическая (основанная на данных) оценка S(t).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 она вычисляется: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На каждый момент времени t, когда происходит событие: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S(t) = S(t-) × (1 - d/n)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d = число событий в момент 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n = число пациентов в "группе риска" (живы и не цензурированы к моменту t)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170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Пример: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День 0: 100 пациентов, S(0) = 1.0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День 100: 2 события, 98 в группе риска, S(100) = 1.0 × (1 - 2/100) = 0.98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День 200: 3 события, 95 в группе риска, S(200) = 0.98 × (1 - 3/95) = 0.966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Итак, S(200) ≈ 0.97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На графике это ступенчатая кривая.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Сравнение двух кривых: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Пусть у вас есть две группы пациентов: пациенты </a:t>
            </a:r>
            <a:r>
              <a:rPr lang="ru-RU" b="0" i="0" dirty="0" err="1">
                <a:effectLst/>
                <a:latin typeface="fkGroteskNeue"/>
              </a:rPr>
              <a:t>vs</a:t>
            </a:r>
            <a:r>
              <a:rPr lang="ru-RU" b="0" i="0" dirty="0">
                <a:effectLst/>
                <a:latin typeface="fkGroteskNeue"/>
              </a:rPr>
              <a:t> здоровые.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Строим две кривые Каплана-Мейера.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Визуально видно разницу. Но статистически ли она значима?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94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 err="1">
                <a:effectLst/>
                <a:latin typeface="fkGroteskNeue"/>
              </a:rPr>
              <a:t>Log-rank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Нулевая гипотеза: две кривые одинаковые.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Считаем χ² статистику. Если p &lt; 0.05, кривы различаются.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ПАУЗА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171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В этой работе TCGA‑данные по раку лёгкого используют для проверки прогностической значимости отдельных генов или генетических подписей.​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Пациентов делят на группы строят </a:t>
            </a:r>
            <a:r>
              <a:rPr lang="ru-RU" b="0" i="0" dirty="0" err="1">
                <a:effectLst/>
                <a:latin typeface="pplxSerif"/>
              </a:rPr>
              <a:t>Kaplan</a:t>
            </a:r>
            <a:r>
              <a:rPr lang="ru-RU" b="0" i="0" dirty="0">
                <a:effectLst/>
                <a:latin typeface="pplxSerif"/>
              </a:rPr>
              <a:t>–</a:t>
            </a:r>
            <a:r>
              <a:rPr lang="ru-RU" b="0" i="0" dirty="0" err="1">
                <a:effectLst/>
                <a:latin typeface="pplxSerif"/>
              </a:rPr>
              <a:t>Meier</a:t>
            </a:r>
            <a:r>
              <a:rPr lang="ru-RU" b="0" i="0" dirty="0">
                <a:effectLst/>
                <a:latin typeface="pplxSerif"/>
              </a:rPr>
              <a:t> кривые общей выживаемости. На графике видно, что кривая группы High стабильно ниже, </a:t>
            </a:r>
            <a:r>
              <a:rPr lang="ru-RU" b="0" i="0" dirty="0" err="1">
                <a:effectLst/>
                <a:latin typeface="pplxSerif"/>
              </a:rPr>
              <a:t>log‑rank</a:t>
            </a:r>
            <a:r>
              <a:rPr lang="ru-RU" b="0" i="0" dirty="0">
                <a:effectLst/>
                <a:latin typeface="pplxSerif"/>
              </a:rPr>
              <a:t> p‑</a:t>
            </a:r>
            <a:r>
              <a:rPr lang="ru-RU" b="0" i="0" dirty="0" err="1">
                <a:effectLst/>
                <a:latin typeface="pplxSerif"/>
              </a:rPr>
              <a:t>value</a:t>
            </a:r>
            <a:r>
              <a:rPr lang="ru-RU" b="0" i="0" dirty="0">
                <a:effectLst/>
                <a:latin typeface="pplxSerif"/>
              </a:rPr>
              <a:t> &lt; 0.01 — то есть различия статистически значимы.​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Это классический шаблон: от простого стратифицированного </a:t>
            </a:r>
            <a:r>
              <a:rPr lang="ru-RU" b="0" i="0" dirty="0" err="1">
                <a:effectLst/>
                <a:latin typeface="pplxSerif"/>
              </a:rPr>
              <a:t>Kaplan</a:t>
            </a:r>
            <a:r>
              <a:rPr lang="ru-RU" b="0" i="0" dirty="0">
                <a:effectLst/>
                <a:latin typeface="pplxSerif"/>
              </a:rPr>
              <a:t>–</a:t>
            </a:r>
            <a:r>
              <a:rPr lang="ru-RU" b="0" i="0" dirty="0" err="1">
                <a:effectLst/>
                <a:latin typeface="pplxSerif"/>
              </a:rPr>
              <a:t>Meier</a:t>
            </a:r>
            <a:r>
              <a:rPr lang="ru-RU" b="0" i="0" dirty="0">
                <a:effectLst/>
                <a:latin typeface="pplxSerif"/>
              </a:rPr>
              <a:t> мы переходим к более гибкой модели Кокса, где можно учесть сразу несколько </a:t>
            </a:r>
            <a:r>
              <a:rPr lang="ru-RU" b="0" i="0" dirty="0" err="1">
                <a:effectLst/>
                <a:latin typeface="pplxSerif"/>
              </a:rPr>
              <a:t>ковариат</a:t>
            </a:r>
            <a:r>
              <a:rPr lang="ru-RU" b="0" i="0" dirty="0">
                <a:effectLst/>
                <a:latin typeface="pplxSerif"/>
              </a:rPr>
              <a:t>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277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Идея Кокса (1972):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Вместо того, чтобы просто сравнивать группы, давайте моделировать </a:t>
            </a:r>
            <a:r>
              <a:rPr lang="en-US" b="0" i="0" dirty="0">
                <a:effectLst/>
                <a:latin typeface="fkGroteskNeue"/>
              </a:rPr>
              <a:t>h(t) </a:t>
            </a:r>
            <a:r>
              <a:rPr lang="ru-RU" b="0" i="0" dirty="0">
                <a:effectLst/>
                <a:latin typeface="fkGroteskNeue"/>
              </a:rPr>
              <a:t>как функцию от признаков </a:t>
            </a:r>
            <a:r>
              <a:rPr lang="en-US" b="0" i="0" dirty="0">
                <a:effectLst/>
                <a:latin typeface="fkGroteskNeue"/>
              </a:rPr>
              <a:t>X.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Cox Proportional Hazards Model: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h(t | X) = h₀(t) × exp(</a:t>
            </a:r>
            <a:r>
              <a:rPr lang="el-GR" b="0" i="0" dirty="0">
                <a:effectLst/>
                <a:latin typeface="fkGroteskNeue"/>
              </a:rPr>
              <a:t>β₁</a:t>
            </a:r>
            <a:r>
              <a:rPr lang="en-US" b="0" i="0" dirty="0">
                <a:effectLst/>
                <a:latin typeface="fkGroteskNeue"/>
              </a:rPr>
              <a:t>X₁ + </a:t>
            </a:r>
            <a:r>
              <a:rPr lang="el-GR" b="0" i="0" dirty="0">
                <a:effectLst/>
                <a:latin typeface="fkGroteskNeue"/>
              </a:rPr>
              <a:t>β₂</a:t>
            </a:r>
            <a:r>
              <a:rPr lang="en-US" b="0" i="0" dirty="0">
                <a:effectLst/>
                <a:latin typeface="fkGroteskNeue"/>
              </a:rPr>
              <a:t>X₂ + ... + </a:t>
            </a:r>
            <a:r>
              <a:rPr lang="el-GR" b="0" i="0" dirty="0">
                <a:effectLst/>
                <a:latin typeface="fkGroteskNeue"/>
              </a:rPr>
              <a:t>βₚ</a:t>
            </a:r>
            <a:r>
              <a:rPr lang="en-US" b="0" i="0" dirty="0">
                <a:effectLst/>
                <a:latin typeface="fkGroteskNeue"/>
              </a:rPr>
              <a:t>Xₚ)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Или в логарифмической форме: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log(h(t | X)) = log(h₀(t)) + </a:t>
            </a:r>
            <a:r>
              <a:rPr lang="el-GR" b="0" i="0" dirty="0">
                <a:effectLst/>
                <a:latin typeface="fkGroteskNeue"/>
              </a:rPr>
              <a:t>β₁</a:t>
            </a:r>
            <a:r>
              <a:rPr lang="en-US" b="0" i="0" dirty="0">
                <a:effectLst/>
                <a:latin typeface="fkGroteskNeue"/>
              </a:rPr>
              <a:t>X₁ + </a:t>
            </a:r>
            <a:r>
              <a:rPr lang="el-GR" b="0" i="0" dirty="0">
                <a:effectLst/>
                <a:latin typeface="fkGroteskNeue"/>
              </a:rPr>
              <a:t>β₂</a:t>
            </a:r>
            <a:r>
              <a:rPr lang="en-US" b="0" i="0" dirty="0">
                <a:effectLst/>
                <a:latin typeface="fkGroteskNeue"/>
              </a:rPr>
              <a:t>X₂ + ...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h₀(t) — "</a:t>
            </a:r>
            <a:r>
              <a:rPr lang="ru-RU" b="0" i="0" dirty="0">
                <a:effectLst/>
                <a:latin typeface="fkGroteskNeue"/>
              </a:rPr>
              <a:t>базовая опасность" (для пациента с </a:t>
            </a:r>
            <a:r>
              <a:rPr lang="en-US" b="0" i="0" dirty="0">
                <a:effectLst/>
                <a:latin typeface="fkGroteskNeue"/>
              </a:rPr>
              <a:t>X=0 </a:t>
            </a:r>
            <a:r>
              <a:rPr lang="ru-RU" b="0" i="0" dirty="0">
                <a:effectLst/>
                <a:latin typeface="fkGroteskNeue"/>
              </a:rPr>
              <a:t>или со средними значениями)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75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Интерпретация β: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β = 0.5 для признака X₁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значит: каждая единица увеличения X₁ увеличивает </a:t>
            </a:r>
            <a:r>
              <a:rPr lang="ru-RU" b="0" i="0" dirty="0" err="1">
                <a:effectLst/>
                <a:latin typeface="fkGroteskNeue"/>
              </a:rPr>
              <a:t>log-hazard</a:t>
            </a:r>
            <a:r>
              <a:rPr lang="ru-RU" b="0" i="0" dirty="0">
                <a:effectLst/>
                <a:latin typeface="fkGroteskNeue"/>
              </a:rPr>
              <a:t> на 0.5.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Или: </a:t>
            </a:r>
            <a:r>
              <a:rPr lang="ru-RU" b="0" i="0" dirty="0" err="1">
                <a:effectLst/>
                <a:latin typeface="fkGroteskNeue"/>
              </a:rPr>
              <a:t>Hazard</a:t>
            </a:r>
            <a:r>
              <a:rPr lang="ru-RU" b="0" i="0" dirty="0">
                <a:effectLst/>
                <a:latin typeface="fkGroteskNeue"/>
              </a:rPr>
              <a:t> увеличивается в e^0.5 ≈ 1.65 раз.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Пример: TP53 мутация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β = 1. для "TP53 мутирован" (0 = нет, 1 = да)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Пациент с TP53 мутацией имеет </a:t>
            </a:r>
            <a:r>
              <a:rPr lang="ru-RU" b="0" i="0" dirty="0" err="1">
                <a:effectLst/>
                <a:latin typeface="fkGroteskNeue"/>
              </a:rPr>
              <a:t>hazard</a:t>
            </a:r>
            <a:r>
              <a:rPr lang="ru-RU" b="0" i="0" dirty="0">
                <a:effectLst/>
                <a:latin typeface="fkGroteskNeue"/>
              </a:rPr>
              <a:t> в e^1.0 ≈ 2,7 раза выше, чем без мутации.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Медицинская интерпретация: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"Пациент с TP53 мутацией имеет риск рецидива в 3.3 раза выше.«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Hazard Ratio (HR) = e^</a:t>
            </a:r>
            <a:r>
              <a:rPr lang="el-GR" b="0" i="0" dirty="0">
                <a:effectLst/>
                <a:latin typeface="fkGroteskNeue"/>
              </a:rPr>
              <a:t>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HR = 1: </a:t>
            </a:r>
            <a:r>
              <a:rPr lang="ru-RU" b="0" i="0" dirty="0">
                <a:effectLst/>
                <a:latin typeface="fkGroteskNeue"/>
              </a:rPr>
              <a:t>нет эффекта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HR &gt; 1: </a:t>
            </a:r>
            <a:r>
              <a:rPr lang="ru-RU" b="0" i="0" dirty="0">
                <a:effectLst/>
                <a:latin typeface="fkGroteskNeue"/>
              </a:rPr>
              <a:t>увеличивает риск (</a:t>
            </a:r>
            <a:r>
              <a:rPr lang="en-US" b="0" i="0" dirty="0">
                <a:effectLst/>
                <a:latin typeface="fkGroteskNeue"/>
              </a:rPr>
              <a:t>risk factor)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HR &lt; 1: </a:t>
            </a:r>
            <a:r>
              <a:rPr lang="ru-RU" b="0" i="0" dirty="0">
                <a:effectLst/>
                <a:latin typeface="fkGroteskNeue"/>
              </a:rPr>
              <a:t>уменьшает риск (</a:t>
            </a:r>
            <a:r>
              <a:rPr lang="en-US" b="0" i="0" dirty="0">
                <a:effectLst/>
                <a:latin typeface="fkGroteskNeue"/>
              </a:rPr>
              <a:t>protective factor)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483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Пример: Рак молочной железы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Датасет</a:t>
            </a:r>
            <a:r>
              <a:rPr lang="ru-RU" b="0" i="0" dirty="0">
                <a:effectLst/>
                <a:latin typeface="fkGroteskNeue"/>
              </a:rPr>
              <a:t>: 400 пациентов, </a:t>
            </a:r>
            <a:r>
              <a:rPr lang="en-US" b="0" i="0" dirty="0">
                <a:effectLst/>
                <a:latin typeface="fkGroteskNeue"/>
              </a:rPr>
              <a:t>median follow-up </a:t>
            </a:r>
            <a:r>
              <a:rPr lang="ru-RU" b="0" i="0" dirty="0">
                <a:effectLst/>
                <a:latin typeface="fkGroteskNeue"/>
              </a:rPr>
              <a:t>5</a:t>
            </a:r>
            <a:r>
              <a:rPr lang="en-US" b="0" i="0" dirty="0">
                <a:effectLst/>
                <a:latin typeface="fkGroteskNeue"/>
              </a:rPr>
              <a:t> </a:t>
            </a:r>
            <a:r>
              <a:rPr lang="ru-RU" b="0" i="0" dirty="0">
                <a:effectLst/>
                <a:latin typeface="fkGroteskNeue"/>
              </a:rPr>
              <a:t>лет, 85 смертей.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Признаки: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Возраст (</a:t>
            </a:r>
            <a:r>
              <a:rPr lang="en-US" b="0" i="0" dirty="0">
                <a:effectLst/>
                <a:latin typeface="fkGroteskNeue"/>
              </a:rPr>
              <a:t>years)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Размер опухоли (</a:t>
            </a:r>
            <a:r>
              <a:rPr lang="en-US" b="0" i="0" dirty="0">
                <a:effectLst/>
                <a:latin typeface="fkGroteskNeue"/>
              </a:rPr>
              <a:t>cm)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Степень (</a:t>
            </a:r>
            <a:r>
              <a:rPr lang="en-US" b="0" i="0" dirty="0">
                <a:effectLst/>
                <a:latin typeface="fkGroteskNeue"/>
              </a:rPr>
              <a:t>grade): 1, 2, 3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ER status: 0 (negative), 1 (positive)</a:t>
            </a:r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Интерпретация: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Размер опухоли: каждый см увеличивает HR на 5%.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Grade</a:t>
            </a:r>
            <a:r>
              <a:rPr lang="ru-RU" b="0" i="0" dirty="0">
                <a:effectLst/>
                <a:latin typeface="fkGroteskNeue"/>
              </a:rPr>
              <a:t> (3 </a:t>
            </a:r>
            <a:r>
              <a:rPr lang="ru-RU" b="0" i="0" dirty="0" err="1">
                <a:effectLst/>
                <a:latin typeface="fkGroteskNeue"/>
              </a:rPr>
              <a:t>vs</a:t>
            </a:r>
            <a:r>
              <a:rPr lang="ru-RU" b="0" i="0" dirty="0">
                <a:effectLst/>
                <a:latin typeface="fkGroteskNeue"/>
              </a:rPr>
              <a:t> 1): пациентки с </a:t>
            </a:r>
            <a:r>
              <a:rPr lang="ru-RU" b="0" i="0" dirty="0" err="1">
                <a:effectLst/>
                <a:latin typeface="fkGroteskNeue"/>
              </a:rPr>
              <a:t>Grade</a:t>
            </a:r>
            <a:r>
              <a:rPr lang="ru-RU" b="0" i="0" dirty="0">
                <a:effectLst/>
                <a:latin typeface="fkGroteskNeue"/>
              </a:rPr>
              <a:t> 3 имеют в 3 раза выше </a:t>
            </a:r>
            <a:r>
              <a:rPr lang="ru-RU" b="0" i="0" dirty="0" err="1">
                <a:effectLst/>
                <a:latin typeface="fkGroteskNeue"/>
              </a:rPr>
              <a:t>risk</a:t>
            </a:r>
            <a:r>
              <a:rPr lang="ru-RU" b="0" i="0" dirty="0">
                <a:effectLst/>
                <a:latin typeface="fkGroteskNeue"/>
              </a:rPr>
              <a:t> смерти. Очень значимо (p &lt;0.001).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ER+: ER+ пациентки имеют на 60% ниже </a:t>
            </a:r>
            <a:r>
              <a:rPr lang="ru-RU" b="0" i="0" dirty="0" err="1">
                <a:effectLst/>
                <a:latin typeface="fkGroteskNeue"/>
              </a:rPr>
              <a:t>risk</a:t>
            </a:r>
            <a:r>
              <a:rPr lang="ru-RU" b="0" i="0" dirty="0">
                <a:effectLst/>
                <a:latin typeface="fkGroteskNeue"/>
              </a:rPr>
              <a:t> (HR 0.40). Это хороший прогностический фактор.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Возраст: пограничный (p=0.10), не совсем значим.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fkGroteskNeue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242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Стратификация пациентов: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На основе </a:t>
            </a:r>
            <a:r>
              <a:rPr lang="ru-RU" b="0" i="0" dirty="0" err="1">
                <a:effectLst/>
                <a:latin typeface="fkGroteskNeue"/>
              </a:rPr>
              <a:t>risk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score</a:t>
            </a:r>
            <a:r>
              <a:rPr lang="ru-RU" b="0" i="0" dirty="0">
                <a:effectLst/>
                <a:latin typeface="fkGroteskNeue"/>
              </a:rPr>
              <a:t> разделяем на 3 группы: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Low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risk</a:t>
            </a:r>
            <a:r>
              <a:rPr lang="ru-RU" b="0" i="0" dirty="0">
                <a:effectLst/>
                <a:latin typeface="fkGroteskNeue"/>
              </a:rPr>
              <a:t> (</a:t>
            </a:r>
            <a:r>
              <a:rPr lang="ru-RU" b="0" i="0" dirty="0" err="1">
                <a:effectLst/>
                <a:latin typeface="fkGroteskNeue"/>
              </a:rPr>
              <a:t>score</a:t>
            </a:r>
            <a:r>
              <a:rPr lang="ru-RU" b="0" i="0" dirty="0">
                <a:effectLst/>
                <a:latin typeface="fkGroteskNeue"/>
              </a:rPr>
              <a:t> &lt; 1): S(5) = 0.92 (8% имели события за 5 лет)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Medium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risk</a:t>
            </a:r>
            <a:r>
              <a:rPr lang="ru-RU" b="0" i="0" dirty="0">
                <a:effectLst/>
                <a:latin typeface="fkGroteskNeue"/>
              </a:rPr>
              <a:t> (1-3): S(5) = 0.75 (25% имели события)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High </a:t>
            </a:r>
            <a:r>
              <a:rPr lang="ru-RU" b="0" i="0" dirty="0" err="1">
                <a:effectLst/>
                <a:latin typeface="fkGroteskNeue"/>
              </a:rPr>
              <a:t>risk</a:t>
            </a:r>
            <a:r>
              <a:rPr lang="ru-RU" b="0" i="0" dirty="0">
                <a:effectLst/>
                <a:latin typeface="fkGroteskNeue"/>
              </a:rPr>
              <a:t> (&gt;3): S(5) = 0.45 (55% имели события за 5 лет)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Log-rank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: p &lt; 0.0001 (группы очень различаются)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964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Предпосылки </a:t>
            </a:r>
            <a:r>
              <a:rPr lang="en-US" b="0" i="0" dirty="0">
                <a:effectLst/>
                <a:latin typeface="fkGroteskNeue"/>
              </a:rPr>
              <a:t>Cox </a:t>
            </a:r>
            <a:r>
              <a:rPr lang="ru-RU" b="0" i="0" dirty="0">
                <a:effectLst/>
                <a:latin typeface="fkGroteskNeue"/>
              </a:rPr>
              <a:t>модели: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Пропорциональность рисков (</a:t>
            </a:r>
            <a:r>
              <a:rPr lang="en-US" b="0" i="0" dirty="0">
                <a:effectLst/>
                <a:latin typeface="fkGroteskNeue"/>
              </a:rPr>
              <a:t>PH Assumption):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Ratio hazard</a:t>
            </a:r>
            <a:r>
              <a:rPr lang="ru-RU" b="0" i="0" dirty="0" err="1">
                <a:effectLst/>
                <a:latin typeface="fkGroteskNeue"/>
              </a:rPr>
              <a:t>ов</a:t>
            </a:r>
            <a:r>
              <a:rPr lang="ru-RU" b="0" i="0" dirty="0">
                <a:effectLst/>
                <a:latin typeface="fkGroteskNeue"/>
              </a:rPr>
              <a:t> между двумя группами должен быть постоянным во времени.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То есть если </a:t>
            </a:r>
            <a:r>
              <a:rPr lang="en-US" b="0" i="0" dirty="0">
                <a:effectLst/>
                <a:latin typeface="fkGroteskNeue"/>
              </a:rPr>
              <a:t>Group A </a:t>
            </a:r>
            <a:r>
              <a:rPr lang="ru-RU" b="0" i="0" dirty="0">
                <a:effectLst/>
                <a:latin typeface="fkGroteskNeue"/>
              </a:rPr>
              <a:t>имеет </a:t>
            </a:r>
            <a:r>
              <a:rPr lang="en-US" b="0" i="0" dirty="0">
                <a:effectLst/>
                <a:latin typeface="fkGroteskNeue"/>
              </a:rPr>
              <a:t>HR=2 </a:t>
            </a:r>
            <a:r>
              <a:rPr lang="ru-RU" b="0" i="0" dirty="0">
                <a:effectLst/>
                <a:latin typeface="fkGroteskNeue"/>
              </a:rPr>
              <a:t>в день 100, она должна иметь </a:t>
            </a:r>
            <a:r>
              <a:rPr lang="en-US" b="0" i="0" dirty="0">
                <a:effectLst/>
                <a:latin typeface="fkGroteskNeue"/>
              </a:rPr>
              <a:t>HR≈2 </a:t>
            </a:r>
            <a:r>
              <a:rPr lang="ru-RU" b="0" i="0" dirty="0">
                <a:effectLst/>
                <a:latin typeface="fkGroteskNeue"/>
              </a:rPr>
              <a:t>и в день 1000.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Если график </a:t>
            </a:r>
            <a:r>
              <a:rPr lang="en-US" b="0" i="0" dirty="0">
                <a:effectLst/>
                <a:latin typeface="fkGroteskNeue"/>
              </a:rPr>
              <a:t>log(-log(S(t))) vs log(t) </a:t>
            </a:r>
            <a:r>
              <a:rPr lang="ru-RU" b="0" i="0" dirty="0">
                <a:effectLst/>
                <a:latin typeface="fkGroteskNeue"/>
              </a:rPr>
              <a:t>для двух групп параллельны → </a:t>
            </a:r>
            <a:r>
              <a:rPr lang="en-US" b="0" i="0" dirty="0">
                <a:effectLst/>
                <a:latin typeface="fkGroteskNeue"/>
              </a:rPr>
              <a:t>OK.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Или: тест </a:t>
            </a:r>
            <a:r>
              <a:rPr lang="en-US" b="0" i="0" dirty="0">
                <a:effectLst/>
                <a:latin typeface="fkGroteskNeue"/>
              </a:rPr>
              <a:t>Schoenfeld residuals, p &gt; 0.05 → PH assumption </a:t>
            </a:r>
            <a:r>
              <a:rPr lang="ru-RU" b="0" i="0" dirty="0">
                <a:effectLst/>
                <a:latin typeface="fkGroteskNeue"/>
              </a:rPr>
              <a:t>не нарушена.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Если </a:t>
            </a:r>
            <a:r>
              <a:rPr lang="en-US" b="0" i="0" dirty="0">
                <a:effectLst/>
                <a:latin typeface="fkGroteskNeue"/>
              </a:rPr>
              <a:t>PH </a:t>
            </a:r>
            <a:r>
              <a:rPr lang="ru-RU" b="0" i="0" dirty="0">
                <a:effectLst/>
                <a:latin typeface="fkGroteskNeue"/>
              </a:rPr>
              <a:t>нарушена? Добавить </a:t>
            </a:r>
            <a:r>
              <a:rPr lang="en-US" b="0" i="0" dirty="0">
                <a:effectLst/>
                <a:latin typeface="fkGroteskNeue"/>
              </a:rPr>
              <a:t>time-dependent coefficient: </a:t>
            </a:r>
            <a:r>
              <a:rPr lang="el-GR" b="0" i="0" dirty="0">
                <a:effectLst/>
                <a:latin typeface="fkGroteskNeue"/>
              </a:rPr>
              <a:t>β(</a:t>
            </a:r>
            <a:r>
              <a:rPr lang="en-US" b="0" i="0" dirty="0">
                <a:effectLst/>
                <a:latin typeface="fkGroteskNeue"/>
              </a:rPr>
              <a:t>t).</a:t>
            </a:r>
          </a:p>
          <a:p>
            <a:pPr algn="l">
              <a:buFont typeface="+mj-lt"/>
              <a:buAutoNum type="arabicPeriod" startAt="2"/>
            </a:pPr>
            <a:r>
              <a:rPr lang="ru-RU" b="0" i="0" dirty="0">
                <a:effectLst/>
                <a:latin typeface="fkGroteskNeue"/>
              </a:rPr>
              <a:t>Линейность в логарифме: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Связь между </a:t>
            </a:r>
            <a:r>
              <a:rPr lang="en-US" b="0" i="0" dirty="0">
                <a:effectLst/>
                <a:latin typeface="fkGroteskNeue"/>
              </a:rPr>
              <a:t>X </a:t>
            </a:r>
            <a:r>
              <a:rPr lang="ru-RU" b="0" i="0" dirty="0">
                <a:effectLst/>
                <a:latin typeface="fkGroteskNeue"/>
              </a:rPr>
              <a:t>и </a:t>
            </a:r>
            <a:r>
              <a:rPr lang="en-US" b="0" i="0" dirty="0">
                <a:effectLst/>
                <a:latin typeface="fkGroteskNeue"/>
              </a:rPr>
              <a:t>log(hazard) </a:t>
            </a:r>
            <a:r>
              <a:rPr lang="ru-RU" b="0" i="0" dirty="0">
                <a:effectLst/>
                <a:latin typeface="fkGroteskNeue"/>
              </a:rPr>
              <a:t>должна быть линейной.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Проверка: </a:t>
            </a:r>
            <a:r>
              <a:rPr lang="en-US" b="0" i="0" dirty="0">
                <a:effectLst/>
                <a:latin typeface="fkGroteskNeue"/>
              </a:rPr>
              <a:t>Martingale residuals. </a:t>
            </a:r>
            <a:r>
              <a:rPr lang="ru-RU" b="0" i="0" dirty="0">
                <a:effectLst/>
                <a:latin typeface="fkGroteskNeue"/>
              </a:rPr>
              <a:t>Если есть нелинейный паттерн, трансформировать </a:t>
            </a:r>
            <a:r>
              <a:rPr lang="en-US" b="0" i="0" dirty="0">
                <a:effectLst/>
                <a:latin typeface="fkGroteskNeue"/>
              </a:rPr>
              <a:t>X.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278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Оценка качества модели: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 (</a:t>
            </a:r>
            <a:r>
              <a:rPr lang="ru-RU" b="0" i="0" dirty="0" err="1">
                <a:effectLst/>
                <a:latin typeface="fkGroteskNeue"/>
              </a:rPr>
              <a:t>Concordance</a:t>
            </a:r>
            <a:r>
              <a:rPr lang="ru-RU" b="0" i="0" dirty="0">
                <a:effectLst/>
                <a:latin typeface="fkGroteskNeue"/>
              </a:rPr>
              <a:t> Index):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вероятность того, что модель правильно ранжирует двух пациентов.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Если </a:t>
            </a:r>
            <a:r>
              <a:rPr lang="ru-RU" b="0" i="0" dirty="0" err="1">
                <a:effectLst/>
                <a:latin typeface="fkGroteskNeue"/>
              </a:rPr>
              <a:t>patient</a:t>
            </a:r>
            <a:r>
              <a:rPr lang="ru-RU" b="0" i="0" dirty="0">
                <a:effectLst/>
                <a:latin typeface="fkGroteskNeue"/>
              </a:rPr>
              <a:t> A имел событие раньше, чем </a:t>
            </a:r>
            <a:r>
              <a:rPr lang="ru-RU" b="0" i="0" dirty="0" err="1">
                <a:effectLst/>
                <a:latin typeface="fkGroteskNeue"/>
              </a:rPr>
              <a:t>patient</a:t>
            </a:r>
            <a:r>
              <a:rPr lang="ru-RU" b="0" i="0" dirty="0">
                <a:effectLst/>
                <a:latin typeface="fkGroteskNeue"/>
              </a:rPr>
              <a:t> B, предсказала ли модель, что A имеет выше </a:t>
            </a:r>
            <a:r>
              <a:rPr lang="ru-RU" b="0" i="0" dirty="0" err="1">
                <a:effectLst/>
                <a:latin typeface="fkGroteskNeue"/>
              </a:rPr>
              <a:t>risk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score</a:t>
            </a:r>
            <a:r>
              <a:rPr lang="ru-RU" b="0" i="0" dirty="0">
                <a:effectLst/>
                <a:latin typeface="fkGroteskNeue"/>
              </a:rPr>
              <a:t>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 от 0.5 (случайность) до 1.0 (идеально).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Интерпретация: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C = 0.5: случайно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C = 0.6: слабо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C = 0.7: хорошо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C = 0.75+: отлично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effectLst/>
                <a:latin typeface="fkGroteskNeue"/>
              </a:rPr>
              <a:t>ПАУЗА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903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Теперь два важных концепта, которые часто забывают в анализе выживаемости: **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confounding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(путающая переменная)** и **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interaction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(взаимодействие)**. Разберём с примерами. **1. CONFOUNDING (путающая переменная)** Определение: переменная Z влияет **и** на экспозицию X, **и** на исход Y. Создаёт ложную связь между X и Y. **Пример**: Хотим оценить эффект размера опухоли (X) на смертность (Y). Но **возраст Z** влияет на размер опухоли (старше — чаще крупные) И на смертность (старше — хуже выживаемость). Результат: крупная опухоль кажется 'виноватой' в смерти, хотя на самом деле виноват возраст [web:182]. **Решение**: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мультивариатная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Cox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с контролем Z: h(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t|X,Z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) = h0(t) ×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exp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(β1 X + β2 Z). Эффект X теперь **независимый от Z** [web:182]. **2. INTERACTION (взаимодействие)** Определение: эффект X на Y **зависит** от уровня Z. **Пример**: ER+ статус (X)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протективен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(HR&lt;1) **только у молодых** (Z&lt;50 лет), у пожилых — нейтрален или вреден. Причина: гормональная терапия эффективна только при активном метаболизме [web:187]. **Решение**: добавить **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interaction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term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** в модель: h(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t|X,Z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) = h0(t) ×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exp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(β1 X + β2 Z + **β3 X×Z**). Тест значимости β3 — тест на взаимодействие. [пауза 3 сек, показать формулы крупно] **Практика**: в R `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coxph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(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Surv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(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time,status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) ~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size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+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age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+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size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*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age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,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data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)`. Если β3 значимо — рисуем **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stratified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KM** или **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time‑dependent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HR**. **Вывод**: всегда проверяйте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confounding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(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мультивариатная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модель) и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interaction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(тест β3). Иначе выводы ошибочны!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517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Классический пример из онкологии — статья по 2652 пациенткам с раком груди.[web:197] Если сделать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univariate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Cox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только по размеру опухоли, T3/T4 покажут HR~2.5 — 'крупная опухоль = плохо'. Но возраст — **путающая переменная**: у пожилых чаще крупные опухоли И хуже выживаемость. В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мультивариатной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модели с контролем возраста HR T3 падает до 1.93 — реальный эффект размера меньше![web:197] Вывод: всегда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мультивариатная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 </a:t>
            </a:r>
            <a:r>
              <a:rPr lang="ru-RU" b="0" i="0" dirty="0" err="1">
                <a:solidFill>
                  <a:srgbClr val="4D4D4C"/>
                </a:solidFill>
                <a:effectLst/>
                <a:latin typeface="pplxSansMono"/>
              </a:rPr>
              <a:t>Cox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, иначе выводы искажены.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5899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Конкурирующие риски (</a:t>
            </a:r>
            <a:r>
              <a:rPr lang="ru-RU" b="0" i="0" dirty="0" err="1">
                <a:effectLst/>
                <a:latin typeface="fkGroteskNeue"/>
              </a:rPr>
              <a:t>Competing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Risks</a:t>
            </a:r>
            <a:r>
              <a:rPr lang="ru-RU" b="0" i="0" dirty="0">
                <a:effectLst/>
                <a:latin typeface="fkGroteskNeue"/>
              </a:rPr>
              <a:t>):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Пациент может умереть от: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Рака (интересует нас)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Инфаркта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ДТП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Стандартный </a:t>
            </a:r>
            <a:r>
              <a:rPr lang="ru-RU" b="0" i="0" dirty="0" err="1">
                <a:effectLst/>
                <a:latin typeface="fkGroteskNeue"/>
              </a:rPr>
              <a:t>Cox</a:t>
            </a:r>
            <a:r>
              <a:rPr lang="ru-RU" b="0" i="0" dirty="0">
                <a:effectLst/>
                <a:latin typeface="fkGroteskNeue"/>
              </a:rPr>
              <a:t> рассматривает любое событие. Но это может быть неправильно.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Например, если лечение вызывает инфаркты, мы можем не видеть </a:t>
            </a:r>
            <a:r>
              <a:rPr lang="ru-RU" b="0" i="0" dirty="0" err="1">
                <a:effectLst/>
                <a:latin typeface="fkGroteskNeue"/>
              </a:rPr>
              <a:t>this</a:t>
            </a:r>
            <a:r>
              <a:rPr lang="ru-RU" b="0" i="0" dirty="0">
                <a:effectLst/>
                <a:latin typeface="fkGroteskNeue"/>
              </a:rPr>
              <a:t> в </a:t>
            </a:r>
            <a:r>
              <a:rPr lang="ru-RU" b="0" i="0" dirty="0" err="1">
                <a:effectLst/>
                <a:latin typeface="fkGroteskNeue"/>
              </a:rPr>
              <a:t>death-from-cancer</a:t>
            </a:r>
            <a:r>
              <a:rPr lang="ru-RU" b="0" i="0" dirty="0">
                <a:effectLst/>
                <a:latin typeface="fkGroteskNeue"/>
              </a:rPr>
              <a:t> кривой.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Подход: использовать Fine-</a:t>
            </a:r>
            <a:r>
              <a:rPr lang="ru-RU" b="0" i="0" dirty="0" err="1">
                <a:effectLst/>
                <a:latin typeface="fkGroteskNeue"/>
              </a:rPr>
              <a:t>Gray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model</a:t>
            </a:r>
            <a:r>
              <a:rPr lang="ru-RU" b="0" i="0" dirty="0">
                <a:effectLst/>
                <a:latin typeface="fkGroteskNeue"/>
              </a:rPr>
              <a:t> или непараметрический </a:t>
            </a:r>
            <a:r>
              <a:rPr lang="ru-RU" b="0" i="0" dirty="0" err="1">
                <a:effectLst/>
                <a:latin typeface="fkGroteskNeue"/>
              </a:rPr>
              <a:t>estimator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494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У пациенток с раком молочной железы при хорошем контроле опухоли возрастает доля смертей от сердечно‑сосудистых причин и других нераковых событий. Если мы просто цензурируем их в стандартной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‑модели по раковой смертности, то фактически притворяемся, что они могли бы позже умереть от рака — это приводит к завышению расчётного риска.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Модели </a:t>
            </a:r>
            <a:r>
              <a:rPr lang="ru-RU" b="0" i="0" dirty="0" err="1">
                <a:effectLst/>
                <a:latin typeface="pplxSerif"/>
              </a:rPr>
              <a:t>competing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risks</a:t>
            </a:r>
            <a:r>
              <a:rPr lang="ru-RU" b="0" i="0" dirty="0">
                <a:effectLst/>
                <a:latin typeface="pplxSerif"/>
              </a:rPr>
              <a:t> — </a:t>
            </a:r>
            <a:r>
              <a:rPr lang="ru-RU" b="0" i="0" dirty="0" err="1">
                <a:effectLst/>
                <a:latin typeface="pplxSerif"/>
              </a:rPr>
              <a:t>cause‑specific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 или Fine–</a:t>
            </a:r>
            <a:r>
              <a:rPr lang="ru-RU" b="0" i="0" dirty="0" err="1">
                <a:effectLst/>
                <a:latin typeface="pplxSerif"/>
              </a:rPr>
              <a:t>Gray</a:t>
            </a:r>
            <a:r>
              <a:rPr lang="ru-RU" b="0" i="0" dirty="0">
                <a:effectLst/>
                <a:latin typeface="pplxSerif"/>
              </a:rPr>
              <a:t> — учитывают, что наступление конкурирующего события “выводит” пациентку из риска умереть от рака. Это даёт более реалистичную кумулятивную вероятность раковой и кардиоваскулярной смертности одновременно.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640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Например, в анализе 399 014 пациенток с раком молочной железы из базы SEER оценивали риск сердечно‑сосудистой смерти с </a:t>
            </a:r>
            <a:r>
              <a:rPr lang="ru-RU" b="0" i="0" dirty="0" err="1">
                <a:effectLst/>
                <a:latin typeface="pplxSerif"/>
              </a:rPr>
              <a:t>competing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risks</a:t>
            </a:r>
            <a:r>
              <a:rPr lang="ru-RU" b="0" i="0" dirty="0">
                <a:effectLst/>
                <a:latin typeface="pplxSerif"/>
              </a:rPr>
              <a:t>‑регрессией.​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Модель Fine–</a:t>
            </a:r>
            <a:r>
              <a:rPr lang="ru-RU" b="0" i="0" dirty="0" err="1">
                <a:effectLst/>
                <a:latin typeface="pplxSerif"/>
              </a:rPr>
              <a:t>Gray</a:t>
            </a:r>
            <a:r>
              <a:rPr lang="ru-RU" b="0" i="0" dirty="0">
                <a:effectLst/>
                <a:latin typeface="pplxSerif"/>
              </a:rPr>
              <a:t> показала, что помимо возраста и стадии, на риск CV‑смерти влияют подтип опухоли и проведённое лечение — операция, химиотерапия, радиотерапия. Такой пример хорошо ложится на обсуждение </a:t>
            </a:r>
            <a:r>
              <a:rPr lang="ru-RU" b="0" i="0" dirty="0" err="1">
                <a:effectLst/>
                <a:latin typeface="pplxSerif"/>
              </a:rPr>
              <a:t>cardio‑oncology</a:t>
            </a:r>
            <a:r>
              <a:rPr lang="ru-RU" b="0" i="0" dirty="0">
                <a:effectLst/>
                <a:latin typeface="pplxSerif"/>
              </a:rPr>
              <a:t> и показывает, почему в выживаемости </a:t>
            </a:r>
            <a:r>
              <a:rPr lang="ru-RU" b="0" i="0" dirty="0" err="1">
                <a:effectLst/>
                <a:latin typeface="pplxSerif"/>
              </a:rPr>
              <a:t>онкопациентов</a:t>
            </a:r>
            <a:r>
              <a:rPr lang="ru-RU" b="0" i="0" dirty="0">
                <a:effectLst/>
                <a:latin typeface="pplxSerif"/>
              </a:rPr>
              <a:t> нельзя игнорировать конкурирующие причины смерти.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9818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Стандартная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‑модель предполагает один базовый риск для всех. Но в онкологии часто есть группы с принципиально разными кривыми выживаемости: разные стадии, разные центры, разные когорты набора.​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Стратифицированная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‑модель разрешает этому базовому риску отличаться между стратами, но при этом коэффициенты при </a:t>
            </a:r>
            <a:r>
              <a:rPr lang="ru-RU" b="0" i="0" dirty="0" err="1">
                <a:effectLst/>
                <a:latin typeface="pplxSerif"/>
              </a:rPr>
              <a:t>ковариатах</a:t>
            </a:r>
            <a:r>
              <a:rPr lang="ru-RU" b="0" i="0" dirty="0">
                <a:effectLst/>
                <a:latin typeface="pplxSerif"/>
              </a:rPr>
              <a:t> остаются общими. Формально это выглядит как </a:t>
            </a:r>
            <a:r>
              <a:rPr lang="ru-RU" dirty="0">
                <a:effectLst/>
                <a:latin typeface="KaTeX_Main"/>
              </a:rPr>
              <a:t>λ0,s(t)</a:t>
            </a:r>
            <a:r>
              <a:rPr lang="ru-RU" i="1" dirty="0">
                <a:effectLst/>
                <a:latin typeface="KaTeX_Math"/>
              </a:rPr>
              <a:t>λ</a:t>
            </a:r>
            <a:r>
              <a:rPr lang="ru-RU" dirty="0">
                <a:effectLst/>
                <a:latin typeface="KaTeX_Main"/>
              </a:rPr>
              <a:t>0,</a:t>
            </a:r>
            <a:r>
              <a:rPr lang="ru-RU" i="1" dirty="0">
                <a:effectLst/>
                <a:latin typeface="KaTeX_Math"/>
              </a:rPr>
              <a:t>s</a:t>
            </a:r>
            <a:r>
              <a:rPr lang="ru-RU" dirty="0">
                <a:effectLst/>
                <a:latin typeface="KaTeX_Main"/>
              </a:rPr>
              <a:t>(</a:t>
            </a:r>
            <a:r>
              <a:rPr lang="ru-RU" i="1" dirty="0">
                <a:effectLst/>
                <a:latin typeface="KaTeX_Math"/>
              </a:rPr>
              <a:t>t</a:t>
            </a:r>
            <a:r>
              <a:rPr lang="ru-RU" dirty="0">
                <a:effectLst/>
                <a:latin typeface="KaTeX_Main"/>
              </a:rPr>
              <a:t>)</a:t>
            </a:r>
            <a:r>
              <a:rPr lang="ru-RU" b="0" i="0" dirty="0">
                <a:effectLst/>
                <a:latin typeface="pplxSerif"/>
              </a:rPr>
              <a:t> для каждой страты </a:t>
            </a:r>
            <a:r>
              <a:rPr lang="ru-RU" dirty="0" err="1">
                <a:effectLst/>
                <a:latin typeface="KaTeX_Main"/>
              </a:rPr>
              <a:t>s</a:t>
            </a:r>
            <a:r>
              <a:rPr lang="ru-RU" i="1" dirty="0" err="1">
                <a:effectLst/>
                <a:latin typeface="KaTeX_Math"/>
              </a:rPr>
              <a:t>s</a:t>
            </a:r>
            <a:r>
              <a:rPr lang="ru-RU" b="0" i="0" dirty="0">
                <a:effectLst/>
                <a:latin typeface="pplxSerif"/>
              </a:rPr>
              <a:t>, умноженная на </a:t>
            </a:r>
            <a:r>
              <a:rPr lang="ru-RU" dirty="0" err="1">
                <a:effectLst/>
                <a:latin typeface="KaTeX_Main"/>
              </a:rPr>
              <a:t>exp</a:t>
            </a:r>
            <a:r>
              <a:rPr lang="ru-RU" dirty="0">
                <a:effectLst/>
                <a:latin typeface="KaTeX_Main"/>
              </a:rPr>
              <a:t>⁡(β⊤X)</a:t>
            </a:r>
            <a:r>
              <a:rPr lang="ru-RU" dirty="0" err="1">
                <a:effectLst/>
                <a:latin typeface="KaTeX_Main"/>
              </a:rPr>
              <a:t>exp</a:t>
            </a:r>
            <a:r>
              <a:rPr lang="ru-RU" dirty="0">
                <a:effectLst/>
                <a:latin typeface="KaTeX_Main"/>
              </a:rPr>
              <a:t>(</a:t>
            </a:r>
            <a:r>
              <a:rPr lang="ru-RU" i="1" dirty="0">
                <a:effectLst/>
                <a:latin typeface="KaTeX_Math"/>
              </a:rPr>
              <a:t>β</a:t>
            </a:r>
            <a:r>
              <a:rPr lang="ru-RU" dirty="0">
                <a:effectLst/>
                <a:latin typeface="KaTeX_Main"/>
              </a:rPr>
              <a:t>⊤</a:t>
            </a:r>
            <a:r>
              <a:rPr lang="ru-RU" i="1" dirty="0">
                <a:effectLst/>
                <a:latin typeface="KaTeX_Math"/>
              </a:rPr>
              <a:t>X</a:t>
            </a:r>
            <a:r>
              <a:rPr lang="ru-RU" dirty="0">
                <a:effectLst/>
                <a:latin typeface="KaTeX_Main"/>
              </a:rPr>
              <a:t>)</a:t>
            </a:r>
            <a:r>
              <a:rPr lang="ru-RU" b="0" i="0" dirty="0">
                <a:effectLst/>
                <a:latin typeface="pplxSerif"/>
              </a:rPr>
              <a:t>.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Это удобно, когда стадия или центр явно влияют на форму кривой, но нас интересует не их HR, а корректная оценка других эффектов — лечения, </a:t>
            </a:r>
            <a:r>
              <a:rPr lang="ru-RU" b="0" i="0" dirty="0" err="1">
                <a:effectLst/>
                <a:latin typeface="pplxSerif"/>
              </a:rPr>
              <a:t>биомаркеров</a:t>
            </a:r>
            <a:r>
              <a:rPr lang="ru-RU" b="0" i="0" dirty="0">
                <a:effectLst/>
                <a:latin typeface="pplxSerif"/>
              </a:rPr>
              <a:t> и т.д.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397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Есть работа по 15 830 пациенткам с раком молочной железы, где сравнивали обычную и стратифицированную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‑модели. Там базовый риск сильно отличался между стадиями I–IV, и PH‑предположение для лечения нарушалось.​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После перехода к стратифицированной модели по стадии </a:t>
            </a:r>
            <a:r>
              <a:rPr lang="ru-RU" b="0" i="0" dirty="0" err="1">
                <a:effectLst/>
                <a:latin typeface="pplxSerif"/>
              </a:rPr>
              <a:t>baseline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hazard</a:t>
            </a:r>
            <a:r>
              <a:rPr lang="ru-RU" b="0" i="0" dirty="0">
                <a:effectLst/>
                <a:latin typeface="pplxSerif"/>
              </a:rPr>
              <a:t> стал отдельным в каждой стадии, и оценки HR для химио‑ и радиотерапии стали более стабильными и клинически осмысленными. Студенты могут запомнить: когда “форма” кривых сильно различается между крупными клиническими группами — первая опция не выбрасывать фактор, а стратифицировать по нему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887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fkGroteskNeue"/>
              </a:rPr>
              <a:t>Time-dependent ROC: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ROC curves </a:t>
            </a:r>
            <a:r>
              <a:rPr lang="ru-RU" b="0" i="0" dirty="0">
                <a:effectLst/>
                <a:latin typeface="fkGroteskNeue"/>
              </a:rPr>
              <a:t>при </a:t>
            </a:r>
            <a:r>
              <a:rPr lang="en-US" b="0" i="0" dirty="0">
                <a:effectLst/>
                <a:latin typeface="fkGroteskNeue"/>
              </a:rPr>
              <a:t>time-dependent outcome (survival).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AUC_ROC(t) = </a:t>
            </a:r>
            <a:r>
              <a:rPr lang="ru-RU" b="0" i="0" dirty="0">
                <a:effectLst/>
                <a:latin typeface="fkGroteskNeue"/>
              </a:rPr>
              <a:t>вероятность, что модель правильно ранжирует пациентов на момент </a:t>
            </a:r>
            <a:r>
              <a:rPr lang="en-US" b="0" i="0" dirty="0">
                <a:effectLst/>
                <a:latin typeface="fkGroteskNeue"/>
              </a:rPr>
              <a:t>t.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Интегрированная </a:t>
            </a:r>
            <a:r>
              <a:rPr lang="en-US" b="0" i="0" dirty="0">
                <a:effectLst/>
                <a:latin typeface="fkGroteskNeue"/>
              </a:rPr>
              <a:t>AUC: </a:t>
            </a:r>
            <a:r>
              <a:rPr lang="ru-RU" b="0" i="0" dirty="0">
                <a:effectLst/>
                <a:latin typeface="fkGroteskNeue"/>
              </a:rPr>
              <a:t>средняя </a:t>
            </a:r>
            <a:r>
              <a:rPr lang="en-US" b="0" i="0" dirty="0">
                <a:effectLst/>
                <a:latin typeface="fkGroteskNeue"/>
              </a:rPr>
              <a:t>AUC </a:t>
            </a:r>
            <a:r>
              <a:rPr lang="ru-RU" b="0" i="0" dirty="0">
                <a:effectLst/>
                <a:latin typeface="fkGroteskNeue"/>
              </a:rPr>
              <a:t>по всем </a:t>
            </a:r>
            <a:r>
              <a:rPr lang="en-US" b="0" i="0" dirty="0">
                <a:effectLst/>
                <a:latin typeface="fkGroteskNeue"/>
              </a:rPr>
              <a:t>t.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916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До сих пор </a:t>
            </a:r>
            <a:r>
              <a:rPr lang="ru-RU" b="0" i="0" dirty="0" err="1">
                <a:effectLst/>
                <a:latin typeface="pplxSerif"/>
              </a:rPr>
              <a:t>ковариаты</a:t>
            </a:r>
            <a:r>
              <a:rPr lang="ru-RU" b="0" i="0" dirty="0">
                <a:effectLst/>
                <a:latin typeface="pplxSerif"/>
              </a:rPr>
              <a:t> считались фиксированными на момент включения. В реальных онкологических когортах многие факторы меняются: пациент начал химиотерапию через 3 месяца, у кого‑то возник рецидив, у кого‑то снизился маркёр.​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Такие переменные — </a:t>
            </a:r>
            <a:r>
              <a:rPr lang="ru-RU" b="0" i="0" dirty="0" err="1">
                <a:effectLst/>
                <a:latin typeface="pplxSerif"/>
              </a:rPr>
              <a:t>time‑dependent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covariates</a:t>
            </a:r>
            <a:r>
              <a:rPr lang="ru-RU" b="0" i="0" dirty="0">
                <a:effectLst/>
                <a:latin typeface="pplxSerif"/>
              </a:rPr>
              <a:t>. Для них данные представляют как интервалы </a:t>
            </a:r>
            <a:r>
              <a:rPr lang="ru-RU" b="0" i="0" dirty="0" err="1">
                <a:effectLst/>
                <a:latin typeface="pplxSerif"/>
              </a:rPr>
              <a:t>start</a:t>
            </a:r>
            <a:r>
              <a:rPr lang="ru-RU" b="0" i="0" dirty="0">
                <a:effectLst/>
                <a:latin typeface="pplxSerif"/>
              </a:rPr>
              <a:t>–</a:t>
            </a:r>
            <a:r>
              <a:rPr lang="ru-RU" b="0" i="0" dirty="0" err="1">
                <a:effectLst/>
                <a:latin typeface="pplxSerif"/>
              </a:rPr>
              <a:t>stop</a:t>
            </a:r>
            <a:r>
              <a:rPr lang="ru-RU" b="0" i="0" dirty="0">
                <a:effectLst/>
                <a:latin typeface="pplxSerif"/>
              </a:rPr>
              <a:t>: до начала терапии — одна запись, после — другая, с другим значением X.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‑модель тогда оценивает эффект лечения по времени, когда пациент реально его получал. Это существенно уменьшает </a:t>
            </a:r>
            <a:r>
              <a:rPr lang="ru-RU" b="0" i="0" dirty="0" err="1">
                <a:effectLst/>
                <a:latin typeface="pplxSerif"/>
              </a:rPr>
              <a:t>immortal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time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bias</a:t>
            </a:r>
            <a:r>
              <a:rPr lang="ru-RU" b="0" i="0" dirty="0">
                <a:effectLst/>
                <a:latin typeface="pplxSerif"/>
              </a:rPr>
              <a:t> и даёт более честную оценку терапевтического эффекта.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422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До сих пор </a:t>
            </a:r>
            <a:r>
              <a:rPr lang="ru-RU" b="0" i="0" dirty="0" err="1">
                <a:effectLst/>
                <a:latin typeface="pplxSerif"/>
              </a:rPr>
              <a:t>ковариаты</a:t>
            </a:r>
            <a:r>
              <a:rPr lang="ru-RU" b="0" i="0" dirty="0">
                <a:effectLst/>
                <a:latin typeface="pplxSerif"/>
              </a:rPr>
              <a:t> считались фиксированными на момент включения. В реальных онкологических когортах многие факторы меняются: пациент начал химиотерапию через 3 месяца, у кого‑то возник рецидив, у кого‑то снизился маркёр.​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Такие переменные — </a:t>
            </a:r>
            <a:r>
              <a:rPr lang="ru-RU" b="0" i="0" dirty="0" err="1">
                <a:effectLst/>
                <a:latin typeface="pplxSerif"/>
              </a:rPr>
              <a:t>time‑dependent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covariates</a:t>
            </a:r>
            <a:r>
              <a:rPr lang="ru-RU" b="0" i="0" dirty="0">
                <a:effectLst/>
                <a:latin typeface="pplxSerif"/>
              </a:rPr>
              <a:t>. Для них данные представляют как интервалы </a:t>
            </a:r>
            <a:r>
              <a:rPr lang="ru-RU" b="0" i="0" dirty="0" err="1">
                <a:effectLst/>
                <a:latin typeface="pplxSerif"/>
              </a:rPr>
              <a:t>start</a:t>
            </a:r>
            <a:r>
              <a:rPr lang="ru-RU" b="0" i="0" dirty="0">
                <a:effectLst/>
                <a:latin typeface="pplxSerif"/>
              </a:rPr>
              <a:t>–</a:t>
            </a:r>
            <a:r>
              <a:rPr lang="ru-RU" b="0" i="0" dirty="0" err="1">
                <a:effectLst/>
                <a:latin typeface="pplxSerif"/>
              </a:rPr>
              <a:t>stop</a:t>
            </a:r>
            <a:r>
              <a:rPr lang="ru-RU" b="0" i="0" dirty="0">
                <a:effectLst/>
                <a:latin typeface="pplxSerif"/>
              </a:rPr>
              <a:t>: до начала терапии — одна запись, после — другая, с другим значением X.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‑модель тогда оценивает эффект лечения по времени, когда пациент реально его получал. Это существенно уменьшает </a:t>
            </a:r>
            <a:r>
              <a:rPr lang="ru-RU" b="0" i="0" dirty="0" err="1">
                <a:effectLst/>
                <a:latin typeface="pplxSerif"/>
              </a:rPr>
              <a:t>immortal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time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bias</a:t>
            </a:r>
            <a:r>
              <a:rPr lang="ru-RU" b="0" i="0" dirty="0">
                <a:effectLst/>
                <a:latin typeface="pplxSerif"/>
              </a:rPr>
              <a:t> и даёт более честную оценку терапевтического эффекта.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3693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Даже если базовый риск пропорционален, не факт, что HR для </a:t>
            </a:r>
            <a:r>
              <a:rPr lang="ru-RU" b="0" i="0" dirty="0" err="1">
                <a:effectLst/>
                <a:latin typeface="pplxSerif"/>
              </a:rPr>
              <a:t>ковариаты</a:t>
            </a:r>
            <a:r>
              <a:rPr lang="ru-RU" b="0" i="0" dirty="0">
                <a:effectLst/>
                <a:latin typeface="pplxSerif"/>
              </a:rPr>
              <a:t> постоянен. В долгих онкологических когортах это типично: сначала </a:t>
            </a:r>
            <a:r>
              <a:rPr lang="ru-RU" b="0" i="0" dirty="0" err="1">
                <a:effectLst/>
                <a:latin typeface="pplxSerif"/>
              </a:rPr>
              <a:t>гормонпозитивный</a:t>
            </a:r>
            <a:r>
              <a:rPr lang="ru-RU" b="0" i="0" dirty="0">
                <a:effectLst/>
                <a:latin typeface="pplxSerif"/>
              </a:rPr>
              <a:t> статус и низкая степень злокачественности сильно защищают, а через 10 лет их преимущество почти исчезает.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Это можно моделировать через </a:t>
            </a:r>
            <a:r>
              <a:rPr lang="ru-RU" b="0" i="0" dirty="0" err="1">
                <a:effectLst/>
                <a:latin typeface="pplxSerif"/>
              </a:rPr>
              <a:t>time‑varying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coefficients</a:t>
            </a:r>
            <a:r>
              <a:rPr lang="ru-RU" b="0" i="0" dirty="0">
                <a:effectLst/>
                <a:latin typeface="pplxSerif"/>
              </a:rPr>
              <a:t>: добавляем в модель член </a:t>
            </a:r>
            <a:r>
              <a:rPr lang="ru-RU" b="0" i="0" dirty="0" err="1">
                <a:effectLst/>
                <a:latin typeface="pplxSerif"/>
              </a:rPr>
              <a:t>X×g</a:t>
            </a:r>
            <a:r>
              <a:rPr lang="ru-RU" b="0" i="0" dirty="0">
                <a:effectLst/>
                <a:latin typeface="pplxSerif"/>
              </a:rPr>
              <a:t>(t), например </a:t>
            </a:r>
            <a:r>
              <a:rPr lang="ru-RU" b="0" i="0" dirty="0" err="1">
                <a:effectLst/>
                <a:latin typeface="pplxSerif"/>
              </a:rPr>
              <a:t>X×log</a:t>
            </a:r>
            <a:r>
              <a:rPr lang="ru-RU" b="0" i="0" dirty="0">
                <a:effectLst/>
                <a:latin typeface="pplxSerif"/>
              </a:rPr>
              <a:t>(t). Тогда HR становится функцией времени. Это уже не “один HR на всю жизнь”, а кривая HR(t), которую можно интерпретировать клинически.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1787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pplxSerif"/>
              </a:rPr>
              <a:t>В исследовании 956 пациенток с раком молочной железы после </a:t>
            </a:r>
            <a:r>
              <a:rPr lang="ru-RU" b="0" i="0" dirty="0" err="1">
                <a:effectLst/>
                <a:latin typeface="pplxSerif"/>
              </a:rPr>
              <a:t>неоадъювантной</a:t>
            </a:r>
            <a:r>
              <a:rPr lang="ru-RU" b="0" i="0" dirty="0">
                <a:effectLst/>
                <a:latin typeface="pplxSerif"/>
              </a:rPr>
              <a:t> химиотерапии авторы прямо показали, что эффект гормональных рецепторов и степени злокачественности меняется со временем.​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В первые месяцы и годы HR для ER+ порядка 0.26 — очень сильный </a:t>
            </a:r>
            <a:r>
              <a:rPr lang="ru-RU" b="0" i="0" dirty="0" err="1">
                <a:effectLst/>
                <a:latin typeface="pplxSerif"/>
              </a:rPr>
              <a:t>протективный</a:t>
            </a:r>
            <a:r>
              <a:rPr lang="ru-RU" b="0" i="0" dirty="0">
                <a:effectLst/>
                <a:latin typeface="pplxSerif"/>
              </a:rPr>
              <a:t> эффект. Но к 10‑му году HR достигает примерно 2.2: риск отдалённых рецидивов у ER+ становится выше, чем у ER−.​</a:t>
            </a:r>
            <a:br>
              <a:rPr lang="ru-RU" dirty="0"/>
            </a:br>
            <a:r>
              <a:rPr lang="ru-RU" b="0" i="0" dirty="0">
                <a:effectLst/>
                <a:latin typeface="pplxSerif"/>
              </a:rPr>
              <a:t>Обычная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‑модель усреднит это в какой‑то “средний HR” и исказит клиническую картину. Модель с </a:t>
            </a:r>
            <a:r>
              <a:rPr lang="ru-RU" b="0" i="0" dirty="0" err="1">
                <a:effectLst/>
                <a:latin typeface="pplxSerif"/>
              </a:rPr>
              <a:t>time‑varying</a:t>
            </a:r>
            <a:r>
              <a:rPr lang="ru-RU" b="0" i="0" dirty="0">
                <a:effectLst/>
                <a:latin typeface="pplxSerif"/>
              </a:rPr>
              <a:t> коэффициентами позволяет явно показать студентам, как эволюционирует риск на длинном горизонте.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532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 err="1">
                <a:effectLst/>
                <a:latin typeface="fkGroteskNeue"/>
              </a:rPr>
              <a:t>Internal</a:t>
            </a:r>
            <a:r>
              <a:rPr lang="ru-RU" b="0" i="0" dirty="0">
                <a:effectLst/>
                <a:latin typeface="fkGroteskNeue"/>
              </a:rPr>
              <a:t> валидация: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K-</a:t>
            </a:r>
            <a:r>
              <a:rPr lang="ru-RU" b="0" i="0" dirty="0" err="1">
                <a:effectLst/>
                <a:latin typeface="fkGroteskNeue"/>
              </a:rPr>
              <a:t>fold</a:t>
            </a:r>
            <a:r>
              <a:rPr lang="ru-RU" b="0" i="0" dirty="0">
                <a:effectLst/>
                <a:latin typeface="fkGroteskNeue"/>
              </a:rPr>
              <a:t> CV. На каждом </a:t>
            </a:r>
            <a:r>
              <a:rPr lang="ru-RU" b="0" i="0" dirty="0" err="1">
                <a:effectLst/>
                <a:latin typeface="fkGroteskNeue"/>
              </a:rPr>
              <a:t>фолде</a:t>
            </a:r>
            <a:r>
              <a:rPr lang="ru-RU" b="0" i="0" dirty="0">
                <a:effectLst/>
                <a:latin typeface="fkGroteskNeue"/>
              </a:rPr>
              <a:t> обучаем модель и тестируем 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Результат: 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 на 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фолдах</a:t>
            </a:r>
            <a:r>
              <a:rPr lang="ru-RU" b="0" i="0" dirty="0">
                <a:effectLst/>
                <a:latin typeface="fkGroteskNeue"/>
              </a:rPr>
              <a:t> обычно чуть ниже, чем на </a:t>
            </a:r>
            <a:r>
              <a:rPr lang="ru-RU" b="0" i="0" dirty="0" err="1">
                <a:effectLst/>
                <a:latin typeface="fkGroteskNeue"/>
              </a:rPr>
              <a:t>training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External</a:t>
            </a:r>
            <a:r>
              <a:rPr lang="ru-RU" b="0" i="0" dirty="0">
                <a:effectLst/>
                <a:latin typeface="fkGroteskNeue"/>
              </a:rPr>
              <a:t> валидация: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Совершенно независимая когорта. Это самый честный тест.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Пример: обучили на 400 пациентах за 2010-2015, тестируем на 200 пациентах за 2015-2020.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ПАУЗА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8428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Байесовские методы: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На малых выборках (редкие болезни) </a:t>
            </a:r>
            <a:r>
              <a:rPr lang="ru-RU" b="0" i="0" dirty="0" err="1">
                <a:effectLst/>
                <a:latin typeface="fkGroteskNeue"/>
              </a:rPr>
              <a:t>information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little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Байесовский </a:t>
            </a:r>
            <a:r>
              <a:rPr lang="ru-RU" b="0" i="0" dirty="0" err="1">
                <a:effectLst/>
                <a:latin typeface="fkGroteskNeue"/>
              </a:rPr>
              <a:t>Cox</a:t>
            </a:r>
            <a:r>
              <a:rPr lang="ru-RU" b="0" i="0" dirty="0">
                <a:effectLst/>
                <a:latin typeface="fkGroteskNeue"/>
              </a:rPr>
              <a:t> использует </a:t>
            </a:r>
            <a:r>
              <a:rPr lang="ru-RU" b="0" i="0" dirty="0" err="1">
                <a:effectLst/>
                <a:latin typeface="fkGroteskNeue"/>
              </a:rPr>
              <a:t>prior</a:t>
            </a:r>
            <a:r>
              <a:rPr lang="ru-RU" b="0" i="0" dirty="0">
                <a:effectLst/>
                <a:latin typeface="fkGroteskNeue"/>
              </a:rPr>
              <a:t> информацию из литературы.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Результат: более стабильные оценки.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2122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3498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fkGroteskNeue"/>
              </a:rPr>
              <a:t>LASSO </a:t>
            </a:r>
            <a:r>
              <a:rPr lang="ru-RU" b="0" i="0" dirty="0">
                <a:effectLst/>
                <a:latin typeface="fkGroteskNeue"/>
              </a:rPr>
              <a:t>и </a:t>
            </a:r>
            <a:r>
              <a:rPr lang="en-US" b="0" i="0" dirty="0">
                <a:effectLst/>
                <a:latin typeface="fkGroteskNeue"/>
              </a:rPr>
              <a:t>Ridge Cox: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 высокой размерности (20,000 генов, 100 пациентов), </a:t>
            </a:r>
            <a:r>
              <a:rPr lang="en-US" b="0" i="0" dirty="0">
                <a:effectLst/>
                <a:latin typeface="fkGroteskNeue"/>
              </a:rPr>
              <a:t>Cox </a:t>
            </a:r>
            <a:r>
              <a:rPr lang="ru-RU" b="0" i="0" dirty="0">
                <a:effectLst/>
                <a:latin typeface="fkGroteskNeue"/>
              </a:rPr>
              <a:t>может переобучиться.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Ridge Cox: </a:t>
            </a:r>
            <a:r>
              <a:rPr lang="ru-RU" b="0" i="0" dirty="0">
                <a:effectLst/>
                <a:latin typeface="fkGroteskNeue"/>
              </a:rPr>
              <a:t>добавляем </a:t>
            </a:r>
            <a:r>
              <a:rPr lang="en-US" b="0" i="0" dirty="0">
                <a:effectLst/>
                <a:latin typeface="fkGroteskNeue"/>
              </a:rPr>
              <a:t>L2 </a:t>
            </a:r>
            <a:r>
              <a:rPr lang="ru-RU" b="0" i="0" dirty="0">
                <a:effectLst/>
                <a:latin typeface="fkGroteskNeue"/>
              </a:rPr>
              <a:t>штраф на </a:t>
            </a:r>
            <a:r>
              <a:rPr lang="el-GR" b="0" i="0" dirty="0">
                <a:effectLst/>
                <a:latin typeface="fkGroteskNeue"/>
              </a:rPr>
              <a:t>β </a:t>
            </a:r>
            <a:r>
              <a:rPr lang="ru-RU" b="0" i="0" dirty="0">
                <a:effectLst/>
                <a:latin typeface="fkGroteskNeue"/>
              </a:rPr>
              <a:t>коэффициенты.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LASSO Cox: L1 </a:t>
            </a:r>
            <a:r>
              <a:rPr lang="ru-RU" b="0" i="0" dirty="0">
                <a:effectLst/>
                <a:latin typeface="fkGroteskNeue"/>
              </a:rPr>
              <a:t>штраф. Некоторые коэффициенты обнуляются (</a:t>
            </a:r>
            <a:r>
              <a:rPr lang="en-US" b="0" i="0" dirty="0">
                <a:effectLst/>
                <a:latin typeface="fkGroteskNeue"/>
              </a:rPr>
              <a:t>feature selection).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Пример: 20,000 генов → </a:t>
            </a:r>
            <a:r>
              <a:rPr lang="en-US" b="0" i="0" dirty="0">
                <a:effectLst/>
                <a:latin typeface="fkGroteskNeue"/>
              </a:rPr>
              <a:t>LASSO </a:t>
            </a:r>
            <a:r>
              <a:rPr lang="ru-RU" b="0" i="0" dirty="0">
                <a:effectLst/>
                <a:latin typeface="fkGroteskNeue"/>
              </a:rPr>
              <a:t>выбирает 15 генов (остальные </a:t>
            </a:r>
            <a:r>
              <a:rPr lang="el-GR" b="0" i="0" dirty="0">
                <a:effectLst/>
                <a:latin typeface="fkGroteskNeue"/>
              </a:rPr>
              <a:t>β=0).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Модель </a:t>
            </a:r>
            <a:r>
              <a:rPr lang="ru-RU" b="0" i="0" dirty="0" err="1">
                <a:effectLst/>
                <a:latin typeface="fkGroteskNeue"/>
              </a:rPr>
              <a:t>интерпретируемее</a:t>
            </a:r>
            <a:r>
              <a:rPr lang="ru-RU" b="0" i="0" dirty="0">
                <a:effectLst/>
                <a:latin typeface="fkGroteskNeue"/>
              </a:rPr>
              <a:t> и, часто, не теряет в качестве.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8767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5286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Отличный пример реального применения всего, что мы прошли: статья 2022 года по аденокарциноме лёгкого из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TCGA.[page:182]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Авторы берут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mRNA‑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данные 470 пациентов + клинику (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T/N/M,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стадия, лечение). Сначала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GSEA → 165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генов,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univariate Cox → 87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кандидатов. Затем **новинка —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Bayesian hierarchical Cox** (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лучше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LASSO): spike-and-slab prior, C-index 0.651.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Получают 14‑генную сигнатуру: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CPS1, MCM5/7, PLK1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и др.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Risk score = </a:t>
            </a:r>
            <a:r>
              <a:rPr lang="el-GR" b="0" i="0" dirty="0">
                <a:solidFill>
                  <a:srgbClr val="4D4D4C"/>
                </a:solidFill>
                <a:effectLst/>
                <a:latin typeface="pplxSansMono"/>
              </a:rPr>
              <a:t>Σ(</a:t>
            </a:r>
            <a:r>
              <a:rPr lang="en-US" b="0" i="0" dirty="0" err="1">
                <a:solidFill>
                  <a:srgbClr val="4D4D4C"/>
                </a:solidFill>
                <a:effectLst/>
                <a:latin typeface="pplxSansMono"/>
              </a:rPr>
              <a:t>coef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 × expr),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делят по медиане на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High/Low. KM‑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кривая показывает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p&lt;0.001, AUC 0.69.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Валидация на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GEO — C-index 0.735![page:182]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Многофакторная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Cox: risk score HR=3.96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доминирует над стадией. Строят номограмму для 3/5/10‑летней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OS.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Бонус: находят новые гены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CTPS2/DARS2, ↑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в опухолях, потенциальные мишени. Это **шаблон для практики**: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TCGA →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отбор → </a:t>
            </a:r>
            <a:r>
              <a:rPr lang="en-US" b="0" i="0" dirty="0">
                <a:solidFill>
                  <a:srgbClr val="4D4D4C"/>
                </a:solidFill>
                <a:effectLst/>
                <a:latin typeface="pplxSansMono"/>
              </a:rPr>
              <a:t>Cox → risk score → </a:t>
            </a:r>
            <a:r>
              <a:rPr lang="ru-RU" b="0" i="0" dirty="0">
                <a:solidFill>
                  <a:srgbClr val="4D4D4C"/>
                </a:solidFill>
                <a:effectLst/>
                <a:latin typeface="pplxSansMono"/>
              </a:rPr>
              <a:t>номограмма → публикация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5582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ИТОГИ: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✓ Анализ выживаемости необходим в медицине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✓ </a:t>
            </a:r>
            <a:r>
              <a:rPr lang="ru-RU" b="0" i="0" dirty="0" err="1">
                <a:effectLst/>
                <a:latin typeface="fkGroteskNeue"/>
              </a:rPr>
              <a:t>Kaplан</a:t>
            </a:r>
            <a:r>
              <a:rPr lang="ru-RU" b="0" i="0" dirty="0">
                <a:effectLst/>
                <a:latin typeface="fkGroteskNeue"/>
              </a:rPr>
              <a:t>-Мейер для сравнения групп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✓ </a:t>
            </a:r>
            <a:r>
              <a:rPr lang="ru-RU" b="0" i="0" dirty="0" err="1">
                <a:effectLst/>
                <a:latin typeface="fkGroteskNeue"/>
              </a:rPr>
              <a:t>Cox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model</a:t>
            </a:r>
            <a:r>
              <a:rPr lang="ru-RU" b="0" i="0" dirty="0">
                <a:effectLst/>
                <a:latin typeface="fkGroteskNeue"/>
              </a:rPr>
              <a:t> для </a:t>
            </a:r>
            <a:r>
              <a:rPr lang="ru-RU" b="0" i="0" dirty="0" err="1">
                <a:effectLst/>
                <a:latin typeface="fkGroteskNeue"/>
              </a:rPr>
              <a:t>мультивариатного</a:t>
            </a:r>
            <a:r>
              <a:rPr lang="ru-RU" b="0" i="0" dirty="0">
                <a:effectLst/>
                <a:latin typeface="fkGroteskNeue"/>
              </a:rPr>
              <a:t> анализа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✓ </a:t>
            </a:r>
            <a:r>
              <a:rPr lang="ru-RU" b="0" i="0" dirty="0" err="1">
                <a:effectLst/>
                <a:latin typeface="fkGroteskNeue"/>
              </a:rPr>
              <a:t>Hazard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Ratio</a:t>
            </a:r>
            <a:r>
              <a:rPr lang="ru-RU" b="0" i="0" dirty="0">
                <a:effectLst/>
                <a:latin typeface="fkGroteskNeue"/>
              </a:rPr>
              <a:t> для интерпретации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✓ 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 для оценки качества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✓ Валидация на независимой выборке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Дальше: практика. Вы будете строить </a:t>
            </a:r>
            <a:r>
              <a:rPr lang="ru-RU" b="0" i="0" dirty="0" err="1">
                <a:effectLst/>
                <a:latin typeface="fkGroteskNeue"/>
              </a:rPr>
              <a:t>Cox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model</a:t>
            </a:r>
            <a:r>
              <a:rPr lang="ru-RU" b="0" i="0" dirty="0">
                <a:effectLst/>
                <a:latin typeface="fkGroteskNeue"/>
              </a:rPr>
              <a:t> на реальных данных (</a:t>
            </a:r>
            <a:r>
              <a:rPr lang="ru-RU" b="0" i="0" dirty="0" err="1">
                <a:effectLst/>
                <a:latin typeface="fkGroteskNeue"/>
              </a:rPr>
              <a:t>датасет</a:t>
            </a:r>
            <a:r>
              <a:rPr lang="ru-RU" b="0" i="0" dirty="0">
                <a:effectLst/>
                <a:latin typeface="fkGroteskNeue"/>
              </a:rPr>
              <a:t> NCBI, например, TCGA или публичные клинические данные).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2219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9820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Лекция 3. Построение и интерпретация моделей выживаемости в медицине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Почему классификация недостаточна?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Пациент 1: "Рак диагностирован" ← но когда будет рецидив?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Пациент 2: "Рак диагностирован" ← может прожить 10 лет?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Классификация отвечает: есть рак или нет.</a:t>
            </a:r>
          </a:p>
          <a:p>
            <a:pPr marL="0" indent="0" algn="l">
              <a:buNone/>
            </a:pPr>
            <a:r>
              <a:rPr lang="ru-RU" b="1" i="0" dirty="0" err="1">
                <a:effectLst/>
                <a:latin typeface="fkGroteskNeue"/>
              </a:rPr>
              <a:t>Survival</a:t>
            </a:r>
            <a:r>
              <a:rPr lang="ru-RU" b="1" i="0" dirty="0">
                <a:effectLst/>
                <a:latin typeface="fkGroteskNeue"/>
              </a:rPr>
              <a:t> </a:t>
            </a:r>
            <a:r>
              <a:rPr lang="ru-RU" b="1" i="0" dirty="0" err="1">
                <a:effectLst/>
                <a:latin typeface="fkGroteskNeue"/>
              </a:rPr>
              <a:t>analysis</a:t>
            </a:r>
            <a:r>
              <a:rPr lang="ru-RU" b="1" i="0" dirty="0">
                <a:effectLst/>
                <a:latin typeface="fkGroteskNeue"/>
              </a:rPr>
              <a:t> отвечает: как долго жить до события?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Censoring (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цензурирование)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Главное отличие: неполные данные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Полные данные (классификация):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Болел или не болел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Ясный ответ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Данные выживаемости (</a:t>
            </a:r>
            <a:r>
              <a:rPr lang="ru-RU" b="0" i="0" dirty="0" err="1">
                <a:effectLst/>
                <a:latin typeface="fkGroteskNeue"/>
              </a:rPr>
              <a:t>survival</a:t>
            </a:r>
            <a:r>
              <a:rPr lang="ru-RU" b="0" i="0" dirty="0">
                <a:effectLst/>
                <a:latin typeface="fkGroteskNeue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Пациент A: события не произошло, но исследование закончилось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Пациент B: событие произошло в день 1000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Пациент C: пациент уехал, не знаем, что произошло</a:t>
            </a:r>
          </a:p>
          <a:p>
            <a:pPr marL="0" indent="0" algn="just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Функции выживаемости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S(t) — что означает?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S(t) = вероятность выжить до времени t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Пример: рак молочной железы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S(1 год) = 0.95 → 95% пациентов живы через год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S(5 лет) = 0.75 → 75% живы через 5 лет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S(10 лет) = 0.50 → 50% медиана (половина живы, половина нет)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Свойства: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S(0) = 1.0 (все живы в начале)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S(∞) = 0 (никто не живёт вечно)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S(t) монотонно убывает</a:t>
            </a:r>
          </a:p>
          <a:p>
            <a:pPr marL="0" indent="0" algn="just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683251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Функция опасности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h(t) — </a:t>
            </a:r>
            <a:r>
              <a:rPr lang="ru-RU" b="1" i="1" dirty="0" err="1">
                <a:effectLst/>
                <a:latin typeface="fkGroteskNeue"/>
              </a:rPr>
              <a:t>risk</a:t>
            </a:r>
            <a:r>
              <a:rPr lang="ru-RU" b="1" i="1" dirty="0">
                <a:effectLst/>
                <a:latin typeface="fkGroteskNeue"/>
              </a:rPr>
              <a:t> </a:t>
            </a:r>
            <a:r>
              <a:rPr lang="ru-RU" b="1" i="1" dirty="0" err="1">
                <a:effectLst/>
                <a:latin typeface="fkGroteskNeue"/>
              </a:rPr>
              <a:t>at</a:t>
            </a:r>
            <a:r>
              <a:rPr lang="ru-RU" b="1" i="1" dirty="0">
                <a:effectLst/>
                <a:latin typeface="fkGroteskNeue"/>
              </a:rPr>
              <a:t> </a:t>
            </a:r>
            <a:r>
              <a:rPr lang="ru-RU" b="1" i="1" dirty="0" err="1">
                <a:effectLst/>
                <a:latin typeface="fkGroteskNeue"/>
              </a:rPr>
              <a:t>time</a:t>
            </a:r>
            <a:r>
              <a:rPr lang="ru-RU" b="1" i="1" dirty="0">
                <a:effectLst/>
                <a:latin typeface="fkGroteskNeue"/>
              </a:rPr>
              <a:t> t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h(t) = вероятность события в момент t, учитывая, что ты дожил до t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Пример: слабая функция опасности h(t) в молодости, растёт с возрастом.</a:t>
            </a:r>
          </a:p>
        </p:txBody>
      </p:sp>
    </p:spTree>
    <p:extLst>
      <p:ext uri="{BB962C8B-B14F-4D97-AF65-F5344CB8AC3E}">
        <p14:creationId xmlns:p14="http://schemas.microsoft.com/office/powerpoint/2010/main" val="4254363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Кривые Каплана-Мейера (1)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latin typeface="fkGroteskNeue"/>
              </a:rPr>
              <a:t>О</a:t>
            </a:r>
            <a:r>
              <a:rPr lang="ru-RU" b="1" i="1" dirty="0">
                <a:effectLst/>
                <a:latin typeface="fkGroteskNeue"/>
              </a:rPr>
              <a:t>ценка выживаемости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Неправильно: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Посчитали среднее: 150 событий из 300 → 50%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Но пациенты с цензурированием не учтены правильно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Правильно: </a:t>
            </a:r>
            <a:r>
              <a:rPr lang="ru-RU" b="1" i="0" dirty="0" err="1">
                <a:effectLst/>
                <a:latin typeface="fkGroteskNeue"/>
              </a:rPr>
              <a:t>Kaplan-Meier</a:t>
            </a:r>
            <a:r>
              <a:rPr lang="ru-RU" b="1" i="0" dirty="0">
                <a:effectLst/>
                <a:latin typeface="fkGroteskNeue"/>
              </a:rPr>
              <a:t> </a:t>
            </a:r>
            <a:r>
              <a:rPr lang="ru-RU" b="1" i="0" dirty="0" err="1">
                <a:effectLst/>
                <a:latin typeface="fkGroteskNeue"/>
              </a:rPr>
              <a:t>estimator</a:t>
            </a:r>
            <a:endParaRPr lang="ru-RU" b="1" i="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На каждый момент времени: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S(t) = S(t-1) × (1 - </a:t>
            </a:r>
            <a:r>
              <a:rPr lang="ru-RU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d_t</a:t>
            </a: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/ </a:t>
            </a:r>
            <a:r>
              <a:rPr lang="ru-RU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n_t</a:t>
            </a: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d_t</a:t>
            </a:r>
            <a:r>
              <a:rPr lang="ru-RU" b="0" i="0" dirty="0">
                <a:effectLst/>
                <a:latin typeface="fkGroteskNeue"/>
              </a:rPr>
              <a:t> = число событий в момент 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n_t</a:t>
            </a:r>
            <a:r>
              <a:rPr lang="ru-RU" b="0" i="0" dirty="0">
                <a:effectLst/>
                <a:latin typeface="fkGroteskNeue"/>
              </a:rPr>
              <a:t> = число в "группе риска" (живы и не цензурированы)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Это самый классический и простой метод.</a:t>
            </a:r>
          </a:p>
        </p:txBody>
      </p:sp>
    </p:spTree>
    <p:extLst>
      <p:ext uri="{BB962C8B-B14F-4D97-AF65-F5344CB8AC3E}">
        <p14:creationId xmlns:p14="http://schemas.microsoft.com/office/powerpoint/2010/main" val="401964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8E87526-82AE-4AB8-8988-1E53482601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9" b="24139"/>
          <a:stretch/>
        </p:blipFill>
        <p:spPr bwMode="auto">
          <a:xfrm>
            <a:off x="4776289" y="1969838"/>
            <a:ext cx="6957793" cy="344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Кривые Каплана-Мейера (2)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5535197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Пример: Рак </a:t>
            </a:r>
            <a:r>
              <a:rPr lang="ru-RU" b="1" i="1" dirty="0" err="1">
                <a:effectLst/>
                <a:latin typeface="fkGroteskNeue"/>
              </a:rPr>
              <a:t>vs</a:t>
            </a:r>
            <a:r>
              <a:rPr lang="ru-RU" b="1" i="1" dirty="0">
                <a:effectLst/>
                <a:latin typeface="fkGroteskNeue"/>
              </a:rPr>
              <a:t> Контроль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Два графика: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Рак пациенты: S(5 лет) = 0.6</a:t>
            </a:r>
            <a:r>
              <a:rPr lang="en-US" dirty="0">
                <a:latin typeface="fkGroteskNeue"/>
              </a:rPr>
              <a:t>5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Контроль: S(5 лет) = 0.95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Визуально видно различие.</a:t>
            </a:r>
          </a:p>
          <a:p>
            <a:pPr marL="0" indent="0" algn="l">
              <a:buNone/>
            </a:pPr>
            <a:r>
              <a:rPr lang="ru-RU" b="0" i="0" dirty="0" err="1">
                <a:effectLst/>
                <a:latin typeface="fkGroteskNeue"/>
              </a:rPr>
              <a:t>Log-rank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: статистически ли значимо?</a:t>
            </a:r>
          </a:p>
        </p:txBody>
      </p:sp>
    </p:spTree>
    <p:extLst>
      <p:ext uri="{BB962C8B-B14F-4D97-AF65-F5344CB8AC3E}">
        <p14:creationId xmlns:p14="http://schemas.microsoft.com/office/powerpoint/2010/main" val="2094829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Log-rank test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Сравнение двух кривых Каплана-Мейера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Нулевая гипотеза: две кривые выживаемости одинаковые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Альтернатива: они различаются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Вычисляем χ² статистику, получаем p-</a:t>
            </a:r>
            <a:r>
              <a:rPr lang="ru-RU" b="0" i="0" dirty="0" err="1">
                <a:effectLst/>
                <a:latin typeface="fkGroteskNeue"/>
              </a:rPr>
              <a:t>value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p &lt; 0.05 → кривы</a:t>
            </a:r>
            <a:r>
              <a:rPr lang="ru-RU" dirty="0">
                <a:latin typeface="fkGroteskNeue"/>
              </a:rPr>
              <a:t>е</a:t>
            </a:r>
            <a:r>
              <a:rPr lang="ru-RU" b="0" i="0" dirty="0">
                <a:effectLst/>
                <a:latin typeface="fkGroteskNeue"/>
              </a:rPr>
              <a:t> статистически различаются.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Пример: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Группа A: S(5) = 0.65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Группа B: S(5) = 0.95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p-</a:t>
            </a:r>
            <a:r>
              <a:rPr lang="ru-RU" b="0" i="0" dirty="0" err="1">
                <a:effectLst/>
                <a:latin typeface="fkGroteskNeue"/>
              </a:rPr>
              <a:t>value</a:t>
            </a:r>
            <a:r>
              <a:rPr lang="ru-RU" b="0" i="0" dirty="0">
                <a:effectLst/>
                <a:latin typeface="fkGroteskNeue"/>
              </a:rPr>
              <a:t> = 0.02 ← статистически значимо!</a:t>
            </a:r>
          </a:p>
        </p:txBody>
      </p:sp>
    </p:spTree>
    <p:extLst>
      <p:ext uri="{BB962C8B-B14F-4D97-AF65-F5344CB8AC3E}">
        <p14:creationId xmlns:p14="http://schemas.microsoft.com/office/powerpoint/2010/main" val="1002188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sv-SE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TCGA Lung Cancer — Kaplan–Meier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6343333" cy="1374493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pplxSerif"/>
              </a:rPr>
              <a:t>Данные: TCGA </a:t>
            </a:r>
            <a:r>
              <a:rPr lang="ru-RU" sz="1800" b="0" i="0" dirty="0" err="1">
                <a:effectLst/>
                <a:latin typeface="pplxSerif"/>
              </a:rPr>
              <a:t>lung</a:t>
            </a:r>
            <a:r>
              <a:rPr lang="ru-RU" sz="1800" b="0" i="0" dirty="0">
                <a:effectLst/>
                <a:latin typeface="pplxSerif"/>
              </a:rPr>
              <a:t> </a:t>
            </a:r>
            <a:r>
              <a:rPr lang="ru-RU" sz="1800" b="0" i="0" dirty="0" err="1">
                <a:effectLst/>
                <a:latin typeface="pplxSerif"/>
              </a:rPr>
              <a:t>cancer</a:t>
            </a:r>
            <a:r>
              <a:rPr lang="ru-RU" sz="1800" b="0" i="0" dirty="0">
                <a:effectLst/>
                <a:latin typeface="pplxSerif"/>
              </a:rPr>
              <a:t>, несколько сотен пациентов.​</a:t>
            </a:r>
            <a:endParaRPr lang="en-US" sz="1800" b="0" i="0" dirty="0"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pplxSerif"/>
              </a:rPr>
              <a:t>Результат: различия в общей выживаемости (</a:t>
            </a:r>
            <a:r>
              <a:rPr lang="ru-RU" sz="1800" b="0" i="0" dirty="0" err="1">
                <a:effectLst/>
                <a:latin typeface="pplxSerif"/>
              </a:rPr>
              <a:t>log‑rank</a:t>
            </a:r>
            <a:r>
              <a:rPr lang="ru-RU" sz="1800" b="0" i="0" dirty="0">
                <a:effectLst/>
                <a:latin typeface="pplxSerif"/>
              </a:rPr>
              <a:t> p &lt; 0.01)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053305-4761-4C6B-8BD3-E3BBB2313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248275"/>
            <a:ext cx="6972300" cy="160972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66EDAC1-3BAC-4900-BA4A-5AB542D3B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446" y="1251278"/>
            <a:ext cx="5564105" cy="395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775975C-BF4A-4EC2-93DF-8390D070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51" y="2537741"/>
            <a:ext cx="5155303" cy="251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26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пропорциональных рисков Кокса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effectLst/>
                <a:latin typeface="fkGroteskNeue"/>
              </a:rPr>
              <a:t>Логистическая регрессия для выживаемости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Логистическая регрессия: моделирует вероятность класса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fkGroteskNeue"/>
              </a:rPr>
              <a:t>Cox model: </a:t>
            </a:r>
            <a:r>
              <a:rPr lang="ru-RU" b="0" i="0" dirty="0">
                <a:effectLst/>
                <a:latin typeface="fkGroteskNeue"/>
              </a:rPr>
              <a:t>моделирует функцию опасности </a:t>
            </a:r>
            <a:r>
              <a:rPr lang="en-US" b="0" i="0" dirty="0">
                <a:effectLst/>
                <a:latin typeface="fkGroteskNeue"/>
              </a:rPr>
              <a:t>h(t)</a:t>
            </a:r>
          </a:p>
          <a:p>
            <a:pPr algn="l"/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log(h(t)) = log(h₀(t)) + </a:t>
            </a:r>
            <a:r>
              <a:rPr lang="el-GR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β₁</a:t>
            </a: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X₁ + </a:t>
            </a:r>
            <a:r>
              <a:rPr lang="el-GR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β₂</a:t>
            </a: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X₂ + ...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h₀(t) — baseline hazard (</a:t>
            </a:r>
            <a:r>
              <a:rPr lang="ru-RU" b="0" i="0" dirty="0">
                <a:effectLst/>
                <a:latin typeface="fkGroteskNeue"/>
              </a:rPr>
              <a:t>опасность для "среднего" пациента)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e^</a:t>
            </a:r>
            <a:r>
              <a:rPr lang="el-GR" b="0" i="0" dirty="0">
                <a:effectLst/>
                <a:latin typeface="fkGroteskNeue"/>
              </a:rPr>
              <a:t>β — </a:t>
            </a:r>
            <a:r>
              <a:rPr lang="en-US" b="1" i="0" dirty="0">
                <a:effectLst/>
                <a:latin typeface="fkGroteskNeue"/>
              </a:rPr>
              <a:t>Hazard Ratio</a:t>
            </a:r>
          </a:p>
        </p:txBody>
      </p:sp>
    </p:spTree>
    <p:extLst>
      <p:ext uri="{BB962C8B-B14F-4D97-AF65-F5344CB8AC3E}">
        <p14:creationId xmlns:p14="http://schemas.microsoft.com/office/powerpoint/2010/main" val="78528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Hazard Ratio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интерпретация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log(h(t)) = log(h₀(t)) + </a:t>
            </a:r>
            <a:r>
              <a:rPr lang="el-GR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β₁</a:t>
            </a:r>
            <a:r>
              <a:rPr lang="en-US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X₁ + </a:t>
            </a:r>
            <a:r>
              <a:rPr lang="el-GR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β₂</a:t>
            </a:r>
            <a:r>
              <a:rPr lang="en-US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X₂ + ...</a:t>
            </a:r>
            <a:endParaRPr lang="ru-RU" b="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Что означает β?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β для TP53 мутация = 1.0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e^β = e^1.0 = 2.718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Интерпретация: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"Пациенты с TP53 мутацией имеют в 2.7 раза выше риск события (смерти, рецидива) в любой момент времени, чем без мутации."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β &lt; 0 → защитный фактор (снижает риск)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β &gt; 0 → риск-фактор (увеличивает риск)</a:t>
            </a:r>
          </a:p>
        </p:txBody>
      </p:sp>
    </p:spTree>
    <p:extLst>
      <p:ext uri="{BB962C8B-B14F-4D97-AF65-F5344CB8AC3E}">
        <p14:creationId xmlns:p14="http://schemas.microsoft.com/office/powerpoint/2010/main" val="3216313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Практический пример (1)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Рак молочной железы: факторы риска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Данные: 400 пациентов, наблюдение 5+ лет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Результат: 85 смертей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Признаки: возраст, размер опухоли, степень (</a:t>
            </a:r>
            <a:r>
              <a:rPr lang="ru-RU" b="0" i="0" dirty="0" err="1">
                <a:effectLst/>
                <a:latin typeface="fkGroteskNeue"/>
              </a:rPr>
              <a:t>grade</a:t>
            </a:r>
            <a:r>
              <a:rPr lang="ru-RU" b="0" i="0" dirty="0">
                <a:effectLst/>
                <a:latin typeface="fkGroteskNeue"/>
              </a:rPr>
              <a:t>), ER </a:t>
            </a:r>
            <a:r>
              <a:rPr lang="ru-RU" b="0" i="0" dirty="0" err="1">
                <a:effectLst/>
                <a:latin typeface="fkGroteskNeue"/>
              </a:rPr>
              <a:t>status</a:t>
            </a:r>
            <a:endParaRPr lang="ru-RU" b="0" i="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en-US" b="0" i="0" dirty="0">
                <a:effectLst/>
                <a:latin typeface="fkGroteskNeue"/>
              </a:rPr>
              <a:t>		</a:t>
            </a:r>
            <a:r>
              <a:rPr lang="ru-RU" b="0" i="0" dirty="0" err="1">
                <a:effectLst/>
                <a:latin typeface="fkGroteskNeue"/>
              </a:rPr>
              <a:t>Cox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model</a:t>
            </a:r>
            <a:r>
              <a:rPr lang="ru-RU" b="0" i="0" dirty="0">
                <a:effectLst/>
                <a:latin typeface="fkGroteskNeue"/>
              </a:rPr>
              <a:t> результаты: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AE15197-F834-4D8D-A8F8-8189AE2EB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740596"/>
              </p:ext>
            </p:extLst>
          </p:nvPr>
        </p:nvGraphicFramePr>
        <p:xfrm>
          <a:off x="5910649" y="3292652"/>
          <a:ext cx="5734052" cy="18897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33513">
                  <a:extLst>
                    <a:ext uri="{9D8B030D-6E8A-4147-A177-3AD203B41FA5}">
                      <a16:colId xmlns:a16="http://schemas.microsoft.com/office/drawing/2014/main" val="3162640483"/>
                    </a:ext>
                  </a:extLst>
                </a:gridCol>
                <a:gridCol w="1433513">
                  <a:extLst>
                    <a:ext uri="{9D8B030D-6E8A-4147-A177-3AD203B41FA5}">
                      <a16:colId xmlns:a16="http://schemas.microsoft.com/office/drawing/2014/main" val="80604640"/>
                    </a:ext>
                  </a:extLst>
                </a:gridCol>
                <a:gridCol w="1433513">
                  <a:extLst>
                    <a:ext uri="{9D8B030D-6E8A-4147-A177-3AD203B41FA5}">
                      <a16:colId xmlns:a16="http://schemas.microsoft.com/office/drawing/2014/main" val="2474947978"/>
                    </a:ext>
                  </a:extLst>
                </a:gridCol>
                <a:gridCol w="1433513">
                  <a:extLst>
                    <a:ext uri="{9D8B030D-6E8A-4147-A177-3AD203B41FA5}">
                      <a16:colId xmlns:a16="http://schemas.microsoft.com/office/drawing/2014/main" val="3276308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 latinLnBrk="0"/>
                      <a:r>
                        <a:rPr lang="ru-RU" b="1" dirty="0">
                          <a:effectLst/>
                        </a:rPr>
                        <a:t>Признак</a:t>
                      </a: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1">
                          <a:effectLst/>
                        </a:rPr>
                        <a:t>HR</a:t>
                      </a: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1">
                          <a:effectLst/>
                        </a:rPr>
                        <a:t>95% CI</a:t>
                      </a: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en-US" b="1" dirty="0">
                          <a:effectLst/>
                        </a:rPr>
                        <a:t>p-value</a:t>
                      </a: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400442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Age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1.02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1.00-1.04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0.08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418329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Size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1.05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1.02-1.09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0.001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85867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Grade</a:t>
                      </a:r>
                      <a:r>
                        <a:rPr lang="ru-RU" dirty="0">
                          <a:effectLst/>
                        </a:rPr>
                        <a:t> 3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2.30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1.50-3.50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&lt;0.001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813416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ER+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0.40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>
                          <a:effectLst/>
                        </a:rPr>
                        <a:t>0.25-0.65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dirty="0">
                          <a:effectLst/>
                        </a:rPr>
                        <a:t>&lt;0.001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46495462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1272E4F-0C29-4F4F-91E3-FC5A2BA5572A}"/>
              </a:ext>
            </a:extLst>
          </p:cNvPr>
          <p:cNvSpPr txBox="1"/>
          <p:nvPr/>
        </p:nvSpPr>
        <p:spPr>
          <a:xfrm>
            <a:off x="183023" y="3678694"/>
            <a:ext cx="54537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0" i="1" dirty="0">
                <a:effectLst/>
                <a:latin typeface="fkGroteskNeue"/>
              </a:rPr>
              <a:t>Интерпретация: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fkGroteskNeue"/>
              </a:rPr>
              <a:t>Каждый см размера опухоли → HR 1.05 (5% увеличение риска)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 err="1">
                <a:effectLst/>
                <a:latin typeface="fkGroteskNeue"/>
              </a:rPr>
              <a:t>Grade</a:t>
            </a:r>
            <a:r>
              <a:rPr lang="ru-RU" sz="2800" b="0" i="0" dirty="0">
                <a:effectLst/>
                <a:latin typeface="fkGroteskNeue"/>
              </a:rPr>
              <a:t> 3 → HR 2.3 (в 2.3 раза выше риск)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fkGroteskNeue"/>
              </a:rPr>
              <a:t>ER+ → 60% ниже риск (протектор)</a:t>
            </a:r>
          </a:p>
        </p:txBody>
      </p:sp>
    </p:spTree>
    <p:extLst>
      <p:ext uri="{BB962C8B-B14F-4D97-AF65-F5344CB8AC3E}">
        <p14:creationId xmlns:p14="http://schemas.microsoft.com/office/powerpoint/2010/main" val="3082999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Практический пример (2)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Валидация и кривые выживаемости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Разделение на </a:t>
            </a:r>
            <a:r>
              <a:rPr lang="ru-RU" dirty="0">
                <a:latin typeface="fkGroteskNeue"/>
              </a:rPr>
              <a:t>оценке риска</a:t>
            </a:r>
            <a:r>
              <a:rPr lang="ru-RU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Low risk (HR &lt; 0.5): S(5) = 0.85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Medium risk (0.5-1.0): S(5) = 0.65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High risk (HR &gt; 1.0): S(5) = 0.35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fkGroteskNeue"/>
              </a:rPr>
              <a:t>Log-rank test: p &lt; 0.0001 (</a:t>
            </a:r>
            <a:r>
              <a:rPr lang="ru-RU" b="0" i="0" dirty="0">
                <a:effectLst/>
                <a:latin typeface="fkGroteskNeue"/>
              </a:rPr>
              <a:t>сильно различаются)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C-index: 0.78 (</a:t>
            </a:r>
            <a:r>
              <a:rPr lang="ru-RU" b="0" i="0" dirty="0">
                <a:effectLst/>
                <a:latin typeface="fkGroteskNeue"/>
              </a:rPr>
              <a:t>хорошо!)</a:t>
            </a:r>
          </a:p>
        </p:txBody>
      </p:sp>
    </p:spTree>
    <p:extLst>
      <p:ext uri="{BB962C8B-B14F-4D97-AF65-F5344CB8AC3E}">
        <p14:creationId xmlns:p14="http://schemas.microsoft.com/office/powerpoint/2010/main" val="3544382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Предпосылки Кокса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Условия использования модели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1. Пропорциональность рисков (</a:t>
            </a:r>
            <a:r>
              <a:rPr lang="en-US" b="0" i="0" dirty="0">
                <a:effectLst/>
                <a:latin typeface="fkGroteskNeue"/>
              </a:rPr>
              <a:t>Proportional Hazards Assumption)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h(</a:t>
            </a:r>
            <a:r>
              <a:rPr lang="en-US" b="0" i="0" dirty="0" err="1">
                <a:effectLst/>
                <a:latin typeface="fkGroteskNeue"/>
              </a:rPr>
              <a:t>t|X</a:t>
            </a:r>
            <a:r>
              <a:rPr lang="en-US" b="0" i="0" dirty="0">
                <a:effectLst/>
                <a:latin typeface="fkGroteskNeue"/>
              </a:rPr>
              <a:t>=1) / h(</a:t>
            </a:r>
            <a:r>
              <a:rPr lang="en-US" b="0" i="0" dirty="0" err="1">
                <a:effectLst/>
                <a:latin typeface="fkGroteskNeue"/>
              </a:rPr>
              <a:t>t|X</a:t>
            </a:r>
            <a:r>
              <a:rPr lang="en-US" b="0" i="0" dirty="0">
                <a:effectLst/>
                <a:latin typeface="fkGroteskNeue"/>
              </a:rPr>
              <a:t>=0) = const </a:t>
            </a:r>
            <a:r>
              <a:rPr lang="ru-RU" b="0" i="0" dirty="0">
                <a:effectLst/>
                <a:latin typeface="fkGroteskNeue"/>
              </a:rPr>
              <a:t>во времени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Вероятность</a:t>
            </a:r>
            <a:r>
              <a:rPr lang="en-US" b="0" i="0" dirty="0">
                <a:effectLst/>
                <a:latin typeface="fkGroteskNeue"/>
              </a:rPr>
              <a:t> </a:t>
            </a:r>
            <a:r>
              <a:rPr lang="ru-RU" b="0" i="0" dirty="0">
                <a:effectLst/>
                <a:latin typeface="fkGroteskNeue"/>
              </a:rPr>
              <a:t>опасностей одинаков для всех </a:t>
            </a:r>
            <a:r>
              <a:rPr lang="en-US" b="0" i="0" dirty="0">
                <a:effectLst/>
                <a:latin typeface="fkGroteskNeue"/>
              </a:rPr>
              <a:t>t.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Проверка: </a:t>
            </a:r>
            <a:r>
              <a:rPr lang="en-US" b="0" i="0" dirty="0">
                <a:effectLst/>
                <a:latin typeface="fkGroteskNeue"/>
              </a:rPr>
              <a:t>Schoenfeld residuals (</a:t>
            </a:r>
            <a:r>
              <a:rPr lang="ru-RU" b="0" i="0" dirty="0">
                <a:effectLst/>
                <a:latin typeface="fkGroteskNeue"/>
              </a:rPr>
              <a:t>если </a:t>
            </a:r>
            <a:r>
              <a:rPr lang="en-US" b="0" i="0" dirty="0">
                <a:effectLst/>
                <a:latin typeface="fkGroteskNeue"/>
              </a:rPr>
              <a:t>p &gt; 0.05, OK)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fkGroteskNeue"/>
              </a:rPr>
              <a:t>2. </a:t>
            </a:r>
            <a:r>
              <a:rPr lang="ru-RU" b="0" i="0" dirty="0">
                <a:effectLst/>
                <a:latin typeface="fkGroteskNeue"/>
              </a:rPr>
              <a:t>Линейность в регрессии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Связь между </a:t>
            </a:r>
            <a:r>
              <a:rPr lang="en-US" b="0" i="0" dirty="0">
                <a:effectLst/>
                <a:latin typeface="fkGroteskNeue"/>
              </a:rPr>
              <a:t>X </a:t>
            </a:r>
            <a:r>
              <a:rPr lang="ru-RU" b="0" i="0" dirty="0">
                <a:effectLst/>
                <a:latin typeface="fkGroteskNeue"/>
              </a:rPr>
              <a:t>и </a:t>
            </a:r>
            <a:r>
              <a:rPr lang="en-US" b="0" i="0" dirty="0">
                <a:effectLst/>
                <a:latin typeface="fkGroteskNeue"/>
              </a:rPr>
              <a:t>log-hazard </a:t>
            </a:r>
            <a:r>
              <a:rPr lang="ru-RU" b="0" i="0" dirty="0">
                <a:effectLst/>
                <a:latin typeface="fkGroteskNeue"/>
              </a:rPr>
              <a:t>линейна.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3. </a:t>
            </a:r>
            <a:r>
              <a:rPr lang="en-US" b="0" i="0" dirty="0">
                <a:effectLst/>
                <a:latin typeface="fkGroteskNeue"/>
              </a:rPr>
              <a:t>No interaction (</a:t>
            </a:r>
            <a:r>
              <a:rPr lang="ru-RU" b="0" i="0" dirty="0">
                <a:effectLst/>
                <a:latin typeface="fkGroteskNeue"/>
              </a:rPr>
              <a:t>если не моделируем)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Эффекты признаков независимы.</a:t>
            </a:r>
          </a:p>
        </p:txBody>
      </p:sp>
    </p:spTree>
    <p:extLst>
      <p:ext uri="{BB962C8B-B14F-4D97-AF65-F5344CB8AC3E}">
        <p14:creationId xmlns:p14="http://schemas.microsoft.com/office/powerpoint/2010/main" val="1662935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Оценка качества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C-</a:t>
            </a:r>
            <a:r>
              <a:rPr lang="ru-RU" b="1" i="1" dirty="0" err="1">
                <a:effectLst/>
                <a:latin typeface="fkGroteskNeue"/>
              </a:rPr>
              <a:t>index</a:t>
            </a:r>
            <a:r>
              <a:rPr lang="ru-RU" b="1" i="1" dirty="0">
                <a:effectLst/>
                <a:latin typeface="fkGroteskNeue"/>
              </a:rPr>
              <a:t> (</a:t>
            </a:r>
            <a:r>
              <a:rPr lang="ru-RU" b="1" i="1" dirty="0" err="1">
                <a:effectLst/>
                <a:latin typeface="fkGroteskNeue"/>
              </a:rPr>
              <a:t>concordance</a:t>
            </a:r>
            <a:r>
              <a:rPr lang="ru-RU" b="1" i="1" dirty="0">
                <a:effectLst/>
                <a:latin typeface="fkGroteskNeue"/>
              </a:rPr>
              <a:t> </a:t>
            </a:r>
            <a:r>
              <a:rPr lang="ru-RU" b="1" i="1" dirty="0" err="1">
                <a:effectLst/>
                <a:latin typeface="fkGroteskNeue"/>
              </a:rPr>
              <a:t>index</a:t>
            </a:r>
            <a:r>
              <a:rPr lang="ru-RU" b="1" i="1" dirty="0">
                <a:effectLst/>
                <a:latin typeface="fkGroteskNeue"/>
              </a:rPr>
              <a:t>)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 = вероятность, что модель правильно ранжирует двух пациентов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Если пациент A имел событие раньше, чем B, предсказал ли модель, что A имеет выше риск?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 = 0.5: модель случайна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 = 0.7: хорошо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en-US" b="0" i="0" dirty="0">
                <a:effectLst/>
                <a:latin typeface="fkGroteskNeue"/>
              </a:rPr>
              <a:t>&gt;</a:t>
            </a:r>
            <a:r>
              <a:rPr lang="ru-RU" b="0" i="0" dirty="0">
                <a:effectLst/>
                <a:latin typeface="fkGroteskNeue"/>
              </a:rPr>
              <a:t>= 0.8: отлично</a:t>
            </a:r>
          </a:p>
        </p:txBody>
      </p:sp>
    </p:spTree>
    <p:extLst>
      <p:ext uri="{BB962C8B-B14F-4D97-AF65-F5344CB8AC3E}">
        <p14:creationId xmlns:p14="http://schemas.microsoft.com/office/powerpoint/2010/main" val="312668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Многомерность и взаимодействия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 err="1">
                <a:effectLst/>
                <a:latin typeface="fkGroteskNeue"/>
              </a:rPr>
              <a:t>Confounding</a:t>
            </a:r>
            <a:r>
              <a:rPr lang="ru-RU" b="1" i="1" dirty="0">
                <a:effectLst/>
                <a:latin typeface="fkGroteskNeue"/>
              </a:rPr>
              <a:t> и </a:t>
            </a:r>
            <a:r>
              <a:rPr lang="ru-RU" b="1" i="1" dirty="0" err="1">
                <a:effectLst/>
                <a:latin typeface="fkGroteskNeue"/>
              </a:rPr>
              <a:t>interaction</a:t>
            </a:r>
            <a:endParaRPr lang="ru-RU" b="1" i="1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b="1" i="0" dirty="0" err="1">
                <a:effectLst/>
                <a:latin typeface="fkGroteskNeue"/>
              </a:rPr>
              <a:t>Confounding</a:t>
            </a:r>
            <a:r>
              <a:rPr lang="ru-RU" b="0" i="0" dirty="0">
                <a:effectLst/>
                <a:latin typeface="fkGroteskNeue"/>
              </a:rPr>
              <a:t>: переменная Z влияет и на X, и на исход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Пример: возраст влияет и на размер опухоли, и на смертность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Решение: </a:t>
            </a:r>
            <a:r>
              <a:rPr lang="ru-RU" b="0" i="0" dirty="0" err="1">
                <a:effectLst/>
                <a:latin typeface="fkGroteskNeue"/>
              </a:rPr>
              <a:t>мультивариатная</a:t>
            </a:r>
            <a:r>
              <a:rPr lang="ru-RU" b="0" i="0" dirty="0">
                <a:effectLst/>
                <a:latin typeface="fkGroteskNeue"/>
              </a:rPr>
              <a:t> регрессия </a:t>
            </a:r>
            <a:r>
              <a:rPr lang="ru-RU" b="0" i="0" dirty="0" err="1">
                <a:effectLst/>
                <a:latin typeface="fkGroteskNeue"/>
              </a:rPr>
              <a:t>Cox</a:t>
            </a:r>
            <a:r>
              <a:rPr lang="ru-RU" b="0" i="0" dirty="0">
                <a:effectLst/>
                <a:latin typeface="fkGroteskNeue"/>
              </a:rPr>
              <a:t> (контролируем возраст)</a:t>
            </a:r>
          </a:p>
          <a:p>
            <a:pPr marL="0" indent="0" algn="l">
              <a:buNone/>
            </a:pPr>
            <a:r>
              <a:rPr lang="ru-RU" b="1" i="0" dirty="0" err="1">
                <a:effectLst/>
                <a:latin typeface="fkGroteskNeue"/>
              </a:rPr>
              <a:t>Interaction</a:t>
            </a:r>
            <a:r>
              <a:rPr lang="ru-RU" b="0" i="0" dirty="0">
                <a:effectLst/>
                <a:latin typeface="fkGroteskNeue"/>
              </a:rPr>
              <a:t>: эффект X зависит от Z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Пример: ER+ может быть протектором только у молодых женщин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Решение: добавить новый признак - β₃ × X × Z</a:t>
            </a:r>
          </a:p>
        </p:txBody>
      </p:sp>
    </p:spTree>
    <p:extLst>
      <p:ext uri="{BB962C8B-B14F-4D97-AF65-F5344CB8AC3E}">
        <p14:creationId xmlns:p14="http://schemas.microsoft.com/office/powerpoint/2010/main" val="1014784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Confounding: Breast Cancer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. Пример в онкологии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effectLst/>
                <a:latin typeface="pplxSerif"/>
              </a:rPr>
              <a:t>Univariate</a:t>
            </a:r>
            <a:r>
              <a:rPr lang="ru-RU" b="1" i="0" dirty="0">
                <a:effectLst/>
                <a:latin typeface="pplxSerif"/>
              </a:rPr>
              <a:t> </a:t>
            </a:r>
            <a:r>
              <a:rPr lang="ru-RU" b="1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 по размеру опухоли: большой размер сильно ассоциирован со смертью (похоже, X — плохой фактор).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effectLst/>
                <a:latin typeface="pplxSerif"/>
              </a:rPr>
              <a:t>Multivariate</a:t>
            </a:r>
            <a:r>
              <a:rPr lang="ru-RU" b="1" i="0" dirty="0">
                <a:effectLst/>
                <a:latin typeface="pplxSerif"/>
              </a:rPr>
              <a:t> </a:t>
            </a:r>
            <a:r>
              <a:rPr lang="ru-RU" b="1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 (с контролем возраста): эффект размера ослабевает (HR T3 падает с 2.5 до 1.93), т.к. крупные опухоли чаще у пожилых, а возраст сам по себе — сильный предиктор.​</a:t>
            </a:r>
          </a:p>
          <a:p>
            <a:pPr marL="0" indent="0" algn="l">
              <a:buNone/>
            </a:pPr>
            <a:endParaRPr lang="ru-RU" b="0" i="0" dirty="0">
              <a:effectLst/>
              <a:latin typeface="fkGroteskNeue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5218A9-DB8B-4422-B836-342DC5F9E6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4516" y="3367752"/>
            <a:ext cx="65532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79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Конкурирующие риски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Что если есть несколько событий?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Пациент может умереть от: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 Рака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 Инфаркта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 ДТП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Стандартный </a:t>
            </a:r>
            <a:r>
              <a:rPr lang="ru-RU" b="0" i="0" dirty="0" err="1">
                <a:effectLst/>
                <a:latin typeface="fkGroteskNeue"/>
              </a:rPr>
              <a:t>Cox</a:t>
            </a:r>
            <a:r>
              <a:rPr lang="ru-RU" b="0" i="0" dirty="0">
                <a:effectLst/>
                <a:latin typeface="fkGroteskNeue"/>
              </a:rPr>
              <a:t>: рассматривает любое событие одинаково.</a:t>
            </a:r>
          </a:p>
          <a:p>
            <a:pPr marL="0" indent="0" algn="l">
              <a:buNone/>
            </a:pPr>
            <a:r>
              <a:rPr lang="ru-RU" b="0" i="0" dirty="0" err="1">
                <a:effectLst/>
                <a:latin typeface="fkGroteskNeue"/>
              </a:rPr>
              <a:t>Competing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Risks</a:t>
            </a:r>
            <a:r>
              <a:rPr lang="ru-RU" b="0" i="0" dirty="0">
                <a:effectLst/>
                <a:latin typeface="fkGroteskNeue"/>
              </a:rPr>
              <a:t>: анализирует "истинные" кривые для каждого события.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Сложнее, но более правильно.</a:t>
            </a:r>
          </a:p>
        </p:txBody>
      </p:sp>
    </p:spTree>
    <p:extLst>
      <p:ext uri="{BB962C8B-B14F-4D97-AF65-F5344CB8AC3E}">
        <p14:creationId xmlns:p14="http://schemas.microsoft.com/office/powerpoint/2010/main" val="2416385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Конкурирующие риски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 онкологии: смерть от рака </a:t>
            </a:r>
            <a:r>
              <a:rPr lang="ru-RU" b="0" i="0" dirty="0" err="1">
                <a:effectLst/>
                <a:latin typeface="pplxSerif"/>
              </a:rPr>
              <a:t>vs</a:t>
            </a:r>
            <a:r>
              <a:rPr lang="ru-RU" b="0" i="0" dirty="0">
                <a:effectLst/>
                <a:latin typeface="pplxSerif"/>
              </a:rPr>
              <a:t> смерть от сердечно‑сосудистых причин у пациенток с РМЖ.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Стандартная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 по времени до события рак‑специфической смерти с цензурированием других причин переоценивает риск.​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Нужны </a:t>
            </a:r>
            <a:r>
              <a:rPr lang="ru-RU" b="0" i="0" dirty="0" err="1">
                <a:effectLst/>
                <a:latin typeface="pplxSerif"/>
              </a:rPr>
              <a:t>competing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risks</a:t>
            </a:r>
            <a:r>
              <a:rPr lang="ru-RU" b="0" i="0" dirty="0">
                <a:effectLst/>
                <a:latin typeface="pplxSerif"/>
              </a:rPr>
              <a:t>‑подходы: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pplxSerif"/>
              </a:rPr>
              <a:t>cause‑specific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Fine–</a:t>
            </a:r>
            <a:r>
              <a:rPr lang="ru-RU" b="0" i="0" dirty="0" err="1">
                <a:effectLst/>
                <a:latin typeface="pplxSerif"/>
              </a:rPr>
              <a:t>Gray</a:t>
            </a:r>
            <a:r>
              <a:rPr lang="ru-RU" b="0" i="0" dirty="0">
                <a:effectLst/>
                <a:latin typeface="pplxSerif"/>
              </a:rPr>
              <a:t> по </a:t>
            </a:r>
            <a:r>
              <a:rPr lang="ru-RU" b="0" i="0" dirty="0" err="1">
                <a:effectLst/>
                <a:latin typeface="pplxSerif"/>
              </a:rPr>
              <a:t>подраспределённому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hazard</a:t>
            </a:r>
            <a:r>
              <a:rPr lang="ru-RU" b="0" i="0" dirty="0">
                <a:effectLst/>
                <a:latin typeface="pplx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62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Пример: ССЗ-смерть у пациенток с РМЖ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Большая когорта пациенток с РМЖ из SEER (≈400 000), анализ факторов риска кардиоваскулярной смертности с </a:t>
            </a:r>
            <a:r>
              <a:rPr lang="ru-RU" b="0" i="0" dirty="0" err="1">
                <a:effectLst/>
                <a:latin typeface="pplxSerif"/>
              </a:rPr>
              <a:t>competing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risks</a:t>
            </a:r>
            <a:r>
              <a:rPr lang="ru-RU" b="0" i="0" dirty="0">
                <a:effectLst/>
                <a:latin typeface="pplxSerif"/>
              </a:rPr>
              <a:t>‑регрессией.​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Независимые предикторы смерти от ССЗ: возраст, стадия, ER/PR/HER2, лечение (операция, химио-, радиотерапия).​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Используется Fine–</a:t>
            </a:r>
            <a:r>
              <a:rPr lang="ru-RU" b="0" i="0" dirty="0" err="1">
                <a:effectLst/>
                <a:latin typeface="pplxSerif"/>
              </a:rPr>
              <a:t>Gray</a:t>
            </a:r>
            <a:r>
              <a:rPr lang="ru-RU" b="0" i="0" dirty="0">
                <a:effectLst/>
                <a:latin typeface="pplxSerif"/>
              </a:rPr>
              <a:t> для </a:t>
            </a:r>
            <a:r>
              <a:rPr lang="ru-RU" b="0" i="0" dirty="0" err="1">
                <a:effectLst/>
                <a:latin typeface="pplxSerif"/>
              </a:rPr>
              <a:t>подраспределённого</a:t>
            </a:r>
            <a:r>
              <a:rPr lang="ru-RU" b="0" i="0" dirty="0">
                <a:effectLst/>
                <a:latin typeface="pplxSerif"/>
              </a:rPr>
              <a:t> HR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C619CA-6228-4DA2-8C8B-50E86BCDED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7" y="4062057"/>
            <a:ext cx="69913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41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Стратифицированная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Cox‑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effectLst/>
                <a:latin typeface="pplxSerif"/>
              </a:rPr>
              <a:t>Проблема: базовый риск сильно отличается между группами (центр, стадия, когорты).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pplxSerif"/>
              </a:rPr>
              <a:t>Модель: </a:t>
            </a:r>
            <a:r>
              <a:rPr lang="ru-RU" b="0" i="0" dirty="0">
                <a:effectLst/>
                <a:latin typeface="KaTeX_Main"/>
              </a:rPr>
              <a:t>λ(</a:t>
            </a:r>
            <a:r>
              <a:rPr lang="ru-RU" b="0" i="0" dirty="0" err="1">
                <a:effectLst/>
                <a:latin typeface="KaTeX_Main"/>
              </a:rPr>
              <a:t>t∣X,stratum</a:t>
            </a:r>
            <a:r>
              <a:rPr lang="ru-RU" b="0" i="0" dirty="0">
                <a:effectLst/>
                <a:latin typeface="KaTeX_Main"/>
              </a:rPr>
              <a:t>)=λ0,stratum(t)</a:t>
            </a:r>
            <a:r>
              <a:rPr lang="ru-RU" b="0" i="0" dirty="0" err="1">
                <a:effectLst/>
                <a:latin typeface="KaTeX_Main"/>
              </a:rPr>
              <a:t>exp</a:t>
            </a:r>
            <a:r>
              <a:rPr lang="ru-RU" b="0" i="0" dirty="0">
                <a:effectLst/>
                <a:latin typeface="KaTeX_Main"/>
              </a:rPr>
              <a:t>⁡(β⊤X)</a:t>
            </a:r>
            <a:r>
              <a:rPr lang="ru-RU" b="0" i="1" dirty="0">
                <a:effectLst/>
                <a:latin typeface="KaTeX_Math"/>
              </a:rPr>
              <a:t>λ</a:t>
            </a:r>
            <a:r>
              <a:rPr lang="ru-RU" b="0" i="0" dirty="0">
                <a:effectLst/>
                <a:latin typeface="KaTeX_Main"/>
              </a:rPr>
              <a:t>(</a:t>
            </a:r>
            <a:r>
              <a:rPr lang="ru-RU" b="0" i="1" dirty="0" err="1">
                <a:effectLst/>
                <a:latin typeface="KaTeX_Math"/>
              </a:rPr>
              <a:t>t</a:t>
            </a:r>
            <a:r>
              <a:rPr lang="ru-RU" b="0" i="0" dirty="0" err="1">
                <a:effectLst/>
                <a:latin typeface="KaTeX_Main"/>
              </a:rPr>
              <a:t>∣</a:t>
            </a:r>
            <a:r>
              <a:rPr lang="ru-RU" b="0" i="1" dirty="0" err="1">
                <a:effectLst/>
                <a:latin typeface="KaTeX_Math"/>
              </a:rPr>
              <a:t>X</a:t>
            </a:r>
            <a:r>
              <a:rPr lang="ru-RU" b="0" i="0" dirty="0" err="1">
                <a:effectLst/>
                <a:latin typeface="KaTeX_Main"/>
              </a:rPr>
              <a:t>,stratum</a:t>
            </a:r>
            <a:r>
              <a:rPr lang="ru-RU" b="0" i="0" dirty="0">
                <a:effectLst/>
                <a:latin typeface="KaTeX_Main"/>
              </a:rPr>
              <a:t>)=</a:t>
            </a:r>
            <a:r>
              <a:rPr lang="ru-RU" b="0" i="1" dirty="0">
                <a:effectLst/>
                <a:latin typeface="KaTeX_Math"/>
              </a:rPr>
              <a:t>λ</a:t>
            </a:r>
            <a:r>
              <a:rPr lang="ru-RU" b="0" i="0" dirty="0">
                <a:effectLst/>
                <a:latin typeface="KaTeX_Main"/>
              </a:rPr>
              <a:t>0,stratum(</a:t>
            </a:r>
            <a:r>
              <a:rPr lang="ru-RU" b="0" i="1" dirty="0">
                <a:effectLst/>
                <a:latin typeface="KaTeX_Math"/>
              </a:rPr>
              <a:t>t</a:t>
            </a:r>
            <a:r>
              <a:rPr lang="ru-RU" b="0" i="0" dirty="0">
                <a:effectLst/>
                <a:latin typeface="KaTeX_Main"/>
              </a:rPr>
              <a:t>)</a:t>
            </a:r>
            <a:r>
              <a:rPr lang="ru-RU" b="0" i="0" dirty="0" err="1">
                <a:effectLst/>
                <a:latin typeface="KaTeX_Main"/>
              </a:rPr>
              <a:t>exp</a:t>
            </a:r>
            <a:r>
              <a:rPr lang="ru-RU" b="0" i="0" dirty="0">
                <a:effectLst/>
                <a:latin typeface="KaTeX_Main"/>
              </a:rPr>
              <a:t>(</a:t>
            </a:r>
            <a:r>
              <a:rPr lang="ru-RU" b="0" i="1" dirty="0">
                <a:effectLst/>
                <a:latin typeface="KaTeX_Math"/>
              </a:rPr>
              <a:t>β</a:t>
            </a:r>
            <a:r>
              <a:rPr lang="ru-RU" b="0" i="0" dirty="0">
                <a:effectLst/>
                <a:latin typeface="KaTeX_Main"/>
              </a:rPr>
              <a:t>⊤</a:t>
            </a:r>
            <a:r>
              <a:rPr lang="ru-RU" b="0" i="1" dirty="0">
                <a:effectLst/>
                <a:latin typeface="KaTeX_Math"/>
              </a:rPr>
              <a:t>X</a:t>
            </a:r>
            <a:r>
              <a:rPr lang="ru-RU" b="0" i="0" dirty="0">
                <a:effectLst/>
                <a:latin typeface="KaTeX_Main"/>
              </a:rPr>
              <a:t>)</a:t>
            </a:r>
            <a:r>
              <a:rPr lang="ru-RU" b="0" i="0" dirty="0">
                <a:effectLst/>
                <a:latin typeface="pplxSerif"/>
              </a:rPr>
              <a:t>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pplxSerif"/>
              </a:rPr>
              <a:t>Что меняется: свой </a:t>
            </a:r>
            <a:r>
              <a:rPr lang="ru-RU" b="0" i="0" dirty="0" err="1">
                <a:effectLst/>
                <a:latin typeface="pplxSerif"/>
              </a:rPr>
              <a:t>baseline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hazard</a:t>
            </a:r>
            <a:r>
              <a:rPr lang="ru-RU" b="0" i="0" dirty="0">
                <a:effectLst/>
                <a:latin typeface="pplxSerif"/>
              </a:rPr>
              <a:t> в каждой группе, общие </a:t>
            </a:r>
            <a:r>
              <a:rPr lang="ru-RU" b="0" i="0" dirty="0">
                <a:effectLst/>
                <a:latin typeface="KaTeX_Main"/>
              </a:rPr>
              <a:t>β</a:t>
            </a:r>
            <a:r>
              <a:rPr lang="ru-RU" b="0" i="0" dirty="0">
                <a:effectLst/>
                <a:latin typeface="pplxSerif"/>
              </a:rPr>
              <a:t>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pplxSerif"/>
              </a:rPr>
              <a:t>Когда использовать: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разные когорты/центры,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стадии как страты,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нарушение PH по сильному фактору, который не интересен сам по себе.</a:t>
            </a:r>
          </a:p>
        </p:txBody>
      </p:sp>
    </p:spTree>
    <p:extLst>
      <p:ext uri="{BB962C8B-B14F-4D97-AF65-F5344CB8AC3E}">
        <p14:creationId xmlns:p14="http://schemas.microsoft.com/office/powerpoint/2010/main" val="4083329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Пример: РМЖ и стратификация по стадии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Исследование выживаемости при раке молочной железы, сравнение стандартной и стратифицированной </a:t>
            </a:r>
            <a:r>
              <a:rPr lang="ru-RU" b="0" i="0" dirty="0" err="1">
                <a:effectLst/>
                <a:latin typeface="pplxSerif"/>
              </a:rPr>
              <a:t>Cox</a:t>
            </a:r>
            <a:r>
              <a:rPr lang="ru-RU" b="0" i="0" dirty="0">
                <a:effectLst/>
                <a:latin typeface="pplxSerif"/>
              </a:rPr>
              <a:t>‑модели.​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Страты: клиническая стадия (I–IV).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Результат: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без стратификации — PH‑предположение нарушено,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со стратификацией — более стабильные HR для лечения (химио-, радиотерапия).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D3A969-24C6-4329-9FD8-DD4B9A124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448" y="4127582"/>
            <a:ext cx="6858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67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Time-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dependent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ROC и другие метрики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Когда данные временные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ROC в момент времени 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Предсказания для t=5 лет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Чувствительность: доля пациентов, которые действительно пережили событие до t и модель предсказала высокий риск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Интегрированная AUC: средняя AUC по всем t</a:t>
            </a:r>
          </a:p>
        </p:txBody>
      </p:sp>
    </p:spTree>
    <p:extLst>
      <p:ext uri="{BB962C8B-B14F-4D97-AF65-F5344CB8AC3E}">
        <p14:creationId xmlns:p14="http://schemas.microsoft.com/office/powerpoint/2010/main" val="123706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Time‑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dependent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ковариаты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: когда X меняется во времени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Определение: </a:t>
            </a:r>
            <a:r>
              <a:rPr lang="ru-RU" b="0" i="0" dirty="0" err="1">
                <a:effectLst/>
                <a:latin typeface="pplxSerif"/>
              </a:rPr>
              <a:t>ковариата</a:t>
            </a:r>
            <a:r>
              <a:rPr lang="ru-RU" b="0" i="0" dirty="0">
                <a:effectLst/>
                <a:latin typeface="pplxSerif"/>
              </a:rPr>
              <a:t>, значение которой изменяется в ходе наблюдения (лечение начато/отменено, рецидив, </a:t>
            </a:r>
            <a:r>
              <a:rPr lang="ru-RU" b="0" i="0" dirty="0" err="1">
                <a:effectLst/>
                <a:latin typeface="pplxSerif"/>
              </a:rPr>
              <a:t>биомаркер</a:t>
            </a:r>
            <a:r>
              <a:rPr lang="ru-RU" b="0" i="0" dirty="0">
                <a:effectLst/>
                <a:latin typeface="pplxSerif"/>
              </a:rPr>
              <a:t>, курение).​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Примеры в онкологии: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начало химио- или гормонотерапии после операции,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появление метастазов,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динамика уровня маркёра (PSA, CA‑125).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Требование: данные в формате </a:t>
            </a:r>
            <a:r>
              <a:rPr lang="ru-RU" b="0" i="0" dirty="0" err="1">
                <a:effectLst/>
                <a:latin typeface="pplxSerif"/>
              </a:rPr>
              <a:t>counting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process</a:t>
            </a:r>
            <a:r>
              <a:rPr lang="ru-RU" b="0" i="0" dirty="0">
                <a:effectLst/>
                <a:latin typeface="pplxSerif"/>
              </a:rPr>
              <a:t> (</a:t>
            </a:r>
            <a:r>
              <a:rPr lang="ru-RU" b="0" i="0" dirty="0" err="1">
                <a:effectLst/>
                <a:latin typeface="pplxSerif"/>
              </a:rPr>
              <a:t>start</a:t>
            </a:r>
            <a:r>
              <a:rPr lang="ru-RU" b="0" i="0" dirty="0">
                <a:effectLst/>
                <a:latin typeface="pplxSerif"/>
              </a:rPr>
              <a:t>–</a:t>
            </a:r>
            <a:r>
              <a:rPr lang="ru-RU" b="0" i="0" dirty="0" err="1">
                <a:effectLst/>
                <a:latin typeface="pplxSerif"/>
              </a:rPr>
              <a:t>stop</a:t>
            </a:r>
            <a:r>
              <a:rPr lang="ru-RU" b="0" i="0" dirty="0">
                <a:effectLst/>
                <a:latin typeface="pplxSerif"/>
              </a:rPr>
              <a:t> интервалы).</a:t>
            </a:r>
          </a:p>
        </p:txBody>
      </p:sp>
    </p:spTree>
    <p:extLst>
      <p:ext uri="{BB962C8B-B14F-4D97-AF65-F5344CB8AC3E}">
        <p14:creationId xmlns:p14="http://schemas.microsoft.com/office/powerpoint/2010/main" val="3558962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Пример: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адъювантная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терапия как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time‑dependent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X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Сценарий: ранний рак молочной железы, часть пациенток начинает гормонотерапию через несколько месяцев.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Неправильный подход: моделировать “получала терапию: да/нет” как </a:t>
            </a:r>
            <a:r>
              <a:rPr lang="ru-RU" b="0" i="0" dirty="0" err="1">
                <a:effectLst/>
                <a:latin typeface="pplxSerif"/>
              </a:rPr>
              <a:t>baseline</a:t>
            </a:r>
            <a:r>
              <a:rPr lang="ru-RU" b="0" i="0" dirty="0">
                <a:effectLst/>
                <a:latin typeface="pplxSerif"/>
              </a:rPr>
              <a:t> X → </a:t>
            </a:r>
            <a:r>
              <a:rPr lang="ru-RU" b="0" i="0" dirty="0" err="1">
                <a:effectLst/>
                <a:latin typeface="pplxSerif"/>
              </a:rPr>
              <a:t>immortal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time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bias</a:t>
            </a:r>
            <a:r>
              <a:rPr lang="ru-RU" b="0" i="0" dirty="0"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Правильный: переменная “</a:t>
            </a:r>
            <a:r>
              <a:rPr lang="ru-RU" b="0" i="0" dirty="0" err="1">
                <a:effectLst/>
                <a:latin typeface="pplxSerif"/>
              </a:rPr>
              <a:t>on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treatment</a:t>
            </a:r>
            <a:r>
              <a:rPr lang="ru-RU" b="0" i="0" dirty="0">
                <a:effectLst/>
                <a:latin typeface="pplxSerif"/>
              </a:rPr>
              <a:t>” как </a:t>
            </a:r>
            <a:r>
              <a:rPr lang="ru-RU" b="0" i="0" dirty="0" err="1">
                <a:effectLst/>
                <a:latin typeface="pplxSerif"/>
              </a:rPr>
              <a:t>time‑dependent</a:t>
            </a:r>
            <a:r>
              <a:rPr lang="ru-RU" b="0" i="0" dirty="0">
                <a:effectLst/>
                <a:latin typeface="pplxSerif"/>
              </a:rPr>
              <a:t>, обновляется в момент старта терапии.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E59CFE-6F7C-4A42-AC1E-9B8CDD367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448" y="4062057"/>
            <a:ext cx="705802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50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Time‑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varying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коэффициенты: когда HR меняется со временем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Проблема: </a:t>
            </a:r>
            <a:r>
              <a:rPr lang="en-US" b="0" i="0" dirty="0">
                <a:effectLst/>
                <a:latin typeface="pplxSerif"/>
              </a:rPr>
              <a:t>PH‑</a:t>
            </a:r>
            <a:r>
              <a:rPr lang="ru-RU" b="0" i="0" dirty="0">
                <a:effectLst/>
                <a:latin typeface="pplxSerif"/>
              </a:rPr>
              <a:t>предположение нарушено, эффект </a:t>
            </a:r>
            <a:r>
              <a:rPr lang="en-US" b="0" i="0" dirty="0">
                <a:effectLst/>
                <a:latin typeface="pplxSerif"/>
              </a:rPr>
              <a:t>X </a:t>
            </a:r>
            <a:r>
              <a:rPr lang="ru-RU" b="0" i="0" dirty="0">
                <a:effectLst/>
                <a:latin typeface="pplxSerif"/>
              </a:rPr>
              <a:t>на </a:t>
            </a:r>
            <a:r>
              <a:rPr lang="en-US" b="0" i="0" dirty="0">
                <a:effectLst/>
                <a:latin typeface="pplxSerif"/>
              </a:rPr>
              <a:t>hazard </a:t>
            </a:r>
            <a:r>
              <a:rPr lang="ru-RU" b="0" i="0" dirty="0">
                <a:effectLst/>
                <a:latin typeface="pplxSerif"/>
              </a:rPr>
              <a:t>меняется по </a:t>
            </a:r>
            <a:r>
              <a:rPr lang="en-US" b="0" i="0" dirty="0">
                <a:effectLst/>
                <a:latin typeface="pplxSerif"/>
              </a:rPr>
              <a:t>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Подход: ввести взаимодействие </a:t>
            </a:r>
            <a:r>
              <a:rPr lang="en-US" b="0" i="0" dirty="0" err="1">
                <a:effectLst/>
                <a:latin typeface="pplxSerif"/>
              </a:rPr>
              <a:t>X×g</a:t>
            </a:r>
            <a:r>
              <a:rPr lang="en-US" b="0" i="0" dirty="0">
                <a:effectLst/>
                <a:latin typeface="pplxSerif"/>
              </a:rPr>
              <a:t>(t): </a:t>
            </a:r>
            <a:r>
              <a:rPr lang="el-GR" b="0" i="0" dirty="0">
                <a:effectLst/>
                <a:latin typeface="KaTeX_Main"/>
              </a:rPr>
              <a:t>λ(</a:t>
            </a:r>
            <a:r>
              <a:rPr lang="en-US" b="0" i="0" dirty="0" err="1">
                <a:effectLst/>
                <a:latin typeface="KaTeX_Main"/>
              </a:rPr>
              <a:t>t∣X</a:t>
            </a:r>
            <a:r>
              <a:rPr lang="en-US" b="0" i="0" dirty="0">
                <a:effectLst/>
                <a:latin typeface="KaTeX_Main"/>
              </a:rPr>
              <a:t>)=</a:t>
            </a:r>
            <a:r>
              <a:rPr lang="el-GR" b="0" i="0" dirty="0">
                <a:effectLst/>
                <a:latin typeface="KaTeX_Main"/>
              </a:rPr>
              <a:t>λ0(</a:t>
            </a:r>
            <a:r>
              <a:rPr lang="en-US" b="0" i="0" dirty="0">
                <a:effectLst/>
                <a:latin typeface="KaTeX_Main"/>
              </a:rPr>
              <a:t>t)exp⁡(</a:t>
            </a:r>
            <a:r>
              <a:rPr lang="el-GR" b="0" i="0" dirty="0">
                <a:effectLst/>
                <a:latin typeface="KaTeX_Main"/>
              </a:rPr>
              <a:t>β1</a:t>
            </a:r>
            <a:r>
              <a:rPr lang="en-US" b="0" i="0" dirty="0">
                <a:effectLst/>
                <a:latin typeface="KaTeX_Main"/>
              </a:rPr>
              <a:t>X+</a:t>
            </a:r>
            <a:r>
              <a:rPr lang="el-GR" b="0" i="0" dirty="0">
                <a:effectLst/>
                <a:latin typeface="KaTeX_Main"/>
              </a:rPr>
              <a:t>β2</a:t>
            </a:r>
            <a:r>
              <a:rPr lang="en-US" b="0" i="0" dirty="0" err="1">
                <a:effectLst/>
                <a:latin typeface="KaTeX_Main"/>
              </a:rPr>
              <a:t>Xg</a:t>
            </a:r>
            <a:r>
              <a:rPr lang="en-US" b="0" i="0" dirty="0">
                <a:effectLst/>
                <a:latin typeface="KaTeX_Main"/>
              </a:rPr>
              <a:t>(t)+…)</a:t>
            </a:r>
            <a:r>
              <a:rPr lang="el-GR" b="0" i="1" dirty="0">
                <a:effectLst/>
                <a:latin typeface="KaTeX_Math"/>
              </a:rPr>
              <a:t>λ</a:t>
            </a:r>
            <a:r>
              <a:rPr lang="el-GR" b="0" i="0" dirty="0">
                <a:effectLst/>
                <a:latin typeface="KaTeX_Main"/>
              </a:rPr>
              <a:t>(</a:t>
            </a:r>
            <a:r>
              <a:rPr lang="en-US" b="0" i="1" dirty="0" err="1">
                <a:effectLst/>
                <a:latin typeface="KaTeX_Math"/>
              </a:rPr>
              <a:t>t</a:t>
            </a:r>
            <a:r>
              <a:rPr lang="en-US" b="0" i="0" dirty="0" err="1">
                <a:effectLst/>
                <a:latin typeface="KaTeX_Main"/>
              </a:rPr>
              <a:t>∣</a:t>
            </a:r>
            <a:r>
              <a:rPr lang="en-US" b="0" i="1" dirty="0" err="1">
                <a:effectLst/>
                <a:latin typeface="KaTeX_Math"/>
              </a:rPr>
              <a:t>X</a:t>
            </a:r>
            <a:r>
              <a:rPr lang="en-US" b="0" i="0" dirty="0">
                <a:effectLst/>
                <a:latin typeface="KaTeX_Main"/>
              </a:rPr>
              <a:t>)=</a:t>
            </a:r>
            <a:r>
              <a:rPr lang="el-GR" b="0" i="1" dirty="0">
                <a:effectLst/>
                <a:latin typeface="KaTeX_Math"/>
              </a:rPr>
              <a:t>λ</a:t>
            </a:r>
            <a:r>
              <a:rPr lang="el-GR" b="0" i="0" dirty="0">
                <a:effectLst/>
                <a:latin typeface="KaTeX_Main"/>
              </a:rPr>
              <a:t>0(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KaTeX_Main"/>
              </a:rPr>
              <a:t>)exp(</a:t>
            </a:r>
            <a:r>
              <a:rPr lang="el-GR" b="0" i="1" dirty="0">
                <a:effectLst/>
                <a:latin typeface="KaTeX_Math"/>
              </a:rPr>
              <a:t>β</a:t>
            </a:r>
            <a:r>
              <a:rPr lang="el-GR" b="0" i="0" dirty="0">
                <a:effectLst/>
                <a:latin typeface="KaTeX_Main"/>
              </a:rPr>
              <a:t>1</a:t>
            </a:r>
            <a:r>
              <a:rPr lang="en-US" b="0" i="1" dirty="0">
                <a:effectLst/>
                <a:latin typeface="KaTeX_Math"/>
              </a:rPr>
              <a:t>X</a:t>
            </a:r>
            <a:r>
              <a:rPr lang="en-US" b="0" i="0" dirty="0">
                <a:effectLst/>
                <a:latin typeface="KaTeX_Main"/>
              </a:rPr>
              <a:t>+</a:t>
            </a:r>
            <a:r>
              <a:rPr lang="el-GR" b="0" i="1" dirty="0">
                <a:effectLst/>
                <a:latin typeface="KaTeX_Math"/>
              </a:rPr>
              <a:t>β</a:t>
            </a:r>
            <a:r>
              <a:rPr lang="el-GR" b="0" i="0" dirty="0">
                <a:effectLst/>
                <a:latin typeface="KaTeX_Main"/>
              </a:rPr>
              <a:t>2</a:t>
            </a:r>
            <a:r>
              <a:rPr lang="en-US" b="0" i="1" dirty="0" err="1">
                <a:effectLst/>
                <a:latin typeface="KaTeX_Math"/>
              </a:rPr>
              <a:t>Xg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KaTeX_Main"/>
              </a:rPr>
              <a:t>)+…)</a:t>
            </a:r>
            <a:r>
              <a:rPr lang="en-US" b="0" i="0" dirty="0">
                <a:effectLst/>
                <a:latin typeface="pplxSerif"/>
              </a:rPr>
              <a:t>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 онкологии: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защитный эффект </a:t>
            </a:r>
            <a:r>
              <a:rPr lang="en-US" b="0" i="0" dirty="0">
                <a:effectLst/>
                <a:latin typeface="pplxSerif"/>
              </a:rPr>
              <a:t>ER+ </a:t>
            </a:r>
            <a:r>
              <a:rPr lang="ru-RU" b="0" i="0" dirty="0">
                <a:effectLst/>
                <a:latin typeface="pplxSerif"/>
              </a:rPr>
              <a:t>и низкого </a:t>
            </a:r>
            <a:r>
              <a:rPr lang="en-US" b="0" i="0" dirty="0">
                <a:effectLst/>
                <a:latin typeface="pplxSerif"/>
              </a:rPr>
              <a:t>grade </a:t>
            </a:r>
            <a:r>
              <a:rPr lang="ru-RU" b="0" i="0" dirty="0">
                <a:effectLst/>
                <a:latin typeface="pplxSerif"/>
              </a:rPr>
              <a:t>силён в первые годы и ослабевает позже.​</a:t>
            </a:r>
          </a:p>
        </p:txBody>
      </p:sp>
    </p:spTree>
    <p:extLst>
      <p:ext uri="{BB962C8B-B14F-4D97-AF65-F5344CB8AC3E}">
        <p14:creationId xmlns:p14="http://schemas.microsoft.com/office/powerpoint/2010/main" val="1096460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Пример: при раке груди эффект HR меняется с годами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Исследование 956 пациенток после </a:t>
            </a:r>
            <a:r>
              <a:rPr lang="ru-RU" b="0" i="0" dirty="0" err="1">
                <a:effectLst/>
                <a:latin typeface="pplxSerif"/>
              </a:rPr>
              <a:t>неоадъювантной</a:t>
            </a:r>
            <a:r>
              <a:rPr lang="ru-RU" b="0" i="0" dirty="0">
                <a:effectLst/>
                <a:latin typeface="pplxSerif"/>
              </a:rPr>
              <a:t> химиотерапии.​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Показано: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положительный гормональный статус и низкий </a:t>
            </a:r>
            <a:r>
              <a:rPr lang="ru-RU" b="0" i="0" dirty="0" err="1">
                <a:effectLst/>
                <a:latin typeface="pplxSerif"/>
              </a:rPr>
              <a:t>grade</a:t>
            </a:r>
            <a:r>
              <a:rPr lang="ru-RU" b="0" i="0" dirty="0">
                <a:effectLst/>
                <a:latin typeface="pplxSerif"/>
              </a:rPr>
              <a:t> сильно защищают в первые годы,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через 5–10 лет HR меняется: преимущество снижается, иногда обращается.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F1153B-A5FD-426F-A0C1-C95ABCF062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448" y="3770781"/>
            <a:ext cx="6065007" cy="276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74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Проверка моделей и валидация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Тестирование на новой когорте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Внутренняя валидация: K-</a:t>
            </a:r>
            <a:r>
              <a:rPr lang="ru-RU" b="0" i="0" dirty="0" err="1">
                <a:effectLst/>
                <a:latin typeface="fkGroteskNeue"/>
              </a:rPr>
              <a:t>fold</a:t>
            </a:r>
            <a:r>
              <a:rPr lang="ru-RU" b="0" i="0" dirty="0">
                <a:effectLst/>
                <a:latin typeface="fkGroteskNeue"/>
              </a:rPr>
              <a:t> CV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Внешняя валидация: совершенно независимая когорта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Калибровка: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Модель предсказывает S(5) = 0.70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В реальности: 70% действительно живы через 5 лет?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Если да → хорошо откалибрована</a:t>
            </a:r>
          </a:p>
        </p:txBody>
      </p:sp>
    </p:spTree>
    <p:extLst>
      <p:ext uri="{BB962C8B-B14F-4D97-AF65-F5344CB8AC3E}">
        <p14:creationId xmlns:p14="http://schemas.microsoft.com/office/powerpoint/2010/main" val="2998996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Байесовские методы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Когда информации мало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В редких болезнях пациентов мало. </a:t>
            </a:r>
            <a:r>
              <a:rPr lang="ru-RU" b="0" i="0" dirty="0" err="1">
                <a:effectLst/>
                <a:latin typeface="fkGroteskNeue"/>
              </a:rPr>
              <a:t>Prior</a:t>
            </a:r>
            <a:r>
              <a:rPr lang="ru-RU" b="0" i="0" dirty="0">
                <a:effectLst/>
                <a:latin typeface="fkGroteskNeue"/>
              </a:rPr>
              <a:t> информация помогает.</a:t>
            </a:r>
          </a:p>
          <a:p>
            <a:pPr marL="0" indent="0" algn="l">
              <a:buNone/>
            </a:pPr>
            <a:r>
              <a:rPr lang="ru-RU" i="1" dirty="0">
                <a:effectLst/>
                <a:latin typeface="fkGroteskNeue"/>
              </a:rPr>
              <a:t>Байесовский </a:t>
            </a:r>
            <a:r>
              <a:rPr lang="ru-RU" i="1" dirty="0" err="1">
                <a:effectLst/>
                <a:latin typeface="fkGroteskNeue"/>
              </a:rPr>
              <a:t>Cox</a:t>
            </a:r>
            <a:r>
              <a:rPr lang="ru-RU" i="1" dirty="0">
                <a:effectLst/>
                <a:latin typeface="fkGroteskNeue"/>
              </a:rPr>
              <a:t>:</a:t>
            </a:r>
          </a:p>
          <a:p>
            <a:pPr marL="0" indent="0" algn="l">
              <a:buNone/>
            </a:pP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P(</a:t>
            </a:r>
            <a:r>
              <a:rPr lang="el-GR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β | 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данные) ∝ 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Likelihood × Prior</a:t>
            </a:r>
          </a:p>
          <a:p>
            <a:pPr marL="0" indent="0" algn="l">
              <a:buNone/>
            </a:pPr>
            <a:r>
              <a:rPr lang="ru-RU" b="0" i="0" dirty="0" err="1">
                <a:effectLst/>
                <a:latin typeface="fkGroteskNeue"/>
              </a:rPr>
              <a:t>Prior</a:t>
            </a:r>
            <a:r>
              <a:rPr lang="ru-RU" b="0" i="0" dirty="0">
                <a:effectLst/>
                <a:latin typeface="fkGroteskNeue"/>
              </a:rPr>
              <a:t> может быть: "На основе литературы, ER+ обычно протектор"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Результат: более стабильные оценки, даже на малых выборках.</a:t>
            </a:r>
          </a:p>
          <a:p>
            <a:pPr marL="0" indent="0" algn="l">
              <a:buNone/>
            </a:pPr>
            <a:endParaRPr lang="ru-RU" i="1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511970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Риск-скор и клиническое применение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От модели к лечению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Оценка риска: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Risk = -0.5 + 0.02×Age + 0.05×Size + 0.83×Grade - 0.92×ER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Классификация: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Risk &lt; 0 → Low risk → </a:t>
            </a:r>
            <a:r>
              <a:rPr lang="ru-RU" b="0" i="0" dirty="0">
                <a:effectLst/>
                <a:latin typeface="fkGroteskNeue"/>
              </a:rPr>
              <a:t>наблюдение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0 &lt; </a:t>
            </a:r>
            <a:r>
              <a:rPr lang="en-US" b="0" i="0" dirty="0">
                <a:effectLst/>
                <a:latin typeface="fkGroteskNeue"/>
              </a:rPr>
              <a:t>Risk &lt; 1 → Medium risk → </a:t>
            </a:r>
            <a:r>
              <a:rPr lang="ru-RU" b="0" i="0" dirty="0">
                <a:effectLst/>
                <a:latin typeface="fkGroteskNeue"/>
              </a:rPr>
              <a:t>стандартное лечение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Risk &gt; 1 → High risk → </a:t>
            </a:r>
            <a:r>
              <a:rPr lang="ru-RU" b="0" i="0" dirty="0">
                <a:effectLst/>
                <a:latin typeface="fkGroteskNeue"/>
              </a:rPr>
              <a:t>агрессивное лечение</a:t>
            </a:r>
          </a:p>
          <a:p>
            <a:pPr marL="0" indent="0" algn="l">
              <a:buNone/>
            </a:pPr>
            <a:endParaRPr lang="ru-RU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745063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Расширения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1" i="1" dirty="0">
                <a:effectLst/>
                <a:latin typeface="fkGroteskNeue"/>
              </a:rPr>
              <a:t>LASSO, Ridge, Elastic Net</a:t>
            </a:r>
          </a:p>
          <a:p>
            <a:pPr marL="0" indent="0" algn="l">
              <a:buNone/>
            </a:pPr>
            <a:r>
              <a:rPr lang="en-US" b="0" i="1" dirty="0">
                <a:effectLst/>
                <a:latin typeface="fkGroteskNeue"/>
              </a:rPr>
              <a:t>Ridge Cox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Коэффициенты подвергаются штрафу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Уменьшает переобучение</a:t>
            </a:r>
          </a:p>
          <a:p>
            <a:pPr marL="0" indent="0" algn="l">
              <a:buNone/>
            </a:pPr>
            <a:r>
              <a:rPr lang="en-US" b="0" i="1" dirty="0">
                <a:effectLst/>
                <a:latin typeface="fkGroteskNeue"/>
              </a:rPr>
              <a:t>LASSO Cox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Отбирает признаки (некоторые коэффициенты → 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Дает интерпретируемую модель с меньшим числом генов</a:t>
            </a:r>
          </a:p>
          <a:p>
            <a:pPr marL="0" indent="0" algn="l">
              <a:buNone/>
            </a:pPr>
            <a:r>
              <a:rPr lang="en-US" b="0" i="1" dirty="0">
                <a:effectLst/>
                <a:latin typeface="fkGroteskNeue"/>
              </a:rPr>
              <a:t>Elastic Net</a:t>
            </a:r>
            <a:r>
              <a:rPr lang="en-US" b="0" i="0" dirty="0">
                <a:effectLst/>
                <a:latin typeface="fkGroteskNeue"/>
              </a:rPr>
              <a:t>: </a:t>
            </a:r>
            <a:r>
              <a:rPr lang="ru-RU" b="0" i="0" dirty="0">
                <a:effectLst/>
                <a:latin typeface="fkGroteskNeue"/>
              </a:rPr>
              <a:t>комбинация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Пример: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>
                <a:effectLst/>
                <a:latin typeface="fkGroteskNeue"/>
              </a:rPr>
              <a:t>Начальный </a:t>
            </a:r>
            <a:r>
              <a:rPr lang="en-US" b="0" i="1" dirty="0">
                <a:effectLst/>
                <a:latin typeface="fkGroteskNeue"/>
              </a:rPr>
              <a:t>Cox: 20,000 </a:t>
            </a:r>
            <a:r>
              <a:rPr lang="ru-RU" b="0" i="1" dirty="0">
                <a:effectLst/>
                <a:latin typeface="fkGroteskNeue"/>
              </a:rPr>
              <a:t>генов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fkGroteskNeue"/>
              </a:rPr>
              <a:t>LASSO Cox: 15 </a:t>
            </a:r>
            <a:r>
              <a:rPr lang="ru-RU" b="0" i="1" dirty="0">
                <a:effectLst/>
                <a:latin typeface="fkGroteskNeue"/>
              </a:rPr>
              <a:t>генов (остальные обнулены)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>
                <a:effectLst/>
                <a:latin typeface="fkGroteskNeue"/>
              </a:rPr>
              <a:t>Модель проще, но </a:t>
            </a:r>
            <a:r>
              <a:rPr lang="en-US" b="0" i="1" dirty="0">
                <a:effectLst/>
                <a:latin typeface="fkGroteskNeue"/>
              </a:rPr>
              <a:t>C-index </a:t>
            </a:r>
            <a:r>
              <a:rPr lang="ru-RU" b="0" i="1" dirty="0">
                <a:effectLst/>
                <a:latin typeface="fkGroteskNeue"/>
              </a:rPr>
              <a:t>не упала</a:t>
            </a:r>
          </a:p>
        </p:txBody>
      </p:sp>
    </p:spTree>
    <p:extLst>
      <p:ext uri="{BB962C8B-B14F-4D97-AF65-F5344CB8AC3E}">
        <p14:creationId xmlns:p14="http://schemas.microsoft.com/office/powerpoint/2010/main" val="4012856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Типичные ошибки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Чего не делать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❌ Игнорировать цензурирование (будто все события случились)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❌ Нарушить предпосылку пропорциональности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❌ Забыть про </a:t>
            </a:r>
            <a:r>
              <a:rPr lang="ru-RU" b="0" i="0" dirty="0" err="1">
                <a:effectLst/>
                <a:latin typeface="fkGroteskNeue"/>
              </a:rPr>
              <a:t>confounding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❌ Переобучиться (слишком много предикторов на мало пациентов)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❌ Не </a:t>
            </a:r>
            <a:r>
              <a:rPr lang="ru-RU" b="0" i="0" dirty="0" err="1">
                <a:effectLst/>
                <a:latin typeface="fkGroteskNeue"/>
              </a:rPr>
              <a:t>валидировать</a:t>
            </a:r>
            <a:r>
              <a:rPr lang="ru-RU" b="0" i="0" dirty="0">
                <a:effectLst/>
                <a:latin typeface="fkGroteskNeue"/>
              </a:rPr>
              <a:t> на независимой выборке</a:t>
            </a:r>
          </a:p>
        </p:txBody>
      </p:sp>
    </p:spTree>
    <p:extLst>
      <p:ext uri="{BB962C8B-B14F-4D97-AF65-F5344CB8AC3E}">
        <p14:creationId xmlns:p14="http://schemas.microsoft.com/office/powerpoint/2010/main" val="2498331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Пример: 14‑генная модель Кокса – рак легких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3193"/>
            <a:ext cx="7107382" cy="1639170"/>
          </a:xfrm>
        </p:spPr>
        <p:txBody>
          <a:bodyPr>
            <a:normAutofit fontScale="92500" lnSpcReduction="10000"/>
          </a:bodyPr>
          <a:lstStyle/>
          <a:p>
            <a:pPr indent="-41275" algn="l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  <a:latin typeface="pplxSerif"/>
              </a:rPr>
              <a:t>TCGA-LUAD (lung adenocarcinoma): 470 </a:t>
            </a:r>
            <a:r>
              <a:rPr lang="ru-RU" sz="1600" i="0" dirty="0">
                <a:effectLst/>
                <a:latin typeface="pplxSerif"/>
              </a:rPr>
              <a:t>пациентов с </a:t>
            </a:r>
            <a:r>
              <a:rPr lang="en-US" sz="1600" i="0" dirty="0">
                <a:effectLst/>
                <a:latin typeface="pplxSerif"/>
              </a:rPr>
              <a:t>mRNA (535 </a:t>
            </a:r>
            <a:r>
              <a:rPr lang="ru-RU" sz="1600" i="0" dirty="0">
                <a:effectLst/>
                <a:latin typeface="pplxSerif"/>
              </a:rPr>
              <a:t>опухолей + 59 норма, отфильтровано) + клинические (возраст, </a:t>
            </a:r>
            <a:r>
              <a:rPr lang="en-US" sz="1600" i="0" dirty="0">
                <a:effectLst/>
                <a:latin typeface="pplxSerif"/>
              </a:rPr>
              <a:t>T/N/M, </a:t>
            </a:r>
            <a:r>
              <a:rPr lang="ru-RU" sz="1600" i="0" dirty="0">
                <a:effectLst/>
                <a:latin typeface="pplxSerif"/>
              </a:rPr>
              <a:t>стадия, лечение, курение).</a:t>
            </a:r>
          </a:p>
          <a:p>
            <a:pPr indent="-41275" algn="l">
              <a:buFont typeface="Arial" panose="020B0604020202020204" pitchFamily="34" charset="0"/>
              <a:buChar char="•"/>
            </a:pPr>
            <a:r>
              <a:rPr lang="ru-RU" sz="1600" i="0" dirty="0">
                <a:effectLst/>
                <a:latin typeface="pplxSerif"/>
              </a:rPr>
              <a:t>Валидация: </a:t>
            </a:r>
            <a:r>
              <a:rPr lang="en-US" sz="1600" i="0" dirty="0">
                <a:effectLst/>
                <a:latin typeface="pplxSerif"/>
              </a:rPr>
              <a:t>GEO GSE68465 (437 </a:t>
            </a:r>
            <a:r>
              <a:rPr lang="ru-RU" sz="1600" i="0" dirty="0">
                <a:effectLst/>
                <a:latin typeface="pplxSerif"/>
              </a:rPr>
              <a:t>пациентов). </a:t>
            </a:r>
          </a:p>
          <a:p>
            <a:pPr marL="187325" indent="0" algn="l">
              <a:buNone/>
            </a:pPr>
            <a:r>
              <a:rPr lang="en-US" sz="1600" i="0" dirty="0">
                <a:effectLst/>
                <a:latin typeface="pplxSerif"/>
              </a:rPr>
              <a:t>• Cox → 14 </a:t>
            </a:r>
            <a:r>
              <a:rPr lang="ru-RU" sz="1600" i="0" dirty="0">
                <a:effectLst/>
                <a:latin typeface="pplxSerif"/>
              </a:rPr>
              <a:t>генов (</a:t>
            </a:r>
            <a:r>
              <a:rPr lang="en-US" sz="1600" i="0" dirty="0">
                <a:effectLst/>
                <a:latin typeface="pplxSerif"/>
              </a:rPr>
              <a:t>CPS1, MCM5/7, PLK1...)</a:t>
            </a:r>
          </a:p>
          <a:p>
            <a:pPr indent="-41275" algn="l">
              <a:buNone/>
            </a:pPr>
            <a:r>
              <a:rPr lang="en-US" sz="1600" i="0" dirty="0">
                <a:effectLst/>
                <a:latin typeface="pplxSerif"/>
              </a:rPr>
              <a:t>• Risk score: High vs Low, KM p&lt;0.001, C-index 0.733/0.735</a:t>
            </a:r>
            <a:endParaRPr lang="ru-RU" sz="1600" i="0" dirty="0">
              <a:effectLst/>
              <a:latin typeface="pplxSerif"/>
            </a:endParaRPr>
          </a:p>
        </p:txBody>
      </p:sp>
      <p:pic>
        <p:nvPicPr>
          <p:cNvPr id="2050" name="Picture 2" descr="Figure 1">
            <a:extLst>
              <a:ext uri="{FF2B5EF4-FFF2-40B4-BE49-F238E27FC236}">
                <a16:creationId xmlns:a16="http://schemas.microsoft.com/office/drawing/2014/main" id="{DA77641D-A10B-4FB0-BB13-23236F3EF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408" y="1187302"/>
            <a:ext cx="4330410" cy="518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gure 6">
            <a:extLst>
              <a:ext uri="{FF2B5EF4-FFF2-40B4-BE49-F238E27FC236}">
                <a16:creationId xmlns:a16="http://schemas.microsoft.com/office/drawing/2014/main" id="{A1E8FCAD-D534-4BB8-8DBF-67E7EB41A7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02" b="50000"/>
          <a:stretch/>
        </p:blipFill>
        <p:spPr bwMode="auto">
          <a:xfrm>
            <a:off x="328496" y="2660074"/>
            <a:ext cx="6298259" cy="402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168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Survival Analysis —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это мощно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Мы разобрали: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Кривые Каплана-Мейера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Интерпретация </a:t>
            </a:r>
            <a:r>
              <a:rPr lang="ru-RU" b="0" i="0" dirty="0" err="1">
                <a:effectLst/>
                <a:latin typeface="fkGroteskNeue"/>
              </a:rPr>
              <a:t>Cox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model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Расчет </a:t>
            </a:r>
            <a:r>
              <a:rPr lang="ru-RU" b="0" i="0" dirty="0" err="1">
                <a:effectLst/>
                <a:latin typeface="fkGroteskNeue"/>
              </a:rPr>
              <a:t>Hazard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Ratio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Оценка качества (C-</a:t>
            </a:r>
            <a:r>
              <a:rPr lang="ru-RU" b="0" i="0" dirty="0" err="1">
                <a:effectLst/>
                <a:latin typeface="fkGroteskNeue"/>
              </a:rPr>
              <a:t>index</a:t>
            </a:r>
            <a:r>
              <a:rPr lang="ru-RU" b="0" i="0" dirty="0">
                <a:effectLst/>
                <a:latin typeface="fkGroteskNeue"/>
              </a:rPr>
              <a:t>)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Дальше: практика на реальных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1437198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Ресурсы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"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Survival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 Analysis: A Self-Learning Text" (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Kleinbaum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 &amp; Klein)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R пакет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keleyMono"/>
              </a:rPr>
              <a:t>survival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keley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u-RU" altLang="ru-RU" sz="2800" dirty="0">
              <a:latin typeface="berkeleyMono"/>
            </a:endParaRPr>
          </a:p>
          <a:p>
            <a:pPr marL="0" indent="0" algn="l">
              <a:buNone/>
            </a:pPr>
            <a:r>
              <a:rPr lang="ru-RU" sz="2800" i="1" dirty="0" err="1">
                <a:effectLst/>
                <a:latin typeface="fkGroteskNeue"/>
              </a:rPr>
              <a:t>Датасеты</a:t>
            </a:r>
            <a:r>
              <a:rPr lang="ru-RU" sz="2800" i="1" dirty="0">
                <a:effectLst/>
                <a:latin typeface="fkGroteskNeue"/>
              </a:rPr>
              <a:t> для практики:</a:t>
            </a:r>
          </a:p>
          <a:p>
            <a:pPr marL="0" indent="0" algn="l">
              <a:buNone/>
            </a:pPr>
            <a:r>
              <a:rPr lang="en-US" sz="2800" dirty="0">
                <a:effectLst/>
                <a:latin typeface="fkGroteskNeue"/>
              </a:rPr>
              <a:t>GEO (Gene Expression Omnibus): https://www.ncbi.nlm.nih.gov/geo/</a:t>
            </a:r>
          </a:p>
          <a:p>
            <a:pPr marL="0" indent="0" algn="l">
              <a:buNone/>
            </a:pPr>
            <a:r>
              <a:rPr lang="en-US" sz="2800" dirty="0">
                <a:effectLst/>
                <a:latin typeface="fkGroteskNeue"/>
              </a:rPr>
              <a:t>TCGA: https://portal.gdc.cancer.gov/</a:t>
            </a:r>
          </a:p>
          <a:p>
            <a:pPr marL="0" indent="0" algn="l">
              <a:buNone/>
            </a:pPr>
            <a:r>
              <a:rPr lang="ru-RU" sz="2800" dirty="0">
                <a:effectLst/>
                <a:latin typeface="fkGroteskNeue"/>
              </a:rPr>
              <a:t>Реальные </a:t>
            </a:r>
            <a:r>
              <a:rPr lang="ru-RU" sz="2800" dirty="0" err="1">
                <a:effectLst/>
                <a:latin typeface="fkGroteskNeue"/>
              </a:rPr>
              <a:t>датасеты</a:t>
            </a:r>
            <a:r>
              <a:rPr lang="ru-RU" sz="2800" dirty="0">
                <a:effectLst/>
                <a:latin typeface="fkGroteskNeue"/>
              </a:rPr>
              <a:t> с публикациями (</a:t>
            </a:r>
            <a:r>
              <a:rPr lang="en-US" sz="2800" dirty="0">
                <a:effectLst/>
                <a:latin typeface="fkGroteskNeue"/>
              </a:rPr>
              <a:t>Google Scholar)</a:t>
            </a:r>
            <a:endParaRPr lang="ru-RU" sz="2800" dirty="0">
              <a:effectLst/>
              <a:latin typeface="fkGrotesk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kGrotesk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13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5331</Words>
  <Application>Microsoft Office PowerPoint</Application>
  <PresentationFormat>Широкоэкранный</PresentationFormat>
  <Paragraphs>618</Paragraphs>
  <Slides>36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9" baseType="lpstr">
      <vt:lpstr>Arial</vt:lpstr>
      <vt:lpstr>berkeleyMono</vt:lpstr>
      <vt:lpstr>Calibri</vt:lpstr>
      <vt:lpstr>Calibri Light</vt:lpstr>
      <vt:lpstr>Cambria Math</vt:lpstr>
      <vt:lpstr>fkGroteskNeue</vt:lpstr>
      <vt:lpstr>KaTeX_Main</vt:lpstr>
      <vt:lpstr>KaTeX_Math</vt:lpstr>
      <vt:lpstr>pplxSansMono</vt:lpstr>
      <vt:lpstr>pplxSerif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57</cp:revision>
  <dcterms:created xsi:type="dcterms:W3CDTF">2025-09-03T07:14:40Z</dcterms:created>
  <dcterms:modified xsi:type="dcterms:W3CDTF">2026-02-18T12:50:09Z</dcterms:modified>
</cp:coreProperties>
</file>