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67" r:id="rId5"/>
    <p:sldId id="268" r:id="rId6"/>
    <p:sldId id="269" r:id="rId7"/>
    <p:sldId id="270" r:id="rId8"/>
    <p:sldId id="271" r:id="rId9"/>
    <p:sldId id="289" r:id="rId10"/>
    <p:sldId id="272" r:id="rId11"/>
    <p:sldId id="273" r:id="rId12"/>
    <p:sldId id="276" r:id="rId13"/>
    <p:sldId id="277" r:id="rId14"/>
    <p:sldId id="274" r:id="rId15"/>
    <p:sldId id="275" r:id="rId16"/>
    <p:sldId id="278" r:id="rId17"/>
    <p:sldId id="291" r:id="rId18"/>
    <p:sldId id="280" r:id="rId19"/>
    <p:sldId id="298" r:id="rId20"/>
    <p:sldId id="299" r:id="rId21"/>
    <p:sldId id="292" r:id="rId22"/>
    <p:sldId id="293" r:id="rId23"/>
    <p:sldId id="281" r:id="rId24"/>
    <p:sldId id="294" r:id="rId25"/>
    <p:sldId id="295" r:id="rId26"/>
    <p:sldId id="296" r:id="rId27"/>
    <p:sldId id="297" r:id="rId28"/>
    <p:sldId id="284" r:id="rId29"/>
    <p:sldId id="285" r:id="rId30"/>
    <p:sldId id="279" r:id="rId31"/>
    <p:sldId id="282" r:id="rId32"/>
    <p:sldId id="286" r:id="rId33"/>
    <p:sldId id="290" r:id="rId34"/>
    <p:sldId id="288" r:id="rId35"/>
    <p:sldId id="287" r:id="rId36"/>
    <p:sldId id="266" r:id="rId3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0" autoAdjust="0"/>
    <p:restoredTop sz="64879" autoAdjust="0"/>
  </p:normalViewPr>
  <p:slideViewPr>
    <p:cSldViewPr snapToGrid="0">
      <p:cViewPr varScale="1">
        <p:scale>
          <a:sx n="46" d="100"/>
          <a:sy n="46" d="100"/>
        </p:scale>
        <p:origin x="149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29370D-F2D9-4CCE-A730-8C5295B5F53C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235BED-E67C-4CE8-A9D1-79A059B95A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5898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39556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b="0" i="0" dirty="0">
              <a:effectLst/>
              <a:latin typeface="fkGroteskNeue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44417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53072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09559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80500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61703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03949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01714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02776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7759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04832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62425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89642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52785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b="0" i="0" dirty="0">
              <a:effectLst/>
              <a:latin typeface="fkGroteskNeue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69030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651737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75899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24943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16401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298181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7397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28874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59168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4222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36931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21787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153210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58428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321222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534988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487674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352869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855828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722196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498208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673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9760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90211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6784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9230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0435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7441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8365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8184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2846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88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11084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086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6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e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MSShafigullin\Desktop\Проекты\Брендбук\Гайдлайн\Презентация\презентация шаблон КФУ-01.jp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472"/>
          <a:stretch/>
        </p:blipFill>
        <p:spPr bwMode="auto">
          <a:xfrm>
            <a:off x="0" y="0"/>
            <a:ext cx="12192000" cy="6855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C:\Users\MSShafigullin\Desktop\2020\Презентация КФУ\kfu_logo_circle_rus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03" y="548680"/>
            <a:ext cx="1536171" cy="1499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98;p2">
            <a:extLst>
              <a:ext uri="{FF2B5EF4-FFF2-40B4-BE49-F238E27FC236}">
                <a16:creationId xmlns:a16="http://schemas.microsoft.com/office/drawing/2014/main" id="{0F188103-7B17-734F-BE68-5A893025A082}"/>
              </a:ext>
            </a:extLst>
          </p:cNvPr>
          <p:cNvSpPr txBox="1"/>
          <p:nvPr/>
        </p:nvSpPr>
        <p:spPr>
          <a:xfrm>
            <a:off x="2482607" y="1725043"/>
            <a:ext cx="7997823" cy="3970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Курс ДПП ПП</a:t>
            </a:r>
          </a:p>
          <a:p>
            <a:pPr lvl="0" algn="ctr"/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Основы биоинформатики и компьютерной биологии</a:t>
            </a:r>
          </a:p>
          <a:p>
            <a:pPr lvl="0" algn="ctr"/>
            <a:endParaRPr lang="ru-RU" sz="2800" b="1" dirty="0">
              <a:solidFill>
                <a:schemeClr val="bg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lvl="0" algn="ctr"/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Алгоритмы искусственного интеллекта в биологии и медицине</a:t>
            </a:r>
          </a:p>
          <a:p>
            <a:pPr lvl="0" algn="ctr"/>
            <a:b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</a:br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Лекция 3. Построение и интерпретация моделей выживаемости в медицине</a:t>
            </a:r>
          </a:p>
        </p:txBody>
      </p:sp>
    </p:spTree>
    <p:extLst>
      <p:ext uri="{BB962C8B-B14F-4D97-AF65-F5344CB8AC3E}">
        <p14:creationId xmlns:p14="http://schemas.microsoft.com/office/powerpoint/2010/main" val="2231862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98A76A24-00EA-EE42-8A4F-846D0D0A92B0}"/>
              </a:ext>
            </a:extLst>
          </p:cNvPr>
          <p:cNvGrpSpPr/>
          <p:nvPr/>
        </p:nvGrpSpPr>
        <p:grpSpPr>
          <a:xfrm>
            <a:off x="-50" y="0"/>
            <a:ext cx="827700" cy="6858000"/>
            <a:chOff x="-50" y="0"/>
            <a:chExt cx="827700" cy="5143500"/>
          </a:xfrm>
        </p:grpSpPr>
        <p:sp>
          <p:nvSpPr>
            <p:cNvPr id="25" name="Google Shape;106;p3">
              <a:extLst>
                <a:ext uri="{FF2B5EF4-FFF2-40B4-BE49-F238E27FC236}">
                  <a16:creationId xmlns:a16="http://schemas.microsoft.com/office/drawing/2014/main" id="{1212ABD6-BB78-564D-90F4-45A9BF52F65A}"/>
                </a:ext>
              </a:extLst>
            </p:cNvPr>
            <p:cNvSpPr/>
            <p:nvPr/>
          </p:nvSpPr>
          <p:spPr>
            <a:xfrm>
              <a:off x="-50" y="0"/>
              <a:ext cx="827700" cy="5143500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8" name="Google Shape;107;p3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C968D678-6F52-2F45-8BE7-5E2313AF23D6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87534"/>
              <a:ext cx="553050" cy="4327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109;p3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1F22E8DB-9008-9D4B-9E64-C397CC33A9DA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37087" y="4422472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110;p3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5E9D660B-F40F-CB41-B4B6-62BD62C97A4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87779" y="3741120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3" name="Google Shape;111;p3">
              <a:extLst>
                <a:ext uri="{FF2B5EF4-FFF2-40B4-BE49-F238E27FC236}">
                  <a16:creationId xmlns:a16="http://schemas.microsoft.com/office/drawing/2014/main" id="{23A12878-4A5D-E648-A640-94DEA9532F72}"/>
                </a:ext>
              </a:extLst>
            </p:cNvPr>
            <p:cNvSpPr txBox="1"/>
            <p:nvPr/>
          </p:nvSpPr>
          <p:spPr>
            <a:xfrm>
              <a:off x="84051" y="4728776"/>
              <a:ext cx="659482" cy="25388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34" name="Google Shape;112;p3">
              <a:extLst>
                <a:ext uri="{FF2B5EF4-FFF2-40B4-BE49-F238E27FC236}">
                  <a16:creationId xmlns:a16="http://schemas.microsoft.com/office/drawing/2014/main" id="{0525B736-A5F9-A04E-92B8-E50E60AAE2C0}"/>
                </a:ext>
              </a:extLst>
            </p:cNvPr>
            <p:cNvSpPr txBox="1"/>
            <p:nvPr/>
          </p:nvSpPr>
          <p:spPr>
            <a:xfrm>
              <a:off x="84051" y="4083918"/>
              <a:ext cx="659482" cy="25388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37" name="Google Shape;108;p3">
            <a:extLst>
              <a:ext uri="{FF2B5EF4-FFF2-40B4-BE49-F238E27FC236}">
                <a16:creationId xmlns:a16="http://schemas.microsoft.com/office/drawing/2014/main" id="{5493CD04-205D-294C-BD53-0914C34565C1}"/>
              </a:ext>
            </a:extLst>
          </p:cNvPr>
          <p:cNvSpPr txBox="1"/>
          <p:nvPr/>
        </p:nvSpPr>
        <p:spPr>
          <a:xfrm>
            <a:off x="964967" y="220551"/>
            <a:ext cx="734481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rgbClr val="00549F"/>
                </a:solidFill>
                <a:latin typeface="PT Sans"/>
                <a:ea typeface="PT Sans"/>
                <a:cs typeface="PT Sans"/>
                <a:sym typeface="PT Sans"/>
              </a:rPr>
              <a:t>Введение</a:t>
            </a:r>
            <a:endParaRPr lang="en-US" dirty="0">
              <a:solidFill>
                <a:srgbClr val="00549F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sp>
        <p:nvSpPr>
          <p:cNvPr id="12" name="Объект 2"/>
          <p:cNvSpPr>
            <a:spLocks noGrp="1"/>
          </p:cNvSpPr>
          <p:nvPr>
            <p:ph idx="1"/>
          </p:nvPr>
        </p:nvSpPr>
        <p:spPr>
          <a:xfrm>
            <a:off x="1043608" y="926349"/>
            <a:ext cx="10562698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Почему классификация недостаточна?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Пациент 1: "Рак диагностирован" ← но когда будет рецидив?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Пациент 2: "Рак диагностирован" ← может прожить 10 лет?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Классификация отвечает: есть рак или нет.</a:t>
            </a:r>
          </a:p>
          <a:p>
            <a:pPr marL="0" indent="0" algn="l">
              <a:buNone/>
            </a:pPr>
            <a:r>
              <a:rPr lang="ru-RU" b="1" i="0" dirty="0" err="1">
                <a:effectLst/>
                <a:latin typeface="fkGroteskNeue"/>
              </a:rPr>
              <a:t>Survival</a:t>
            </a:r>
            <a:r>
              <a:rPr lang="ru-RU" b="1" i="0" dirty="0">
                <a:effectLst/>
                <a:latin typeface="fkGroteskNeue"/>
              </a:rPr>
              <a:t> </a:t>
            </a:r>
            <a:r>
              <a:rPr lang="ru-RU" b="1" i="0" dirty="0" err="1">
                <a:effectLst/>
                <a:latin typeface="fkGroteskNeue"/>
              </a:rPr>
              <a:t>analysis</a:t>
            </a:r>
            <a:r>
              <a:rPr lang="ru-RU" b="1" i="0" dirty="0">
                <a:effectLst/>
                <a:latin typeface="fkGroteskNeue"/>
              </a:rPr>
              <a:t> отвечает: как долго жить до события?</a:t>
            </a:r>
          </a:p>
          <a:p>
            <a:pPr marL="0" indent="0" algn="just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24079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3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Censoring (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цензурирование)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Главное отличие: неполные данные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Полные данные (классификация):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Болел или не болел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Ясный ответ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Данные выживаемости (</a:t>
            </a:r>
            <a:r>
              <a:rPr lang="ru-RU" b="0" i="0" dirty="0" err="1">
                <a:effectLst/>
                <a:latin typeface="fkGroteskNeue"/>
              </a:rPr>
              <a:t>survival</a:t>
            </a:r>
            <a:r>
              <a:rPr lang="ru-RU" b="0" i="0" dirty="0">
                <a:effectLst/>
                <a:latin typeface="fkGroteskNeue"/>
              </a:rPr>
              <a:t>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Пациент A: события не произошло, но исследование закончилось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Пациент B: событие произошло в день 1000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Пациент C: пациент уехал, не знаем, что произошло</a:t>
            </a:r>
          </a:p>
          <a:p>
            <a:pPr marL="0" indent="0" algn="just">
              <a:buNone/>
            </a:pP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2146142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4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Функции выживаемости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S(t) — что означает?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S(t) = вероятность выжить до времени t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Пример: рак молочной железы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S(1 год) = 0.95 → 95% пациентов живы через год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S(5 лет) = 0.75 → 75% живы через 5 лет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S(10 лет) = 0.50 → 50% медиана (половина живы, половина нет)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Свойства: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S(0) = 1.0 (все живы в начале)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S(∞) = 0 (никто не живёт вечно)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S(t) монотонно убывает</a:t>
            </a:r>
          </a:p>
          <a:p>
            <a:pPr marL="0" indent="0" algn="just">
              <a:buNone/>
            </a:pP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1683251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5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Функция опасности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h(t) — </a:t>
            </a:r>
            <a:r>
              <a:rPr lang="ru-RU" b="1" i="1" dirty="0" err="1">
                <a:effectLst/>
                <a:latin typeface="fkGroteskNeue"/>
              </a:rPr>
              <a:t>risk</a:t>
            </a:r>
            <a:r>
              <a:rPr lang="ru-RU" b="1" i="1" dirty="0">
                <a:effectLst/>
                <a:latin typeface="fkGroteskNeue"/>
              </a:rPr>
              <a:t> </a:t>
            </a:r>
            <a:r>
              <a:rPr lang="ru-RU" b="1" i="1" dirty="0" err="1">
                <a:effectLst/>
                <a:latin typeface="fkGroteskNeue"/>
              </a:rPr>
              <a:t>at</a:t>
            </a:r>
            <a:r>
              <a:rPr lang="ru-RU" b="1" i="1" dirty="0">
                <a:effectLst/>
                <a:latin typeface="fkGroteskNeue"/>
              </a:rPr>
              <a:t> </a:t>
            </a:r>
            <a:r>
              <a:rPr lang="ru-RU" b="1" i="1" dirty="0" err="1">
                <a:effectLst/>
                <a:latin typeface="fkGroteskNeue"/>
              </a:rPr>
              <a:t>time</a:t>
            </a:r>
            <a:r>
              <a:rPr lang="ru-RU" b="1" i="1" dirty="0">
                <a:effectLst/>
                <a:latin typeface="fkGroteskNeue"/>
              </a:rPr>
              <a:t> t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h(t) = вероятность события в момент t, учитывая, что ты дожил до t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Пример: слабая функция опасности h(t) в молодости, растёт с возрастом.</a:t>
            </a:r>
          </a:p>
        </p:txBody>
      </p:sp>
    </p:spTree>
    <p:extLst>
      <p:ext uri="{BB962C8B-B14F-4D97-AF65-F5344CB8AC3E}">
        <p14:creationId xmlns:p14="http://schemas.microsoft.com/office/powerpoint/2010/main" val="42543639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6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Кривые Каплана-Мейера (1)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latin typeface="fkGroteskNeue"/>
              </a:rPr>
              <a:t>О</a:t>
            </a:r>
            <a:r>
              <a:rPr lang="ru-RU" b="1" i="1" dirty="0">
                <a:effectLst/>
                <a:latin typeface="fkGroteskNeue"/>
              </a:rPr>
              <a:t>ценка выживаемости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Неправильно: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Посчитали среднее: 150 событий из 300 → 50%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Но пациенты с цензурированием не учтены правильно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Правильно: </a:t>
            </a:r>
            <a:r>
              <a:rPr lang="ru-RU" b="1" i="0" dirty="0" err="1">
                <a:effectLst/>
                <a:latin typeface="fkGroteskNeue"/>
              </a:rPr>
              <a:t>Kaplan-Meier</a:t>
            </a:r>
            <a:r>
              <a:rPr lang="ru-RU" b="1" i="0" dirty="0">
                <a:effectLst/>
                <a:latin typeface="fkGroteskNeue"/>
              </a:rPr>
              <a:t> </a:t>
            </a:r>
            <a:r>
              <a:rPr lang="ru-RU" b="1" i="0" dirty="0" err="1">
                <a:effectLst/>
                <a:latin typeface="fkGroteskNeue"/>
              </a:rPr>
              <a:t>estimator</a:t>
            </a:r>
            <a:endParaRPr lang="ru-RU" b="1" i="0" dirty="0">
              <a:effectLst/>
              <a:latin typeface="fkGroteskNeue"/>
            </a:endParaRP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На каждый момент времени: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S(t) = S(t-1) × (1 - </a:t>
            </a:r>
            <a:r>
              <a:rPr lang="ru-RU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d_t</a:t>
            </a:r>
            <a:r>
              <a:rPr lang="ru-RU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/ </a:t>
            </a:r>
            <a:r>
              <a:rPr lang="ru-RU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n_t</a:t>
            </a:r>
            <a:r>
              <a:rPr lang="ru-RU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 err="1">
                <a:effectLst/>
                <a:latin typeface="fkGroteskNeue"/>
              </a:rPr>
              <a:t>d_t</a:t>
            </a:r>
            <a:r>
              <a:rPr lang="ru-RU" b="0" i="0" dirty="0">
                <a:effectLst/>
                <a:latin typeface="fkGroteskNeue"/>
              </a:rPr>
              <a:t> = число событий в момент 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 err="1">
                <a:effectLst/>
                <a:latin typeface="fkGroteskNeue"/>
              </a:rPr>
              <a:t>n_t</a:t>
            </a:r>
            <a:r>
              <a:rPr lang="ru-RU" b="0" i="0" dirty="0">
                <a:effectLst/>
                <a:latin typeface="fkGroteskNeue"/>
              </a:rPr>
              <a:t> = число в "группе риска" (живы и не цензурированы)</a:t>
            </a:r>
          </a:p>
          <a:p>
            <a:pPr marL="0" indent="0" algn="l">
              <a:buNone/>
            </a:pPr>
            <a:r>
              <a:rPr lang="ru-RU" b="0" i="1" dirty="0">
                <a:effectLst/>
                <a:latin typeface="fkGroteskNeue"/>
              </a:rPr>
              <a:t>Это самый классический и простой метод.</a:t>
            </a:r>
          </a:p>
        </p:txBody>
      </p:sp>
    </p:spTree>
    <p:extLst>
      <p:ext uri="{BB962C8B-B14F-4D97-AF65-F5344CB8AC3E}">
        <p14:creationId xmlns:p14="http://schemas.microsoft.com/office/powerpoint/2010/main" val="40196497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88E87526-82AE-4AB8-8988-1E534826012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09" b="24139"/>
          <a:stretch/>
        </p:blipFill>
        <p:spPr bwMode="auto">
          <a:xfrm>
            <a:off x="4776289" y="1969838"/>
            <a:ext cx="6957793" cy="3447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7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Кривые Каплана-Мейера (2)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5535197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Пример: Рак </a:t>
            </a:r>
            <a:r>
              <a:rPr lang="ru-RU" b="1" i="1" dirty="0" err="1">
                <a:effectLst/>
                <a:latin typeface="fkGroteskNeue"/>
              </a:rPr>
              <a:t>vs</a:t>
            </a:r>
            <a:r>
              <a:rPr lang="ru-RU" b="1" i="1" dirty="0">
                <a:effectLst/>
                <a:latin typeface="fkGroteskNeue"/>
              </a:rPr>
              <a:t> Контроль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Два графика: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Рак пациенты: S(5 лет) = 0.6</a:t>
            </a:r>
            <a:r>
              <a:rPr lang="en-US" dirty="0">
                <a:latin typeface="fkGroteskNeue"/>
              </a:rPr>
              <a:t>5</a:t>
            </a:r>
            <a:endParaRPr lang="ru-RU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Контроль: S(5 лет) = 0.95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Визуально видно различие.</a:t>
            </a:r>
          </a:p>
          <a:p>
            <a:pPr marL="0" indent="0" algn="l">
              <a:buNone/>
            </a:pPr>
            <a:r>
              <a:rPr lang="ru-RU" b="0" i="0" dirty="0" err="1">
                <a:effectLst/>
                <a:latin typeface="fkGroteskNeue"/>
              </a:rPr>
              <a:t>Log-rank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test</a:t>
            </a:r>
            <a:r>
              <a:rPr lang="ru-RU" b="0" i="0" dirty="0">
                <a:effectLst/>
                <a:latin typeface="fkGroteskNeue"/>
              </a:rPr>
              <a:t>: статистически ли значимо?</a:t>
            </a:r>
          </a:p>
        </p:txBody>
      </p:sp>
    </p:spTree>
    <p:extLst>
      <p:ext uri="{BB962C8B-B14F-4D97-AF65-F5344CB8AC3E}">
        <p14:creationId xmlns:p14="http://schemas.microsoft.com/office/powerpoint/2010/main" val="2094829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8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Log-rank test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Сравнение двух кривых Каплана-Мейера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Нулевая гипотеза: две кривые выживаемости одинаковые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Альтернатива: они различаются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Вычисляем χ² статистику, получаем p-</a:t>
            </a:r>
            <a:r>
              <a:rPr lang="ru-RU" b="0" i="0" dirty="0" err="1">
                <a:effectLst/>
                <a:latin typeface="fkGroteskNeue"/>
              </a:rPr>
              <a:t>value</a:t>
            </a:r>
            <a:r>
              <a:rPr lang="ru-RU" b="0" i="0" dirty="0">
                <a:effectLst/>
                <a:latin typeface="fkGroteskNeue"/>
              </a:rPr>
              <a:t>.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p &lt; 0.05 → кривы</a:t>
            </a:r>
            <a:r>
              <a:rPr lang="ru-RU" dirty="0">
                <a:latin typeface="fkGroteskNeue"/>
              </a:rPr>
              <a:t>е</a:t>
            </a:r>
            <a:r>
              <a:rPr lang="ru-RU" b="0" i="0" dirty="0">
                <a:effectLst/>
                <a:latin typeface="fkGroteskNeue"/>
              </a:rPr>
              <a:t> статистически различаются.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Пример: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Группа A: S(5) = 0.65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Группа B: S(5) = 0.95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p-</a:t>
            </a:r>
            <a:r>
              <a:rPr lang="ru-RU" b="0" i="0" dirty="0" err="1">
                <a:effectLst/>
                <a:latin typeface="fkGroteskNeue"/>
              </a:rPr>
              <a:t>value</a:t>
            </a:r>
            <a:r>
              <a:rPr lang="ru-RU" b="0" i="0" dirty="0">
                <a:effectLst/>
                <a:latin typeface="fkGroteskNeue"/>
              </a:rPr>
              <a:t> = 0.02 ← статистически значимо!</a:t>
            </a:r>
          </a:p>
        </p:txBody>
      </p:sp>
    </p:spTree>
    <p:extLst>
      <p:ext uri="{BB962C8B-B14F-4D97-AF65-F5344CB8AC3E}">
        <p14:creationId xmlns:p14="http://schemas.microsoft.com/office/powerpoint/2010/main" val="10021887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9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sv-SE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TCGA Lung Cancer — Kaplan–Meier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6343333" cy="1374493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effectLst/>
                <a:latin typeface="pplxSerif"/>
              </a:rPr>
              <a:t>Данные: TCGA </a:t>
            </a:r>
            <a:r>
              <a:rPr lang="ru-RU" sz="1800" b="0" i="0" dirty="0" err="1">
                <a:effectLst/>
                <a:latin typeface="pplxSerif"/>
              </a:rPr>
              <a:t>lung</a:t>
            </a:r>
            <a:r>
              <a:rPr lang="ru-RU" sz="1800" b="0" i="0" dirty="0">
                <a:effectLst/>
                <a:latin typeface="pplxSerif"/>
              </a:rPr>
              <a:t> </a:t>
            </a:r>
            <a:r>
              <a:rPr lang="ru-RU" sz="1800" b="0" i="0" dirty="0" err="1">
                <a:effectLst/>
                <a:latin typeface="pplxSerif"/>
              </a:rPr>
              <a:t>cancer</a:t>
            </a:r>
            <a:r>
              <a:rPr lang="ru-RU" sz="1800" b="0" i="0" dirty="0">
                <a:effectLst/>
                <a:latin typeface="pplxSerif"/>
              </a:rPr>
              <a:t>, несколько сотен пациентов.​</a:t>
            </a:r>
            <a:endParaRPr lang="en-US" sz="1800" b="0" i="0" dirty="0">
              <a:effectLst/>
              <a:latin typeface="pplxSerif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effectLst/>
                <a:latin typeface="pplxSerif"/>
              </a:rPr>
              <a:t>Результат: различия в общей выживаемости (</a:t>
            </a:r>
            <a:r>
              <a:rPr lang="ru-RU" sz="1800" b="0" i="0" dirty="0" err="1">
                <a:effectLst/>
                <a:latin typeface="pplxSerif"/>
              </a:rPr>
              <a:t>log‑rank</a:t>
            </a:r>
            <a:r>
              <a:rPr lang="ru-RU" sz="1800" b="0" i="0" dirty="0">
                <a:effectLst/>
                <a:latin typeface="pplxSerif"/>
              </a:rPr>
              <a:t> p &lt; 0.01)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1053305-4761-4C6B-8BD3-E3BBB2313A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248275"/>
            <a:ext cx="6972300" cy="160972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66EDAC1-3BAC-4900-BA4A-5AB542D3BE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4446" y="1251278"/>
            <a:ext cx="5564105" cy="39507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2775975C-BF4A-4EC2-93DF-8390D0701B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251" y="2537741"/>
            <a:ext cx="5155303" cy="2514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12649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10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Модель пропорциональных рисков Кокса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0" dirty="0">
                <a:effectLst/>
                <a:latin typeface="fkGroteskNeue"/>
              </a:rPr>
              <a:t>Логистическая регрессия для выживаемости</a:t>
            </a:r>
          </a:p>
          <a:p>
            <a:pPr marL="0" indent="0" algn="l">
              <a:buNone/>
            </a:pPr>
            <a:r>
              <a:rPr lang="ru-RU" b="0" i="1" dirty="0">
                <a:effectLst/>
                <a:latin typeface="fkGroteskNeue"/>
              </a:rPr>
              <a:t>Логистическая регрессия: моделирует вероятность класса</a:t>
            </a:r>
          </a:p>
          <a:p>
            <a:pPr marL="0" indent="0" algn="l">
              <a:buNone/>
            </a:pPr>
            <a:r>
              <a:rPr lang="en-US" b="0" i="0" dirty="0">
                <a:effectLst/>
                <a:latin typeface="fkGroteskNeue"/>
              </a:rPr>
              <a:t>Cox model: </a:t>
            </a:r>
            <a:r>
              <a:rPr lang="ru-RU" b="0" i="0" dirty="0">
                <a:effectLst/>
                <a:latin typeface="fkGroteskNeue"/>
              </a:rPr>
              <a:t>моделирует функцию опасности </a:t>
            </a:r>
            <a:r>
              <a:rPr lang="en-US" b="0" i="0" dirty="0">
                <a:effectLst/>
                <a:latin typeface="fkGroteskNeue"/>
              </a:rPr>
              <a:t>h(t)</a:t>
            </a:r>
          </a:p>
          <a:p>
            <a:pPr algn="l"/>
            <a:r>
              <a:rPr lang="en-US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log(h(t)) = log(h₀(t)) + </a:t>
            </a:r>
            <a:r>
              <a:rPr lang="el-GR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β₁</a:t>
            </a:r>
            <a:r>
              <a:rPr lang="en-US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X₁ + </a:t>
            </a:r>
            <a:r>
              <a:rPr lang="el-GR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β₂</a:t>
            </a:r>
            <a:r>
              <a:rPr lang="en-US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X₂ + ...</a:t>
            </a:r>
          </a:p>
          <a:p>
            <a:pPr algn="l"/>
            <a:r>
              <a:rPr lang="en-US" b="0" i="0" dirty="0">
                <a:effectLst/>
                <a:latin typeface="fkGroteskNeue"/>
              </a:rPr>
              <a:t>h₀(t) — baseline hazard (</a:t>
            </a:r>
            <a:r>
              <a:rPr lang="ru-RU" b="0" i="0" dirty="0">
                <a:effectLst/>
                <a:latin typeface="fkGroteskNeue"/>
              </a:rPr>
              <a:t>опасность для "среднего" пациента)</a:t>
            </a:r>
          </a:p>
          <a:p>
            <a:pPr algn="l"/>
            <a:r>
              <a:rPr lang="en-US" b="0" i="0" dirty="0">
                <a:effectLst/>
                <a:latin typeface="fkGroteskNeue"/>
              </a:rPr>
              <a:t>e^</a:t>
            </a:r>
            <a:r>
              <a:rPr lang="el-GR" b="0" i="0" dirty="0">
                <a:effectLst/>
                <a:latin typeface="fkGroteskNeue"/>
              </a:rPr>
              <a:t>β — </a:t>
            </a:r>
            <a:r>
              <a:rPr lang="en-US" b="1" i="0" dirty="0">
                <a:effectLst/>
                <a:latin typeface="fkGroteskNeue"/>
              </a:rPr>
              <a:t>Hazard Ratio</a:t>
            </a:r>
          </a:p>
        </p:txBody>
      </p:sp>
    </p:spTree>
    <p:extLst>
      <p:ext uri="{BB962C8B-B14F-4D97-AF65-F5344CB8AC3E}">
        <p14:creationId xmlns:p14="http://schemas.microsoft.com/office/powerpoint/2010/main" val="7852852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11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Hazard Ratio 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интерпретация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0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log(h(t)) = log(h₀(t)) + </a:t>
            </a:r>
            <a:r>
              <a:rPr lang="el-GR" b="0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β₁</a:t>
            </a:r>
            <a:r>
              <a:rPr lang="en-US" b="0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X₁ + </a:t>
            </a:r>
            <a:r>
              <a:rPr lang="el-GR" b="0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β₂</a:t>
            </a:r>
            <a:r>
              <a:rPr lang="en-US" b="0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X₂ + ...</a:t>
            </a:r>
            <a:endParaRPr lang="ru-RU" b="0" i="1" dirty="0"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Что означает β?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β для TP53 мутация = 1.0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e^β = e^1.0 = 2.718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Интерпретация: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"Пациенты с TP53 мутацией имеют в 2.7 раза выше риск события (смерти, рецидива) в любой момент времени, чем без мутации."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β &lt; 0 → защитный фактор (снижает риск)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β &gt; 0 → риск-фактор (увеличивает риск)</a:t>
            </a:r>
          </a:p>
        </p:txBody>
      </p:sp>
    </p:spTree>
    <p:extLst>
      <p:ext uri="{BB962C8B-B14F-4D97-AF65-F5344CB8AC3E}">
        <p14:creationId xmlns:p14="http://schemas.microsoft.com/office/powerpoint/2010/main" val="3216313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12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Практический пример (1)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Рак молочной железы: факторы риска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Данные: 400 пациентов, наблюдение 5+ лет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Результат: 85 смертей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Признаки: возраст, размер опухоли, степень (</a:t>
            </a:r>
            <a:r>
              <a:rPr lang="ru-RU" b="0" i="0" dirty="0" err="1">
                <a:effectLst/>
                <a:latin typeface="fkGroteskNeue"/>
              </a:rPr>
              <a:t>grade</a:t>
            </a:r>
            <a:r>
              <a:rPr lang="ru-RU" b="0" i="0" dirty="0">
                <a:effectLst/>
                <a:latin typeface="fkGroteskNeue"/>
              </a:rPr>
              <a:t>), ER </a:t>
            </a:r>
            <a:r>
              <a:rPr lang="ru-RU" b="0" i="0" dirty="0" err="1">
                <a:effectLst/>
                <a:latin typeface="fkGroteskNeue"/>
              </a:rPr>
              <a:t>status</a:t>
            </a:r>
            <a:endParaRPr lang="ru-RU" b="0" i="0" dirty="0">
              <a:effectLst/>
              <a:latin typeface="fkGroteskNeue"/>
            </a:endParaRPr>
          </a:p>
          <a:p>
            <a:pPr marL="0" indent="0" algn="l">
              <a:buNone/>
            </a:pPr>
            <a:r>
              <a:rPr lang="en-US" b="0" i="0" dirty="0">
                <a:effectLst/>
                <a:latin typeface="fkGroteskNeue"/>
              </a:rPr>
              <a:t>		</a:t>
            </a:r>
            <a:r>
              <a:rPr lang="ru-RU" b="0" i="0" dirty="0" err="1">
                <a:effectLst/>
                <a:latin typeface="fkGroteskNeue"/>
              </a:rPr>
              <a:t>Cox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model</a:t>
            </a:r>
            <a:r>
              <a:rPr lang="ru-RU" b="0" i="0" dirty="0">
                <a:effectLst/>
                <a:latin typeface="fkGroteskNeue"/>
              </a:rPr>
              <a:t> результаты:</a:t>
            </a:r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1AE15197-F834-4D8D-A8F8-8189AE2EB2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8740596"/>
              </p:ext>
            </p:extLst>
          </p:nvPr>
        </p:nvGraphicFramePr>
        <p:xfrm>
          <a:off x="5910649" y="3292652"/>
          <a:ext cx="5734052" cy="1889760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1433513">
                  <a:extLst>
                    <a:ext uri="{9D8B030D-6E8A-4147-A177-3AD203B41FA5}">
                      <a16:colId xmlns:a16="http://schemas.microsoft.com/office/drawing/2014/main" val="3162640483"/>
                    </a:ext>
                  </a:extLst>
                </a:gridCol>
                <a:gridCol w="1433513">
                  <a:extLst>
                    <a:ext uri="{9D8B030D-6E8A-4147-A177-3AD203B41FA5}">
                      <a16:colId xmlns:a16="http://schemas.microsoft.com/office/drawing/2014/main" val="80604640"/>
                    </a:ext>
                  </a:extLst>
                </a:gridCol>
                <a:gridCol w="1433513">
                  <a:extLst>
                    <a:ext uri="{9D8B030D-6E8A-4147-A177-3AD203B41FA5}">
                      <a16:colId xmlns:a16="http://schemas.microsoft.com/office/drawing/2014/main" val="2474947978"/>
                    </a:ext>
                  </a:extLst>
                </a:gridCol>
                <a:gridCol w="1433513">
                  <a:extLst>
                    <a:ext uri="{9D8B030D-6E8A-4147-A177-3AD203B41FA5}">
                      <a16:colId xmlns:a16="http://schemas.microsoft.com/office/drawing/2014/main" val="32763089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 latinLnBrk="0"/>
                      <a:r>
                        <a:rPr lang="ru-RU" b="1" dirty="0">
                          <a:effectLst/>
                        </a:rPr>
                        <a:t>Признак</a:t>
                      </a:r>
                    </a:p>
                  </a:txBody>
                  <a:tcPr marL="76200" marR="76200" marT="76200" marB="76200" anchor="b"/>
                </a:tc>
                <a:tc>
                  <a:txBody>
                    <a:bodyPr/>
                    <a:lstStyle/>
                    <a:p>
                      <a:pPr algn="l" fontAlgn="b" latinLnBrk="0"/>
                      <a:r>
                        <a:rPr lang="en-US" b="1">
                          <a:effectLst/>
                        </a:rPr>
                        <a:t>HR</a:t>
                      </a:r>
                    </a:p>
                  </a:txBody>
                  <a:tcPr marL="76200" marR="76200" marT="76200" marB="76200" anchor="b"/>
                </a:tc>
                <a:tc>
                  <a:txBody>
                    <a:bodyPr/>
                    <a:lstStyle/>
                    <a:p>
                      <a:pPr algn="l" fontAlgn="b" latinLnBrk="0"/>
                      <a:r>
                        <a:rPr lang="en-US" b="1">
                          <a:effectLst/>
                        </a:rPr>
                        <a:t>95% CI</a:t>
                      </a:r>
                    </a:p>
                  </a:txBody>
                  <a:tcPr marL="76200" marR="76200" marT="76200" marB="76200" anchor="b"/>
                </a:tc>
                <a:tc>
                  <a:txBody>
                    <a:bodyPr/>
                    <a:lstStyle/>
                    <a:p>
                      <a:pPr algn="l" fontAlgn="b" latinLnBrk="0"/>
                      <a:r>
                        <a:rPr lang="en-US" b="1" dirty="0">
                          <a:effectLst/>
                        </a:rPr>
                        <a:t>p-value</a:t>
                      </a:r>
                    </a:p>
                  </a:txBody>
                  <a:tcPr marL="76200" marR="76200" marT="76200" marB="76200" anchor="b"/>
                </a:tc>
                <a:extLst>
                  <a:ext uri="{0D108BD9-81ED-4DB2-BD59-A6C34878D82A}">
                    <a16:rowId xmlns:a16="http://schemas.microsoft.com/office/drawing/2014/main" val="4004420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/>
                      <a:r>
                        <a:rPr lang="en-US">
                          <a:effectLst/>
                        </a:rPr>
                        <a:t>Age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ru-RU">
                          <a:effectLst/>
                        </a:rPr>
                        <a:t>1.02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ru-RU">
                          <a:effectLst/>
                        </a:rPr>
                        <a:t>1.00-1.04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ru-RU">
                          <a:effectLst/>
                        </a:rPr>
                        <a:t>0.08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14183292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/>
                      <a:r>
                        <a:rPr lang="en-US">
                          <a:effectLst/>
                        </a:rPr>
                        <a:t>Size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ru-RU">
                          <a:effectLst/>
                        </a:rPr>
                        <a:t>1.05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ru-RU">
                          <a:effectLst/>
                        </a:rPr>
                        <a:t>1.02-1.09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ru-RU">
                          <a:effectLst/>
                        </a:rPr>
                        <a:t>0.001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38586722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/>
                      <a:r>
                        <a:rPr lang="en-US" dirty="0">
                          <a:effectLst/>
                        </a:rPr>
                        <a:t>Grade</a:t>
                      </a:r>
                      <a:r>
                        <a:rPr lang="ru-RU" dirty="0">
                          <a:effectLst/>
                        </a:rPr>
                        <a:t> 3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ru-RU">
                          <a:effectLst/>
                        </a:rPr>
                        <a:t>2.30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ru-RU">
                          <a:effectLst/>
                        </a:rPr>
                        <a:t>1.50-3.50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ru-RU">
                          <a:effectLst/>
                        </a:rPr>
                        <a:t>&lt;0.001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28134163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/>
                      <a:r>
                        <a:rPr lang="en-US">
                          <a:effectLst/>
                        </a:rPr>
                        <a:t>ER+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ru-RU">
                          <a:effectLst/>
                        </a:rPr>
                        <a:t>0.40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ru-RU">
                          <a:effectLst/>
                        </a:rPr>
                        <a:t>0.25-0.65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ru-RU" dirty="0">
                          <a:effectLst/>
                        </a:rPr>
                        <a:t>&lt;0.001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46495462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01272E4F-0C29-4F4F-91E3-FC5A2BA5572A}"/>
              </a:ext>
            </a:extLst>
          </p:cNvPr>
          <p:cNvSpPr txBox="1"/>
          <p:nvPr/>
        </p:nvSpPr>
        <p:spPr>
          <a:xfrm>
            <a:off x="183023" y="3678694"/>
            <a:ext cx="5453775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b="0" i="1" dirty="0">
                <a:effectLst/>
                <a:latin typeface="fkGroteskNeue"/>
              </a:rPr>
              <a:t>Интерпретация: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800" b="0" i="0" dirty="0">
                <a:effectLst/>
                <a:latin typeface="fkGroteskNeue"/>
              </a:rPr>
              <a:t>Каждый см размера опухоли → HR 1.05 (5% увеличение риска)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800" b="0" i="0" dirty="0" err="1">
                <a:effectLst/>
                <a:latin typeface="fkGroteskNeue"/>
              </a:rPr>
              <a:t>Grade</a:t>
            </a:r>
            <a:r>
              <a:rPr lang="ru-RU" sz="2800" b="0" i="0" dirty="0">
                <a:effectLst/>
                <a:latin typeface="fkGroteskNeue"/>
              </a:rPr>
              <a:t> 3 → HR 2.3 (в 2.3 раза выше риск)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800" b="0" i="0" dirty="0">
                <a:effectLst/>
                <a:latin typeface="fkGroteskNeue"/>
              </a:rPr>
              <a:t>ER+ → 60% ниже риск (протектор)</a:t>
            </a:r>
          </a:p>
        </p:txBody>
      </p:sp>
    </p:spTree>
    <p:extLst>
      <p:ext uri="{BB962C8B-B14F-4D97-AF65-F5344CB8AC3E}">
        <p14:creationId xmlns:p14="http://schemas.microsoft.com/office/powerpoint/2010/main" val="30829993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13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Практический пример (2)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Валидация и кривые выживаемости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Разделение на </a:t>
            </a:r>
            <a:r>
              <a:rPr lang="ru-RU" dirty="0">
                <a:latin typeface="fkGroteskNeue"/>
              </a:rPr>
              <a:t>оценке риска</a:t>
            </a:r>
            <a:r>
              <a:rPr lang="ru-RU" b="0" i="0" dirty="0">
                <a:effectLst/>
                <a:latin typeface="fkGroteskNeue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fkGroteskNeue"/>
              </a:rPr>
              <a:t>Low risk (HR &lt; 0.5): S(5) = 0.85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fkGroteskNeue"/>
              </a:rPr>
              <a:t>Medium risk (0.5-1.0): S(5) = 0.65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fkGroteskNeue"/>
              </a:rPr>
              <a:t>High risk (HR &gt; 1.0): S(5) = 0.35</a:t>
            </a:r>
          </a:p>
          <a:p>
            <a:pPr marL="0" indent="0" algn="l">
              <a:buNone/>
            </a:pPr>
            <a:r>
              <a:rPr lang="en-US" b="0" i="0" dirty="0">
                <a:effectLst/>
                <a:latin typeface="fkGroteskNeue"/>
              </a:rPr>
              <a:t>Log-rank test: p &lt; 0.0001 (</a:t>
            </a:r>
            <a:r>
              <a:rPr lang="ru-RU" b="0" i="0" dirty="0">
                <a:effectLst/>
                <a:latin typeface="fkGroteskNeue"/>
              </a:rPr>
              <a:t>сильно различаются)</a:t>
            </a:r>
          </a:p>
          <a:p>
            <a:pPr algn="l"/>
            <a:r>
              <a:rPr lang="en-US" b="0" i="0" dirty="0">
                <a:effectLst/>
                <a:latin typeface="fkGroteskNeue"/>
              </a:rPr>
              <a:t>C-index: 0.78 (</a:t>
            </a:r>
            <a:r>
              <a:rPr lang="ru-RU" b="0" i="0" dirty="0">
                <a:effectLst/>
                <a:latin typeface="fkGroteskNeue"/>
              </a:rPr>
              <a:t>хорошо!)</a:t>
            </a:r>
          </a:p>
        </p:txBody>
      </p:sp>
    </p:spTree>
    <p:extLst>
      <p:ext uri="{BB962C8B-B14F-4D97-AF65-F5344CB8AC3E}">
        <p14:creationId xmlns:p14="http://schemas.microsoft.com/office/powerpoint/2010/main" val="35443821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14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Предпосылки Кокса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Условия использования модели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1. Пропорциональность рисков (</a:t>
            </a:r>
            <a:r>
              <a:rPr lang="en-US" b="0" i="0" dirty="0">
                <a:effectLst/>
                <a:latin typeface="fkGroteskNeue"/>
              </a:rPr>
              <a:t>Proportional Hazards Assumption)</a:t>
            </a:r>
          </a:p>
          <a:p>
            <a:pPr algn="l"/>
            <a:r>
              <a:rPr lang="en-US" b="0" i="0" dirty="0">
                <a:effectLst/>
                <a:latin typeface="fkGroteskNeue"/>
              </a:rPr>
              <a:t>h(</a:t>
            </a:r>
            <a:r>
              <a:rPr lang="en-US" b="0" i="0" dirty="0" err="1">
                <a:effectLst/>
                <a:latin typeface="fkGroteskNeue"/>
              </a:rPr>
              <a:t>t|X</a:t>
            </a:r>
            <a:r>
              <a:rPr lang="en-US" b="0" i="0" dirty="0">
                <a:effectLst/>
                <a:latin typeface="fkGroteskNeue"/>
              </a:rPr>
              <a:t>=1) / h(</a:t>
            </a:r>
            <a:r>
              <a:rPr lang="en-US" b="0" i="0" dirty="0" err="1">
                <a:effectLst/>
                <a:latin typeface="fkGroteskNeue"/>
              </a:rPr>
              <a:t>t|X</a:t>
            </a:r>
            <a:r>
              <a:rPr lang="en-US" b="0" i="0" dirty="0">
                <a:effectLst/>
                <a:latin typeface="fkGroteskNeue"/>
              </a:rPr>
              <a:t>=0) = const </a:t>
            </a:r>
            <a:r>
              <a:rPr lang="ru-RU" b="0" i="0" dirty="0">
                <a:effectLst/>
                <a:latin typeface="fkGroteskNeue"/>
              </a:rPr>
              <a:t>во времени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Вероятность</a:t>
            </a:r>
            <a:r>
              <a:rPr lang="en-US" b="0" i="0" dirty="0">
                <a:effectLst/>
                <a:latin typeface="fkGroteskNeue"/>
              </a:rPr>
              <a:t> </a:t>
            </a:r>
            <a:r>
              <a:rPr lang="ru-RU" b="0" i="0" dirty="0">
                <a:effectLst/>
                <a:latin typeface="fkGroteskNeue"/>
              </a:rPr>
              <a:t>опасностей одинаков для всех </a:t>
            </a:r>
            <a:r>
              <a:rPr lang="en-US" b="0" i="0" dirty="0">
                <a:effectLst/>
                <a:latin typeface="fkGroteskNeue"/>
              </a:rPr>
              <a:t>t.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Проверка: </a:t>
            </a:r>
            <a:r>
              <a:rPr lang="en-US" b="0" i="0" dirty="0">
                <a:effectLst/>
                <a:latin typeface="fkGroteskNeue"/>
              </a:rPr>
              <a:t>Schoenfeld residuals (</a:t>
            </a:r>
            <a:r>
              <a:rPr lang="ru-RU" b="0" i="0" dirty="0">
                <a:effectLst/>
                <a:latin typeface="fkGroteskNeue"/>
              </a:rPr>
              <a:t>если </a:t>
            </a:r>
            <a:r>
              <a:rPr lang="en-US" b="0" i="0" dirty="0">
                <a:effectLst/>
                <a:latin typeface="fkGroteskNeue"/>
              </a:rPr>
              <a:t>p &gt; 0.05, OK)</a:t>
            </a:r>
          </a:p>
          <a:p>
            <a:pPr marL="0" indent="0" algn="l">
              <a:buNone/>
            </a:pPr>
            <a:r>
              <a:rPr lang="en-US" b="0" i="0" dirty="0">
                <a:effectLst/>
                <a:latin typeface="fkGroteskNeue"/>
              </a:rPr>
              <a:t>2. </a:t>
            </a:r>
            <a:r>
              <a:rPr lang="ru-RU" b="0" i="0" dirty="0">
                <a:effectLst/>
                <a:latin typeface="fkGroteskNeue"/>
              </a:rPr>
              <a:t>Линейность в регрессии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Связь между </a:t>
            </a:r>
            <a:r>
              <a:rPr lang="en-US" b="0" i="0" dirty="0">
                <a:effectLst/>
                <a:latin typeface="fkGroteskNeue"/>
              </a:rPr>
              <a:t>X </a:t>
            </a:r>
            <a:r>
              <a:rPr lang="ru-RU" b="0" i="0" dirty="0">
                <a:effectLst/>
                <a:latin typeface="fkGroteskNeue"/>
              </a:rPr>
              <a:t>и </a:t>
            </a:r>
            <a:r>
              <a:rPr lang="en-US" b="0" i="0" dirty="0">
                <a:effectLst/>
                <a:latin typeface="fkGroteskNeue"/>
              </a:rPr>
              <a:t>log-hazard </a:t>
            </a:r>
            <a:r>
              <a:rPr lang="ru-RU" b="0" i="0" dirty="0">
                <a:effectLst/>
                <a:latin typeface="fkGroteskNeue"/>
              </a:rPr>
              <a:t>линейна.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3. </a:t>
            </a:r>
            <a:r>
              <a:rPr lang="en-US" b="0" i="0" dirty="0">
                <a:effectLst/>
                <a:latin typeface="fkGroteskNeue"/>
              </a:rPr>
              <a:t>No interaction (</a:t>
            </a:r>
            <a:r>
              <a:rPr lang="ru-RU" b="0" i="0" dirty="0">
                <a:effectLst/>
                <a:latin typeface="fkGroteskNeue"/>
              </a:rPr>
              <a:t>если не моделируем)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Эффекты признаков независимы.</a:t>
            </a:r>
          </a:p>
        </p:txBody>
      </p:sp>
    </p:spTree>
    <p:extLst>
      <p:ext uri="{BB962C8B-B14F-4D97-AF65-F5344CB8AC3E}">
        <p14:creationId xmlns:p14="http://schemas.microsoft.com/office/powerpoint/2010/main" val="16629351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15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Оценка качества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Cox 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модели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C-</a:t>
            </a:r>
            <a:r>
              <a:rPr lang="ru-RU" b="1" i="1" dirty="0" err="1">
                <a:effectLst/>
                <a:latin typeface="fkGroteskNeue"/>
              </a:rPr>
              <a:t>index</a:t>
            </a:r>
            <a:r>
              <a:rPr lang="ru-RU" b="1" i="1" dirty="0">
                <a:effectLst/>
                <a:latin typeface="fkGroteskNeue"/>
              </a:rPr>
              <a:t> (</a:t>
            </a:r>
            <a:r>
              <a:rPr lang="ru-RU" b="1" i="1" dirty="0" err="1">
                <a:effectLst/>
                <a:latin typeface="fkGroteskNeue"/>
              </a:rPr>
              <a:t>concordance</a:t>
            </a:r>
            <a:r>
              <a:rPr lang="ru-RU" b="1" i="1" dirty="0">
                <a:effectLst/>
                <a:latin typeface="fkGroteskNeue"/>
              </a:rPr>
              <a:t> </a:t>
            </a:r>
            <a:r>
              <a:rPr lang="ru-RU" b="1" i="1" dirty="0" err="1">
                <a:effectLst/>
                <a:latin typeface="fkGroteskNeue"/>
              </a:rPr>
              <a:t>index</a:t>
            </a:r>
            <a:r>
              <a:rPr lang="ru-RU" b="1" i="1" dirty="0">
                <a:effectLst/>
                <a:latin typeface="fkGroteskNeue"/>
              </a:rPr>
              <a:t>)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C-</a:t>
            </a:r>
            <a:r>
              <a:rPr lang="ru-RU" b="0" i="0" dirty="0" err="1">
                <a:effectLst/>
                <a:latin typeface="fkGroteskNeue"/>
              </a:rPr>
              <a:t>index</a:t>
            </a:r>
            <a:r>
              <a:rPr lang="ru-RU" b="0" i="0" dirty="0">
                <a:effectLst/>
                <a:latin typeface="fkGroteskNeue"/>
              </a:rPr>
              <a:t> = вероятность, что модель правильно ранжирует двух пациентов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Если пациент A имел событие раньше, чем B, предсказал ли модель, что A имеет выше риск?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C-</a:t>
            </a:r>
            <a:r>
              <a:rPr lang="ru-RU" b="0" i="0" dirty="0" err="1">
                <a:effectLst/>
                <a:latin typeface="fkGroteskNeue"/>
              </a:rPr>
              <a:t>index</a:t>
            </a:r>
            <a:r>
              <a:rPr lang="ru-RU" b="0" i="0" dirty="0">
                <a:effectLst/>
                <a:latin typeface="fkGroteskNeue"/>
              </a:rPr>
              <a:t> = 0.5: модель случайна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C-</a:t>
            </a:r>
            <a:r>
              <a:rPr lang="ru-RU" b="0" i="0" dirty="0" err="1">
                <a:effectLst/>
                <a:latin typeface="fkGroteskNeue"/>
              </a:rPr>
              <a:t>index</a:t>
            </a:r>
            <a:r>
              <a:rPr lang="ru-RU" b="0" i="0" dirty="0">
                <a:effectLst/>
                <a:latin typeface="fkGroteskNeue"/>
              </a:rPr>
              <a:t> = 0.7: хорошо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C-</a:t>
            </a:r>
            <a:r>
              <a:rPr lang="ru-RU" b="0" i="0" dirty="0" err="1">
                <a:effectLst/>
                <a:latin typeface="fkGroteskNeue"/>
              </a:rPr>
              <a:t>index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en-US" b="0" i="0" dirty="0">
                <a:effectLst/>
                <a:latin typeface="fkGroteskNeue"/>
              </a:rPr>
              <a:t>&gt;</a:t>
            </a:r>
            <a:r>
              <a:rPr lang="ru-RU" b="0" i="0" dirty="0">
                <a:effectLst/>
                <a:latin typeface="fkGroteskNeue"/>
              </a:rPr>
              <a:t>= 0.8: отлично</a:t>
            </a:r>
          </a:p>
        </p:txBody>
      </p:sp>
    </p:spTree>
    <p:extLst>
      <p:ext uri="{BB962C8B-B14F-4D97-AF65-F5344CB8AC3E}">
        <p14:creationId xmlns:p14="http://schemas.microsoft.com/office/powerpoint/2010/main" val="31266810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16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Многомерность и взаимодействия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 err="1">
                <a:effectLst/>
                <a:latin typeface="fkGroteskNeue"/>
              </a:rPr>
              <a:t>Confounding</a:t>
            </a:r>
            <a:r>
              <a:rPr lang="ru-RU" b="1" i="1" dirty="0">
                <a:effectLst/>
                <a:latin typeface="fkGroteskNeue"/>
              </a:rPr>
              <a:t> и </a:t>
            </a:r>
            <a:r>
              <a:rPr lang="ru-RU" b="1" i="1" dirty="0" err="1">
                <a:effectLst/>
                <a:latin typeface="fkGroteskNeue"/>
              </a:rPr>
              <a:t>interaction</a:t>
            </a:r>
            <a:endParaRPr lang="ru-RU" b="1" i="1" dirty="0">
              <a:effectLst/>
              <a:latin typeface="fkGroteskNeue"/>
            </a:endParaRPr>
          </a:p>
          <a:p>
            <a:pPr marL="0" indent="0" algn="l">
              <a:buNone/>
            </a:pPr>
            <a:r>
              <a:rPr lang="ru-RU" b="1" i="0" dirty="0" err="1">
                <a:effectLst/>
                <a:latin typeface="fkGroteskNeue"/>
              </a:rPr>
              <a:t>Confounding</a:t>
            </a:r>
            <a:r>
              <a:rPr lang="ru-RU" b="0" i="0" dirty="0">
                <a:effectLst/>
                <a:latin typeface="fkGroteskNeue"/>
              </a:rPr>
              <a:t>: переменная Z влияет и на X, и на исход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Пример: возраст влияет и на размер опухоли, и на смертность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Решение: </a:t>
            </a:r>
            <a:r>
              <a:rPr lang="ru-RU" b="0" i="0" dirty="0" err="1">
                <a:effectLst/>
                <a:latin typeface="fkGroteskNeue"/>
              </a:rPr>
              <a:t>мультивариатная</a:t>
            </a:r>
            <a:r>
              <a:rPr lang="ru-RU" b="0" i="0" dirty="0">
                <a:effectLst/>
                <a:latin typeface="fkGroteskNeue"/>
              </a:rPr>
              <a:t> регрессия </a:t>
            </a:r>
            <a:r>
              <a:rPr lang="ru-RU" b="0" i="0" dirty="0" err="1">
                <a:effectLst/>
                <a:latin typeface="fkGroteskNeue"/>
              </a:rPr>
              <a:t>Cox</a:t>
            </a:r>
            <a:r>
              <a:rPr lang="ru-RU" b="0" i="0" dirty="0">
                <a:effectLst/>
                <a:latin typeface="fkGroteskNeue"/>
              </a:rPr>
              <a:t> (контролируем возраст)</a:t>
            </a:r>
          </a:p>
          <a:p>
            <a:pPr marL="0" indent="0" algn="l">
              <a:buNone/>
            </a:pPr>
            <a:r>
              <a:rPr lang="ru-RU" b="1" i="0" dirty="0" err="1">
                <a:effectLst/>
                <a:latin typeface="fkGroteskNeue"/>
              </a:rPr>
              <a:t>Interaction</a:t>
            </a:r>
            <a:r>
              <a:rPr lang="ru-RU" b="0" i="0" dirty="0">
                <a:effectLst/>
                <a:latin typeface="fkGroteskNeue"/>
              </a:rPr>
              <a:t>: эффект X зависит от Z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Пример: ER+ может быть протектором только у молодых женщин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Решение: добавить новый признак - β₃ × X × Z</a:t>
            </a:r>
          </a:p>
        </p:txBody>
      </p:sp>
    </p:spTree>
    <p:extLst>
      <p:ext uri="{BB962C8B-B14F-4D97-AF65-F5344CB8AC3E}">
        <p14:creationId xmlns:p14="http://schemas.microsoft.com/office/powerpoint/2010/main" val="10147844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17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Confounding: Breast Cancer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. Пример в онкологии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effectLst/>
                <a:latin typeface="pplxSerif"/>
              </a:rPr>
              <a:t>Univariate</a:t>
            </a:r>
            <a:r>
              <a:rPr lang="ru-RU" b="1" i="0" dirty="0">
                <a:effectLst/>
                <a:latin typeface="pplxSerif"/>
              </a:rPr>
              <a:t> </a:t>
            </a:r>
            <a:r>
              <a:rPr lang="ru-RU" b="1" i="0" dirty="0" err="1">
                <a:effectLst/>
                <a:latin typeface="pplxSerif"/>
              </a:rPr>
              <a:t>Cox</a:t>
            </a:r>
            <a:r>
              <a:rPr lang="ru-RU" b="0" i="0" dirty="0">
                <a:effectLst/>
                <a:latin typeface="pplxSerif"/>
              </a:rPr>
              <a:t> по размеру опухоли: большой размер сильно ассоциирован со смертью (похоже, X — плохой фактор).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effectLst/>
                <a:latin typeface="pplxSerif"/>
              </a:rPr>
              <a:t>Multivariate</a:t>
            </a:r>
            <a:r>
              <a:rPr lang="ru-RU" b="1" i="0" dirty="0">
                <a:effectLst/>
                <a:latin typeface="pplxSerif"/>
              </a:rPr>
              <a:t> </a:t>
            </a:r>
            <a:r>
              <a:rPr lang="ru-RU" b="1" i="0" dirty="0" err="1">
                <a:effectLst/>
                <a:latin typeface="pplxSerif"/>
              </a:rPr>
              <a:t>Cox</a:t>
            </a:r>
            <a:r>
              <a:rPr lang="ru-RU" b="0" i="0" dirty="0">
                <a:effectLst/>
                <a:latin typeface="pplxSerif"/>
              </a:rPr>
              <a:t> (с контролем возраста): эффект размера ослабевает (HR T3 падает с 2.5 до 1.93), т.к. крупные опухоли чаще у пожилых, а возраст сам по себе — сильный предиктор.​</a:t>
            </a:r>
          </a:p>
          <a:p>
            <a:pPr marL="0" indent="0" algn="l">
              <a:buNone/>
            </a:pPr>
            <a:endParaRPr lang="ru-RU" b="0" i="0" dirty="0">
              <a:effectLst/>
              <a:latin typeface="fkGroteskNeue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85218A9-DB8B-4422-B836-342DC5F9E6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4516" y="3367752"/>
            <a:ext cx="6553200" cy="245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4795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18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Конкурирующие риски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Что если есть несколько событий?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Пациент может умереть от: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effectLst/>
                <a:latin typeface="fkGroteskNeue"/>
              </a:rPr>
              <a:t> Рака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effectLst/>
                <a:latin typeface="fkGroteskNeue"/>
              </a:rPr>
              <a:t> Инфаркта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effectLst/>
                <a:latin typeface="fkGroteskNeue"/>
              </a:rPr>
              <a:t> ДТП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Стандартный </a:t>
            </a:r>
            <a:r>
              <a:rPr lang="ru-RU" b="0" i="0" dirty="0" err="1">
                <a:effectLst/>
                <a:latin typeface="fkGroteskNeue"/>
              </a:rPr>
              <a:t>Cox</a:t>
            </a:r>
            <a:r>
              <a:rPr lang="ru-RU" b="0" i="0" dirty="0">
                <a:effectLst/>
                <a:latin typeface="fkGroteskNeue"/>
              </a:rPr>
              <a:t>: рассматривает любое событие одинаково.</a:t>
            </a:r>
          </a:p>
          <a:p>
            <a:pPr marL="0" indent="0" algn="l">
              <a:buNone/>
            </a:pPr>
            <a:r>
              <a:rPr lang="ru-RU" b="0" i="0" dirty="0" err="1">
                <a:effectLst/>
                <a:latin typeface="fkGroteskNeue"/>
              </a:rPr>
              <a:t>Competing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Risks</a:t>
            </a:r>
            <a:r>
              <a:rPr lang="ru-RU" b="0" i="0" dirty="0">
                <a:effectLst/>
                <a:latin typeface="fkGroteskNeue"/>
              </a:rPr>
              <a:t>: анализирует "истинные" кривые для каждого события.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Сложнее, но более правильно.</a:t>
            </a:r>
          </a:p>
        </p:txBody>
      </p:sp>
    </p:spTree>
    <p:extLst>
      <p:ext uri="{BB962C8B-B14F-4D97-AF65-F5344CB8AC3E}">
        <p14:creationId xmlns:p14="http://schemas.microsoft.com/office/powerpoint/2010/main" val="24163853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19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Конкурирующие риски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В онкологии: смерть от рака </a:t>
            </a:r>
            <a:r>
              <a:rPr lang="ru-RU" b="0" i="0" dirty="0" err="1">
                <a:effectLst/>
                <a:latin typeface="pplxSerif"/>
              </a:rPr>
              <a:t>vs</a:t>
            </a:r>
            <a:r>
              <a:rPr lang="ru-RU" b="0" i="0" dirty="0">
                <a:effectLst/>
                <a:latin typeface="pplxSerif"/>
              </a:rPr>
              <a:t> смерть от сердечно‑сосудистых причин у пациенток с РМЖ.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Стандартная </a:t>
            </a:r>
            <a:r>
              <a:rPr lang="ru-RU" b="0" i="0" dirty="0" err="1">
                <a:effectLst/>
                <a:latin typeface="pplxSerif"/>
              </a:rPr>
              <a:t>Cox</a:t>
            </a:r>
            <a:r>
              <a:rPr lang="ru-RU" b="0" i="0" dirty="0">
                <a:effectLst/>
                <a:latin typeface="pplxSerif"/>
              </a:rPr>
              <a:t> по времени до события рак‑специфической смерти с цензурированием других причин переоценивает риск.​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Нужны </a:t>
            </a:r>
            <a:r>
              <a:rPr lang="ru-RU" b="0" i="0" dirty="0" err="1">
                <a:effectLst/>
                <a:latin typeface="pplxSerif"/>
              </a:rPr>
              <a:t>competing</a:t>
            </a:r>
            <a:r>
              <a:rPr lang="ru-RU" b="0" i="0" dirty="0">
                <a:effectLst/>
                <a:latin typeface="pplxSerif"/>
              </a:rPr>
              <a:t> </a:t>
            </a:r>
            <a:r>
              <a:rPr lang="ru-RU" b="0" i="0" dirty="0" err="1">
                <a:effectLst/>
                <a:latin typeface="pplxSerif"/>
              </a:rPr>
              <a:t>risks</a:t>
            </a:r>
            <a:r>
              <a:rPr lang="ru-RU" b="0" i="0" dirty="0">
                <a:effectLst/>
                <a:latin typeface="pplxSerif"/>
              </a:rPr>
              <a:t>‑подходы: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dirty="0" err="1">
                <a:effectLst/>
                <a:latin typeface="pplxSerif"/>
              </a:rPr>
              <a:t>cause‑specific</a:t>
            </a:r>
            <a:r>
              <a:rPr lang="ru-RU" b="0" i="0" dirty="0">
                <a:effectLst/>
                <a:latin typeface="pplxSerif"/>
              </a:rPr>
              <a:t> </a:t>
            </a:r>
            <a:r>
              <a:rPr lang="ru-RU" b="0" i="0" dirty="0" err="1">
                <a:effectLst/>
                <a:latin typeface="pplxSerif"/>
              </a:rPr>
              <a:t>Cox</a:t>
            </a:r>
            <a:r>
              <a:rPr lang="ru-RU" b="0" i="0" dirty="0">
                <a:effectLst/>
                <a:latin typeface="pplxSerif"/>
              </a:rPr>
              <a:t>,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Fine–</a:t>
            </a:r>
            <a:r>
              <a:rPr lang="ru-RU" b="0" i="0" dirty="0" err="1">
                <a:effectLst/>
                <a:latin typeface="pplxSerif"/>
              </a:rPr>
              <a:t>Gray</a:t>
            </a:r>
            <a:r>
              <a:rPr lang="ru-RU" b="0" i="0" dirty="0">
                <a:effectLst/>
                <a:latin typeface="pplxSerif"/>
              </a:rPr>
              <a:t> по </a:t>
            </a:r>
            <a:r>
              <a:rPr lang="ru-RU" b="0" i="0" dirty="0" err="1">
                <a:effectLst/>
                <a:latin typeface="pplxSerif"/>
              </a:rPr>
              <a:t>подраспределённому</a:t>
            </a:r>
            <a:r>
              <a:rPr lang="ru-RU" b="0" i="0" dirty="0">
                <a:effectLst/>
                <a:latin typeface="pplxSerif"/>
              </a:rPr>
              <a:t> </a:t>
            </a:r>
            <a:r>
              <a:rPr lang="ru-RU" b="0" i="0" dirty="0" err="1">
                <a:effectLst/>
                <a:latin typeface="pplxSerif"/>
              </a:rPr>
              <a:t>hazard</a:t>
            </a:r>
            <a:r>
              <a:rPr lang="ru-RU" b="0" i="0" dirty="0">
                <a:effectLst/>
                <a:latin typeface="pplxSerif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6624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20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Пример: ССЗ-смерть у пациенток с РМЖ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Большая когорта пациенток с РМЖ из SEER (≈400 000), анализ факторов риска кардиоваскулярной смертности с </a:t>
            </a:r>
            <a:r>
              <a:rPr lang="ru-RU" b="0" i="0" dirty="0" err="1">
                <a:effectLst/>
                <a:latin typeface="pplxSerif"/>
              </a:rPr>
              <a:t>competing</a:t>
            </a:r>
            <a:r>
              <a:rPr lang="ru-RU" b="0" i="0" dirty="0">
                <a:effectLst/>
                <a:latin typeface="pplxSerif"/>
              </a:rPr>
              <a:t> </a:t>
            </a:r>
            <a:r>
              <a:rPr lang="ru-RU" b="0" i="0" dirty="0" err="1">
                <a:effectLst/>
                <a:latin typeface="pplxSerif"/>
              </a:rPr>
              <a:t>risks</a:t>
            </a:r>
            <a:r>
              <a:rPr lang="ru-RU" b="0" i="0" dirty="0">
                <a:effectLst/>
                <a:latin typeface="pplxSerif"/>
              </a:rPr>
              <a:t>‑регрессией.​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Независимые предикторы смерти от ССЗ: возраст, стадия, ER/PR/HER2, лечение (операция, химио-, радиотерапия).​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Используется Fine–</a:t>
            </a:r>
            <a:r>
              <a:rPr lang="ru-RU" b="0" i="0" dirty="0" err="1">
                <a:effectLst/>
                <a:latin typeface="pplxSerif"/>
              </a:rPr>
              <a:t>Gray</a:t>
            </a:r>
            <a:r>
              <a:rPr lang="ru-RU" b="0" i="0" dirty="0">
                <a:effectLst/>
                <a:latin typeface="pplxSerif"/>
              </a:rPr>
              <a:t> для </a:t>
            </a:r>
            <a:r>
              <a:rPr lang="ru-RU" b="0" i="0" dirty="0" err="1">
                <a:effectLst/>
                <a:latin typeface="pplxSerif"/>
              </a:rPr>
              <a:t>подраспределённого</a:t>
            </a:r>
            <a:r>
              <a:rPr lang="ru-RU" b="0" i="0" dirty="0">
                <a:effectLst/>
                <a:latin typeface="pplxSerif"/>
              </a:rPr>
              <a:t> HR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FC619CA-6228-4DA2-8C8B-50E86BCDED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7" y="4062057"/>
            <a:ext cx="6991350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13419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21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Стратифицированная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Cox‑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модель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0" i="0" dirty="0">
                <a:effectLst/>
                <a:latin typeface="pplxSerif"/>
              </a:rPr>
              <a:t>Проблема: базовый риск сильно отличается между группами (центр, стадия, когорты).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pplxSerif"/>
              </a:rPr>
              <a:t>Модель: </a:t>
            </a:r>
            <a:r>
              <a:rPr lang="ru-RU" b="0" i="0" dirty="0">
                <a:effectLst/>
                <a:latin typeface="KaTeX_Main"/>
              </a:rPr>
              <a:t>λ(</a:t>
            </a:r>
            <a:r>
              <a:rPr lang="ru-RU" b="0" i="0" dirty="0" err="1">
                <a:effectLst/>
                <a:latin typeface="KaTeX_Main"/>
              </a:rPr>
              <a:t>t∣X,stratum</a:t>
            </a:r>
            <a:r>
              <a:rPr lang="ru-RU" b="0" i="0" dirty="0">
                <a:effectLst/>
                <a:latin typeface="KaTeX_Main"/>
              </a:rPr>
              <a:t>)=λ0,stratum(t)</a:t>
            </a:r>
            <a:r>
              <a:rPr lang="ru-RU" b="0" i="0" dirty="0" err="1">
                <a:effectLst/>
                <a:latin typeface="KaTeX_Main"/>
              </a:rPr>
              <a:t>exp</a:t>
            </a:r>
            <a:r>
              <a:rPr lang="ru-RU" b="0" i="0" dirty="0">
                <a:effectLst/>
                <a:latin typeface="KaTeX_Main"/>
              </a:rPr>
              <a:t>⁡(β⊤X)</a:t>
            </a:r>
            <a:r>
              <a:rPr lang="ru-RU" b="0" i="1" dirty="0">
                <a:effectLst/>
                <a:latin typeface="KaTeX_Math"/>
              </a:rPr>
              <a:t>λ</a:t>
            </a:r>
            <a:r>
              <a:rPr lang="ru-RU" b="0" i="0" dirty="0">
                <a:effectLst/>
                <a:latin typeface="KaTeX_Main"/>
              </a:rPr>
              <a:t>(</a:t>
            </a:r>
            <a:r>
              <a:rPr lang="ru-RU" b="0" i="1" dirty="0" err="1">
                <a:effectLst/>
                <a:latin typeface="KaTeX_Math"/>
              </a:rPr>
              <a:t>t</a:t>
            </a:r>
            <a:r>
              <a:rPr lang="ru-RU" b="0" i="0" dirty="0" err="1">
                <a:effectLst/>
                <a:latin typeface="KaTeX_Main"/>
              </a:rPr>
              <a:t>∣</a:t>
            </a:r>
            <a:r>
              <a:rPr lang="ru-RU" b="0" i="1" dirty="0" err="1">
                <a:effectLst/>
                <a:latin typeface="KaTeX_Math"/>
              </a:rPr>
              <a:t>X</a:t>
            </a:r>
            <a:r>
              <a:rPr lang="ru-RU" b="0" i="0" dirty="0" err="1">
                <a:effectLst/>
                <a:latin typeface="KaTeX_Main"/>
              </a:rPr>
              <a:t>,stratum</a:t>
            </a:r>
            <a:r>
              <a:rPr lang="ru-RU" b="0" i="0" dirty="0">
                <a:effectLst/>
                <a:latin typeface="KaTeX_Main"/>
              </a:rPr>
              <a:t>)=</a:t>
            </a:r>
            <a:r>
              <a:rPr lang="ru-RU" b="0" i="1" dirty="0">
                <a:effectLst/>
                <a:latin typeface="KaTeX_Math"/>
              </a:rPr>
              <a:t>λ</a:t>
            </a:r>
            <a:r>
              <a:rPr lang="ru-RU" b="0" i="0" dirty="0">
                <a:effectLst/>
                <a:latin typeface="KaTeX_Main"/>
              </a:rPr>
              <a:t>0,stratum(</a:t>
            </a:r>
            <a:r>
              <a:rPr lang="ru-RU" b="0" i="1" dirty="0">
                <a:effectLst/>
                <a:latin typeface="KaTeX_Math"/>
              </a:rPr>
              <a:t>t</a:t>
            </a:r>
            <a:r>
              <a:rPr lang="ru-RU" b="0" i="0" dirty="0">
                <a:effectLst/>
                <a:latin typeface="KaTeX_Main"/>
              </a:rPr>
              <a:t>)</a:t>
            </a:r>
            <a:r>
              <a:rPr lang="ru-RU" b="0" i="0" dirty="0" err="1">
                <a:effectLst/>
                <a:latin typeface="KaTeX_Main"/>
              </a:rPr>
              <a:t>exp</a:t>
            </a:r>
            <a:r>
              <a:rPr lang="ru-RU" b="0" i="0" dirty="0">
                <a:effectLst/>
                <a:latin typeface="KaTeX_Main"/>
              </a:rPr>
              <a:t>(</a:t>
            </a:r>
            <a:r>
              <a:rPr lang="ru-RU" b="0" i="1" dirty="0">
                <a:effectLst/>
                <a:latin typeface="KaTeX_Math"/>
              </a:rPr>
              <a:t>β</a:t>
            </a:r>
            <a:r>
              <a:rPr lang="ru-RU" b="0" i="0" dirty="0">
                <a:effectLst/>
                <a:latin typeface="KaTeX_Main"/>
              </a:rPr>
              <a:t>⊤</a:t>
            </a:r>
            <a:r>
              <a:rPr lang="ru-RU" b="0" i="1" dirty="0">
                <a:effectLst/>
                <a:latin typeface="KaTeX_Math"/>
              </a:rPr>
              <a:t>X</a:t>
            </a:r>
            <a:r>
              <a:rPr lang="ru-RU" b="0" i="0" dirty="0">
                <a:effectLst/>
                <a:latin typeface="KaTeX_Main"/>
              </a:rPr>
              <a:t>)</a:t>
            </a:r>
            <a:r>
              <a:rPr lang="ru-RU" b="0" i="0" dirty="0">
                <a:effectLst/>
                <a:latin typeface="pplxSerif"/>
              </a:rPr>
              <a:t>.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pplxSerif"/>
              </a:rPr>
              <a:t>Что меняется: свой </a:t>
            </a:r>
            <a:r>
              <a:rPr lang="ru-RU" b="0" i="0" dirty="0" err="1">
                <a:effectLst/>
                <a:latin typeface="pplxSerif"/>
              </a:rPr>
              <a:t>baseline</a:t>
            </a:r>
            <a:r>
              <a:rPr lang="ru-RU" b="0" i="0" dirty="0">
                <a:effectLst/>
                <a:latin typeface="pplxSerif"/>
              </a:rPr>
              <a:t> </a:t>
            </a:r>
            <a:r>
              <a:rPr lang="ru-RU" b="0" i="0" dirty="0" err="1">
                <a:effectLst/>
                <a:latin typeface="pplxSerif"/>
              </a:rPr>
              <a:t>hazard</a:t>
            </a:r>
            <a:r>
              <a:rPr lang="ru-RU" b="0" i="0" dirty="0">
                <a:effectLst/>
                <a:latin typeface="pplxSerif"/>
              </a:rPr>
              <a:t> в каждой группе, общие </a:t>
            </a:r>
            <a:r>
              <a:rPr lang="ru-RU" b="0" i="0" dirty="0">
                <a:effectLst/>
                <a:latin typeface="KaTeX_Main"/>
              </a:rPr>
              <a:t>β</a:t>
            </a:r>
            <a:r>
              <a:rPr lang="ru-RU" b="0" i="0" dirty="0">
                <a:effectLst/>
                <a:latin typeface="pplxSerif"/>
              </a:rPr>
              <a:t>.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pplxSerif"/>
              </a:rPr>
              <a:t>Когда использовать: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разные когорты/центры,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стадии как страты,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нарушение PH по сильному фактору, который не интересен сам по себе.</a:t>
            </a:r>
          </a:p>
        </p:txBody>
      </p:sp>
    </p:spTree>
    <p:extLst>
      <p:ext uri="{BB962C8B-B14F-4D97-AF65-F5344CB8AC3E}">
        <p14:creationId xmlns:p14="http://schemas.microsoft.com/office/powerpoint/2010/main" val="40833296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22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Пример: РМЖ и стратификация по стадии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Исследование выживаемости при раке молочной железы, сравнение стандартной и стратифицированной </a:t>
            </a:r>
            <a:r>
              <a:rPr lang="ru-RU" b="0" i="0" dirty="0" err="1">
                <a:effectLst/>
                <a:latin typeface="pplxSerif"/>
              </a:rPr>
              <a:t>Cox</a:t>
            </a:r>
            <a:r>
              <a:rPr lang="ru-RU" b="0" i="0" dirty="0">
                <a:effectLst/>
                <a:latin typeface="pplxSerif"/>
              </a:rPr>
              <a:t>‑модели.​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Страты: клиническая стадия (I–IV).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Результат: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без стратификации — PH‑предположение нарушено,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со стратификацией — более стабильные HR для лечения (химио-, радиотерапия).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5D3A969-24C6-4329-9FD8-DD4B9A1249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3448" y="4127582"/>
            <a:ext cx="685800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267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23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Time-</a:t>
              </a:r>
              <a:r>
                <a:rPr lang="ru-RU" sz="2000" dirty="0" err="1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dependent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 ROC и другие метрики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Когда данные временные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ROC в момент времени t: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Предсказания для t=5 лет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Чувствительность: доля пациентов, которые действительно пережили событие до t и модель предсказала высокий риск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Интегрированная AUC: средняя AUC по всем t</a:t>
            </a:r>
          </a:p>
        </p:txBody>
      </p:sp>
    </p:spTree>
    <p:extLst>
      <p:ext uri="{BB962C8B-B14F-4D97-AF65-F5344CB8AC3E}">
        <p14:creationId xmlns:p14="http://schemas.microsoft.com/office/powerpoint/2010/main" val="12370669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24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Time‑</a:t>
              </a:r>
              <a:r>
                <a:rPr lang="ru-RU" sz="2000" dirty="0" err="1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dependent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 </a:t>
              </a:r>
              <a:r>
                <a:rPr lang="ru-RU" sz="2000" dirty="0" err="1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ковариаты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: когда X меняется во времени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Определение: </a:t>
            </a:r>
            <a:r>
              <a:rPr lang="ru-RU" b="0" i="0" dirty="0" err="1">
                <a:effectLst/>
                <a:latin typeface="pplxSerif"/>
              </a:rPr>
              <a:t>ковариата</a:t>
            </a:r>
            <a:r>
              <a:rPr lang="ru-RU" b="0" i="0" dirty="0">
                <a:effectLst/>
                <a:latin typeface="pplxSerif"/>
              </a:rPr>
              <a:t>, значение которой изменяется в ходе наблюдения (лечение начато/отменено, рецидив, </a:t>
            </a:r>
            <a:r>
              <a:rPr lang="ru-RU" b="0" i="0" dirty="0" err="1">
                <a:effectLst/>
                <a:latin typeface="pplxSerif"/>
              </a:rPr>
              <a:t>биомаркер</a:t>
            </a:r>
            <a:r>
              <a:rPr lang="ru-RU" b="0" i="0" dirty="0">
                <a:effectLst/>
                <a:latin typeface="pplxSerif"/>
              </a:rPr>
              <a:t>, курение).​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Примеры в онкологии: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начало химио- или гормонотерапии после операции,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появление метастазов,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динамика уровня маркёра (PSA, CA‑125).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Требование: данные в формате </a:t>
            </a:r>
            <a:r>
              <a:rPr lang="ru-RU" b="0" i="0" dirty="0" err="1">
                <a:effectLst/>
                <a:latin typeface="pplxSerif"/>
              </a:rPr>
              <a:t>counting</a:t>
            </a:r>
            <a:r>
              <a:rPr lang="ru-RU" b="0" i="0" dirty="0">
                <a:effectLst/>
                <a:latin typeface="pplxSerif"/>
              </a:rPr>
              <a:t> </a:t>
            </a:r>
            <a:r>
              <a:rPr lang="ru-RU" b="0" i="0" dirty="0" err="1">
                <a:effectLst/>
                <a:latin typeface="pplxSerif"/>
              </a:rPr>
              <a:t>process</a:t>
            </a:r>
            <a:r>
              <a:rPr lang="ru-RU" b="0" i="0" dirty="0">
                <a:effectLst/>
                <a:latin typeface="pplxSerif"/>
              </a:rPr>
              <a:t> (</a:t>
            </a:r>
            <a:r>
              <a:rPr lang="ru-RU" b="0" i="0" dirty="0" err="1">
                <a:effectLst/>
                <a:latin typeface="pplxSerif"/>
              </a:rPr>
              <a:t>start</a:t>
            </a:r>
            <a:r>
              <a:rPr lang="ru-RU" b="0" i="0" dirty="0">
                <a:effectLst/>
                <a:latin typeface="pplxSerif"/>
              </a:rPr>
              <a:t>–</a:t>
            </a:r>
            <a:r>
              <a:rPr lang="ru-RU" b="0" i="0" dirty="0" err="1">
                <a:effectLst/>
                <a:latin typeface="pplxSerif"/>
              </a:rPr>
              <a:t>stop</a:t>
            </a:r>
            <a:r>
              <a:rPr lang="ru-RU" b="0" i="0" dirty="0">
                <a:effectLst/>
                <a:latin typeface="pplxSerif"/>
              </a:rPr>
              <a:t> интервалы).</a:t>
            </a:r>
          </a:p>
        </p:txBody>
      </p:sp>
    </p:spTree>
    <p:extLst>
      <p:ext uri="{BB962C8B-B14F-4D97-AF65-F5344CB8AC3E}">
        <p14:creationId xmlns:p14="http://schemas.microsoft.com/office/powerpoint/2010/main" val="35589622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25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Пример: </a:t>
              </a:r>
              <a:r>
                <a:rPr lang="ru-RU" sz="2000" dirty="0" err="1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адъювантная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 терапия как </a:t>
              </a:r>
              <a:r>
                <a:rPr lang="ru-RU" sz="2000" dirty="0" err="1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time‑dependent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 X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Сценарий: ранний рак молочной железы, часть пациенток начинает гормонотерапию через несколько месяцев.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Неправильный подход: моделировать “получала терапию: да/нет” как </a:t>
            </a:r>
            <a:r>
              <a:rPr lang="ru-RU" b="0" i="0" dirty="0" err="1">
                <a:effectLst/>
                <a:latin typeface="pplxSerif"/>
              </a:rPr>
              <a:t>baseline</a:t>
            </a:r>
            <a:r>
              <a:rPr lang="ru-RU" b="0" i="0" dirty="0">
                <a:effectLst/>
                <a:latin typeface="pplxSerif"/>
              </a:rPr>
              <a:t> X → </a:t>
            </a:r>
            <a:r>
              <a:rPr lang="ru-RU" b="0" i="0" dirty="0" err="1">
                <a:effectLst/>
                <a:latin typeface="pplxSerif"/>
              </a:rPr>
              <a:t>immortal</a:t>
            </a:r>
            <a:r>
              <a:rPr lang="ru-RU" b="0" i="0" dirty="0">
                <a:effectLst/>
                <a:latin typeface="pplxSerif"/>
              </a:rPr>
              <a:t> </a:t>
            </a:r>
            <a:r>
              <a:rPr lang="ru-RU" b="0" i="0" dirty="0" err="1">
                <a:effectLst/>
                <a:latin typeface="pplxSerif"/>
              </a:rPr>
              <a:t>time</a:t>
            </a:r>
            <a:r>
              <a:rPr lang="ru-RU" b="0" i="0" dirty="0">
                <a:effectLst/>
                <a:latin typeface="pplxSerif"/>
              </a:rPr>
              <a:t> </a:t>
            </a:r>
            <a:r>
              <a:rPr lang="ru-RU" b="0" i="0" dirty="0" err="1">
                <a:effectLst/>
                <a:latin typeface="pplxSerif"/>
              </a:rPr>
              <a:t>bias</a:t>
            </a:r>
            <a:r>
              <a:rPr lang="ru-RU" b="0" i="0" dirty="0">
                <a:effectLst/>
                <a:latin typeface="pplxSerif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Правильный: переменная “</a:t>
            </a:r>
            <a:r>
              <a:rPr lang="ru-RU" b="0" i="0" dirty="0" err="1">
                <a:effectLst/>
                <a:latin typeface="pplxSerif"/>
              </a:rPr>
              <a:t>on</a:t>
            </a:r>
            <a:r>
              <a:rPr lang="ru-RU" b="0" i="0" dirty="0">
                <a:effectLst/>
                <a:latin typeface="pplxSerif"/>
              </a:rPr>
              <a:t> </a:t>
            </a:r>
            <a:r>
              <a:rPr lang="ru-RU" b="0" i="0" dirty="0" err="1">
                <a:effectLst/>
                <a:latin typeface="pplxSerif"/>
              </a:rPr>
              <a:t>treatment</a:t>
            </a:r>
            <a:r>
              <a:rPr lang="ru-RU" b="0" i="0" dirty="0">
                <a:effectLst/>
                <a:latin typeface="pplxSerif"/>
              </a:rPr>
              <a:t>” как </a:t>
            </a:r>
            <a:r>
              <a:rPr lang="ru-RU" b="0" i="0" dirty="0" err="1">
                <a:effectLst/>
                <a:latin typeface="pplxSerif"/>
              </a:rPr>
              <a:t>time‑dependent</a:t>
            </a:r>
            <a:r>
              <a:rPr lang="ru-RU" b="0" i="0" dirty="0">
                <a:effectLst/>
                <a:latin typeface="pplxSerif"/>
              </a:rPr>
              <a:t>, обновляется в момент старта терапии.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AE59CFE-6F7C-4A42-AC1E-9B8CDD367A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3448" y="4062057"/>
            <a:ext cx="7058025" cy="273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6501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26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Time‑</a:t>
              </a:r>
              <a:r>
                <a:rPr lang="ru-RU" sz="2000" dirty="0" err="1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varying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 коэффициенты: когда HR меняется со временем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Проблема: </a:t>
            </a:r>
            <a:r>
              <a:rPr lang="en-US" b="0" i="0" dirty="0">
                <a:effectLst/>
                <a:latin typeface="pplxSerif"/>
              </a:rPr>
              <a:t>PH‑</a:t>
            </a:r>
            <a:r>
              <a:rPr lang="ru-RU" b="0" i="0" dirty="0">
                <a:effectLst/>
                <a:latin typeface="pplxSerif"/>
              </a:rPr>
              <a:t>предположение нарушено, эффект </a:t>
            </a:r>
            <a:r>
              <a:rPr lang="en-US" b="0" i="0" dirty="0">
                <a:effectLst/>
                <a:latin typeface="pplxSerif"/>
              </a:rPr>
              <a:t>X </a:t>
            </a:r>
            <a:r>
              <a:rPr lang="ru-RU" b="0" i="0" dirty="0">
                <a:effectLst/>
                <a:latin typeface="pplxSerif"/>
              </a:rPr>
              <a:t>на </a:t>
            </a:r>
            <a:r>
              <a:rPr lang="en-US" b="0" i="0" dirty="0">
                <a:effectLst/>
                <a:latin typeface="pplxSerif"/>
              </a:rPr>
              <a:t>hazard </a:t>
            </a:r>
            <a:r>
              <a:rPr lang="ru-RU" b="0" i="0" dirty="0">
                <a:effectLst/>
                <a:latin typeface="pplxSerif"/>
              </a:rPr>
              <a:t>меняется по </a:t>
            </a:r>
            <a:r>
              <a:rPr lang="en-US" b="0" i="0" dirty="0">
                <a:effectLst/>
                <a:latin typeface="pplxSerif"/>
              </a:rPr>
              <a:t>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Подход: ввести взаимодействие </a:t>
            </a:r>
            <a:r>
              <a:rPr lang="en-US" b="0" i="0" dirty="0" err="1">
                <a:effectLst/>
                <a:latin typeface="pplxSerif"/>
              </a:rPr>
              <a:t>X×g</a:t>
            </a:r>
            <a:r>
              <a:rPr lang="en-US" b="0" i="0" dirty="0">
                <a:effectLst/>
                <a:latin typeface="pplxSerif"/>
              </a:rPr>
              <a:t>(t): </a:t>
            </a:r>
            <a:r>
              <a:rPr lang="el-GR" b="0" i="0" dirty="0">
                <a:effectLst/>
                <a:latin typeface="KaTeX_Main"/>
              </a:rPr>
              <a:t>λ(</a:t>
            </a:r>
            <a:r>
              <a:rPr lang="en-US" b="0" i="0" dirty="0" err="1">
                <a:effectLst/>
                <a:latin typeface="KaTeX_Main"/>
              </a:rPr>
              <a:t>t∣X</a:t>
            </a:r>
            <a:r>
              <a:rPr lang="en-US" b="0" i="0" dirty="0">
                <a:effectLst/>
                <a:latin typeface="KaTeX_Main"/>
              </a:rPr>
              <a:t>)=</a:t>
            </a:r>
            <a:r>
              <a:rPr lang="el-GR" b="0" i="0" dirty="0">
                <a:effectLst/>
                <a:latin typeface="KaTeX_Main"/>
              </a:rPr>
              <a:t>λ0(</a:t>
            </a:r>
            <a:r>
              <a:rPr lang="en-US" b="0" i="0" dirty="0">
                <a:effectLst/>
                <a:latin typeface="KaTeX_Main"/>
              </a:rPr>
              <a:t>t)exp⁡(</a:t>
            </a:r>
            <a:r>
              <a:rPr lang="el-GR" b="0" i="0" dirty="0">
                <a:effectLst/>
                <a:latin typeface="KaTeX_Main"/>
              </a:rPr>
              <a:t>β1</a:t>
            </a:r>
            <a:r>
              <a:rPr lang="en-US" b="0" i="0" dirty="0">
                <a:effectLst/>
                <a:latin typeface="KaTeX_Main"/>
              </a:rPr>
              <a:t>X+</a:t>
            </a:r>
            <a:r>
              <a:rPr lang="el-GR" b="0" i="0" dirty="0">
                <a:effectLst/>
                <a:latin typeface="KaTeX_Main"/>
              </a:rPr>
              <a:t>β2</a:t>
            </a:r>
            <a:r>
              <a:rPr lang="en-US" b="0" i="0" dirty="0" err="1">
                <a:effectLst/>
                <a:latin typeface="KaTeX_Main"/>
              </a:rPr>
              <a:t>Xg</a:t>
            </a:r>
            <a:r>
              <a:rPr lang="en-US" b="0" i="0" dirty="0">
                <a:effectLst/>
                <a:latin typeface="KaTeX_Main"/>
              </a:rPr>
              <a:t>(t)+…)</a:t>
            </a:r>
            <a:r>
              <a:rPr lang="el-GR" b="0" i="1" dirty="0">
                <a:effectLst/>
                <a:latin typeface="KaTeX_Math"/>
              </a:rPr>
              <a:t>λ</a:t>
            </a:r>
            <a:r>
              <a:rPr lang="el-GR" b="0" i="0" dirty="0">
                <a:effectLst/>
                <a:latin typeface="KaTeX_Main"/>
              </a:rPr>
              <a:t>(</a:t>
            </a:r>
            <a:r>
              <a:rPr lang="en-US" b="0" i="1" dirty="0" err="1">
                <a:effectLst/>
                <a:latin typeface="KaTeX_Math"/>
              </a:rPr>
              <a:t>t</a:t>
            </a:r>
            <a:r>
              <a:rPr lang="en-US" b="0" i="0" dirty="0" err="1">
                <a:effectLst/>
                <a:latin typeface="KaTeX_Main"/>
              </a:rPr>
              <a:t>∣</a:t>
            </a:r>
            <a:r>
              <a:rPr lang="en-US" b="0" i="1" dirty="0" err="1">
                <a:effectLst/>
                <a:latin typeface="KaTeX_Math"/>
              </a:rPr>
              <a:t>X</a:t>
            </a:r>
            <a:r>
              <a:rPr lang="en-US" b="0" i="0" dirty="0">
                <a:effectLst/>
                <a:latin typeface="KaTeX_Main"/>
              </a:rPr>
              <a:t>)=</a:t>
            </a:r>
            <a:r>
              <a:rPr lang="el-GR" b="0" i="1" dirty="0">
                <a:effectLst/>
                <a:latin typeface="KaTeX_Math"/>
              </a:rPr>
              <a:t>λ</a:t>
            </a:r>
            <a:r>
              <a:rPr lang="el-GR" b="0" i="0" dirty="0">
                <a:effectLst/>
                <a:latin typeface="KaTeX_Main"/>
              </a:rPr>
              <a:t>0(</a:t>
            </a:r>
            <a:r>
              <a:rPr lang="en-US" b="0" i="1" dirty="0">
                <a:effectLst/>
                <a:latin typeface="KaTeX_Math"/>
              </a:rPr>
              <a:t>t</a:t>
            </a:r>
            <a:r>
              <a:rPr lang="en-US" b="0" i="0" dirty="0">
                <a:effectLst/>
                <a:latin typeface="KaTeX_Main"/>
              </a:rPr>
              <a:t>)exp(</a:t>
            </a:r>
            <a:r>
              <a:rPr lang="el-GR" b="0" i="1" dirty="0">
                <a:effectLst/>
                <a:latin typeface="KaTeX_Math"/>
              </a:rPr>
              <a:t>β</a:t>
            </a:r>
            <a:r>
              <a:rPr lang="el-GR" b="0" i="0" dirty="0">
                <a:effectLst/>
                <a:latin typeface="KaTeX_Main"/>
              </a:rPr>
              <a:t>1</a:t>
            </a:r>
            <a:r>
              <a:rPr lang="en-US" b="0" i="1" dirty="0">
                <a:effectLst/>
                <a:latin typeface="KaTeX_Math"/>
              </a:rPr>
              <a:t>X</a:t>
            </a:r>
            <a:r>
              <a:rPr lang="en-US" b="0" i="0" dirty="0">
                <a:effectLst/>
                <a:latin typeface="KaTeX_Main"/>
              </a:rPr>
              <a:t>+</a:t>
            </a:r>
            <a:r>
              <a:rPr lang="el-GR" b="0" i="1" dirty="0">
                <a:effectLst/>
                <a:latin typeface="KaTeX_Math"/>
              </a:rPr>
              <a:t>β</a:t>
            </a:r>
            <a:r>
              <a:rPr lang="el-GR" b="0" i="0" dirty="0">
                <a:effectLst/>
                <a:latin typeface="KaTeX_Main"/>
              </a:rPr>
              <a:t>2</a:t>
            </a:r>
            <a:r>
              <a:rPr lang="en-US" b="0" i="1" dirty="0" err="1">
                <a:effectLst/>
                <a:latin typeface="KaTeX_Math"/>
              </a:rPr>
              <a:t>Xg</a:t>
            </a:r>
            <a:r>
              <a:rPr lang="en-US" b="0" i="0" dirty="0">
                <a:effectLst/>
                <a:latin typeface="KaTeX_Main"/>
              </a:rPr>
              <a:t>(</a:t>
            </a:r>
            <a:r>
              <a:rPr lang="en-US" b="0" i="1" dirty="0">
                <a:effectLst/>
                <a:latin typeface="KaTeX_Math"/>
              </a:rPr>
              <a:t>t</a:t>
            </a:r>
            <a:r>
              <a:rPr lang="en-US" b="0" i="0" dirty="0">
                <a:effectLst/>
                <a:latin typeface="KaTeX_Main"/>
              </a:rPr>
              <a:t>)+…)</a:t>
            </a:r>
            <a:r>
              <a:rPr lang="en-US" b="0" i="0" dirty="0">
                <a:effectLst/>
                <a:latin typeface="pplxSerif"/>
              </a:rPr>
              <a:t>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В онкологии: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защитный эффект </a:t>
            </a:r>
            <a:r>
              <a:rPr lang="en-US" b="0" i="0" dirty="0">
                <a:effectLst/>
                <a:latin typeface="pplxSerif"/>
              </a:rPr>
              <a:t>ER+ </a:t>
            </a:r>
            <a:r>
              <a:rPr lang="ru-RU" b="0" i="0" dirty="0">
                <a:effectLst/>
                <a:latin typeface="pplxSerif"/>
              </a:rPr>
              <a:t>и низкого </a:t>
            </a:r>
            <a:r>
              <a:rPr lang="en-US" b="0" i="0" dirty="0">
                <a:effectLst/>
                <a:latin typeface="pplxSerif"/>
              </a:rPr>
              <a:t>grade </a:t>
            </a:r>
            <a:r>
              <a:rPr lang="ru-RU" b="0" i="0" dirty="0">
                <a:effectLst/>
                <a:latin typeface="pplxSerif"/>
              </a:rPr>
              <a:t>силён в первые годы и ослабевает позже.​</a:t>
            </a:r>
          </a:p>
        </p:txBody>
      </p:sp>
    </p:spTree>
    <p:extLst>
      <p:ext uri="{BB962C8B-B14F-4D97-AF65-F5344CB8AC3E}">
        <p14:creationId xmlns:p14="http://schemas.microsoft.com/office/powerpoint/2010/main" val="10964605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27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Пример: при раке груди эффект HR меняется с годами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Исследование 956 пациенток после </a:t>
            </a:r>
            <a:r>
              <a:rPr lang="ru-RU" b="0" i="0" dirty="0" err="1">
                <a:effectLst/>
                <a:latin typeface="pplxSerif"/>
              </a:rPr>
              <a:t>неоадъювантной</a:t>
            </a:r>
            <a:r>
              <a:rPr lang="ru-RU" b="0" i="0" dirty="0">
                <a:effectLst/>
                <a:latin typeface="pplxSerif"/>
              </a:rPr>
              <a:t> химиотерапии.​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Показано: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положительный гормональный статус и низкий </a:t>
            </a:r>
            <a:r>
              <a:rPr lang="ru-RU" b="0" i="0" dirty="0" err="1">
                <a:effectLst/>
                <a:latin typeface="pplxSerif"/>
              </a:rPr>
              <a:t>grade</a:t>
            </a:r>
            <a:r>
              <a:rPr lang="ru-RU" b="0" i="0" dirty="0">
                <a:effectLst/>
                <a:latin typeface="pplxSerif"/>
              </a:rPr>
              <a:t> сильно защищают в первые годы,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pplxSerif"/>
              </a:rPr>
              <a:t>через 5–10 лет HR меняется: преимущество снижается, иногда обращается.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0F1153B-A5FD-426F-A0C1-C95ABCF062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3448" y="3770781"/>
            <a:ext cx="6065007" cy="2768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7747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28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Проверка моделей и валидация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Тестирование на новой когорте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Внутренняя валидация: K-</a:t>
            </a:r>
            <a:r>
              <a:rPr lang="ru-RU" b="0" i="0" dirty="0" err="1">
                <a:effectLst/>
                <a:latin typeface="fkGroteskNeue"/>
              </a:rPr>
              <a:t>fold</a:t>
            </a:r>
            <a:r>
              <a:rPr lang="ru-RU" b="0" i="0" dirty="0">
                <a:effectLst/>
                <a:latin typeface="fkGroteskNeue"/>
              </a:rPr>
              <a:t> CV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Внешняя валидация: совершенно независимая когорта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Калибровка: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Модель предсказывает S(5) = 0.70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В реальности: 70% действительно живы через 5 лет?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Если да → хорошо откалибрована</a:t>
            </a:r>
          </a:p>
        </p:txBody>
      </p:sp>
    </p:spTree>
    <p:extLst>
      <p:ext uri="{BB962C8B-B14F-4D97-AF65-F5344CB8AC3E}">
        <p14:creationId xmlns:p14="http://schemas.microsoft.com/office/powerpoint/2010/main" val="29989968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29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Байесовские методы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Когда информации мало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В редких болезнях пациентов мало. </a:t>
            </a:r>
            <a:r>
              <a:rPr lang="ru-RU" b="0" i="0" dirty="0" err="1">
                <a:effectLst/>
                <a:latin typeface="fkGroteskNeue"/>
              </a:rPr>
              <a:t>Prior</a:t>
            </a:r>
            <a:r>
              <a:rPr lang="ru-RU" b="0" i="0" dirty="0">
                <a:effectLst/>
                <a:latin typeface="fkGroteskNeue"/>
              </a:rPr>
              <a:t> информация помогает.</a:t>
            </a:r>
          </a:p>
          <a:p>
            <a:pPr marL="0" indent="0" algn="l">
              <a:buNone/>
            </a:pPr>
            <a:r>
              <a:rPr lang="ru-RU" i="1" dirty="0">
                <a:effectLst/>
                <a:latin typeface="fkGroteskNeue"/>
              </a:rPr>
              <a:t>Байесовский </a:t>
            </a:r>
            <a:r>
              <a:rPr lang="ru-RU" i="1" dirty="0" err="1">
                <a:effectLst/>
                <a:latin typeface="fkGroteskNeue"/>
              </a:rPr>
              <a:t>Cox</a:t>
            </a:r>
            <a:r>
              <a:rPr lang="ru-RU" i="1" dirty="0">
                <a:effectLst/>
                <a:latin typeface="fkGroteskNeue"/>
              </a:rPr>
              <a:t>:</a:t>
            </a:r>
          </a:p>
          <a:p>
            <a:pPr marL="0" indent="0" algn="l">
              <a:buNone/>
            </a:pPr>
            <a:r>
              <a:rPr lang="ru-RU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	</a:t>
            </a: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P(</a:t>
            </a:r>
            <a:r>
              <a:rPr lang="el-GR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β | </a:t>
            </a:r>
            <a:r>
              <a:rPr lang="ru-RU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данные) ∝ </a:t>
            </a:r>
            <a:r>
              <a:rPr lang="en-US" i="1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Likelihood × Prior</a:t>
            </a:r>
          </a:p>
          <a:p>
            <a:pPr marL="0" indent="0" algn="l">
              <a:buNone/>
            </a:pPr>
            <a:r>
              <a:rPr lang="ru-RU" b="0" i="0" dirty="0" err="1">
                <a:effectLst/>
                <a:latin typeface="fkGroteskNeue"/>
              </a:rPr>
              <a:t>Prior</a:t>
            </a:r>
            <a:r>
              <a:rPr lang="ru-RU" b="0" i="0" dirty="0">
                <a:effectLst/>
                <a:latin typeface="fkGroteskNeue"/>
              </a:rPr>
              <a:t> может быть: "На основе литературы, ER+ обычно протектор"</a:t>
            </a:r>
          </a:p>
          <a:p>
            <a:pPr marL="0" indent="0" algn="l">
              <a:buNone/>
            </a:pPr>
            <a:r>
              <a:rPr lang="ru-RU" b="0" i="1" dirty="0">
                <a:effectLst/>
                <a:latin typeface="fkGroteskNeue"/>
              </a:rPr>
              <a:t>Результат: более стабильные оценки, даже на малых выборках.</a:t>
            </a:r>
          </a:p>
          <a:p>
            <a:pPr marL="0" indent="0" algn="l">
              <a:buNone/>
            </a:pPr>
            <a:endParaRPr lang="ru-RU" i="1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25119707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30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Риск-скор и клиническое применение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От модели к лечению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Оценка риска:</a:t>
            </a:r>
          </a:p>
          <a:p>
            <a:pPr marL="0" indent="0" algn="l">
              <a:buNone/>
            </a:pPr>
            <a:r>
              <a:rPr lang="en-US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Risk = -0.5 + 0.02×Age + 0.05×Size + 0.83×Grade - 0.92×ER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Классификация: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fkGroteskNeue"/>
              </a:rPr>
              <a:t>Risk &lt; 0 → Low risk → </a:t>
            </a:r>
            <a:r>
              <a:rPr lang="ru-RU" b="0" i="0" dirty="0">
                <a:effectLst/>
                <a:latin typeface="fkGroteskNeue"/>
              </a:rPr>
              <a:t>наблюдение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0 &lt; </a:t>
            </a:r>
            <a:r>
              <a:rPr lang="en-US" b="0" i="0" dirty="0">
                <a:effectLst/>
                <a:latin typeface="fkGroteskNeue"/>
              </a:rPr>
              <a:t>Risk &lt; 1 → Medium risk → </a:t>
            </a:r>
            <a:r>
              <a:rPr lang="ru-RU" b="0" i="0" dirty="0">
                <a:effectLst/>
                <a:latin typeface="fkGroteskNeue"/>
              </a:rPr>
              <a:t>стандартное лечение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fkGroteskNeue"/>
              </a:rPr>
              <a:t>Risk &gt; 1 → High risk → </a:t>
            </a:r>
            <a:r>
              <a:rPr lang="ru-RU" b="0" i="0" dirty="0">
                <a:effectLst/>
                <a:latin typeface="fkGroteskNeue"/>
              </a:rPr>
              <a:t>агрессивное лечение</a:t>
            </a:r>
          </a:p>
          <a:p>
            <a:pPr marL="0" indent="0" algn="l">
              <a:buNone/>
            </a:pPr>
            <a:endParaRPr lang="ru-RU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27450635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31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Расширения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Cox 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модели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 lnSpcReduction="10000"/>
          </a:bodyPr>
          <a:lstStyle/>
          <a:p>
            <a:pPr marL="0" indent="0" algn="l">
              <a:buNone/>
            </a:pPr>
            <a:r>
              <a:rPr lang="en-US" b="1" i="1" dirty="0">
                <a:effectLst/>
                <a:latin typeface="fkGroteskNeue"/>
              </a:rPr>
              <a:t>LASSO, Ridge, Elastic Net</a:t>
            </a:r>
          </a:p>
          <a:p>
            <a:pPr marL="0" indent="0" algn="l">
              <a:buNone/>
            </a:pPr>
            <a:r>
              <a:rPr lang="en-US" b="0" i="1" dirty="0">
                <a:effectLst/>
                <a:latin typeface="fkGroteskNeue"/>
              </a:rPr>
              <a:t>Ridge Cox</a:t>
            </a:r>
            <a:r>
              <a:rPr lang="en-US" b="0" i="0" dirty="0">
                <a:effectLst/>
                <a:latin typeface="fkGroteskNeue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Коэффициенты подвергаются штрафу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Уменьшает переобучение</a:t>
            </a:r>
          </a:p>
          <a:p>
            <a:pPr marL="0" indent="0" algn="l">
              <a:buNone/>
            </a:pPr>
            <a:r>
              <a:rPr lang="en-US" b="0" i="1" dirty="0">
                <a:effectLst/>
                <a:latin typeface="fkGroteskNeue"/>
              </a:rPr>
              <a:t>LASSO Cox</a:t>
            </a:r>
            <a:r>
              <a:rPr lang="en-US" b="0" i="0" dirty="0">
                <a:effectLst/>
                <a:latin typeface="fkGroteskNeue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Отбирает признаки (некоторые коэффициенты → 0)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Дает интерпретируемую модель с меньшим числом генов</a:t>
            </a:r>
          </a:p>
          <a:p>
            <a:pPr marL="0" indent="0" algn="l">
              <a:buNone/>
            </a:pPr>
            <a:r>
              <a:rPr lang="en-US" b="0" i="1" dirty="0">
                <a:effectLst/>
                <a:latin typeface="fkGroteskNeue"/>
              </a:rPr>
              <a:t>Elastic Net</a:t>
            </a:r>
            <a:r>
              <a:rPr lang="en-US" b="0" i="0" dirty="0">
                <a:effectLst/>
                <a:latin typeface="fkGroteskNeue"/>
              </a:rPr>
              <a:t>: </a:t>
            </a:r>
            <a:r>
              <a:rPr lang="ru-RU" b="0" i="0" dirty="0">
                <a:effectLst/>
                <a:latin typeface="fkGroteskNeue"/>
              </a:rPr>
              <a:t>комбинация</a:t>
            </a:r>
          </a:p>
          <a:p>
            <a:pPr marL="0" indent="0" algn="l">
              <a:buNone/>
            </a:pPr>
            <a:r>
              <a:rPr lang="ru-RU" b="0" i="1" dirty="0">
                <a:effectLst/>
                <a:latin typeface="fkGroteskNeue"/>
              </a:rPr>
              <a:t>Пример: 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1" dirty="0">
                <a:effectLst/>
                <a:latin typeface="fkGroteskNeue"/>
              </a:rPr>
              <a:t>Начальный </a:t>
            </a:r>
            <a:r>
              <a:rPr lang="en-US" b="0" i="1" dirty="0">
                <a:effectLst/>
                <a:latin typeface="fkGroteskNeue"/>
              </a:rPr>
              <a:t>Cox: 20,000 </a:t>
            </a:r>
            <a:r>
              <a:rPr lang="ru-RU" b="0" i="1" dirty="0">
                <a:effectLst/>
                <a:latin typeface="fkGroteskNeue"/>
              </a:rPr>
              <a:t>генов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1" dirty="0">
                <a:effectLst/>
                <a:latin typeface="fkGroteskNeue"/>
              </a:rPr>
              <a:t>LASSO Cox: 15 </a:t>
            </a:r>
            <a:r>
              <a:rPr lang="ru-RU" b="0" i="1" dirty="0">
                <a:effectLst/>
                <a:latin typeface="fkGroteskNeue"/>
              </a:rPr>
              <a:t>генов (остальные обнулены)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1" dirty="0">
                <a:effectLst/>
                <a:latin typeface="fkGroteskNeue"/>
              </a:rPr>
              <a:t>Модель проще, но </a:t>
            </a:r>
            <a:r>
              <a:rPr lang="en-US" b="0" i="1" dirty="0">
                <a:effectLst/>
                <a:latin typeface="fkGroteskNeue"/>
              </a:rPr>
              <a:t>C-index </a:t>
            </a:r>
            <a:r>
              <a:rPr lang="ru-RU" b="0" i="1" dirty="0">
                <a:effectLst/>
                <a:latin typeface="fkGroteskNeue"/>
              </a:rPr>
              <a:t>не упала</a:t>
            </a:r>
          </a:p>
        </p:txBody>
      </p:sp>
    </p:spTree>
    <p:extLst>
      <p:ext uri="{BB962C8B-B14F-4D97-AF65-F5344CB8AC3E}">
        <p14:creationId xmlns:p14="http://schemas.microsoft.com/office/powerpoint/2010/main" val="40128560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32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Типичные ошибки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Чего не делать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❌ Игнорировать цензурирование (будто все события случились)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❌ Нарушить предпосылку пропорциональности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❌ Забыть про </a:t>
            </a:r>
            <a:r>
              <a:rPr lang="ru-RU" b="0" i="0" dirty="0" err="1">
                <a:effectLst/>
                <a:latin typeface="fkGroteskNeue"/>
              </a:rPr>
              <a:t>confounding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❌ Переобучиться (слишком много предикторов на мало пациентов)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❌ Не </a:t>
            </a:r>
            <a:r>
              <a:rPr lang="ru-RU" b="0" i="0" dirty="0" err="1">
                <a:effectLst/>
                <a:latin typeface="fkGroteskNeue"/>
              </a:rPr>
              <a:t>валидировать</a:t>
            </a:r>
            <a:r>
              <a:rPr lang="ru-RU" b="0" i="0" dirty="0">
                <a:effectLst/>
                <a:latin typeface="fkGroteskNeue"/>
              </a:rPr>
              <a:t> на независимой выборке</a:t>
            </a:r>
          </a:p>
        </p:txBody>
      </p:sp>
    </p:spTree>
    <p:extLst>
      <p:ext uri="{BB962C8B-B14F-4D97-AF65-F5344CB8AC3E}">
        <p14:creationId xmlns:p14="http://schemas.microsoft.com/office/powerpoint/2010/main" val="24983312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33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Пример: 14‑генная модель Кокса – рак легких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33193"/>
            <a:ext cx="7107382" cy="1639170"/>
          </a:xfrm>
        </p:spPr>
        <p:txBody>
          <a:bodyPr>
            <a:normAutofit fontScale="92500" lnSpcReduction="10000"/>
          </a:bodyPr>
          <a:lstStyle/>
          <a:p>
            <a:pPr indent="-41275" algn="l">
              <a:buFont typeface="Arial" panose="020B0604020202020204" pitchFamily="34" charset="0"/>
              <a:buChar char="•"/>
            </a:pPr>
            <a:r>
              <a:rPr lang="en-US" sz="1600" i="0" dirty="0">
                <a:effectLst/>
                <a:latin typeface="pplxSerif"/>
              </a:rPr>
              <a:t>TCGA-LUAD (lung adenocarcinoma): 470 </a:t>
            </a:r>
            <a:r>
              <a:rPr lang="ru-RU" sz="1600" i="0" dirty="0">
                <a:effectLst/>
                <a:latin typeface="pplxSerif"/>
              </a:rPr>
              <a:t>пациентов с </a:t>
            </a:r>
            <a:r>
              <a:rPr lang="en-US" sz="1600" i="0" dirty="0">
                <a:effectLst/>
                <a:latin typeface="pplxSerif"/>
              </a:rPr>
              <a:t>mRNA (535 </a:t>
            </a:r>
            <a:r>
              <a:rPr lang="ru-RU" sz="1600" i="0" dirty="0">
                <a:effectLst/>
                <a:latin typeface="pplxSerif"/>
              </a:rPr>
              <a:t>опухолей + 59 норма, отфильтровано) + клинические (возраст, </a:t>
            </a:r>
            <a:r>
              <a:rPr lang="en-US" sz="1600" i="0" dirty="0">
                <a:effectLst/>
                <a:latin typeface="pplxSerif"/>
              </a:rPr>
              <a:t>T/N/M, </a:t>
            </a:r>
            <a:r>
              <a:rPr lang="ru-RU" sz="1600" i="0" dirty="0">
                <a:effectLst/>
                <a:latin typeface="pplxSerif"/>
              </a:rPr>
              <a:t>стадия, лечение, курение).</a:t>
            </a:r>
          </a:p>
          <a:p>
            <a:pPr indent="-41275" algn="l">
              <a:buFont typeface="Arial" panose="020B0604020202020204" pitchFamily="34" charset="0"/>
              <a:buChar char="•"/>
            </a:pPr>
            <a:r>
              <a:rPr lang="ru-RU" sz="1600" i="0" dirty="0">
                <a:effectLst/>
                <a:latin typeface="pplxSerif"/>
              </a:rPr>
              <a:t>Валидация: </a:t>
            </a:r>
            <a:r>
              <a:rPr lang="en-US" sz="1600" i="0" dirty="0">
                <a:effectLst/>
                <a:latin typeface="pplxSerif"/>
              </a:rPr>
              <a:t>GEO GSE68465 (437 </a:t>
            </a:r>
            <a:r>
              <a:rPr lang="ru-RU" sz="1600" i="0" dirty="0">
                <a:effectLst/>
                <a:latin typeface="pplxSerif"/>
              </a:rPr>
              <a:t>пациентов). </a:t>
            </a:r>
          </a:p>
          <a:p>
            <a:pPr marL="187325" indent="0" algn="l">
              <a:buNone/>
            </a:pPr>
            <a:r>
              <a:rPr lang="en-US" sz="1600" i="0" dirty="0">
                <a:effectLst/>
                <a:latin typeface="pplxSerif"/>
              </a:rPr>
              <a:t>• Cox → 14 </a:t>
            </a:r>
            <a:r>
              <a:rPr lang="ru-RU" sz="1600" i="0" dirty="0">
                <a:effectLst/>
                <a:latin typeface="pplxSerif"/>
              </a:rPr>
              <a:t>генов (</a:t>
            </a:r>
            <a:r>
              <a:rPr lang="en-US" sz="1600" i="0" dirty="0">
                <a:effectLst/>
                <a:latin typeface="pplxSerif"/>
              </a:rPr>
              <a:t>CPS1, MCM5/7, PLK1...)</a:t>
            </a:r>
          </a:p>
          <a:p>
            <a:pPr indent="-41275" algn="l">
              <a:buNone/>
            </a:pPr>
            <a:r>
              <a:rPr lang="en-US" sz="1600" i="0" dirty="0">
                <a:effectLst/>
                <a:latin typeface="pplxSerif"/>
              </a:rPr>
              <a:t>• Risk score: High vs Low, KM p&lt;0.001, C-index 0.733/0.735</a:t>
            </a:r>
            <a:endParaRPr lang="ru-RU" sz="1600" i="0" dirty="0">
              <a:effectLst/>
              <a:latin typeface="pplxSerif"/>
            </a:endParaRPr>
          </a:p>
        </p:txBody>
      </p:sp>
      <p:pic>
        <p:nvPicPr>
          <p:cNvPr id="2050" name="Picture 2" descr="Figure 1">
            <a:extLst>
              <a:ext uri="{FF2B5EF4-FFF2-40B4-BE49-F238E27FC236}">
                <a16:creationId xmlns:a16="http://schemas.microsoft.com/office/drawing/2014/main" id="{DA77641D-A10B-4FB0-BB13-23236F3EF0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7408" y="1187302"/>
            <a:ext cx="4330410" cy="5187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Figure 6">
            <a:extLst>
              <a:ext uri="{FF2B5EF4-FFF2-40B4-BE49-F238E27FC236}">
                <a16:creationId xmlns:a16="http://schemas.microsoft.com/office/drawing/2014/main" id="{A1E8FCAD-D534-4BB8-8DBF-67E7EB41A7C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102" b="50000"/>
          <a:stretch/>
        </p:blipFill>
        <p:spPr bwMode="auto">
          <a:xfrm>
            <a:off x="328496" y="2660074"/>
            <a:ext cx="6298259" cy="4020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41688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34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Survival Analysis — 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это мощно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Мы разобрали: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Кривые Каплана-Мейера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Интерпретация </a:t>
            </a:r>
            <a:r>
              <a:rPr lang="ru-RU" b="0" i="0" dirty="0" err="1">
                <a:effectLst/>
                <a:latin typeface="fkGroteskNeue"/>
              </a:rPr>
              <a:t>Cox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model</a:t>
            </a:r>
            <a:endParaRPr lang="ru-RU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Расчет </a:t>
            </a:r>
            <a:r>
              <a:rPr lang="ru-RU" b="0" i="0" dirty="0" err="1">
                <a:effectLst/>
                <a:latin typeface="fkGroteskNeue"/>
              </a:rPr>
              <a:t>Hazard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Ratio</a:t>
            </a:r>
            <a:endParaRPr lang="ru-RU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Оценка качества (C-</a:t>
            </a:r>
            <a:r>
              <a:rPr lang="ru-RU" b="0" i="0" dirty="0" err="1">
                <a:effectLst/>
                <a:latin typeface="fkGroteskNeue"/>
              </a:rPr>
              <a:t>index</a:t>
            </a:r>
            <a:r>
              <a:rPr lang="ru-RU" b="0" i="0" dirty="0">
                <a:effectLst/>
                <a:latin typeface="fkGroteskNeue"/>
              </a:rPr>
              <a:t>)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Дальше: практика на реальных данных</a:t>
            </a:r>
          </a:p>
        </p:txBody>
      </p:sp>
    </p:spTree>
    <p:extLst>
      <p:ext uri="{BB962C8B-B14F-4D97-AF65-F5344CB8AC3E}">
        <p14:creationId xmlns:p14="http://schemas.microsoft.com/office/powerpoint/2010/main" val="14371980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35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Ресурсы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735529" cy="5677647"/>
          </a:xfrm>
        </p:spPr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fkGroteskNeue"/>
              </a:rPr>
              <a:t>"</a:t>
            </a:r>
            <a:r>
              <a:rPr kumimoji="0" lang="ru-RU" altLang="ru-RU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fkGroteskNeue"/>
              </a:rPr>
              <a:t>Survival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fkGroteskNeue"/>
              </a:rPr>
              <a:t> Analysis: A Self-Learning Text" (</a:t>
            </a:r>
            <a:r>
              <a:rPr kumimoji="0" lang="ru-RU" altLang="ru-RU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fkGroteskNeue"/>
              </a:rPr>
              <a:t>Kleinbaum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fkGroteskNeue"/>
              </a:rPr>
              <a:t> &amp; Klein)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fkGroteskNeue"/>
              </a:rPr>
              <a:t>R пакет </a:t>
            </a:r>
            <a:r>
              <a:rPr kumimoji="0" lang="ru-RU" altLang="ru-RU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berkeleyMono"/>
              </a:rPr>
              <a:t>survival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erkeley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ru-RU" altLang="ru-RU" sz="2800" dirty="0">
              <a:latin typeface="berkeleyMono"/>
            </a:endParaRPr>
          </a:p>
          <a:p>
            <a:pPr marL="0" indent="0" algn="l">
              <a:buNone/>
            </a:pPr>
            <a:r>
              <a:rPr lang="ru-RU" sz="2800" i="1" dirty="0" err="1">
                <a:effectLst/>
                <a:latin typeface="fkGroteskNeue"/>
              </a:rPr>
              <a:t>Датасеты</a:t>
            </a:r>
            <a:r>
              <a:rPr lang="ru-RU" sz="2800" i="1" dirty="0">
                <a:effectLst/>
                <a:latin typeface="fkGroteskNeue"/>
              </a:rPr>
              <a:t> для практики:</a:t>
            </a:r>
          </a:p>
          <a:p>
            <a:pPr marL="0" indent="0" algn="l">
              <a:buNone/>
            </a:pPr>
            <a:r>
              <a:rPr lang="en-US" sz="2800" dirty="0">
                <a:effectLst/>
                <a:latin typeface="fkGroteskNeue"/>
              </a:rPr>
              <a:t>GEO (Gene Expression Omnibus): https://www.ncbi.nlm.nih.gov/geo/</a:t>
            </a:r>
          </a:p>
          <a:p>
            <a:pPr marL="0" indent="0" algn="l">
              <a:buNone/>
            </a:pPr>
            <a:r>
              <a:rPr lang="en-US" sz="2800" dirty="0">
                <a:effectLst/>
                <a:latin typeface="fkGroteskNeue"/>
              </a:rPr>
              <a:t>TCGA: https://portal.gdc.cancer.gov/</a:t>
            </a:r>
          </a:p>
          <a:p>
            <a:pPr marL="0" indent="0" algn="l">
              <a:buNone/>
            </a:pPr>
            <a:r>
              <a:rPr lang="ru-RU" sz="2800" dirty="0">
                <a:effectLst/>
                <a:latin typeface="fkGroteskNeue"/>
              </a:rPr>
              <a:t>Реальные </a:t>
            </a:r>
            <a:r>
              <a:rPr lang="ru-RU" sz="2800" dirty="0" err="1">
                <a:effectLst/>
                <a:latin typeface="fkGroteskNeue"/>
              </a:rPr>
              <a:t>датасеты</a:t>
            </a:r>
            <a:r>
              <a:rPr lang="ru-RU" sz="2800" dirty="0">
                <a:effectLst/>
                <a:latin typeface="fkGroteskNeue"/>
              </a:rPr>
              <a:t> с публикациями (</a:t>
            </a:r>
            <a:r>
              <a:rPr lang="en-US" sz="2800" dirty="0">
                <a:effectLst/>
                <a:latin typeface="fkGroteskNeue"/>
              </a:rPr>
              <a:t>Google Scholar)</a:t>
            </a:r>
            <a:endParaRPr lang="ru-RU" sz="2800" dirty="0">
              <a:effectLst/>
              <a:latin typeface="fkGroteskNeu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ru-RU" altLang="ru-RU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fkGroteskNeu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0134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MSShafigullin\Desktop\Проекты\Брендбук\Гайдлайн\Презентация\презентация шаблон КФУ-01.jp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472"/>
          <a:stretch/>
        </p:blipFill>
        <p:spPr bwMode="auto">
          <a:xfrm>
            <a:off x="0" y="2381"/>
            <a:ext cx="12192000" cy="6855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C:\Users\MSShafigullin\Desktop\2020\Презентация КФУ\kfu_logo_circle_rus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03" y="548680"/>
            <a:ext cx="1536171" cy="1499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Google Shape;898;g89d9307d70_13_164"/>
          <p:cNvSpPr txBox="1"/>
          <p:nvPr/>
        </p:nvSpPr>
        <p:spPr>
          <a:xfrm>
            <a:off x="3215680" y="2852936"/>
            <a:ext cx="6624736" cy="13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>
              <a:buClr>
                <a:srgbClr val="000000"/>
              </a:buClr>
              <a:buSzPts val="5867"/>
            </a:pPr>
            <a:r>
              <a:rPr lang="en-US" sz="48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Спасибо</a:t>
            </a:r>
            <a:r>
              <a:rPr lang="en-US" sz="4800" b="1" dirty="0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 </a:t>
            </a:r>
            <a:r>
              <a:rPr lang="en-US" sz="48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за</a:t>
            </a:r>
            <a:r>
              <a:rPr lang="en-US" sz="4800" b="1" dirty="0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 </a:t>
            </a:r>
            <a:r>
              <a:rPr lang="en-US" sz="48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внимание</a:t>
            </a:r>
            <a:r>
              <a:rPr lang="en-US" sz="4800" b="1" dirty="0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!</a:t>
            </a:r>
            <a:endParaRPr sz="4800" b="1" dirty="0">
              <a:solidFill>
                <a:schemeClr val="bg1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097835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1742</TotalTime>
  <Words>2391</Words>
  <Application>Microsoft Office PowerPoint</Application>
  <PresentationFormat>Широкоэкранный</PresentationFormat>
  <Paragraphs>471</Paragraphs>
  <Slides>36</Slides>
  <Notes>36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36</vt:i4>
      </vt:variant>
    </vt:vector>
  </HeadingPairs>
  <TitlesOfParts>
    <vt:vector size="48" baseType="lpstr">
      <vt:lpstr>Arial</vt:lpstr>
      <vt:lpstr>berkeleyMono</vt:lpstr>
      <vt:lpstr>Calibri</vt:lpstr>
      <vt:lpstr>Calibri Light</vt:lpstr>
      <vt:lpstr>Cambria Math</vt:lpstr>
      <vt:lpstr>fkGroteskNeue</vt:lpstr>
      <vt:lpstr>KaTeX_Main</vt:lpstr>
      <vt:lpstr>KaTeX_Math</vt:lpstr>
      <vt:lpstr>pplxSerif</vt:lpstr>
      <vt:lpstr>PT Sans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Альт</dc:creator>
  <cp:lastModifiedBy>Рамиля Власенкова</cp:lastModifiedBy>
  <cp:revision>58</cp:revision>
  <dcterms:created xsi:type="dcterms:W3CDTF">2025-09-03T07:14:40Z</dcterms:created>
  <dcterms:modified xsi:type="dcterms:W3CDTF">2026-02-18T12:51:56Z</dcterms:modified>
</cp:coreProperties>
</file>