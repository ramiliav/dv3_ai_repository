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8" r:id="rId5"/>
    <p:sldId id="270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7" r:id="rId16"/>
    <p:sldId id="286" r:id="rId17"/>
    <p:sldId id="276" r:id="rId18"/>
    <p:sldId id="266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537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14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259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163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07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528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060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19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625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26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0894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24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38ifvF4lhjrHeQ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2. Построение и интерпретация моделей выживаемости в медицине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Построить </a:t>
            </a:r>
            <a:r>
              <a:rPr lang="en-US" sz="2400" dirty="0"/>
              <a:t>Surv-</a:t>
            </a:r>
            <a:r>
              <a:rPr lang="ru-RU" sz="2400" dirty="0"/>
              <a:t>объект для </a:t>
            </a:r>
            <a:r>
              <a:rPr lang="en-US" sz="2400" dirty="0"/>
              <a:t>TCGA-LUAD</a:t>
            </a:r>
          </a:p>
          <a:p>
            <a:pPr algn="just"/>
            <a:r>
              <a:rPr lang="ru-RU" sz="2400" dirty="0"/>
              <a:t>Одномерные </a:t>
            </a:r>
            <a:r>
              <a:rPr lang="en-US" sz="2400" dirty="0"/>
              <a:t>Cox </a:t>
            </a:r>
            <a:r>
              <a:rPr lang="ru-RU" sz="2400" dirty="0"/>
              <a:t>для </a:t>
            </a:r>
            <a:r>
              <a:rPr lang="en-US" sz="2400" dirty="0"/>
              <a:t>age, pathologic stage, smoking, gender</a:t>
            </a:r>
          </a:p>
          <a:p>
            <a:pPr algn="just"/>
            <a:r>
              <a:rPr lang="ru-RU" sz="2400" dirty="0"/>
              <a:t>Извлечь </a:t>
            </a:r>
            <a:r>
              <a:rPr lang="en-US" sz="2400" dirty="0"/>
              <a:t>HR </a:t>
            </a:r>
            <a:r>
              <a:rPr lang="ru-RU" sz="2400" dirty="0"/>
              <a:t>и 95% ДИ, таблица значимых предикторов</a:t>
            </a:r>
          </a:p>
          <a:p>
            <a:pPr algn="just"/>
            <a:r>
              <a:rPr lang="ru-RU" sz="2400" dirty="0"/>
              <a:t>Обсуждение интерпретации </a:t>
            </a:r>
            <a:r>
              <a:rPr lang="en-US" sz="2400" dirty="0"/>
              <a:t>HR </a:t>
            </a:r>
            <a:r>
              <a:rPr lang="ru-RU" sz="2400" dirty="0"/>
              <a:t>и статистической значимости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TCGA-LUAD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Источник: </a:t>
            </a:r>
            <a:r>
              <a:rPr lang="en-US" sz="2400" dirty="0"/>
              <a:t>The Cancer Genome Atlas (TCGA), </a:t>
            </a:r>
            <a:r>
              <a:rPr lang="ru-RU" sz="2400" dirty="0"/>
              <a:t>когорта </a:t>
            </a:r>
            <a:r>
              <a:rPr lang="en-US" sz="2400" dirty="0"/>
              <a:t>Lung Adenocarcinoma</a:t>
            </a:r>
          </a:p>
          <a:p>
            <a:pPr algn="just"/>
            <a:r>
              <a:rPr lang="ru-RU" sz="2400" dirty="0"/>
              <a:t>~500 пациентов с аденокарциномой лёгкого</a:t>
            </a:r>
            <a:endParaRPr lang="en-US" sz="2400" dirty="0"/>
          </a:p>
          <a:p>
            <a:pPr algn="just"/>
            <a:r>
              <a:rPr lang="ru-RU" sz="2400" dirty="0"/>
              <a:t>Клинические данные: дни до смерти/последнего визита, </a:t>
            </a:r>
            <a:r>
              <a:rPr lang="en-US" sz="2400" dirty="0"/>
              <a:t>vital status, pathologic stage</a:t>
            </a:r>
          </a:p>
          <a:p>
            <a:pPr algn="just"/>
            <a:r>
              <a:rPr lang="ru-RU" sz="2400" dirty="0"/>
              <a:t>Доступ через </a:t>
            </a:r>
            <a:r>
              <a:rPr lang="en-US" sz="2400" dirty="0"/>
              <a:t>R: </a:t>
            </a:r>
            <a:r>
              <a:rPr lang="ru-RU" sz="2400" dirty="0"/>
              <a:t>пакеты </a:t>
            </a:r>
            <a:r>
              <a:rPr lang="en-US" sz="2400" dirty="0"/>
              <a:t>RTCGA + </a:t>
            </a:r>
            <a:r>
              <a:rPr lang="en-US" sz="2400" dirty="0" err="1"/>
              <a:t>RTCGA.clinical</a:t>
            </a:r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r>
              <a:rPr lang="ru-RU" sz="2400" dirty="0"/>
              <a:t>Ключевые переменные:</a:t>
            </a:r>
          </a:p>
          <a:p>
            <a:pPr algn="just"/>
            <a:r>
              <a:rPr lang="en-US" sz="2400" dirty="0" err="1"/>
              <a:t>patient.days_to_death</a:t>
            </a:r>
            <a:endParaRPr lang="en-US" sz="2400" dirty="0"/>
          </a:p>
          <a:p>
            <a:pPr algn="just"/>
            <a:r>
              <a:rPr lang="en-US" sz="2400" dirty="0" err="1"/>
              <a:t>patient.days_to_last_followup</a:t>
            </a:r>
            <a:endParaRPr lang="en-US" sz="2400" dirty="0"/>
          </a:p>
          <a:p>
            <a:pPr algn="just"/>
            <a:r>
              <a:rPr lang="en-US" sz="2400" dirty="0" err="1"/>
              <a:t>patient.vital_status</a:t>
            </a:r>
            <a:endParaRPr lang="en-US" sz="2400" dirty="0"/>
          </a:p>
          <a:p>
            <a:pPr algn="just"/>
            <a:r>
              <a:rPr lang="en-US" sz="2400" dirty="0" err="1"/>
              <a:t>patient.stage_event.pathologic_stage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https://disk.yandex.ru/d/38ifvF4lhjrHeQ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Модель пропорциональных рисков Кокса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log(h(t)) = log(h0(t)) + b1*X1 + b2*X2 + ...</a:t>
            </a:r>
          </a:p>
          <a:p>
            <a:pPr marL="457200" indent="-228600" algn="l">
              <a:buChar char="•"/>
            </a:pPr>
            <a:endParaRPr lang="ru-RU" sz="2000" dirty="0">
              <a:effectLst/>
            </a:endParaRPr>
          </a:p>
          <a:p>
            <a:pPr marL="457200" indent="-228600" algn="l">
              <a:buChar char="•"/>
            </a:pPr>
            <a:r>
              <a:rPr lang="ru-RU" sz="2000" dirty="0">
                <a:effectLst/>
              </a:rPr>
              <a:t>h0(t) — базовый риск (</a:t>
            </a:r>
            <a:r>
              <a:rPr lang="ru-RU" sz="2000" dirty="0" err="1">
                <a:effectLst/>
              </a:rPr>
              <a:t>baseline</a:t>
            </a:r>
            <a:r>
              <a:rPr lang="ru-RU" sz="2000" dirty="0">
                <a:effectLst/>
              </a:rPr>
              <a:t> </a:t>
            </a:r>
            <a:r>
              <a:rPr lang="ru-RU" sz="2000" dirty="0" err="1">
                <a:effectLst/>
              </a:rPr>
              <a:t>hazard</a:t>
            </a:r>
            <a:r>
              <a:rPr lang="ru-RU" sz="2000" dirty="0">
                <a:effectLst/>
              </a:rPr>
              <a:t>)</a:t>
            </a:r>
          </a:p>
          <a:p>
            <a:pPr marL="457200" indent="-228600" algn="l">
              <a:buChar char="•"/>
            </a:pPr>
            <a:r>
              <a:rPr lang="ru-RU" sz="2000" dirty="0" err="1">
                <a:effectLst/>
              </a:rPr>
              <a:t>exp</a:t>
            </a:r>
            <a:r>
              <a:rPr lang="ru-RU" sz="2000" dirty="0">
                <a:effectLst/>
              </a:rPr>
              <a:t>(b) — </a:t>
            </a:r>
            <a:r>
              <a:rPr lang="ru-RU" sz="2000" dirty="0" err="1">
                <a:effectLst/>
              </a:rPr>
              <a:t>Hazard</a:t>
            </a:r>
            <a:r>
              <a:rPr lang="ru-RU" sz="2000" dirty="0">
                <a:effectLst/>
              </a:rPr>
              <a:t> </a:t>
            </a:r>
            <a:r>
              <a:rPr lang="ru-RU" sz="2000" dirty="0" err="1">
                <a:effectLst/>
              </a:rPr>
              <a:t>Ratio</a:t>
            </a:r>
            <a:r>
              <a:rPr lang="ru-RU" sz="2000" dirty="0">
                <a:effectLst/>
              </a:rPr>
              <a:t> (HR)</a:t>
            </a:r>
          </a:p>
          <a:p>
            <a:pPr marL="457200" indent="-228600" algn="l">
              <a:buChar char="•"/>
            </a:pPr>
            <a:r>
              <a:rPr lang="ru-RU" sz="2000" dirty="0" err="1">
                <a:effectLst/>
              </a:rPr>
              <a:t>Полупараметрическая</a:t>
            </a:r>
            <a:r>
              <a:rPr lang="ru-RU" sz="2000" dirty="0">
                <a:effectLst/>
              </a:rPr>
              <a:t> модель: не оценивает h0(t) напрямую</a:t>
            </a:r>
          </a:p>
          <a:p>
            <a:pPr marL="457200" indent="-228600" algn="l">
              <a:buChar char="•"/>
            </a:pPr>
            <a:endParaRPr lang="ru-RU" sz="2000" dirty="0">
              <a:effectLst/>
            </a:endParaRPr>
          </a:p>
          <a:p>
            <a:pPr indent="0" algn="l">
              <a:buNone/>
            </a:pPr>
            <a:r>
              <a:rPr lang="ru-RU" sz="2000" dirty="0">
                <a:effectLst/>
              </a:rPr>
              <a:t>Ключевая идея:</a:t>
            </a:r>
          </a:p>
          <a:p>
            <a:pPr marL="457200" indent="-228600" algn="l">
              <a:buChar char="•"/>
            </a:pPr>
            <a:r>
              <a:rPr lang="ru-RU" sz="2000" dirty="0">
                <a:effectLst/>
              </a:rPr>
              <a:t>HR показывает, во сколько раз риск выше/ниже по сравнению с референтной группой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Препроцессинг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TCGA-LUAD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Формирование данных для анализа: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time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время наблюдения (дни → годы)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status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статус события (1 = смерть, 0 = цензурирование)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Извлечение предикторов:</a:t>
            </a:r>
            <a:endParaRPr lang="en-US" sz="2000" dirty="0">
              <a:effectLst/>
              <a:ea typeface="Cambria Math" panose="02040503050406030204" pitchFamily="18" charset="0"/>
            </a:endParaRP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age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stage (I, II, III, IV)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smoking (Never/Former/Smoker)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gender (Male/Female)</a:t>
            </a:r>
          </a:p>
        </p:txBody>
      </p:sp>
    </p:spTree>
    <p:extLst>
      <p:ext uri="{BB962C8B-B14F-4D97-AF65-F5344CB8AC3E}">
        <p14:creationId xmlns:p14="http://schemas.microsoft.com/office/powerpoint/2010/main" val="3615355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Одномерный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—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что это?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Принцип: одна переменная → одна модель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coxph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Surv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time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status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~ X,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Оценка ОТДЕЛЬНОГО эффекта каждого предиктора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Без учёта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confounders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(в отличие от многомерной модели)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Позволяет выявить потенциально значимые переменные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Зачем нужен одномерный анализ?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Скрининг переменных перед многомерной моделью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Понимание индивидуального вклада каждого фактора</a:t>
            </a:r>
          </a:p>
        </p:txBody>
      </p:sp>
    </p:spTree>
    <p:extLst>
      <p:ext uri="{BB962C8B-B14F-4D97-AF65-F5344CB8AC3E}">
        <p14:creationId xmlns:p14="http://schemas.microsoft.com/office/powerpoint/2010/main" val="2576982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для возраста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age)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Модель:</a:t>
            </a:r>
          </a:p>
          <a:p>
            <a:pPr indent="0" algn="l">
              <a:buNone/>
            </a:pP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coxph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Surv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time_years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status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~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age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Интерпретация HR: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HR для непрерывной переменной: эффект на каждую единицу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Каждый дополнительный год увеличивает риск на (HR-1)*100%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Пример результатов: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HR = 1.03 → +3% риска за каждый дополнительный год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HR = 1.05 → +5% риска за каждый год</a:t>
            </a:r>
          </a:p>
        </p:txBody>
      </p:sp>
    </p:spTree>
    <p:extLst>
      <p:ext uri="{BB962C8B-B14F-4D97-AF65-F5344CB8AC3E}">
        <p14:creationId xmlns:p14="http://schemas.microsoft.com/office/powerpoint/2010/main" val="80042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для стадии (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pathologic stage)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Категориальная переменная (референтная: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Stage I):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coxph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(Surv(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time_years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status) ~ stage, data =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Stage II vs I: HR, 95% CI, p-value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Stage III vs I: HR, 95% CI, p-value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Stage IV vs I: HR, 95% CI, p-value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Ожидаемый тренд: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С ростом стадии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HR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увеличивается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Stage IV: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наибольший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HR (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наихудший прогноз)</a:t>
            </a:r>
          </a:p>
        </p:txBody>
      </p:sp>
    </p:spTree>
    <p:extLst>
      <p:ext uri="{BB962C8B-B14F-4D97-AF65-F5344CB8AC3E}">
        <p14:creationId xmlns:p14="http://schemas.microsoft.com/office/powerpoint/2010/main" val="4077600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для статуса курения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Never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референс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coxph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(Surv(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time_years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status) ~ smoking, data =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Результаты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TCGA-LUAD):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Former vs Never: HR = 0.97 (95%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ДИ 0.54–1.7),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p = 0.912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Smoker vs Never: HR = 0.73 (95%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ДИ 0.37–1.4),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p = 0.357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⚠️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Оба эффекта незначимы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p &gt; 0.05)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Ширина ДИ включает 1.0 → нет доказательства различий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Возможные причины: малая выборка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Never (N=70), confounding</a:t>
            </a:r>
          </a:p>
        </p:txBody>
      </p:sp>
    </p:spTree>
    <p:extLst>
      <p:ext uri="{BB962C8B-B14F-4D97-AF65-F5344CB8AC3E}">
        <p14:creationId xmlns:p14="http://schemas.microsoft.com/office/powerpoint/2010/main" val="311425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Cox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для полу</a:t>
              </a:r>
              <a:endParaRPr lang="en-US" sz="2000" dirty="0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Female —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референс</a:t>
            </a:r>
          </a:p>
          <a:p>
            <a:pPr indent="0" algn="l">
              <a:buNone/>
            </a:pP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coxph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(Surv(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time_years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status) ~ gender, data = </a:t>
            </a:r>
            <a:r>
              <a:rPr lang="en-US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en-US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Результаты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TCGA-LUAD):</a:t>
            </a:r>
          </a:p>
          <a:p>
            <a:pPr indent="0" algn="l">
              <a:buNone/>
            </a:pPr>
            <a:r>
              <a:rPr lang="en-US" sz="2000" dirty="0">
                <a:effectLst/>
                <a:ea typeface="Cambria Math" panose="02040503050406030204" pitchFamily="18" charset="0"/>
              </a:rPr>
              <a:t>Male vs Female: HR ≈ 1.0–1.1, p &gt; 0.05</a:t>
            </a:r>
          </a:p>
          <a:p>
            <a:pPr indent="0" algn="l">
              <a:buNone/>
            </a:pPr>
            <a:endParaRPr lang="en-US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Вывод: пол не ассоциирован с прогнозом в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LUAD</a:t>
            </a:r>
          </a:p>
        </p:txBody>
      </p:sp>
    </p:spTree>
    <p:extLst>
      <p:ext uri="{BB962C8B-B14F-4D97-AF65-F5344CB8AC3E}">
        <p14:creationId xmlns:p14="http://schemas.microsoft.com/office/powerpoint/2010/main" val="3963254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Сводная таблица результатов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F17D0BB8-4EA7-4159-8F5A-F6CF11F340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53827"/>
              </p:ext>
            </p:extLst>
          </p:nvPr>
        </p:nvGraphicFramePr>
        <p:xfrm>
          <a:off x="551723" y="1621437"/>
          <a:ext cx="10515600" cy="341376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2433332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7220594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7793137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8597034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2062906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541526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predictor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model_name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HR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lower_CI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upper_CI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p_value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394245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1.016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0.997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1.035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9.40e-02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351989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stageII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2.231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1.415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3.520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5.57e-04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520522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stageIII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4.244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2.691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6.695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5.07e-10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3466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stageIV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stage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3.108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1.593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6.063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8.81e-04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111287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smokingFormer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smoking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0.967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0.536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1.746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9.12e-01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998658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smokingSmoker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smoking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0.730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0.373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1.427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3.57e-01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25982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genderMale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gender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0.931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0.652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1.329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6.93e-01</a:t>
                      </a: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573668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059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Forest plot —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визуализация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HR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8" name="Объект 2">
            <a:extLst>
              <a:ext uri="{FF2B5EF4-FFF2-40B4-BE49-F238E27FC236}">
                <a16:creationId xmlns:a16="http://schemas.microsoft.com/office/drawing/2014/main" id="{2A6686CF-4BEB-47D1-8279-DAA21E8D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Функция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ggforest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():</a:t>
            </a:r>
          </a:p>
          <a:p>
            <a:pPr indent="0" algn="l">
              <a:buNone/>
            </a:pP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ggforest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cox_model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ru-RU" sz="200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ru-RU" sz="200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Как читать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forest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plot</a:t>
            </a:r>
            <a:r>
              <a:rPr lang="ru-RU" sz="2000" dirty="0">
                <a:effectLst/>
                <a:ea typeface="Cambria Math" panose="02040503050406030204" pitchFamily="18" charset="0"/>
              </a:rPr>
              <a:t>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Точка = значение HR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Горизонтальная линия = 95% CI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Вертикальная линия на HR = 1 (нет эффекта)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Интерпретация позиции: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Левее 1 — защитный фактор (снижает риск)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Правее 1 — фактор риска (увеличивает риск)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CI пересекает 1 — незначимо</a:t>
            </a:r>
          </a:p>
        </p:txBody>
      </p:sp>
    </p:spTree>
    <p:extLst>
      <p:ext uri="{BB962C8B-B14F-4D97-AF65-F5344CB8AC3E}">
        <p14:creationId xmlns:p14="http://schemas.microsoft.com/office/powerpoint/2010/main" val="2784235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Интерпретация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Hazard Ratio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8" name="Объект 2">
            <a:extLst>
              <a:ext uri="{FF2B5EF4-FFF2-40B4-BE49-F238E27FC236}">
                <a16:creationId xmlns:a16="http://schemas.microsoft.com/office/drawing/2014/main" id="{2A6686CF-4BEB-47D1-8279-DAA21E8D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HR = 1 — нет эффекта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HR &gt; 1 — фактор риска</a:t>
            </a: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HR &lt; 1 — защитный фактор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⚠️ ВСЕГДА проверяем: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95% ДИ: включает ли 1? Если да → эффект незначим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p-value &lt; 0.05 → H0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отвергаем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Примеры (</a:t>
            </a:r>
            <a:r>
              <a:rPr lang="en-US" sz="2000" dirty="0">
                <a:effectLst/>
                <a:ea typeface="Cambria Math" panose="02040503050406030204" pitchFamily="18" charset="0"/>
              </a:rPr>
              <a:t>TCGA-LUAD):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HR(Stage IV vs I) = 6.53 (95%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ДИ 2.94–14.5,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p&lt;0.001) →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риск в 6.5 раз выше, значимо</a:t>
            </a:r>
          </a:p>
          <a:p>
            <a:pPr marL="571500" indent="-342900"/>
            <a:r>
              <a:rPr lang="en-US" sz="2000" dirty="0">
                <a:effectLst/>
                <a:ea typeface="Cambria Math" panose="02040503050406030204" pitchFamily="18" charset="0"/>
              </a:rPr>
              <a:t>HR(Smoker vs Never) = 0.73 (95%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ДИ 0.37–1.4, </a:t>
            </a:r>
            <a:r>
              <a:rPr lang="en-US" sz="2000" dirty="0">
                <a:effectLst/>
                <a:ea typeface="Cambria Math" panose="02040503050406030204" pitchFamily="18" charset="0"/>
              </a:rPr>
              <a:t>p=0.36) → </a:t>
            </a:r>
            <a:r>
              <a:rPr lang="ru-RU" sz="2000" dirty="0">
                <a:effectLst/>
                <a:ea typeface="Cambria Math" panose="02040503050406030204" pitchFamily="18" charset="0"/>
              </a:rPr>
              <a:t>ДИ включает 1, незначимо</a:t>
            </a:r>
          </a:p>
        </p:txBody>
      </p:sp>
    </p:spTree>
    <p:extLst>
      <p:ext uri="{BB962C8B-B14F-4D97-AF65-F5344CB8AC3E}">
        <p14:creationId xmlns:p14="http://schemas.microsoft.com/office/powerpoint/2010/main" val="1050601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Forest plots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5639F388-4FC6-4677-84F5-E49E8D51F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503701" y="1327583"/>
            <a:ext cx="5487598" cy="430048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43B09B-F63D-430E-B828-F53463E27B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1299" y="1327583"/>
            <a:ext cx="5487598" cy="430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7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Ограничения одномерного анализа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8" name="Объект 2">
            <a:extLst>
              <a:ext uri="{FF2B5EF4-FFF2-40B4-BE49-F238E27FC236}">
                <a16:creationId xmlns:a16="http://schemas.microsoft.com/office/drawing/2014/main" id="{2A6686CF-4BEB-47D1-8279-DAA21E8D6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Главная проблема: не учитывает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confounders</a:t>
            </a: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marL="571500" indent="-342900"/>
            <a:r>
              <a:rPr lang="ru-RU" sz="2000" dirty="0" err="1">
                <a:effectLst/>
                <a:ea typeface="Cambria Math" panose="02040503050406030204" pitchFamily="18" charset="0"/>
              </a:rPr>
              <a:t>Age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коррелирует со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stage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(пожилые чаще имеют поздние стадии) 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Эффект может исчезнуть в многомерной модели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dirty="0">
                <a:effectLst/>
                <a:ea typeface="Cambria Math" panose="02040503050406030204" pitchFamily="18" charset="0"/>
              </a:rPr>
              <a:t>Пример: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Размер опухоли значим в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univariate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анализе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Но в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multivariate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 модели (с контролем </a:t>
            </a:r>
            <a:r>
              <a:rPr lang="ru-RU" sz="2000" dirty="0" err="1">
                <a:effectLst/>
                <a:ea typeface="Cambria Math" panose="02040503050406030204" pitchFamily="18" charset="0"/>
              </a:rPr>
              <a:t>stage</a:t>
            </a:r>
            <a:r>
              <a:rPr lang="ru-RU" sz="2000" dirty="0">
                <a:effectLst/>
                <a:ea typeface="Cambria Math" panose="02040503050406030204" pitchFamily="18" charset="0"/>
              </a:rPr>
              <a:t>) — незначим</a:t>
            </a:r>
          </a:p>
          <a:p>
            <a:pPr marL="571500" indent="-342900"/>
            <a:r>
              <a:rPr lang="ru-RU" sz="2000" dirty="0">
                <a:effectLst/>
                <a:ea typeface="Cambria Math" panose="02040503050406030204" pitchFamily="18" charset="0"/>
              </a:rPr>
              <a:t>Причина: размер входит в определение стадии</a:t>
            </a:r>
          </a:p>
          <a:p>
            <a:pPr indent="0" algn="l">
              <a:buNone/>
            </a:pPr>
            <a:endParaRPr lang="ru-RU" sz="2000" dirty="0">
              <a:effectLst/>
              <a:ea typeface="Cambria Math" panose="02040503050406030204" pitchFamily="18" charset="0"/>
            </a:endParaRPr>
          </a:p>
          <a:p>
            <a:pPr indent="0" algn="l">
              <a:buNone/>
            </a:pPr>
            <a:r>
              <a:rPr lang="ru-RU" sz="2000" b="1" dirty="0">
                <a:effectLst/>
                <a:ea typeface="Cambria Math" panose="02040503050406030204" pitchFamily="18" charset="0"/>
              </a:rPr>
              <a:t>Вывод: одномерный анализ — скрининг, не финальный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817516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6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На практике: 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Одномерные </a:t>
            </a:r>
            <a:r>
              <a:rPr lang="en-US" sz="2400" dirty="0">
                <a:ea typeface="Cambria Math" panose="02040503050406030204" pitchFamily="18" charset="0"/>
              </a:rPr>
              <a:t>Cox </a:t>
            </a:r>
            <a:r>
              <a:rPr lang="ru-RU" sz="2400" dirty="0">
                <a:ea typeface="Cambria Math" panose="02040503050406030204" pitchFamily="18" charset="0"/>
              </a:rPr>
              <a:t>для </a:t>
            </a:r>
            <a:r>
              <a:rPr lang="en-US" sz="2400" dirty="0">
                <a:ea typeface="Cambria Math" panose="02040503050406030204" pitchFamily="18" charset="0"/>
              </a:rPr>
              <a:t>TCGA-LUAD (age, stage, smoking, gender)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Результат: только </a:t>
            </a:r>
            <a:r>
              <a:rPr lang="en-US" sz="2400" dirty="0">
                <a:ea typeface="Cambria Math" panose="02040503050406030204" pitchFamily="18" charset="0"/>
              </a:rPr>
              <a:t>stage </a:t>
            </a:r>
            <a:r>
              <a:rPr lang="ru-RU" sz="2400" dirty="0">
                <a:ea typeface="Cambria Math" panose="02040503050406030204" pitchFamily="18" charset="0"/>
              </a:rPr>
              <a:t>значимо ассоциирована с прогнозом</a:t>
            </a:r>
          </a:p>
          <a:p>
            <a:pPr marL="0" indent="0" algn="just">
              <a:buNone/>
              <a:tabLst>
                <a:tab pos="180975" algn="l"/>
              </a:tabLst>
            </a:pPr>
            <a:endParaRPr lang="ru-RU" sz="2400" dirty="0">
              <a:ea typeface="Cambria Math" panose="02040503050406030204" pitchFamily="18" charset="0"/>
            </a:endParaRP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Дома (Задание 6): 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Одномерные + многомерная </a:t>
            </a:r>
            <a:r>
              <a:rPr lang="en-US" sz="2400" dirty="0">
                <a:ea typeface="Cambria Math" panose="02040503050406030204" pitchFamily="18" charset="0"/>
              </a:rPr>
              <a:t>Cox </a:t>
            </a:r>
            <a:r>
              <a:rPr lang="ru-RU" sz="2400" dirty="0">
                <a:ea typeface="Cambria Math" panose="02040503050406030204" pitchFamily="18" charset="0"/>
              </a:rPr>
              <a:t>для </a:t>
            </a:r>
            <a:r>
              <a:rPr lang="en-US" sz="2400" dirty="0">
                <a:ea typeface="Cambria Math" panose="02040503050406030204" pitchFamily="18" charset="0"/>
              </a:rPr>
              <a:t>TCGA-BRCA (age, stage, ER, PR, HER2)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Ожидается: </a:t>
            </a:r>
            <a:r>
              <a:rPr lang="en-US" sz="2400" dirty="0">
                <a:ea typeface="Cambria Math" panose="02040503050406030204" pitchFamily="18" charset="0"/>
              </a:rPr>
              <a:t>ER, PR, stage — </a:t>
            </a:r>
            <a:r>
              <a:rPr lang="ru-RU" sz="2400" dirty="0">
                <a:ea typeface="Cambria Math" panose="02040503050406030204" pitchFamily="18" charset="0"/>
              </a:rPr>
              <a:t>сильные предикторы в РМЖ</a:t>
            </a:r>
          </a:p>
          <a:p>
            <a:pPr marL="0" indent="0" algn="just">
              <a:buNone/>
              <a:tabLst>
                <a:tab pos="180975" algn="l"/>
              </a:tabLst>
            </a:pPr>
            <a:endParaRPr lang="ru-RU" sz="2400" dirty="0">
              <a:ea typeface="Cambria Math" panose="02040503050406030204" pitchFamily="18" charset="0"/>
            </a:endParaRP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2400" dirty="0">
                <a:ea typeface="Cambria Math" panose="02040503050406030204" pitchFamily="18" charset="0"/>
              </a:rPr>
              <a:t>Логика анализа идентична, различия в предикторах и результатах</a:t>
            </a:r>
            <a:endParaRPr lang="en-US" sz="1800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098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2279</TotalTime>
  <Words>1148</Words>
  <Application>Microsoft Office PowerPoint</Application>
  <PresentationFormat>Широкоэкранный</PresentationFormat>
  <Paragraphs>296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84</cp:revision>
  <dcterms:created xsi:type="dcterms:W3CDTF">2025-09-03T07:14:40Z</dcterms:created>
  <dcterms:modified xsi:type="dcterms:W3CDTF">2026-03-19T12:20:06Z</dcterms:modified>
</cp:coreProperties>
</file>