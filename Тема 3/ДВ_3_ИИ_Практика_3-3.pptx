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8" r:id="rId5"/>
    <p:sldId id="270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76" r:id="rId20"/>
    <p:sldId id="26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401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47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466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462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273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179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674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962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729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235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790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242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039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24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y15zB8jV0pIUAw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3. Построение и интерпретация моделей выживаемости в медицине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Построить многомерную </a:t>
            </a:r>
            <a:r>
              <a:rPr lang="ru-RU" sz="2400" dirty="0" err="1"/>
              <a:t>Cox</a:t>
            </a:r>
            <a:r>
              <a:rPr lang="ru-RU" sz="2400" dirty="0"/>
              <a:t>-модель для </a:t>
            </a:r>
            <a:r>
              <a:rPr lang="en-US" sz="2400" dirty="0"/>
              <a:t>TCGA-LUAD</a:t>
            </a:r>
            <a:endParaRPr lang="ru-RU" sz="2400" dirty="0"/>
          </a:p>
          <a:p>
            <a:pPr algn="just"/>
            <a:r>
              <a:rPr lang="ru-RU" sz="2400" dirty="0"/>
              <a:t>Вычислить C-</a:t>
            </a:r>
            <a:r>
              <a:rPr lang="ru-RU" sz="2400" dirty="0" err="1"/>
              <a:t>index</a:t>
            </a:r>
            <a:r>
              <a:rPr lang="ru-RU" sz="2400" dirty="0"/>
              <a:t> и оценить прогностическую дискриминацию</a:t>
            </a:r>
          </a:p>
          <a:p>
            <a:pPr algn="just"/>
            <a:r>
              <a:rPr lang="ru-RU" sz="2400" dirty="0"/>
              <a:t>Проверить PH-предположение (</a:t>
            </a:r>
            <a:r>
              <a:rPr lang="ru-RU" sz="2400" dirty="0" err="1"/>
              <a:t>cox.zph</a:t>
            </a:r>
            <a:r>
              <a:rPr lang="ru-RU" sz="2400" dirty="0"/>
              <a:t>, </a:t>
            </a:r>
            <a:r>
              <a:rPr lang="ru-RU" sz="2400" dirty="0" err="1"/>
              <a:t>Schoenfeld</a:t>
            </a:r>
            <a:r>
              <a:rPr lang="ru-RU" sz="2400" dirty="0"/>
              <a:t> </a:t>
            </a:r>
            <a:r>
              <a:rPr lang="ru-RU" sz="2400" dirty="0" err="1"/>
              <a:t>residuals</a:t>
            </a:r>
            <a:r>
              <a:rPr lang="ru-RU" sz="2400" dirty="0"/>
              <a:t>)</a:t>
            </a:r>
          </a:p>
          <a:p>
            <a:pPr algn="just"/>
            <a:r>
              <a:rPr lang="ru-RU" sz="2400" dirty="0"/>
              <a:t>Разобрать проблему отделения и редких уровней</a:t>
            </a:r>
          </a:p>
          <a:p>
            <a:pPr algn="just"/>
            <a:r>
              <a:rPr lang="ru-RU" sz="2400" dirty="0"/>
              <a:t>Интегрировать </a:t>
            </a:r>
            <a:r>
              <a:rPr lang="ru-RU" sz="2400" dirty="0" err="1"/>
              <a:t>Cox</a:t>
            </a:r>
            <a:r>
              <a:rPr lang="ru-RU" sz="2400" dirty="0"/>
              <a:t> с классификацией: сравнить C-</a:t>
            </a:r>
            <a:r>
              <a:rPr lang="ru-RU" sz="2400" dirty="0" err="1"/>
              <a:t>index</a:t>
            </a:r>
            <a:r>
              <a:rPr lang="ru-RU" sz="2400" dirty="0"/>
              <a:t> и AUC</a:t>
            </a:r>
          </a:p>
          <a:p>
            <a:pPr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TCGA-LUAD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</a:t>
            </a:r>
            <a:r>
              <a:rPr lang="en-US" sz="2400" dirty="0"/>
              <a:t>The Cancer Genome Atlas (TCGA), </a:t>
            </a:r>
            <a:r>
              <a:rPr lang="ru-RU" sz="2400" dirty="0"/>
              <a:t>когорта </a:t>
            </a:r>
            <a:r>
              <a:rPr lang="en-US" sz="2400" dirty="0"/>
              <a:t>Lung Adenocarcinoma</a:t>
            </a:r>
          </a:p>
          <a:p>
            <a:pPr algn="just"/>
            <a:r>
              <a:rPr lang="ru-RU" sz="2400" dirty="0"/>
              <a:t>~500 пациентов с аденокарциномой лёгкого</a:t>
            </a:r>
            <a:endParaRPr lang="en-US" sz="2400" dirty="0"/>
          </a:p>
          <a:p>
            <a:pPr algn="just"/>
            <a:r>
              <a:rPr lang="ru-RU" sz="2400" dirty="0"/>
              <a:t>Клинические данные: дни до смерти/последнего визита, </a:t>
            </a:r>
            <a:r>
              <a:rPr lang="en-US" sz="2400" dirty="0"/>
              <a:t>vital status, pathologic stage</a:t>
            </a:r>
          </a:p>
          <a:p>
            <a:pPr algn="just"/>
            <a:r>
              <a:rPr lang="ru-RU" sz="2400" dirty="0"/>
              <a:t>Доступ через </a:t>
            </a:r>
            <a:r>
              <a:rPr lang="en-US" sz="2400" dirty="0"/>
              <a:t>R: </a:t>
            </a:r>
            <a:r>
              <a:rPr lang="ru-RU" sz="2400" dirty="0"/>
              <a:t>пакеты </a:t>
            </a:r>
            <a:r>
              <a:rPr lang="en-US" sz="2400" dirty="0"/>
              <a:t>RTCGA + </a:t>
            </a:r>
            <a:r>
              <a:rPr lang="en-US" sz="2400" dirty="0" err="1"/>
              <a:t>RTCGA.clinical</a:t>
            </a:r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r>
              <a:rPr lang="ru-RU" sz="2400" dirty="0"/>
              <a:t>Ключевые переменные:</a:t>
            </a:r>
          </a:p>
          <a:p>
            <a:pPr algn="just"/>
            <a:r>
              <a:rPr lang="en-US" sz="2400" dirty="0" err="1"/>
              <a:t>patient.days_to_death</a:t>
            </a:r>
            <a:endParaRPr lang="en-US" sz="2400" dirty="0"/>
          </a:p>
          <a:p>
            <a:pPr algn="just"/>
            <a:r>
              <a:rPr lang="en-US" sz="2400" dirty="0" err="1"/>
              <a:t>patient.days_to_last_followup</a:t>
            </a:r>
            <a:endParaRPr lang="en-US" sz="2400" dirty="0"/>
          </a:p>
          <a:p>
            <a:pPr algn="just"/>
            <a:r>
              <a:rPr lang="en-US" sz="2400" dirty="0" err="1"/>
              <a:t>patient.vital_status</a:t>
            </a:r>
            <a:endParaRPr lang="en-US" sz="2400" dirty="0"/>
          </a:p>
          <a:p>
            <a:pPr algn="just"/>
            <a:r>
              <a:rPr lang="en-US" sz="2400" dirty="0" err="1"/>
              <a:t>patient.stage_event.pathologic_stage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https://disk.yandex.ru/d/y15zB8jV0pIUAw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Многомерная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Cox-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модель: зачем?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Univariate vs Multivariate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Univariate: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эффект каждого предиктора отдельно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Multivariate: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совместный эффект с учётом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confounders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HR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в многомерной модели = "скорректированный" эффект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cox_multi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(Surv(time, status) ~ age + stage + …, data = df)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summary(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cox_multi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Результаты многомерной модели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Таблица результатов: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Визуализация: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ggforest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cox_multi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54506BA-50F7-427E-B461-0D7FC251D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55693"/>
              </p:ext>
            </p:extLst>
          </p:nvPr>
        </p:nvGraphicFramePr>
        <p:xfrm>
          <a:off x="636864" y="1722120"/>
          <a:ext cx="10515600" cy="34137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4160212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5855794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392441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275336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069871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5890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predictor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model_name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lower_CI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upper_CI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p_value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1657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1.016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0.997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1.035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9.40e-02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77313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stageII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2.231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1.415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3.520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5.57e-04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362411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stageIII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4.244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2.691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6.695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5.07e-10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28987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stageIV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3.108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1.593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6.063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8.81e-04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339756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smokingFormer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0.967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0.536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1.746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9.12e-01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201965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smokingSmoker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0.730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0.373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1.427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3.57e-01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82476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genderMale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gender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0.931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0.652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1.329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6.93e-01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90810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0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C-index (concordance index)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Что такое C-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index</a:t>
            </a:r>
            <a:r>
              <a:rPr lang="ru-RU" sz="2000" dirty="0">
                <a:effectLst/>
                <a:ea typeface="Cambria Math" panose="02040503050406030204" pitchFamily="18" charset="0"/>
              </a:rPr>
              <a:t>?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C-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index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вероятность правильного ранжирования пар пациентов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Если пациент A умер раньше B, модель должна дать A более высокий риск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C-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index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0.5: случайная модель (монетка)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C-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index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= 0.7: приемлемая дискриминация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C-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index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&gt;= 0.8: отличная дискриминация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concordance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cox_multi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6121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C-index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моделей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C-index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для разных моделей: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Univariate (age):   0.5690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Univariate (stage): 0.6851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b="1" dirty="0">
                <a:effectLst/>
                <a:ea typeface="Cambria Math" panose="02040503050406030204" pitchFamily="18" charset="0"/>
              </a:rPr>
              <a:t>Multivariate:       0.7157</a:t>
            </a:r>
            <a:endParaRPr lang="ru-RU" sz="2000" b="1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Код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R: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cox_age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(Surv(time, status) ~ age, data=df)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cox_stage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(Surv(time, status) ~ stage, data=df)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concordance(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cox_age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concordance(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cox_stage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concordance(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cox_multi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Вывод: многомерная модель лучше любой одномерной</a:t>
            </a:r>
          </a:p>
        </p:txBody>
      </p:sp>
    </p:spTree>
    <p:extLst>
      <p:ext uri="{BB962C8B-B14F-4D97-AF65-F5344CB8AC3E}">
        <p14:creationId xmlns:p14="http://schemas.microsoft.com/office/powerpoint/2010/main" val="405772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PH-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предположение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Proportional Hazards)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Что такое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PH?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Proportional Hazards: HR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не зависит от времени</a:t>
            </a:r>
          </a:p>
          <a:p>
            <a:pPr marL="571500" indent="-342900"/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t|X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=1) / h(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t|X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=0) = const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для всех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t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Проверка:</a:t>
            </a: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cox.zph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ph_test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cox.zph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cox_multi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print(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ph_test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Интерпретация: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p &gt; 0.05: PH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НЕ нарушено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OK,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модель корректна)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p &lt; 0.05: PH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нарушено (проблема, нужны решения)</a:t>
            </a:r>
          </a:p>
        </p:txBody>
      </p:sp>
    </p:spTree>
    <p:extLst>
      <p:ext uri="{BB962C8B-B14F-4D97-AF65-F5344CB8AC3E}">
        <p14:creationId xmlns:p14="http://schemas.microsoft.com/office/powerpoint/2010/main" val="3865655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Остатки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Шоенфельда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Schoenfeld residuals)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Визуальная проверка PH:</a:t>
            </a:r>
          </a:p>
          <a:p>
            <a:pPr indent="0" algn="l">
              <a:buNone/>
            </a:pP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plot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cox.zph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cox_multi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 графиков: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Горизонтальная линия: PH выполняется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Наклон или кривизна: HR меняется со временем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Пример: эффект ER может ослабевать с годами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Что делать с результатами: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Для каждого предиктора смотрим свой график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Если PH нарушено для одного предиктора, можно стратифицировать по нему</a:t>
            </a:r>
          </a:p>
        </p:txBody>
      </p:sp>
    </p:spTree>
    <p:extLst>
      <p:ext uri="{BB962C8B-B14F-4D97-AF65-F5344CB8AC3E}">
        <p14:creationId xmlns:p14="http://schemas.microsoft.com/office/powerpoint/2010/main" val="3577740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Нарушение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PH: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решения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i="1" dirty="0">
                <a:effectLst/>
              </a:rPr>
              <a:t>Что делать, если PH нарушено?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Стратификация: </a:t>
            </a:r>
            <a:r>
              <a:rPr lang="ru-RU" sz="2000" dirty="0" err="1">
                <a:effectLst/>
              </a:rPr>
              <a:t>strata</a:t>
            </a:r>
            <a:r>
              <a:rPr lang="ru-RU" sz="2000" dirty="0">
                <a:effectLst/>
              </a:rPr>
              <a:t>(</a:t>
            </a:r>
            <a:r>
              <a:rPr lang="ru-RU" sz="2000" dirty="0" err="1">
                <a:effectLst/>
              </a:rPr>
              <a:t>stage</a:t>
            </a:r>
            <a:r>
              <a:rPr lang="ru-RU" sz="2000" dirty="0">
                <a:effectLst/>
              </a:rPr>
              <a:t>) в формуле </a:t>
            </a:r>
            <a:r>
              <a:rPr lang="ru-RU" sz="2000" dirty="0" err="1">
                <a:effectLst/>
              </a:rPr>
              <a:t>Cox</a:t>
            </a:r>
            <a:endParaRPr lang="ru-RU" sz="2000" dirty="0">
              <a:effectLst/>
            </a:endParaRP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Time-</a:t>
            </a:r>
            <a:r>
              <a:rPr lang="ru-RU" sz="2000" dirty="0" err="1">
                <a:effectLst/>
              </a:rPr>
              <a:t>varying</a:t>
            </a:r>
            <a:r>
              <a:rPr lang="ru-RU" sz="2000" dirty="0">
                <a:effectLst/>
              </a:rPr>
              <a:t> </a:t>
            </a:r>
            <a:r>
              <a:rPr lang="ru-RU" sz="2000" dirty="0" err="1">
                <a:effectLst/>
              </a:rPr>
              <a:t>coefficients</a:t>
            </a:r>
            <a:r>
              <a:rPr lang="ru-RU" sz="2000" dirty="0">
                <a:effectLst/>
              </a:rPr>
              <a:t> (</a:t>
            </a:r>
            <a:r>
              <a:rPr lang="ru-RU" sz="2000" dirty="0" err="1">
                <a:effectLst/>
              </a:rPr>
              <a:t>tt</a:t>
            </a:r>
            <a:r>
              <a:rPr lang="ru-RU" sz="2000" dirty="0">
                <a:effectLst/>
              </a:rPr>
              <a:t>-функция)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Разбиение на временные интервалы (</a:t>
            </a:r>
            <a:r>
              <a:rPr lang="ru-RU" sz="2000" dirty="0" err="1">
                <a:effectLst/>
              </a:rPr>
              <a:t>time-splitting</a:t>
            </a:r>
            <a:r>
              <a:rPr lang="ru-RU" sz="2000" dirty="0">
                <a:effectLst/>
              </a:rPr>
              <a:t>)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Использование </a:t>
            </a:r>
            <a:r>
              <a:rPr lang="ru-RU" sz="2000" dirty="0"/>
              <a:t>продвинутых </a:t>
            </a:r>
            <a:r>
              <a:rPr lang="ru-RU" sz="2000" dirty="0">
                <a:effectLst/>
              </a:rPr>
              <a:t>моделей вместо </a:t>
            </a:r>
            <a:r>
              <a:rPr lang="ru-RU" sz="2000" dirty="0" err="1">
                <a:effectLst/>
              </a:rPr>
              <a:t>Cox</a:t>
            </a:r>
            <a:endParaRPr lang="ru-RU" sz="2000" dirty="0">
              <a:effectLst/>
            </a:endParaRP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i="1" dirty="0">
                <a:effectLst/>
              </a:rPr>
              <a:t>Практический совет: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Стратификация -- самый простой и частый подход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Стратифицированный предиктор теряет свой HR</a:t>
            </a:r>
          </a:p>
        </p:txBody>
      </p:sp>
    </p:spTree>
    <p:extLst>
      <p:ext uri="{BB962C8B-B14F-4D97-AF65-F5344CB8AC3E}">
        <p14:creationId xmlns:p14="http://schemas.microsoft.com/office/powerpoint/2010/main" val="72086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Проблема отделения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separation)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i="1" dirty="0">
                <a:effectLst/>
              </a:rPr>
              <a:t>Когда возникает проблема?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Все события в одной категории: коэффициент -&gt; бесконечность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Редкие уровни: </a:t>
            </a:r>
            <a:r>
              <a:rPr lang="ru-RU" sz="2000" dirty="0" err="1">
                <a:effectLst/>
              </a:rPr>
              <a:t>Stage</a:t>
            </a:r>
            <a:r>
              <a:rPr lang="ru-RU" sz="2000" dirty="0">
                <a:effectLst/>
              </a:rPr>
              <a:t> IV с 10-20 пациентами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Результат: огромные HR, широкие CI, предупреждения</a:t>
            </a: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i="1" dirty="0">
                <a:effectLst/>
              </a:rPr>
              <a:t>Решения:</a:t>
            </a:r>
          </a:p>
          <a:p>
            <a:pPr marL="342900" indent="0" algn="l">
              <a:buChar char="•"/>
            </a:pPr>
            <a:r>
              <a:rPr lang="ru-RU" sz="2000" dirty="0" err="1">
                <a:effectLst/>
              </a:rPr>
              <a:t>Collapsing</a:t>
            </a:r>
            <a:r>
              <a:rPr lang="ru-RU" sz="2000" dirty="0">
                <a:effectLst/>
              </a:rPr>
              <a:t>: объединение редких категорий</a:t>
            </a:r>
            <a:r>
              <a:rPr lang="ru-RU" sz="1050" dirty="0">
                <a:effectLst/>
              </a:rPr>
              <a:t>)</a:t>
            </a:r>
          </a:p>
          <a:p>
            <a:pPr marL="342900" indent="0" algn="l">
              <a:buChar char="•"/>
            </a:pPr>
            <a:r>
              <a:rPr lang="ru-RU" sz="2000" dirty="0" err="1">
                <a:effectLst/>
              </a:rPr>
              <a:t>Firth</a:t>
            </a:r>
            <a:r>
              <a:rPr lang="ru-RU" sz="2000" dirty="0">
                <a:effectLst/>
              </a:rPr>
              <a:t> </a:t>
            </a:r>
            <a:r>
              <a:rPr lang="ru-RU" sz="2000" dirty="0" err="1">
                <a:effectLst/>
              </a:rPr>
              <a:t>correction</a:t>
            </a:r>
            <a:r>
              <a:rPr lang="ru-RU" sz="2000" dirty="0">
                <a:effectLst/>
              </a:rPr>
              <a:t> (пакет </a:t>
            </a:r>
            <a:r>
              <a:rPr lang="ru-RU" sz="2000" dirty="0" err="1">
                <a:effectLst/>
              </a:rPr>
              <a:t>coxphf</a:t>
            </a:r>
            <a:r>
              <a:rPr lang="ru-RU" sz="2000" dirty="0">
                <a:effectLst/>
              </a:rPr>
              <a:t>)</a:t>
            </a:r>
          </a:p>
          <a:p>
            <a:pPr marL="342900" indent="0" algn="l">
              <a:buChar char="•"/>
            </a:pPr>
            <a:r>
              <a:rPr lang="ru-RU" sz="2000" dirty="0">
                <a:effectLst/>
              </a:rPr>
              <a:t>Исключение переменной с проблемой</a:t>
            </a:r>
          </a:p>
        </p:txBody>
      </p:sp>
    </p:spTree>
    <p:extLst>
      <p:ext uri="{BB962C8B-B14F-4D97-AF65-F5344CB8AC3E}">
        <p14:creationId xmlns:p14="http://schemas.microsoft.com/office/powerpoint/2010/main" val="1193612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vs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Классификация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dirty="0">
                <a:effectLst/>
              </a:rPr>
              <a:t>Два подхода к прогнозу:</a:t>
            </a:r>
          </a:p>
          <a:p>
            <a:pPr marL="0" indent="0" algn="l">
              <a:buNone/>
            </a:pPr>
            <a:r>
              <a:rPr lang="ru-RU" sz="2000" dirty="0">
                <a:effectLst/>
              </a:rPr>
              <a:t>1. </a:t>
            </a:r>
            <a:r>
              <a:rPr lang="ru-RU" sz="2000" dirty="0" err="1">
                <a:effectLst/>
              </a:rPr>
              <a:t>Cox</a:t>
            </a:r>
            <a:r>
              <a:rPr lang="ru-RU" sz="2000" dirty="0">
                <a:effectLst/>
              </a:rPr>
              <a:t>-модель:</a:t>
            </a:r>
          </a:p>
          <a:p>
            <a:r>
              <a:rPr lang="ru-RU" sz="2000" dirty="0">
                <a:effectLst/>
              </a:rPr>
              <a:t>Моделирует ВРЕМЯ до события: h(</a:t>
            </a:r>
            <a:r>
              <a:rPr lang="ru-RU" sz="2000" dirty="0" err="1">
                <a:effectLst/>
              </a:rPr>
              <a:t>t|X</a:t>
            </a:r>
            <a:r>
              <a:rPr lang="ru-RU" sz="2000" dirty="0">
                <a:effectLst/>
              </a:rPr>
              <a:t>)</a:t>
            </a:r>
          </a:p>
          <a:p>
            <a:r>
              <a:rPr lang="ru-RU" sz="2000" dirty="0">
                <a:effectLst/>
              </a:rPr>
              <a:t>Использует ВСЮ информацию о цензурировании</a:t>
            </a:r>
          </a:p>
          <a:p>
            <a:r>
              <a:rPr lang="ru-RU" sz="2000" dirty="0">
                <a:effectLst/>
              </a:rPr>
              <a:t>Метрика: C-</a:t>
            </a:r>
            <a:r>
              <a:rPr lang="ru-RU" sz="2000" dirty="0" err="1">
                <a:effectLst/>
              </a:rPr>
              <a:t>index</a:t>
            </a:r>
            <a:endParaRPr lang="ru-RU" sz="2000" dirty="0">
              <a:effectLst/>
            </a:endParaRP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2. Классификация:</a:t>
            </a:r>
          </a:p>
          <a:p>
            <a:r>
              <a:rPr lang="ru-RU" sz="2000" dirty="0">
                <a:effectLst/>
              </a:rPr>
              <a:t>Моделирует P(</a:t>
            </a:r>
            <a:r>
              <a:rPr lang="ru-RU" sz="2000" dirty="0" err="1">
                <a:effectLst/>
              </a:rPr>
              <a:t>dead|X</a:t>
            </a:r>
            <a:r>
              <a:rPr lang="ru-RU" sz="2000" dirty="0">
                <a:effectLst/>
              </a:rPr>
              <a:t>) на горизонте t</a:t>
            </a:r>
          </a:p>
          <a:p>
            <a:r>
              <a:rPr lang="ru-RU" sz="2000" dirty="0">
                <a:effectLst/>
              </a:rPr>
              <a:t>Теряет информацию о цензурированных до горизонта</a:t>
            </a:r>
          </a:p>
          <a:p>
            <a:r>
              <a:rPr lang="ru-RU" sz="2000" dirty="0">
                <a:effectLst/>
              </a:rPr>
              <a:t>Метрика: AUC</a:t>
            </a: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b="1" dirty="0">
                <a:effectLst/>
              </a:rPr>
              <a:t>Ключевое отличие: </a:t>
            </a:r>
            <a:r>
              <a:rPr lang="ru-RU" sz="2000" b="1" dirty="0" err="1">
                <a:effectLst/>
              </a:rPr>
              <a:t>Cox</a:t>
            </a:r>
            <a:r>
              <a:rPr lang="ru-RU" sz="2000" b="1" dirty="0">
                <a:effectLst/>
              </a:rPr>
              <a:t> сохраняет цензурирование, классификатор -- нет</a:t>
            </a:r>
          </a:p>
        </p:txBody>
      </p:sp>
    </p:spTree>
    <p:extLst>
      <p:ext uri="{BB962C8B-B14F-4D97-AF65-F5344CB8AC3E}">
        <p14:creationId xmlns:p14="http://schemas.microsoft.com/office/powerpoint/2010/main" val="3407629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Бинарный исход для классификации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dirty="0">
                <a:effectLst/>
              </a:rPr>
              <a:t>Как создать бинарный </a:t>
            </a:r>
            <a:r>
              <a:rPr lang="en-US" sz="2000" dirty="0">
                <a:effectLst/>
              </a:rPr>
              <a:t>outcome:</a:t>
            </a:r>
          </a:p>
          <a:p>
            <a:r>
              <a:rPr lang="ru-RU" sz="2000" dirty="0">
                <a:effectLst/>
              </a:rPr>
              <a:t>Определяем горизонт: 5 лет</a:t>
            </a:r>
          </a:p>
          <a:p>
            <a:r>
              <a:rPr lang="en-US" sz="2000" dirty="0">
                <a:effectLst/>
              </a:rPr>
              <a:t>outcome = 1, </a:t>
            </a:r>
            <a:r>
              <a:rPr lang="ru-RU" sz="2000" dirty="0">
                <a:effectLst/>
              </a:rPr>
              <a:t>если </a:t>
            </a:r>
            <a:r>
              <a:rPr lang="en-US" sz="2000" dirty="0">
                <a:effectLst/>
              </a:rPr>
              <a:t>status==1 </a:t>
            </a:r>
            <a:r>
              <a:rPr lang="ru-RU" sz="2000" dirty="0">
                <a:effectLst/>
              </a:rPr>
              <a:t>и </a:t>
            </a:r>
            <a:r>
              <a:rPr lang="en-US" sz="2000" dirty="0">
                <a:effectLst/>
              </a:rPr>
              <a:t>time &lt;= 5 </a:t>
            </a:r>
            <a:r>
              <a:rPr lang="ru-RU" sz="2000" dirty="0">
                <a:effectLst/>
              </a:rPr>
              <a:t>лет</a:t>
            </a:r>
          </a:p>
          <a:p>
            <a:r>
              <a:rPr lang="en-US" sz="2000" dirty="0">
                <a:effectLst/>
              </a:rPr>
              <a:t>outcome = 0, </a:t>
            </a:r>
            <a:r>
              <a:rPr lang="ru-RU" sz="2000" dirty="0">
                <a:effectLst/>
              </a:rPr>
              <a:t>если </a:t>
            </a:r>
            <a:r>
              <a:rPr lang="en-US" sz="2000" dirty="0">
                <a:effectLst/>
              </a:rPr>
              <a:t>time &gt; 5 </a:t>
            </a:r>
            <a:r>
              <a:rPr lang="ru-RU" sz="2000" dirty="0">
                <a:effectLst/>
              </a:rPr>
              <a:t>лет</a:t>
            </a:r>
          </a:p>
          <a:p>
            <a:r>
              <a:rPr lang="ru-RU" sz="2000" dirty="0">
                <a:effectLst/>
              </a:rPr>
              <a:t>Исключаем цензурированных до 5 лет (неизвестный исход!)</a:t>
            </a: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Код </a:t>
            </a:r>
            <a:r>
              <a:rPr lang="en-US" sz="2000" dirty="0">
                <a:effectLst/>
              </a:rPr>
              <a:t>R: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horizon &lt;- 5 * 365.25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df$outcome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df$status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==1 &amp;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df$time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&lt;=horizon, 1, 0)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df_class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df[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df$time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&gt; horizon |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df$status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==1, ]</a:t>
            </a:r>
          </a:p>
          <a:p>
            <a:pPr marL="0" indent="0" algn="l">
              <a:buNone/>
            </a:pPr>
            <a:endParaRPr lang="en-US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Модели:</a:t>
            </a:r>
          </a:p>
          <a:p>
            <a:pPr marL="0" indent="0" algn="l">
              <a:buNone/>
            </a:pPr>
            <a:r>
              <a:rPr lang="ru-RU" sz="2000" dirty="0">
                <a:effectLst/>
              </a:rPr>
              <a:t>Логистическая регрессия: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glm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(outcome ~ ..., family=binomial)</a:t>
            </a:r>
          </a:p>
          <a:p>
            <a:pPr marL="0" indent="0" algn="l">
              <a:buNone/>
            </a:pPr>
            <a:r>
              <a:rPr lang="en-US" sz="2000" dirty="0">
                <a:effectLst/>
              </a:rPr>
              <a:t>Random Forest: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(factor(outcome) ~ ...)</a:t>
            </a:r>
          </a:p>
        </p:txBody>
      </p:sp>
    </p:spTree>
    <p:extLst>
      <p:ext uri="{BB962C8B-B14F-4D97-AF65-F5344CB8AC3E}">
        <p14:creationId xmlns:p14="http://schemas.microsoft.com/office/powerpoint/2010/main" val="2259864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метрик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dirty="0">
                <a:effectLst/>
              </a:rPr>
              <a:t>Сравнительная таблица:</a:t>
            </a: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Модель                  Метрика   Значение</a:t>
            </a:r>
          </a:p>
          <a:p>
            <a:pPr marL="0" indent="0" algn="l">
              <a:buNone/>
            </a:pPr>
            <a:r>
              <a:rPr lang="ru-RU" sz="2000" dirty="0">
                <a:effectLst/>
              </a:rPr>
              <a:t>----------------------------------------------</a:t>
            </a:r>
          </a:p>
          <a:p>
            <a:pPr marL="0" indent="0" algn="l">
              <a:buNone/>
            </a:pPr>
            <a:r>
              <a:rPr lang="en-US" sz="2000" dirty="0">
                <a:effectLst/>
              </a:rPr>
              <a:t>Cox regression          C-index   ~0.6</a:t>
            </a:r>
            <a:r>
              <a:rPr lang="ru-RU" sz="2000" dirty="0">
                <a:effectLst/>
              </a:rPr>
              <a:t>9</a:t>
            </a:r>
            <a:endParaRPr lang="en-US" sz="2000" dirty="0">
              <a:effectLst/>
            </a:endParaRPr>
          </a:p>
          <a:p>
            <a:pPr marL="0" indent="0" algn="l">
              <a:buNone/>
            </a:pPr>
            <a:r>
              <a:rPr lang="en-US" sz="2000" dirty="0">
                <a:effectLst/>
              </a:rPr>
              <a:t>Logistic Regression     AUC       ~0.7</a:t>
            </a:r>
            <a:r>
              <a:rPr lang="ru-RU" sz="2000" dirty="0">
                <a:effectLst/>
              </a:rPr>
              <a:t>2</a:t>
            </a:r>
            <a:endParaRPr lang="en-US" sz="2000" dirty="0">
              <a:effectLst/>
            </a:endParaRPr>
          </a:p>
          <a:p>
            <a:pPr marL="0" indent="0" algn="l">
              <a:buNone/>
            </a:pPr>
            <a:r>
              <a:rPr lang="en-US" sz="2000" dirty="0">
                <a:effectLst/>
              </a:rPr>
              <a:t>Random Forest           AUC       ~0.7</a:t>
            </a:r>
            <a:r>
              <a:rPr lang="ru-RU" sz="2000" dirty="0">
                <a:effectLst/>
              </a:rPr>
              <a:t>6</a:t>
            </a:r>
            <a:endParaRPr lang="en-US" sz="2000" dirty="0">
              <a:effectLst/>
            </a:endParaRPr>
          </a:p>
          <a:p>
            <a:pPr marL="0" indent="0" algn="l">
              <a:buNone/>
            </a:pPr>
            <a:endParaRPr lang="en-US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Важные замечания:</a:t>
            </a:r>
          </a:p>
          <a:p>
            <a:r>
              <a:rPr lang="en-US" sz="2000" dirty="0">
                <a:effectLst/>
              </a:rPr>
              <a:t>C-index </a:t>
            </a:r>
            <a:r>
              <a:rPr lang="ru-RU" sz="2000" dirty="0">
                <a:effectLst/>
              </a:rPr>
              <a:t>и </a:t>
            </a:r>
            <a:r>
              <a:rPr lang="en-US" sz="2000" dirty="0">
                <a:effectLst/>
              </a:rPr>
              <a:t>AUC </a:t>
            </a:r>
            <a:r>
              <a:rPr lang="ru-RU" sz="2000" dirty="0">
                <a:effectLst/>
              </a:rPr>
              <a:t>похожи по смыслу, но считаются по-разному</a:t>
            </a:r>
          </a:p>
          <a:p>
            <a:r>
              <a:rPr lang="en-US" sz="2000" dirty="0">
                <a:effectLst/>
              </a:rPr>
              <a:t>C-index </a:t>
            </a:r>
            <a:r>
              <a:rPr lang="ru-RU" sz="2000" dirty="0">
                <a:effectLst/>
              </a:rPr>
              <a:t>учитывает цензурирование, </a:t>
            </a:r>
            <a:r>
              <a:rPr lang="en-US" sz="2000" dirty="0">
                <a:effectLst/>
              </a:rPr>
              <a:t>AUC — </a:t>
            </a:r>
            <a:r>
              <a:rPr lang="ru-RU" sz="2000" dirty="0">
                <a:effectLst/>
              </a:rPr>
              <a:t>нет</a:t>
            </a:r>
          </a:p>
          <a:p>
            <a:r>
              <a:rPr lang="en-US" sz="2000" dirty="0">
                <a:effectLst/>
              </a:rPr>
              <a:t>Cox </a:t>
            </a:r>
            <a:r>
              <a:rPr lang="ru-RU" sz="2000" dirty="0">
                <a:effectLst/>
              </a:rPr>
              <a:t>использует ВСЕ данные, классификатор — только завершённые</a:t>
            </a:r>
          </a:p>
          <a:p>
            <a:r>
              <a:rPr lang="ru-RU" sz="2000" dirty="0">
                <a:effectLst/>
              </a:rPr>
              <a:t>Прямое сравнение </a:t>
            </a:r>
            <a:r>
              <a:rPr lang="en-US" sz="2000" dirty="0">
                <a:effectLst/>
              </a:rPr>
              <a:t>C-index </a:t>
            </a:r>
            <a:r>
              <a:rPr lang="ru-RU" sz="2000" dirty="0">
                <a:effectLst/>
              </a:rPr>
              <a:t>и </a:t>
            </a:r>
            <a:r>
              <a:rPr lang="en-US" sz="2000" dirty="0">
                <a:effectLst/>
              </a:rPr>
              <a:t>AUC </a:t>
            </a:r>
            <a:r>
              <a:rPr lang="ru-RU" sz="2000" dirty="0">
                <a:effectLst/>
              </a:rPr>
              <a:t>некорректно</a:t>
            </a:r>
          </a:p>
        </p:txBody>
      </p:sp>
    </p:spTree>
    <p:extLst>
      <p:ext uri="{BB962C8B-B14F-4D97-AF65-F5344CB8AC3E}">
        <p14:creationId xmlns:p14="http://schemas.microsoft.com/office/powerpoint/2010/main" val="496091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Риск-скор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dirty="0">
                <a:effectLst/>
              </a:rPr>
              <a:t>Интеграция классификации и выживаемости:</a:t>
            </a:r>
          </a:p>
          <a:p>
            <a:r>
              <a:rPr lang="ru-RU" sz="2000" dirty="0">
                <a:effectLst/>
              </a:rPr>
              <a:t>Экспорт </a:t>
            </a:r>
            <a:r>
              <a:rPr lang="en-US" sz="2000" dirty="0">
                <a:effectLst/>
              </a:rPr>
              <a:t>P(dead) </a:t>
            </a:r>
            <a:r>
              <a:rPr lang="ru-RU" sz="2000" dirty="0">
                <a:effectLst/>
              </a:rPr>
              <a:t>из классификатора как </a:t>
            </a:r>
            <a:r>
              <a:rPr lang="en-US" sz="2000" dirty="0" err="1">
                <a:effectLst/>
              </a:rPr>
              <a:t>risk_score</a:t>
            </a:r>
            <a:endParaRPr lang="en-US" sz="2000" dirty="0">
              <a:effectLst/>
            </a:endParaRPr>
          </a:p>
          <a:p>
            <a:r>
              <a:rPr lang="ru-RU" sz="2000" dirty="0">
                <a:effectLst/>
              </a:rPr>
              <a:t>Стратификация </a:t>
            </a:r>
            <a:r>
              <a:rPr lang="en-US" sz="2000" dirty="0">
                <a:effectLst/>
              </a:rPr>
              <a:t>KM: High risk vs Low risk (</a:t>
            </a:r>
            <a:r>
              <a:rPr lang="ru-RU" sz="2000" dirty="0">
                <a:effectLst/>
              </a:rPr>
              <a:t>по медиане)</a:t>
            </a:r>
          </a:p>
          <a:p>
            <a:r>
              <a:rPr lang="en-US" sz="2000" dirty="0" err="1">
                <a:effectLst/>
              </a:rPr>
              <a:t>risk_score</a:t>
            </a:r>
            <a:r>
              <a:rPr lang="en-US" sz="2000" dirty="0">
                <a:effectLst/>
              </a:rPr>
              <a:t> </a:t>
            </a:r>
            <a:r>
              <a:rPr lang="ru-RU" sz="2000" dirty="0">
                <a:effectLst/>
              </a:rPr>
              <a:t>как </a:t>
            </a:r>
            <a:r>
              <a:rPr lang="ru-RU" sz="2000" dirty="0" err="1">
                <a:effectLst/>
              </a:rPr>
              <a:t>ковариата</a:t>
            </a:r>
            <a:r>
              <a:rPr lang="ru-RU" sz="2000" dirty="0">
                <a:effectLst/>
              </a:rPr>
              <a:t> в </a:t>
            </a:r>
            <a:r>
              <a:rPr lang="en-US" sz="2000" dirty="0">
                <a:effectLst/>
              </a:rPr>
              <a:t>Cox-</a:t>
            </a:r>
            <a:r>
              <a:rPr lang="ru-RU" sz="2000" dirty="0">
                <a:effectLst/>
              </a:rPr>
              <a:t>модели</a:t>
            </a: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Код </a:t>
            </a:r>
            <a:r>
              <a:rPr lang="en-US" sz="2000" dirty="0">
                <a:effectLst/>
              </a:rPr>
              <a:t>R: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Предсказания 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 Forest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rf_pred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rf_model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type='prob')[,2]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df$risk_score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rf_pred</a:t>
            </a: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Стратификация по медиане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median_risk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median(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df$risk_score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df$risk_group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df$risk_score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median_risk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"High", "Low")</a:t>
            </a:r>
          </a:p>
        </p:txBody>
      </p:sp>
    </p:spTree>
    <p:extLst>
      <p:ext uri="{BB962C8B-B14F-4D97-AF65-F5344CB8AC3E}">
        <p14:creationId xmlns:p14="http://schemas.microsoft.com/office/powerpoint/2010/main" val="1003238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KM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 группам риска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dirty="0">
                <a:effectLst/>
              </a:rPr>
              <a:t>Кривые Каплана-Мейера по риск-группам:</a:t>
            </a:r>
          </a:p>
          <a:p>
            <a:r>
              <a:rPr lang="en-US" sz="2000" dirty="0">
                <a:effectLst/>
              </a:rPr>
              <a:t>Low risk: </a:t>
            </a:r>
            <a:r>
              <a:rPr lang="ru-RU" sz="2000" dirty="0">
                <a:effectLst/>
              </a:rPr>
              <a:t>хорошая выживаемость</a:t>
            </a:r>
          </a:p>
          <a:p>
            <a:r>
              <a:rPr lang="en-US" sz="2000" dirty="0">
                <a:effectLst/>
              </a:rPr>
              <a:t>High risk: </a:t>
            </a:r>
            <a:r>
              <a:rPr lang="ru-RU" sz="2000" dirty="0">
                <a:effectLst/>
              </a:rPr>
              <a:t>плохая выживаемость</a:t>
            </a:r>
          </a:p>
          <a:p>
            <a:r>
              <a:rPr lang="en-US" sz="2000" dirty="0">
                <a:effectLst/>
              </a:rPr>
              <a:t>Log-rank: p &lt; 0.001 (</a:t>
            </a:r>
            <a:r>
              <a:rPr lang="ru-RU" sz="2000" dirty="0">
                <a:effectLst/>
              </a:rPr>
              <a:t>кривые различаются)</a:t>
            </a: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Код </a:t>
            </a:r>
            <a:r>
              <a:rPr lang="en-US" sz="2000" dirty="0">
                <a:effectLst/>
              </a:rPr>
              <a:t>R: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fit_risk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survfit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(Surv(time, status) ~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risk_group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data=df)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ggsurvplot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fit_risk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pval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=TRUE,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risk.table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=TRUE,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palette=c("#E7B800","#2E9FDF"))</a:t>
            </a:r>
          </a:p>
          <a:p>
            <a:pPr marL="0" indent="0" algn="l">
              <a:buNone/>
            </a:pPr>
            <a:endParaRPr lang="en-US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Клиническое применение:</a:t>
            </a:r>
          </a:p>
          <a:p>
            <a:r>
              <a:rPr lang="ru-RU" sz="2000" dirty="0">
                <a:effectLst/>
              </a:rPr>
              <a:t>Стратификация пациентов для выбора терапии</a:t>
            </a:r>
          </a:p>
          <a:p>
            <a:r>
              <a:rPr lang="ru-RU" sz="2000" dirty="0">
                <a:effectLst/>
              </a:rPr>
              <a:t>Риск-скор из </a:t>
            </a:r>
            <a:r>
              <a:rPr lang="en-US" sz="2000" dirty="0">
                <a:effectLst/>
              </a:rPr>
              <a:t>ML </a:t>
            </a:r>
            <a:r>
              <a:rPr lang="ru-RU" sz="2000" dirty="0">
                <a:effectLst/>
              </a:rPr>
              <a:t>как прогностический </a:t>
            </a:r>
            <a:r>
              <a:rPr lang="ru-RU" sz="2000" dirty="0" err="1">
                <a:effectLst/>
              </a:rPr>
              <a:t>биомаркер</a:t>
            </a:r>
            <a:endParaRPr lang="ru-RU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3617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KM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 группам риска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dirty="0">
                <a:effectLst/>
              </a:rPr>
              <a:t>Кривые Каплана-Мейера по риск-группам:</a:t>
            </a:r>
          </a:p>
          <a:p>
            <a:r>
              <a:rPr lang="en-US" sz="2000" dirty="0">
                <a:effectLst/>
              </a:rPr>
              <a:t>Low risk: </a:t>
            </a:r>
            <a:r>
              <a:rPr lang="ru-RU" sz="2000" dirty="0">
                <a:effectLst/>
              </a:rPr>
              <a:t>хорошая выживаемость</a:t>
            </a:r>
          </a:p>
          <a:p>
            <a:r>
              <a:rPr lang="en-US" sz="2000" dirty="0">
                <a:effectLst/>
              </a:rPr>
              <a:t>High risk: </a:t>
            </a:r>
            <a:r>
              <a:rPr lang="ru-RU" sz="2000" dirty="0">
                <a:effectLst/>
              </a:rPr>
              <a:t>плохая выживаемость</a:t>
            </a:r>
          </a:p>
          <a:p>
            <a:r>
              <a:rPr lang="en-US" sz="2000" dirty="0">
                <a:effectLst/>
              </a:rPr>
              <a:t>Log-rank: p &lt; 0.001 (</a:t>
            </a:r>
            <a:r>
              <a:rPr lang="ru-RU" sz="2000" dirty="0">
                <a:effectLst/>
              </a:rPr>
              <a:t>кривые различаются)</a:t>
            </a:r>
          </a:p>
          <a:p>
            <a:pPr marL="0" indent="0" algn="l">
              <a:buNone/>
            </a:pPr>
            <a:endParaRPr lang="ru-RU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Код </a:t>
            </a:r>
            <a:r>
              <a:rPr lang="en-US" sz="2000" dirty="0">
                <a:effectLst/>
              </a:rPr>
              <a:t>R: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fit_risk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survfit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(Surv(time, status) ~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risk_group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data=df)</a:t>
            </a:r>
          </a:p>
          <a:p>
            <a:pPr marL="0"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ggsurvplot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fit_risk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pval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=TRUE,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risk.table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=TRUE,</a:t>
            </a:r>
          </a:p>
          <a:p>
            <a:pPr marL="0"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    palette=c("#E7B800","#2E9FDF"))</a:t>
            </a:r>
          </a:p>
          <a:p>
            <a:pPr marL="0" indent="0" algn="l">
              <a:buNone/>
            </a:pPr>
            <a:endParaRPr lang="en-US" sz="2000" dirty="0">
              <a:effectLst/>
            </a:endParaRPr>
          </a:p>
          <a:p>
            <a:pPr marL="0" indent="0" algn="l">
              <a:buNone/>
            </a:pPr>
            <a:r>
              <a:rPr lang="ru-RU" sz="2000" dirty="0">
                <a:effectLst/>
              </a:rPr>
              <a:t>Клиническое применение:</a:t>
            </a:r>
          </a:p>
          <a:p>
            <a:r>
              <a:rPr lang="ru-RU" sz="2000" dirty="0">
                <a:effectLst/>
              </a:rPr>
              <a:t>Стратификация пациентов для выбора терапии</a:t>
            </a:r>
          </a:p>
          <a:p>
            <a:r>
              <a:rPr lang="ru-RU" sz="2000" dirty="0">
                <a:effectLst/>
              </a:rPr>
              <a:t>Риск-скор из </a:t>
            </a:r>
            <a:r>
              <a:rPr lang="en-US" sz="2000" dirty="0">
                <a:effectLst/>
              </a:rPr>
              <a:t>ML </a:t>
            </a:r>
            <a:r>
              <a:rPr lang="ru-RU" sz="2000" dirty="0">
                <a:effectLst/>
              </a:rPr>
              <a:t>как прогностический </a:t>
            </a:r>
            <a:r>
              <a:rPr lang="ru-RU" sz="2000" dirty="0" err="1">
                <a:effectLst/>
              </a:rPr>
              <a:t>биомаркер</a:t>
            </a:r>
            <a:endParaRPr lang="ru-RU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92548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6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На практике: 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Одномерные </a:t>
            </a:r>
            <a:r>
              <a:rPr lang="en-US" sz="2400" dirty="0">
                <a:ea typeface="Cambria Math" panose="02040503050406030204" pitchFamily="18" charset="0"/>
              </a:rPr>
              <a:t>Cox </a:t>
            </a:r>
            <a:r>
              <a:rPr lang="ru-RU" sz="2400" dirty="0">
                <a:ea typeface="Cambria Math" panose="02040503050406030204" pitchFamily="18" charset="0"/>
              </a:rPr>
              <a:t>для </a:t>
            </a:r>
            <a:r>
              <a:rPr lang="en-US" sz="2400" dirty="0">
                <a:ea typeface="Cambria Math" panose="02040503050406030204" pitchFamily="18" charset="0"/>
              </a:rPr>
              <a:t>TCGA-LUAD (age, stage, smoking, gender)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Результат: только </a:t>
            </a:r>
            <a:r>
              <a:rPr lang="en-US" sz="2400" dirty="0">
                <a:ea typeface="Cambria Math" panose="02040503050406030204" pitchFamily="18" charset="0"/>
              </a:rPr>
              <a:t>stage </a:t>
            </a:r>
            <a:r>
              <a:rPr lang="ru-RU" sz="2400" dirty="0">
                <a:ea typeface="Cambria Math" panose="02040503050406030204" pitchFamily="18" charset="0"/>
              </a:rPr>
              <a:t>значимо ассоциирована с прогнозом</a:t>
            </a:r>
          </a:p>
          <a:p>
            <a:pPr marL="0" indent="0" algn="just">
              <a:buNone/>
              <a:tabLst>
                <a:tab pos="180975" algn="l"/>
              </a:tabLst>
            </a:pPr>
            <a:endParaRPr lang="ru-RU" sz="2400" dirty="0">
              <a:ea typeface="Cambria Math" panose="02040503050406030204" pitchFamily="18" charset="0"/>
            </a:endParaRP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Дома (Задание 6): 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Одномерные + многомерная </a:t>
            </a:r>
            <a:r>
              <a:rPr lang="en-US" sz="2400" dirty="0">
                <a:ea typeface="Cambria Math" panose="02040503050406030204" pitchFamily="18" charset="0"/>
              </a:rPr>
              <a:t>Cox </a:t>
            </a:r>
            <a:r>
              <a:rPr lang="ru-RU" sz="2400" dirty="0">
                <a:ea typeface="Cambria Math" panose="02040503050406030204" pitchFamily="18" charset="0"/>
              </a:rPr>
              <a:t>для </a:t>
            </a:r>
            <a:r>
              <a:rPr lang="en-US" sz="2400" dirty="0">
                <a:ea typeface="Cambria Math" panose="02040503050406030204" pitchFamily="18" charset="0"/>
              </a:rPr>
              <a:t>TCGA-BRCA (age, stage, ER, PR, HER2)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Ожидается: </a:t>
            </a:r>
            <a:r>
              <a:rPr lang="en-US" sz="2400" dirty="0">
                <a:ea typeface="Cambria Math" panose="02040503050406030204" pitchFamily="18" charset="0"/>
              </a:rPr>
              <a:t>ER, PR, stage — </a:t>
            </a:r>
            <a:r>
              <a:rPr lang="ru-RU" sz="2400" dirty="0">
                <a:ea typeface="Cambria Math" panose="02040503050406030204" pitchFamily="18" charset="0"/>
              </a:rPr>
              <a:t>сильные предикторы в РМЖ</a:t>
            </a:r>
          </a:p>
          <a:p>
            <a:pPr marL="0" indent="0" algn="just">
              <a:buNone/>
              <a:tabLst>
                <a:tab pos="180975" algn="l"/>
              </a:tabLst>
            </a:pPr>
            <a:endParaRPr lang="ru-RU" sz="2400" dirty="0">
              <a:ea typeface="Cambria Math" panose="02040503050406030204" pitchFamily="18" charset="0"/>
            </a:endParaRP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Логика анализа идентична, различия в предикторах и результатах</a:t>
            </a:r>
            <a:endParaRPr lang="en-US" sz="180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98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1445</Words>
  <Application>Microsoft Office PowerPoint</Application>
  <PresentationFormat>Широкоэкранный</PresentationFormat>
  <Paragraphs>374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87</cp:revision>
  <dcterms:created xsi:type="dcterms:W3CDTF">2025-09-03T07:14:40Z</dcterms:created>
  <dcterms:modified xsi:type="dcterms:W3CDTF">2026-03-19T12:19:53Z</dcterms:modified>
</cp:coreProperties>
</file>